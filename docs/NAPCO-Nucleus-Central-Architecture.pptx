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0" d="100"/>
          <a:sy n="110" d="100"/>
        </p:scale>
        <p:origin x="-55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3E3289-E43E-44B5-96FB-FBE6BFE22FBB}" type="datetimeFigureOut">
              <a:rPr lang="en-US" smtClean="0"/>
              <a:t>5/8/2026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2C886C-2035-4D26-A7AA-E94CC8FAA99F}" type="slidenum">
              <a:rPr lang="en-US" smtClean="0"/>
              <a:t>‹#›</a:t>
            </a:fld>
            <a:endParaRPr lang="en-US"/>
          </a:p>
        </p:txBody>
      </p:sp>
    </p:spTree>
    <p:extLst>
      <p:ext uri="{BB962C8B-B14F-4D97-AF65-F5344CB8AC3E}">
        <p14:creationId xmlns:p14="http://schemas.microsoft.com/office/powerpoint/2010/main" val="3131908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framing: requirements the team is trying to capture live across multiple developers' machines and across multiple channels. Today's deck shows how we stitch them back together without asking developers to do anything beyond their normal calls and chats.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on the failure mode the team experiences today: each developer has only their fragment. Even if they faithfully relay what they heard, no one is reconciling fragments across people. That's why requirements get half-built, scope-creeped, or missed entirely.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design promises. First: capture has to be invisible to the developer. They keep their normal Teams workflow; we listen for the natural call-bookend phrases (Assalamualaikum / Allah Hafez) and the recorder reacts. Second: identification has to be ONE place. Five separate identify-runs would miss the cross-developer fragments. We aggregate everyone's day into one Claude session scoped per client.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diagram left to right. The dev side is the same as the local NN we already had, just with two new behaviors after stop: the IndexedDB lookup that names the client, and the SMB copy. Chat is on a Windows Task Scheduler timer, runs every 15 min in the background. The agent host is the only place that needs Claude Max auth, the only place that runs identify, and the only place that drafts the verification email.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that the voice trigger is genuinely zero-friction. People already say these phrases at the start and end of every BD call. We're not asking them to learn a wake word, we're listening for their normal greeting. The Teams-only gate is the false-positive killer: 'Assalamualaikum' said in a corridor doesn't trigger a recording because Teams isn't producing audio at that moment. Stop is unconditional so a dropped call always closes cleanly.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load-bearing trick that makes the central pipeline useful. Without auto-tagging by client, the central tree is just 5 piles of WAVs and Mohammad has to hand-label every one. With this resolver, every recording self-labels at upload time. We verified the schema against the live database -- 843 historical calls all parse cleanly with the new partlist + displayName format. The current user is detected via isSentByCurrentUser=True messages and dropped from the clients list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layout so the boss has a concrete mental model. Each developer pushes into their own subfolder, dated. Mohammad reads across all dev folders for a given day. The metadata file is the key -- without it we have audio but no context; with it we know which call was with which client. Nothing here is invented data; every field comes from either the recorder or Teams' own DB.</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through the four phases. Step 1 reads each dev's day folder. Step 2 keeps only the calls whose metadata client_name matches what you typed -- chats are included whole since one chat can mention multiple clients. Step 3 transcribes every matched WAV (faster-whisper large-v3, Bangla -&gt; English) into a single session document with one section per source. Step 4 hands that to verify_session, which is the same prompt we already shipped, and the .eml lands in your Gmail Drafts.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End-state for the demo. The two-attachment email gives the client both the curated list AND the raw source material -- so they can cross-check anything that looks off. We don't auto-send; you review each draft in Gmail and click send. That's the manual-verify gate the team agreed on before we move to automatic OpenProject publishing.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this is shipped, not a slide-ware roadmap. The commit is on origin/main. The setup script handles everything the developer would otherwise type by hand -- they don't need to know what a virtualenv is. The only sysadmin step is the SMB share + firewall on MVPACCESS, which we do once.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loop. Everything that is code-side is done and verified on the dev machine using a temporary local 'central' folder. The SMB hop is the one piece I couldn't test from the dev machine because the share doesn't exist yet -- but the same Path() + shutil.copy2() that worked against a local folder will work against an SMB UNC path once the share is up.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377440"/>
            <a:ext cx="10698480" cy="1371600"/>
          </a:xfrm>
          <a:prstGeom prst="rect">
            <a:avLst/>
          </a:prstGeom>
          <a:noFill/>
        </p:spPr>
        <p:txBody>
          <a:bodyPr wrap="square" lIns="0" tIns="0" rIns="0" bIns="0" anchor="t">
            <a:spAutoFit/>
          </a:bodyPr>
          <a:lstStyle/>
          <a:p>
            <a:pPr algn="l"/>
            <a:r>
              <a:rPr sz="5800" b="1">
                <a:solidFill>
                  <a:srgbClr val="FFFFFF"/>
                </a:solidFill>
                <a:latin typeface="Calibri"/>
              </a:rPr>
              <a:t>NAPCO Nucleus</a:t>
            </a:r>
          </a:p>
          <a:p>
            <a:pPr algn="l"/>
            <a:r>
              <a:rPr sz="3000" b="0">
                <a:solidFill>
                  <a:srgbClr val="FFFFFF"/>
                </a:solidFill>
                <a:latin typeface="Calibri"/>
              </a:rPr>
              <a:t>Central Capture Architecture</a:t>
            </a:r>
          </a:p>
        </p:txBody>
      </p:sp>
      <p:sp>
        <p:nvSpPr>
          <p:cNvPr id="4" name="TextBox 3"/>
          <p:cNvSpPr txBox="1"/>
          <p:nvPr/>
        </p:nvSpPr>
        <p:spPr>
          <a:xfrm>
            <a:off x="731520" y="4114800"/>
            <a:ext cx="10698480" cy="1371600"/>
          </a:xfrm>
          <a:prstGeom prst="rect">
            <a:avLst/>
          </a:prstGeom>
          <a:noFill/>
        </p:spPr>
        <p:txBody>
          <a:bodyPr wrap="square" lIns="0" tIns="0" rIns="0" bIns="0" anchor="t">
            <a:spAutoFit/>
          </a:bodyPr>
          <a:lstStyle/>
          <a:p>
            <a:pPr algn="l"/>
            <a:r>
              <a:rPr sz="1800" b="0">
                <a:solidFill>
                  <a:srgbClr val="C8D2E0"/>
                </a:solidFill>
                <a:latin typeface="Calibri"/>
              </a:rPr>
              <a:t>5 developers / 2 clients -&gt; one identification pipeline.</a:t>
            </a:r>
          </a:p>
        </p:txBody>
      </p:sp>
      <p:sp>
        <p:nvSpPr>
          <p:cNvPr id="5" name="TextBox 4"/>
          <p:cNvSpPr txBox="1"/>
          <p:nvPr/>
        </p:nvSpPr>
        <p:spPr>
          <a:xfrm>
            <a:off x="731520" y="6217920"/>
            <a:ext cx="10698480" cy="365760"/>
          </a:xfrm>
          <a:prstGeom prst="rect">
            <a:avLst/>
          </a:prstGeom>
          <a:noFill/>
        </p:spPr>
        <p:txBody>
          <a:bodyPr wrap="square" lIns="0" tIns="0" rIns="0" bIns="0" anchor="t">
            <a:spAutoFit/>
          </a:bodyPr>
          <a:lstStyle/>
          <a:p>
            <a:pPr algn="l"/>
            <a:r>
              <a:rPr sz="1200" b="0">
                <a:solidFill>
                  <a:srgbClr val="9CABBE"/>
                </a:solidFill>
                <a:latin typeface="Calibri"/>
              </a:rPr>
              <a:t>Mohammad Kamrul Hasan   |   Adaptive Enterprise / NAPCO labs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The problem</a:t>
            </a:r>
          </a:p>
          <a:p>
            <a:pPr algn="l">
              <a:spcBef>
                <a:spcPts val="200"/>
              </a:spcBef>
            </a:pPr>
            <a:r>
              <a:rPr sz="1400" b="0">
                <a:solidFill>
                  <a:srgbClr val="6B7785"/>
                </a:solidFill>
                <a:latin typeface="Calibri"/>
              </a:rPr>
              <a:t>A single requirement spans multiple conversations.</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828800"/>
            <a:ext cx="1828800" cy="54864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Client A</a:t>
            </a:r>
          </a:p>
        </p:txBody>
      </p:sp>
      <p:sp>
        <p:nvSpPr>
          <p:cNvPr id="6" name="Rounded Rectangle 5"/>
          <p:cNvSpPr/>
          <p:nvPr/>
        </p:nvSpPr>
        <p:spPr>
          <a:xfrm>
            <a:off x="731520" y="2926080"/>
            <a:ext cx="1828800" cy="548640"/>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Client B</a:t>
            </a:r>
          </a:p>
        </p:txBody>
      </p:sp>
      <p:sp>
        <p:nvSpPr>
          <p:cNvPr id="7" name="Rounded Rectangle 6"/>
          <p:cNvSpPr/>
          <p:nvPr/>
        </p:nvSpPr>
        <p:spPr>
          <a:xfrm>
            <a:off x="6583680" y="1280160"/>
            <a:ext cx="182880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1</a:t>
            </a:r>
          </a:p>
        </p:txBody>
      </p:sp>
      <p:sp>
        <p:nvSpPr>
          <p:cNvPr id="8" name="Rounded Rectangle 7"/>
          <p:cNvSpPr/>
          <p:nvPr/>
        </p:nvSpPr>
        <p:spPr>
          <a:xfrm>
            <a:off x="6583680" y="2057400"/>
            <a:ext cx="182880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2</a:t>
            </a:r>
          </a:p>
        </p:txBody>
      </p:sp>
      <p:sp>
        <p:nvSpPr>
          <p:cNvPr id="9" name="Rounded Rectangle 8"/>
          <p:cNvSpPr/>
          <p:nvPr/>
        </p:nvSpPr>
        <p:spPr>
          <a:xfrm>
            <a:off x="6583680" y="2834639"/>
            <a:ext cx="182880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3</a:t>
            </a:r>
          </a:p>
        </p:txBody>
      </p:sp>
      <p:sp>
        <p:nvSpPr>
          <p:cNvPr id="10" name="Rounded Rectangle 9"/>
          <p:cNvSpPr/>
          <p:nvPr/>
        </p:nvSpPr>
        <p:spPr>
          <a:xfrm>
            <a:off x="6583680" y="3611879"/>
            <a:ext cx="182880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4</a:t>
            </a:r>
          </a:p>
        </p:txBody>
      </p:sp>
      <p:sp>
        <p:nvSpPr>
          <p:cNvPr id="11" name="Rounded Rectangle 10"/>
          <p:cNvSpPr/>
          <p:nvPr/>
        </p:nvSpPr>
        <p:spPr>
          <a:xfrm>
            <a:off x="6583680" y="4389120"/>
            <a:ext cx="182880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5</a:t>
            </a:r>
          </a:p>
        </p:txBody>
      </p:sp>
      <p:cxnSp>
        <p:nvCxnSpPr>
          <p:cNvPr id="12" name="Connector 11"/>
          <p:cNvCxnSpPr/>
          <p:nvPr/>
        </p:nvCxnSpPr>
        <p:spPr>
          <a:xfrm>
            <a:off x="2560320" y="2103120"/>
            <a:ext cx="4023360" cy="228600"/>
          </a:xfrm>
          <a:prstGeom prst="bentConnector3">
            <a:avLst/>
          </a:prstGeom>
          <a:ln w="25400">
            <a:solidFill>
              <a:srgbClr val="E0785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560320" y="2103120"/>
            <a:ext cx="4023360" cy="1783080"/>
          </a:xfrm>
          <a:prstGeom prst="bentConnector3">
            <a:avLst/>
          </a:prstGeom>
          <a:ln w="25400">
            <a:solidFill>
              <a:srgbClr val="E0785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560320" y="2331720"/>
            <a:ext cx="4023360" cy="868680"/>
          </a:xfrm>
          <a:prstGeom prst="bentConnector3">
            <a:avLst/>
          </a:prstGeom>
          <a:ln w="25400">
            <a:solidFill>
              <a:srgbClr val="6A4C9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560320" y="3200400"/>
            <a:ext cx="4023360" cy="685800"/>
          </a:xfrm>
          <a:prstGeom prst="bentConnector3">
            <a:avLst/>
          </a:prstGeom>
          <a:ln w="25400">
            <a:solidFill>
              <a:srgbClr val="6A4C9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5212080"/>
            <a:ext cx="10698480" cy="1097280"/>
          </a:xfrm>
          <a:prstGeom prst="rect">
            <a:avLst/>
          </a:prstGeom>
          <a:noFill/>
        </p:spPr>
        <p:txBody>
          <a:bodyPr wrap="square" lIns="0" tIns="0" rIns="0" bIns="0" anchor="t">
            <a:spAutoFit/>
          </a:bodyPr>
          <a:lstStyle/>
          <a:p>
            <a:pPr algn="l"/>
            <a:r>
              <a:rPr sz="2000" b="1">
                <a:solidFill>
                  <a:srgbClr val="222222"/>
                </a:solidFill>
                <a:latin typeface="Calibri"/>
              </a:rPr>
              <a:t>Same requirement, different developers.</a:t>
            </a:r>
          </a:p>
          <a:p>
            <a:pPr algn="l">
              <a:spcBef>
                <a:spcPts val="400"/>
              </a:spcBef>
            </a:pPr>
            <a:r>
              <a:rPr sz="1400" b="0">
                <a:solidFill>
                  <a:srgbClr val="6B7785"/>
                </a:solidFill>
                <a:latin typeface="Calibri"/>
              </a:rPr>
              <a:t>Half a feature on a 2-min call with Dev 1, the other half on a 4-min call with Dev 3. Neither developer hears the whole thing. The requirement is invisible to anyone reviewing one machine at a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The fix in one line</a:t>
            </a:r>
          </a:p>
          <a:p>
            <a:pPr algn="l">
              <a:spcBef>
                <a:spcPts val="200"/>
              </a:spcBef>
            </a:pPr>
            <a:r>
              <a:rPr sz="1400" b="0">
                <a:solidFill>
                  <a:srgbClr val="6B7785"/>
                </a:solidFill>
                <a:latin typeface="Calibri"/>
              </a:rPr>
              <a:t>Capture everywhere it happens. Identify in one place.</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94560"/>
            <a:ext cx="10698480" cy="1828800"/>
          </a:xfrm>
          <a:prstGeom prst="rect">
            <a:avLst/>
          </a:prstGeom>
          <a:noFill/>
        </p:spPr>
        <p:txBody>
          <a:bodyPr wrap="square" lIns="0" tIns="0" rIns="0" bIns="0" anchor="t">
            <a:spAutoFit/>
          </a:bodyPr>
          <a:lstStyle/>
          <a:p>
            <a:pPr algn="l"/>
            <a:r>
              <a:rPr sz="2200" b="0">
                <a:solidFill>
                  <a:srgbClr val="222222"/>
                </a:solidFill>
                <a:latin typeface="Calibri"/>
              </a:rPr>
              <a:t>Every developer's calls and chats flow into one central store. One scoped pass per (client, day) sees the full picture and drafts a verification email.</a:t>
            </a:r>
          </a:p>
        </p:txBody>
      </p:sp>
      <p:sp>
        <p:nvSpPr>
          <p:cNvPr id="6" name="Rounded Rectangle 5"/>
          <p:cNvSpPr/>
          <p:nvPr/>
        </p:nvSpPr>
        <p:spPr>
          <a:xfrm>
            <a:off x="731520" y="4754880"/>
            <a:ext cx="5212080" cy="64008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Local capture (per-dev)   --   no extra workflow</a:t>
            </a:r>
          </a:p>
        </p:txBody>
      </p:sp>
      <p:sp>
        <p:nvSpPr>
          <p:cNvPr id="7" name="Rounded Rectangle 6"/>
          <p:cNvSpPr/>
          <p:nvPr/>
        </p:nvSpPr>
        <p:spPr>
          <a:xfrm>
            <a:off x="6217920" y="4754880"/>
            <a:ext cx="5212080" cy="64008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Central identification   --   single Claude session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Architecture</a:t>
            </a:r>
          </a:p>
          <a:p>
            <a:pPr algn="l">
              <a:spcBef>
                <a:spcPts val="200"/>
              </a:spcBef>
            </a:pPr>
            <a:r>
              <a:rPr sz="1400" b="0">
                <a:solidFill>
                  <a:srgbClr val="6B7785"/>
                </a:solidFill>
                <a:latin typeface="Calibri"/>
              </a:rPr>
              <a:t>5 dev machines push to MVPACCESS. Identification runs there.</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3657600" cy="41148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71600"/>
            <a:ext cx="73152" cy="41148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1463040"/>
            <a:ext cx="3429000" cy="3931920"/>
          </a:xfrm>
          <a:prstGeom prst="rect">
            <a:avLst/>
          </a:prstGeom>
          <a:noFill/>
        </p:spPr>
        <p:txBody>
          <a:bodyPr wrap="square" lIns="0" tIns="0" rIns="0" bIns="0" anchor="t">
            <a:spAutoFit/>
          </a:bodyPr>
          <a:lstStyle/>
          <a:p>
            <a:pPr algn="l"/>
            <a:r>
              <a:rPr sz="1400" b="1">
                <a:solidFill>
                  <a:srgbClr val="2E8A8A"/>
                </a:solidFill>
                <a:latin typeface="Calibri"/>
              </a:rPr>
              <a:t>Dev machine (x5)</a:t>
            </a:r>
          </a:p>
          <a:p>
            <a:pPr algn="l">
              <a:spcBef>
                <a:spcPts val="200"/>
              </a:spcBef>
            </a:pPr>
            <a:r>
              <a:rPr sz="1100" b="0">
                <a:solidFill>
                  <a:srgbClr val="222222"/>
                </a:solidFill>
                <a:latin typeface="Calibri"/>
              </a:rPr>
              <a:t>voice_daemon.py</a:t>
            </a:r>
          </a:p>
          <a:p>
            <a:pPr algn="l">
              <a:spcBef>
                <a:spcPts val="200"/>
              </a:spcBef>
            </a:pPr>
            <a:r>
              <a:rPr sz="1100" b="0">
                <a:solidFill>
                  <a:srgbClr val="222222"/>
                </a:solidFill>
                <a:latin typeface="Calibri"/>
              </a:rPr>
              <a:t>  listens for start/stop phrases</a:t>
            </a:r>
          </a:p>
          <a:p>
            <a:pPr algn="l">
              <a:spcBef>
                <a:spcPts val="200"/>
              </a:spcBef>
            </a:pPr>
            <a:r>
              <a:rPr sz="1100" b="0">
                <a:solidFill>
                  <a:srgbClr val="222222"/>
                </a:solidFill>
                <a:latin typeface="Calibri"/>
              </a:rPr>
              <a:t>  Teams-only gate (pycaw)</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record_call.py</a:t>
            </a:r>
          </a:p>
          <a:p>
            <a:pPr algn="l">
              <a:spcBef>
                <a:spcPts val="200"/>
              </a:spcBef>
            </a:pPr>
            <a:r>
              <a:rPr sz="1100" b="0">
                <a:solidFill>
                  <a:srgbClr val="222222"/>
                </a:solidFill>
                <a:latin typeface="Calibri"/>
              </a:rPr>
              <a:t>  WAV mic + WAV speaker</a:t>
            </a:r>
          </a:p>
          <a:p>
            <a:pPr algn="l">
              <a:spcBef>
                <a:spcPts val="200"/>
              </a:spcBef>
            </a:pPr>
            <a:r>
              <a:rPr sz="1100" b="0">
                <a:solidFill>
                  <a:srgbClr val="222222"/>
                </a:solidFill>
                <a:latin typeface="Calibri"/>
              </a:rPr>
              <a:t>  resolves client via IndexedDB</a:t>
            </a:r>
          </a:p>
          <a:p>
            <a:pPr algn="l">
              <a:spcBef>
                <a:spcPts val="200"/>
              </a:spcBef>
            </a:pPr>
            <a:r>
              <a:rPr sz="1100" b="0">
                <a:solidFill>
                  <a:srgbClr val="222222"/>
                </a:solidFill>
                <a:latin typeface="Calibri"/>
              </a:rPr>
              <a:t>  metadata sidecar JSON</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push_chat.py (every 15 min)</a:t>
            </a:r>
          </a:p>
          <a:p>
            <a:pPr algn="l">
              <a:spcBef>
                <a:spcPts val="200"/>
              </a:spcBef>
            </a:pPr>
            <a:r>
              <a:rPr sz="1100" b="0">
                <a:solidFill>
                  <a:srgbClr val="222222"/>
                </a:solidFill>
                <a:latin typeface="Calibri"/>
              </a:rPr>
              <a:t>  Task Scheduler-driven</a:t>
            </a:r>
          </a:p>
          <a:p>
            <a:pPr algn="l">
              <a:spcBef>
                <a:spcPts val="200"/>
              </a:spcBef>
            </a:pPr>
            <a:r>
              <a:rPr sz="1100" b="0">
                <a:solidFill>
                  <a:srgbClr val="222222"/>
                </a:solidFill>
                <a:latin typeface="Calibri"/>
              </a:rPr>
              <a:t>  bundles last 15 min of chats</a:t>
            </a:r>
          </a:p>
        </p:txBody>
      </p:sp>
      <p:cxnSp>
        <p:nvCxnSpPr>
          <p:cNvPr id="8" name="Connector 7"/>
          <p:cNvCxnSpPr/>
          <p:nvPr/>
        </p:nvCxnSpPr>
        <p:spPr>
          <a:xfrm>
            <a:off x="4206240" y="3383280"/>
            <a:ext cx="3474720" cy="0"/>
          </a:xfrm>
          <a:prstGeom prst="bentConnector3">
            <a:avLst/>
          </a:prstGeom>
          <a:ln w="38100">
            <a:solidFill>
              <a:srgbClr val="1F4E7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297680" y="2926080"/>
            <a:ext cx="3474720" cy="457200"/>
          </a:xfrm>
          <a:prstGeom prst="rect">
            <a:avLst/>
          </a:prstGeom>
          <a:noFill/>
        </p:spPr>
        <p:txBody>
          <a:bodyPr wrap="square" lIns="0" tIns="0" rIns="0" bIns="0" anchor="t">
            <a:spAutoFit/>
          </a:bodyPr>
          <a:lstStyle/>
          <a:p>
            <a:pPr algn="ctr"/>
            <a:r>
              <a:rPr sz="1200" b="1">
                <a:solidFill>
                  <a:srgbClr val="1F4E79"/>
                </a:solidFill>
                <a:latin typeface="Calibri"/>
              </a:rPr>
              <a:t>SMB push</a:t>
            </a:r>
          </a:p>
        </p:txBody>
      </p:sp>
      <p:sp>
        <p:nvSpPr>
          <p:cNvPr id="10" name="TextBox 9"/>
          <p:cNvSpPr txBox="1"/>
          <p:nvPr/>
        </p:nvSpPr>
        <p:spPr>
          <a:xfrm>
            <a:off x="4297680" y="3520440"/>
            <a:ext cx="3474720" cy="457200"/>
          </a:xfrm>
          <a:prstGeom prst="rect">
            <a:avLst/>
          </a:prstGeom>
          <a:noFill/>
        </p:spPr>
        <p:txBody>
          <a:bodyPr wrap="square" lIns="0" tIns="0" rIns="0" bIns="0" anchor="t">
            <a:spAutoFit/>
          </a:bodyPr>
          <a:lstStyle/>
          <a:p>
            <a:pPr algn="ctr"/>
            <a:r>
              <a:rPr sz="1000" b="0">
                <a:solidFill>
                  <a:srgbClr val="6B7785"/>
                </a:solidFill>
                <a:latin typeface="Calibri"/>
              </a:rPr>
              <a:t>after each call /
every 15 min for chat</a:t>
            </a:r>
          </a:p>
        </p:txBody>
      </p:sp>
      <p:sp>
        <p:nvSpPr>
          <p:cNvPr id="11" name="Rectangle 10"/>
          <p:cNvSpPr/>
          <p:nvPr/>
        </p:nvSpPr>
        <p:spPr>
          <a:xfrm>
            <a:off x="7772400" y="1371600"/>
            <a:ext cx="3931920" cy="41148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0" y="1371600"/>
            <a:ext cx="73152" cy="411480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36992" y="1463040"/>
            <a:ext cx="3703320" cy="3931920"/>
          </a:xfrm>
          <a:prstGeom prst="rect">
            <a:avLst/>
          </a:prstGeom>
          <a:noFill/>
        </p:spPr>
        <p:txBody>
          <a:bodyPr wrap="square" lIns="0" tIns="0" rIns="0" bIns="0" anchor="t">
            <a:spAutoFit/>
          </a:bodyPr>
          <a:lstStyle/>
          <a:p>
            <a:pPr algn="l"/>
            <a:r>
              <a:rPr sz="1400" b="1">
                <a:solidFill>
                  <a:srgbClr val="4A7A4A"/>
                </a:solidFill>
                <a:latin typeface="Calibri"/>
              </a:rPr>
              <a:t>MVPACCESS (172.16.205.209)</a:t>
            </a:r>
          </a:p>
          <a:p>
            <a:pPr algn="l">
              <a:spcBef>
                <a:spcPts val="200"/>
              </a:spcBef>
            </a:pPr>
            <a:r>
              <a:rPr sz="1100" b="0">
                <a:solidFill>
                  <a:srgbClr val="222222"/>
                </a:solidFill>
                <a:latin typeface="Calibri"/>
              </a:rPr>
              <a:t>C:\nucleus-central\</a:t>
            </a:r>
          </a:p>
          <a:p>
            <a:pPr algn="l">
              <a:spcBef>
                <a:spcPts val="200"/>
              </a:spcBef>
            </a:pPr>
            <a:r>
              <a:rPr sz="1100" b="0">
                <a:solidFill>
                  <a:srgbClr val="222222"/>
                </a:solidFill>
                <a:latin typeface="Calibri"/>
              </a:rPr>
              <a:t>  &lt;dev&gt;\&lt;YYYY-MM-DD&gt;\</a:t>
            </a:r>
          </a:p>
          <a:p>
            <a:pPr algn="l">
              <a:spcBef>
                <a:spcPts val="200"/>
              </a:spcBef>
            </a:pPr>
            <a:r>
              <a:rPr sz="1100" b="0">
                <a:solidFill>
                  <a:srgbClr val="222222"/>
                </a:solidFill>
                <a:latin typeface="Calibri"/>
              </a:rPr>
              <a:t>    calls\  *.wav  *.json</a:t>
            </a:r>
          </a:p>
          <a:p>
            <a:pPr algn="l">
              <a:spcBef>
                <a:spcPts val="200"/>
              </a:spcBef>
            </a:pPr>
            <a:r>
              <a:rPr sz="1100" b="0">
                <a:solidFill>
                  <a:srgbClr val="222222"/>
                </a:solidFill>
                <a:latin typeface="Calibri"/>
              </a:rPr>
              <a:t>    chat\   *.docx</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Claude Max authenticated here</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collect_central.py</a:t>
            </a:r>
          </a:p>
          <a:p>
            <a:pPr algn="l">
              <a:spcBef>
                <a:spcPts val="200"/>
              </a:spcBef>
            </a:pPr>
            <a:r>
              <a:rPr sz="1100" b="0">
                <a:solidFill>
                  <a:srgbClr val="222222"/>
                </a:solidFill>
                <a:latin typeface="Calibri"/>
              </a:rPr>
              <a:t>  walks tree -&gt; filters by</a:t>
            </a:r>
          </a:p>
          <a:p>
            <a:pPr algn="l">
              <a:spcBef>
                <a:spcPts val="200"/>
              </a:spcBef>
            </a:pPr>
            <a:r>
              <a:rPr sz="1100" b="0">
                <a:solidFill>
                  <a:srgbClr val="222222"/>
                </a:solidFill>
                <a:latin typeface="Calibri"/>
              </a:rPr>
              <a:t>  --client X --day YYYY-MM-DD</a:t>
            </a:r>
          </a:p>
          <a:p>
            <a:pPr algn="l">
              <a:spcBef>
                <a:spcPts val="200"/>
              </a:spcBef>
            </a:pPr>
            <a:r>
              <a:rPr sz="1100" b="0">
                <a:solidFill>
                  <a:srgbClr val="222222"/>
                </a:solidFill>
                <a:latin typeface="Calibri"/>
              </a:rPr>
              <a:t>  -&gt; Verification doc</a:t>
            </a:r>
          </a:p>
          <a:p>
            <a:pPr algn="l">
              <a:spcBef>
                <a:spcPts val="200"/>
              </a:spcBef>
            </a:pPr>
            <a:r>
              <a:rPr sz="1100" b="0">
                <a:solidFill>
                  <a:srgbClr val="222222"/>
                </a:solidFill>
                <a:latin typeface="Calibri"/>
              </a:rPr>
              <a:t>  -&gt; Gmail Drafts</a:t>
            </a:r>
          </a:p>
        </p:txBody>
      </p:sp>
      <p:sp>
        <p:nvSpPr>
          <p:cNvPr id="14" name="Rounded Rectangle 13"/>
          <p:cNvSpPr/>
          <p:nvPr/>
        </p:nvSpPr>
        <p:spPr>
          <a:xfrm>
            <a:off x="4572000" y="5760720"/>
            <a:ext cx="3108960" cy="457200"/>
          </a:xfrm>
          <a:prstGeom prst="round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You: review draft -&gt; send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Voice-activated capture</a:t>
            </a:r>
          </a:p>
          <a:p>
            <a:pPr algn="l">
              <a:spcBef>
                <a:spcPts val="200"/>
              </a:spcBef>
            </a:pPr>
            <a:r>
              <a:rPr sz="1400" b="0">
                <a:solidFill>
                  <a:srgbClr val="6B7785"/>
                </a:solidFill>
                <a:latin typeface="Calibri"/>
              </a:rPr>
              <a:t>Developers talk normally. Recording reacts to call-bookends.</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463040"/>
            <a:ext cx="5029200" cy="21031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63040"/>
            <a:ext cx="73152" cy="210312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54480"/>
            <a:ext cx="4800600" cy="1920240"/>
          </a:xfrm>
          <a:prstGeom prst="rect">
            <a:avLst/>
          </a:prstGeom>
          <a:noFill/>
        </p:spPr>
        <p:txBody>
          <a:bodyPr wrap="square" lIns="0" tIns="0" rIns="0" bIns="0" anchor="t">
            <a:spAutoFit/>
          </a:bodyPr>
          <a:lstStyle/>
          <a:p>
            <a:pPr algn="l"/>
            <a:r>
              <a:rPr sz="1400" b="1">
                <a:solidFill>
                  <a:srgbClr val="4A7A4A"/>
                </a:solidFill>
                <a:latin typeface="Calibri"/>
              </a:rPr>
              <a:t>Start phrases</a:t>
            </a:r>
          </a:p>
          <a:p>
            <a:pPr algn="l">
              <a:spcBef>
                <a:spcPts val="200"/>
              </a:spcBef>
            </a:pPr>
            <a:r>
              <a:rPr sz="1100" b="0">
                <a:solidFill>
                  <a:srgbClr val="222222"/>
                </a:solidFill>
                <a:latin typeface="Calibri"/>
              </a:rPr>
              <a:t>  "Assalamualaikum"</a:t>
            </a:r>
          </a:p>
          <a:p>
            <a:pPr algn="l">
              <a:spcBef>
                <a:spcPts val="200"/>
              </a:spcBef>
            </a:pPr>
            <a:r>
              <a:rPr sz="1100" b="0">
                <a:solidFill>
                  <a:srgbClr val="222222"/>
                </a:solidFill>
                <a:latin typeface="Calibri"/>
              </a:rPr>
              <a:t>  "Salaam alaikum"</a:t>
            </a:r>
          </a:p>
          <a:p>
            <a:pPr algn="l">
              <a:spcBef>
                <a:spcPts val="200"/>
              </a:spcBef>
            </a:pPr>
            <a:r>
              <a:rPr sz="1100" b="0">
                <a:solidFill>
                  <a:srgbClr val="222222"/>
                </a:solidFill>
                <a:latin typeface="Calibri"/>
              </a:rPr>
              <a:t>  "Nucleus start" (English fallback)</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Daemon spawns record_call.py</a:t>
            </a:r>
          </a:p>
        </p:txBody>
      </p:sp>
      <p:sp>
        <p:nvSpPr>
          <p:cNvPr id="8" name="Rectangle 7"/>
          <p:cNvSpPr/>
          <p:nvPr/>
        </p:nvSpPr>
        <p:spPr>
          <a:xfrm>
            <a:off x="6400800" y="1463040"/>
            <a:ext cx="5029200" cy="21031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463040"/>
            <a:ext cx="73152" cy="210312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65392" y="1554480"/>
            <a:ext cx="4800600" cy="1920240"/>
          </a:xfrm>
          <a:prstGeom prst="rect">
            <a:avLst/>
          </a:prstGeom>
          <a:noFill/>
        </p:spPr>
        <p:txBody>
          <a:bodyPr wrap="square" lIns="0" tIns="0" rIns="0" bIns="0" anchor="t">
            <a:spAutoFit/>
          </a:bodyPr>
          <a:lstStyle/>
          <a:p>
            <a:pPr algn="l"/>
            <a:r>
              <a:rPr sz="1400" b="1">
                <a:solidFill>
                  <a:srgbClr val="E07856"/>
                </a:solidFill>
                <a:latin typeface="Calibri"/>
              </a:rPr>
              <a:t>Stop phrases</a:t>
            </a:r>
          </a:p>
          <a:p>
            <a:pPr algn="l">
              <a:spcBef>
                <a:spcPts val="200"/>
              </a:spcBef>
            </a:pPr>
            <a:r>
              <a:rPr sz="1100" b="0">
                <a:solidFill>
                  <a:srgbClr val="222222"/>
                </a:solidFill>
                <a:latin typeface="Calibri"/>
              </a:rPr>
              <a:t>  "Allah Hafez" / "Khoda Hafiz"</a:t>
            </a:r>
          </a:p>
          <a:p>
            <a:pPr algn="l">
              <a:spcBef>
                <a:spcPts val="200"/>
              </a:spcBef>
            </a:pPr>
            <a:r>
              <a:rPr sz="1100" b="0">
                <a:solidFill>
                  <a:srgbClr val="222222"/>
                </a:solidFill>
                <a:latin typeface="Calibri"/>
              </a:rPr>
              <a:t>  "Nucleus stop" (English fallback)</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Daemon writes stop sentinel;</a:t>
            </a:r>
          </a:p>
          <a:p>
            <a:pPr algn="l">
              <a:spcBef>
                <a:spcPts val="200"/>
              </a:spcBef>
            </a:pPr>
            <a:r>
              <a:rPr sz="1100" b="0">
                <a:solidFill>
                  <a:srgbClr val="222222"/>
                </a:solidFill>
                <a:latin typeface="Calibri"/>
              </a:rPr>
              <a:t>recorder flushes WAVs.</a:t>
            </a:r>
          </a:p>
        </p:txBody>
      </p:sp>
      <p:sp>
        <p:nvSpPr>
          <p:cNvPr id="11" name="TextBox 10"/>
          <p:cNvSpPr txBox="1"/>
          <p:nvPr/>
        </p:nvSpPr>
        <p:spPr>
          <a:xfrm>
            <a:off x="731520" y="3931920"/>
            <a:ext cx="10698480" cy="2286000"/>
          </a:xfrm>
          <a:prstGeom prst="rect">
            <a:avLst/>
          </a:prstGeom>
          <a:noFill/>
        </p:spPr>
        <p:txBody>
          <a:bodyPr wrap="square" lIns="0" tIns="0" rIns="0" bIns="0" anchor="t">
            <a:spAutoFit/>
          </a:bodyPr>
          <a:lstStyle/>
          <a:p>
            <a:pPr algn="l"/>
            <a:r>
              <a:rPr sz="1600" b="1">
                <a:solidFill>
                  <a:srgbClr val="1F4E79"/>
                </a:solidFill>
                <a:latin typeface="Calibri"/>
              </a:rPr>
              <a:t>Why this works without false positives:</a:t>
            </a:r>
          </a:p>
          <a:p>
            <a:pPr algn="l">
              <a:spcBef>
                <a:spcPts val="600"/>
              </a:spcBef>
            </a:pPr>
            <a:r>
              <a:rPr sz="1300" b="0">
                <a:solidFill>
                  <a:srgbClr val="222222"/>
                </a:solidFill>
                <a:latin typeface="Calibri"/>
              </a:rPr>
              <a:t>Teams-only gate: pycaw confirms ms-teams.exe has an Active audio session before start fires. Ringing counts (the ringtone produces an audio session) so the recording captures the very first second of "Assalamualaikum".</a:t>
            </a:r>
          </a:p>
          <a:p>
            <a:pPr algn="l">
              <a:spcBef>
                <a:spcPts val="600"/>
              </a:spcBef>
            </a:pPr>
            <a:r>
              <a:rPr sz="1300" b="0">
                <a:solidFill>
                  <a:srgbClr val="222222"/>
                </a:solidFill>
                <a:latin typeface="Calibri"/>
              </a:rPr>
              <a:t>Phrase list is in data/teams/voice_phrases.json -- editable without code changes; teammates can add their own variants.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Who was the call with?</a:t>
            </a:r>
          </a:p>
          <a:p>
            <a:pPr algn="l">
              <a:spcBef>
                <a:spcPts val="200"/>
              </a:spcBef>
            </a:pPr>
            <a:r>
              <a:rPr sz="1400" b="0">
                <a:solidFill>
                  <a:srgbClr val="6B7785"/>
                </a:solidFill>
                <a:latin typeface="Calibri"/>
              </a:rPr>
              <a:t>IndexedDB has the answer. We just ask.</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0"/>
            <a:ext cx="5486400" cy="4572000"/>
          </a:xfrm>
          <a:prstGeom prst="rect">
            <a:avLst/>
          </a:prstGeom>
          <a:noFill/>
        </p:spPr>
        <p:txBody>
          <a:bodyPr wrap="square" lIns="0" tIns="0" rIns="0" bIns="0" anchor="t">
            <a:spAutoFit/>
          </a:bodyPr>
          <a:lstStyle/>
          <a:p>
            <a:pPr algn="l"/>
            <a:r>
              <a:rPr sz="1500" b="1">
                <a:solidFill>
                  <a:srgbClr val="1F4E79"/>
                </a:solidFill>
                <a:latin typeface="Calibri"/>
              </a:rPr>
              <a:t>Teams writes one Event/Call entry per call</a:t>
            </a:r>
          </a:p>
          <a:p>
            <a:pPr algn="l">
              <a:spcBef>
                <a:spcPts val="400"/>
              </a:spcBef>
            </a:pPr>
            <a:r>
              <a:rPr sz="1100" b="0">
                <a:solidFill>
                  <a:srgbClr val="6B7785"/>
                </a:solidFill>
                <a:latin typeface="Consolas"/>
              </a:rPr>
              <a:t>Path: %LOCALAPPDATA%\Packages\MSTeams_8wekyb3d8bbwe\...\IndexedDB</a:t>
            </a:r>
          </a:p>
          <a:p>
            <a:pPr algn="l">
              <a:spcBef>
                <a:spcPts val="1200"/>
              </a:spcBef>
            </a:pPr>
            <a:r>
              <a:rPr sz="1300" b="1">
                <a:solidFill>
                  <a:srgbClr val="222222"/>
                </a:solidFill>
                <a:latin typeface="Calibri"/>
              </a:rPr>
              <a:t>Each entry carries:</a:t>
            </a:r>
          </a:p>
          <a:p>
            <a:pPr algn="l">
              <a:spcBef>
                <a:spcPts val="200"/>
              </a:spcBef>
            </a:pPr>
            <a:r>
              <a:rPr sz="1200" b="0">
                <a:solidFill>
                  <a:srgbClr val="222222"/>
                </a:solidFill>
                <a:latin typeface="Consolas"/>
              </a:rPr>
              <a:t>  - originalArrivalTime (epoch ms)</a:t>
            </a:r>
          </a:p>
          <a:p>
            <a:pPr algn="l">
              <a:spcBef>
                <a:spcPts val="200"/>
              </a:spcBef>
            </a:pPr>
            <a:r>
              <a:rPr sz="1200" b="0">
                <a:solidFill>
                  <a:srgbClr val="222222"/>
                </a:solidFill>
                <a:latin typeface="Consolas"/>
              </a:rPr>
              <a:t>  - conversationId</a:t>
            </a:r>
          </a:p>
          <a:p>
            <a:pPr algn="l">
              <a:spcBef>
                <a:spcPts val="200"/>
              </a:spcBef>
            </a:pPr>
            <a:r>
              <a:rPr sz="1200" b="0">
                <a:solidFill>
                  <a:srgbClr val="222222"/>
                </a:solidFill>
                <a:latin typeface="Consolas"/>
              </a:rPr>
              <a:t>  - &lt;partlist&gt; with every participant's identity + displayName</a:t>
            </a:r>
          </a:p>
          <a:p>
            <a:pPr algn="l">
              <a:spcBef>
                <a:spcPts val="200"/>
              </a:spcBef>
            </a:pPr>
            <a:r>
              <a:rPr sz="1200" b="0">
                <a:solidFill>
                  <a:srgbClr val="222222"/>
                </a:solidFill>
                <a:latin typeface="Consolas"/>
              </a:rPr>
              <a:t>  - callId (UUID)</a:t>
            </a:r>
          </a:p>
          <a:p>
            <a:pPr algn="l">
              <a:spcBef>
                <a:spcPts val="200"/>
              </a:spcBef>
            </a:pPr>
            <a:r>
              <a:rPr sz="1200" b="0">
                <a:solidFill>
                  <a:srgbClr val="222222"/>
                </a:solidFill>
                <a:latin typeface="Consolas"/>
              </a:rPr>
              <a:t>  - callEventType (callEnded, missed, ...)</a:t>
            </a:r>
          </a:p>
          <a:p>
            <a:pPr algn="l">
              <a:spcBef>
                <a:spcPts val="1000"/>
              </a:spcBef>
            </a:pPr>
            <a:r>
              <a:rPr sz="1200" b="1">
                <a:solidFill>
                  <a:srgbClr val="4A7A4A"/>
                </a:solidFill>
                <a:latin typeface="Calibri"/>
              </a:rPr>
              <a:t>Verified live: 843 historical Event/Call entries in your local DB, going back ~2 years.</a:t>
            </a:r>
          </a:p>
        </p:txBody>
      </p:sp>
      <p:sp>
        <p:nvSpPr>
          <p:cNvPr id="6" name="Rectangle 5"/>
          <p:cNvSpPr/>
          <p:nvPr/>
        </p:nvSpPr>
        <p:spPr>
          <a:xfrm>
            <a:off x="6400800" y="1463040"/>
            <a:ext cx="5212080" cy="45720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0" y="1463040"/>
            <a:ext cx="73152" cy="45720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65392" y="1554480"/>
            <a:ext cx="4983480" cy="4389120"/>
          </a:xfrm>
          <a:prstGeom prst="rect">
            <a:avLst/>
          </a:prstGeom>
          <a:noFill/>
        </p:spPr>
        <p:txBody>
          <a:bodyPr wrap="square" lIns="0" tIns="0" rIns="0" bIns="0" anchor="t">
            <a:spAutoFit/>
          </a:bodyPr>
          <a:lstStyle/>
          <a:p>
            <a:pPr algn="l"/>
            <a:r>
              <a:rPr sz="1400" b="1">
                <a:solidFill>
                  <a:srgbClr val="6A4C93"/>
                </a:solidFill>
                <a:latin typeface="Calibri"/>
              </a:rPr>
              <a:t>resolve_client_for_recording()</a:t>
            </a:r>
          </a:p>
          <a:p>
            <a:pPr algn="l">
              <a:spcBef>
                <a:spcPts val="200"/>
              </a:spcBef>
            </a:pPr>
            <a:r>
              <a:rPr sz="1100" b="0">
                <a:solidFill>
                  <a:srgbClr val="222222"/>
                </a:solidFill>
                <a:latin typeface="Calibri"/>
              </a:rPr>
              <a:t>matched: True</a:t>
            </a:r>
          </a:p>
          <a:p>
            <a:pPr algn="l">
              <a:spcBef>
                <a:spcPts val="200"/>
              </a:spcBef>
            </a:pPr>
            <a:r>
              <a:rPr sz="1100" b="0">
                <a:solidFill>
                  <a:srgbClr val="222222"/>
                </a:solidFill>
                <a:latin typeface="Calibri"/>
              </a:rPr>
              <a:t>call_id: a19b7393-8865-4098-...</a:t>
            </a:r>
          </a:p>
          <a:p>
            <a:pPr algn="l">
              <a:spcBef>
                <a:spcPts val="200"/>
              </a:spcBef>
            </a:pPr>
            <a:r>
              <a:rPr sz="1100" b="0">
                <a:solidFill>
                  <a:srgbClr val="222222"/>
                </a:solidFill>
                <a:latin typeface="Calibri"/>
              </a:rPr>
              <a:t>call_type: callEnded</a:t>
            </a:r>
          </a:p>
          <a:p>
            <a:pPr algn="l">
              <a:spcBef>
                <a:spcPts val="200"/>
              </a:spcBef>
            </a:pPr>
            <a:r>
              <a:rPr sz="1100" b="0">
                <a:solidFill>
                  <a:srgbClr val="222222"/>
                </a:solidFill>
                <a:latin typeface="Calibri"/>
              </a:rPr>
              <a:t>client_name: Isruk H</a:t>
            </a:r>
          </a:p>
          <a:p>
            <a:pPr algn="l">
              <a:spcBef>
                <a:spcPts val="200"/>
              </a:spcBef>
            </a:pPr>
            <a:r>
              <a:rPr sz="1100" b="0">
                <a:solidFill>
                  <a:srgbClr val="222222"/>
                </a:solidFill>
                <a:latin typeface="Calibri"/>
              </a:rPr>
              <a:t>clients:</a:t>
            </a:r>
          </a:p>
          <a:p>
            <a:pPr algn="l">
              <a:spcBef>
                <a:spcPts val="200"/>
              </a:spcBef>
            </a:pPr>
            <a:r>
              <a:rPr sz="1100" b="0">
                <a:solidFill>
                  <a:srgbClr val="222222"/>
                </a:solidFill>
                <a:latin typeface="Calibri"/>
              </a:rPr>
              <a:t>  Isruk H</a:t>
            </a:r>
          </a:p>
          <a:p>
            <a:pPr algn="l">
              <a:spcBef>
                <a:spcPts val="200"/>
              </a:spcBef>
            </a:pPr>
            <a:r>
              <a:rPr sz="1100" b="0">
                <a:solidFill>
                  <a:srgbClr val="222222"/>
                </a:solidFill>
                <a:latin typeface="Calibri"/>
              </a:rPr>
              <a:t>  Md. Ahsan Habib Rocky</a:t>
            </a:r>
          </a:p>
          <a:p>
            <a:pPr algn="l">
              <a:spcBef>
                <a:spcPts val="200"/>
              </a:spcBef>
            </a:pPr>
            <a:r>
              <a:rPr sz="1100" b="0">
                <a:solidFill>
                  <a:srgbClr val="222222"/>
                </a:solidFill>
                <a:latin typeface="Calibri"/>
              </a:rPr>
              <a:t>  Atikur Zaman</a:t>
            </a:r>
          </a:p>
          <a:p>
            <a:pPr algn="l">
              <a:spcBef>
                <a:spcPts val="200"/>
              </a:spcBef>
            </a:pPr>
            <a:r>
              <a:rPr sz="1100" b="0">
                <a:solidFill>
                  <a:srgbClr val="222222"/>
                </a:solidFill>
                <a:latin typeface="Calibri"/>
              </a:rPr>
              <a:t>  Assad Zaman</a:t>
            </a:r>
          </a:p>
          <a:p>
            <a:pPr algn="l">
              <a:spcBef>
                <a:spcPts val="200"/>
              </a:spcBef>
            </a:pPr>
            <a:r>
              <a:rPr sz="1100" b="0">
                <a:solidFill>
                  <a:srgbClr val="222222"/>
                </a:solidFill>
                <a:latin typeface="Calibri"/>
              </a:rPr>
              <a:t>  Salman Ahmed Firoz</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(Kamrul Hasan / titucse stripped --</a:t>
            </a:r>
          </a:p>
          <a:p>
            <a:pPr algn="l">
              <a:spcBef>
                <a:spcPts val="200"/>
              </a:spcBef>
            </a:pPr>
            <a:r>
              <a:rPr sz="1100" b="0">
                <a:solidFill>
                  <a:srgbClr val="222222"/>
                </a:solidFill>
                <a:latin typeface="Calibri"/>
              </a:rPr>
              <a:t>  he's the current user)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What lands on MVPACCESS</a:t>
            </a:r>
          </a:p>
          <a:p>
            <a:pPr algn="l">
              <a:spcBef>
                <a:spcPts val="200"/>
              </a:spcBef>
            </a:pPr>
            <a:r>
              <a:rPr sz="1400" b="0">
                <a:solidFill>
                  <a:srgbClr val="6B7785"/>
                </a:solidFill>
                <a:latin typeface="Calibri"/>
              </a:rPr>
              <a:t>Predictable layout. One folder per dev per day.</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10698480" cy="5029200"/>
          </a:xfrm>
          <a:prstGeom prst="rect">
            <a:avLst/>
          </a:prstGeom>
          <a:noFill/>
        </p:spPr>
        <p:txBody>
          <a:bodyPr wrap="square" lIns="0" tIns="0" rIns="0" bIns="0" anchor="t">
            <a:spAutoFit/>
          </a:bodyPr>
          <a:lstStyle/>
          <a:p>
            <a:endParaRPr/>
          </a:p>
          <a:p>
            <a:pPr algn="l"/>
            <a:r>
              <a:rPr sz="1400" b="1">
                <a:solidFill>
                  <a:srgbClr val="1F4E79"/>
                </a:solidFill>
                <a:latin typeface="Consolas"/>
              </a:rPr>
              <a:t>C:\nucleus-central\</a:t>
            </a:r>
          </a:p>
          <a:p>
            <a:pPr algn="l">
              <a:spcBef>
                <a:spcPts val="100"/>
              </a:spcBef>
            </a:pPr>
            <a:r>
              <a:rPr sz="1200" b="0">
                <a:solidFill>
                  <a:srgbClr val="222222"/>
                </a:solidFill>
                <a:latin typeface="Consolas"/>
              </a:rPr>
              <a:t>    salman\2026-05-08\</a:t>
            </a:r>
          </a:p>
          <a:p>
            <a:pPr algn="l">
              <a:spcBef>
                <a:spcPts val="100"/>
              </a:spcBef>
            </a:pPr>
            <a:r>
              <a:rPr sz="1200" b="0">
                <a:solidFill>
                  <a:srgbClr val="222222"/>
                </a:solidFill>
                <a:latin typeface="Consolas"/>
              </a:rPr>
              <a:t>        calls\</a:t>
            </a:r>
          </a:p>
          <a:p>
            <a:pPr algn="l">
              <a:spcBef>
                <a:spcPts val="100"/>
              </a:spcBef>
            </a:pPr>
            <a:r>
              <a:rPr sz="1200" b="0">
                <a:solidFill>
                  <a:srgbClr val="222222"/>
                </a:solidFill>
                <a:latin typeface="Consolas"/>
              </a:rPr>
              <a:t>            20260508-100432_mic.wav        (mic track)</a:t>
            </a:r>
          </a:p>
          <a:p>
            <a:pPr algn="l">
              <a:spcBef>
                <a:spcPts val="100"/>
              </a:spcBef>
            </a:pPr>
            <a:r>
              <a:rPr sz="1200" b="0">
                <a:solidFill>
                  <a:srgbClr val="222222"/>
                </a:solidFill>
                <a:latin typeface="Consolas"/>
              </a:rPr>
              <a:t>            20260508-100432_speaker.wav    (speaker track)</a:t>
            </a:r>
          </a:p>
          <a:p>
            <a:pPr algn="l">
              <a:spcBef>
                <a:spcPts val="100"/>
              </a:spcBef>
            </a:pPr>
            <a:r>
              <a:rPr sz="1200" b="0">
                <a:solidFill>
                  <a:srgbClr val="222222"/>
                </a:solidFill>
                <a:latin typeface="Consolas"/>
              </a:rPr>
              <a:t>            20260508-100432.json           (metadata: dev, client, ...)</a:t>
            </a:r>
          </a:p>
          <a:p>
            <a:pPr algn="l">
              <a:spcBef>
                <a:spcPts val="100"/>
              </a:spcBef>
            </a:pPr>
            <a:r>
              <a:rPr sz="1200" b="0">
                <a:solidFill>
                  <a:srgbClr val="222222"/>
                </a:solidFill>
                <a:latin typeface="Consolas"/>
              </a:rPr>
              <a:t>        chat\</a:t>
            </a:r>
          </a:p>
          <a:p>
            <a:pPr algn="l">
              <a:spcBef>
                <a:spcPts val="100"/>
              </a:spcBef>
            </a:pPr>
            <a:r>
              <a:rPr sz="1200" b="0">
                <a:solidFill>
                  <a:srgbClr val="222222"/>
                </a:solidFill>
                <a:latin typeface="Consolas"/>
              </a:rPr>
              <a:t>            chat_2026-05-08_1000-1015.docx</a:t>
            </a:r>
          </a:p>
          <a:p>
            <a:pPr algn="l">
              <a:spcBef>
                <a:spcPts val="100"/>
              </a:spcBef>
            </a:pPr>
            <a:r>
              <a:rPr sz="1200" b="0">
                <a:solidFill>
                  <a:srgbClr val="222222"/>
                </a:solidFill>
                <a:latin typeface="Consolas"/>
              </a:rPr>
              <a:t>            chat_2026-05-08_1015-1030.docx</a:t>
            </a:r>
          </a:p>
          <a:p>
            <a:pPr algn="l">
              <a:spcBef>
                <a:spcPts val="100"/>
              </a:spcBef>
            </a:pPr>
            <a:r>
              <a:rPr sz="1200" b="0">
                <a:solidFill>
                  <a:srgbClr val="222222"/>
                </a:solidFill>
                <a:latin typeface="Consolas"/>
              </a:rPr>
              <a:t>    rocky\2026-05-08\</a:t>
            </a:r>
          </a:p>
          <a:p>
            <a:pPr algn="l">
              <a:spcBef>
                <a:spcPts val="100"/>
              </a:spcBef>
            </a:pPr>
            <a:r>
              <a:rPr sz="1200" b="0">
                <a:solidFill>
                  <a:srgbClr val="222222"/>
                </a:solidFill>
                <a:latin typeface="Consolas"/>
              </a:rPr>
              <a:t>        calls\</a:t>
            </a:r>
          </a:p>
          <a:p>
            <a:pPr algn="l">
              <a:spcBef>
                <a:spcPts val="100"/>
              </a:spcBef>
            </a:pPr>
            <a:r>
              <a:rPr sz="1200" b="0">
                <a:solidFill>
                  <a:srgbClr val="222222"/>
                </a:solidFill>
                <a:latin typeface="Consolas"/>
              </a:rPr>
              <a:t>            20260508-101512_mic.wav</a:t>
            </a:r>
          </a:p>
          <a:p>
            <a:pPr algn="l">
              <a:spcBef>
                <a:spcPts val="100"/>
              </a:spcBef>
            </a:pPr>
            <a:r>
              <a:rPr sz="1200" b="0">
                <a:solidFill>
                  <a:srgbClr val="222222"/>
                </a:solidFill>
                <a:latin typeface="Consolas"/>
              </a:rPr>
              <a:t>            20260508-101512_speaker.wav</a:t>
            </a:r>
          </a:p>
          <a:p>
            <a:pPr algn="l">
              <a:spcBef>
                <a:spcPts val="100"/>
              </a:spcBef>
            </a:pPr>
            <a:r>
              <a:rPr sz="1200" b="0">
                <a:solidFill>
                  <a:srgbClr val="222222"/>
                </a:solidFill>
                <a:latin typeface="Consolas"/>
              </a:rPr>
              <a:t>            20260508-101512.json</a:t>
            </a:r>
          </a:p>
          <a:p>
            <a:pPr algn="l">
              <a:spcBef>
                <a:spcPts val="100"/>
              </a:spcBef>
            </a:pPr>
            <a:r>
              <a:rPr sz="1200" b="0">
                <a:solidFill>
                  <a:srgbClr val="222222"/>
                </a:solidFill>
                <a:latin typeface="Consolas"/>
              </a:rPr>
              <a:t>        chat\</a:t>
            </a:r>
          </a:p>
          <a:p>
            <a:pPr algn="l">
              <a:spcBef>
                <a:spcPts val="100"/>
              </a:spcBef>
            </a:pPr>
            <a:r>
              <a:rPr sz="1200" b="0">
                <a:solidFill>
                  <a:srgbClr val="222222"/>
                </a:solidFill>
                <a:latin typeface="Consolas"/>
              </a:rPr>
              <a:t>            chat_2026-05-08_1015-1030.docx</a:t>
            </a:r>
          </a:p>
          <a:p>
            <a:pPr algn="l">
              <a:spcBef>
                <a:spcPts val="100"/>
              </a:spcBef>
            </a:pPr>
            <a:r>
              <a:rPr sz="1200" b="0">
                <a:solidFill>
                  <a:srgbClr val="222222"/>
                </a:solidFill>
                <a:latin typeface="Consolas"/>
              </a:rPr>
              <a:t>    isruk\2026-05-08\</a:t>
            </a:r>
          </a:p>
          <a:p>
            <a:pPr algn="l">
              <a:spcBef>
                <a:spcPts val="100"/>
              </a:spcBef>
            </a:pPr>
            <a:r>
              <a:rPr sz="1200" b="0">
                <a:solidFill>
                  <a:srgbClr val="222222"/>
                </a:solidFill>
                <a:latin typeface="Consolas"/>
              </a:rPr>
              <a:t>        ...</a:t>
            </a:r>
          </a:p>
          <a:p>
            <a:pPr algn="l">
              <a:spcBef>
                <a:spcPts val="1000"/>
              </a:spcBef>
            </a:pPr>
            <a:r>
              <a:rPr sz="1200" b="0">
                <a:solidFill>
                  <a:srgbClr val="6B7785"/>
                </a:solidFill>
                <a:latin typeface="Calibri"/>
              </a:rPr>
              <a:t>metadata.client_name comes from the IndexedDB resolver. collect_central uses substring match on this field to scope by client.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Per-client identification</a:t>
            </a:r>
          </a:p>
          <a:p>
            <a:pPr algn="l">
              <a:spcBef>
                <a:spcPts val="200"/>
              </a:spcBef>
            </a:pPr>
            <a:r>
              <a:rPr sz="1400" b="0">
                <a:solidFill>
                  <a:srgbClr val="6B7785"/>
                </a:solidFill>
                <a:latin typeface="Calibri"/>
              </a:rPr>
              <a:t>One pass. One verification email. One review.</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10698480" cy="1828800"/>
          </a:xfrm>
          <a:prstGeom prst="rect">
            <a:avLst/>
          </a:prstGeom>
          <a:noFill/>
        </p:spPr>
        <p:txBody>
          <a:bodyPr wrap="square" lIns="0" tIns="0" rIns="0" bIns="0" anchor="t">
            <a:spAutoFit/>
          </a:bodyPr>
          <a:lstStyle/>
          <a:p>
            <a:pPr algn="l"/>
            <a:r>
              <a:rPr sz="1400" b="1" dirty="0">
                <a:solidFill>
                  <a:srgbClr val="1F4E79"/>
                </a:solidFill>
                <a:latin typeface="Calibri"/>
              </a:rPr>
              <a:t>On MVPACCESS:</a:t>
            </a:r>
          </a:p>
          <a:p>
            <a:pPr algn="l">
              <a:spcBef>
                <a:spcPts val="400"/>
              </a:spcBef>
            </a:pPr>
            <a:r>
              <a:rPr sz="1300" b="0" dirty="0">
                <a:solidFill>
                  <a:srgbClr val="222222"/>
                </a:solidFill>
                <a:latin typeface="Consolas"/>
              </a:rPr>
              <a:t>    python collect_central.py --client "</a:t>
            </a:r>
            <a:r>
              <a:rPr sz="1300" b="0" dirty="0" err="1">
                <a:solidFill>
                  <a:srgbClr val="222222"/>
                </a:solidFill>
                <a:latin typeface="Consolas"/>
              </a:rPr>
              <a:t>Susmoy</a:t>
            </a:r>
            <a:r>
              <a:rPr sz="1300" b="0" dirty="0">
                <a:solidFill>
                  <a:srgbClr val="222222"/>
                </a:solidFill>
                <a:latin typeface="Consolas"/>
              </a:rPr>
              <a:t>"</a:t>
            </a:r>
          </a:p>
          <a:p>
            <a:pPr algn="l">
              <a:spcBef>
                <a:spcPts val="400"/>
              </a:spcBef>
            </a:pPr>
            <a:r>
              <a:rPr sz="1300" b="0" dirty="0">
                <a:solidFill>
                  <a:srgbClr val="222222"/>
                </a:solidFill>
                <a:latin typeface="Consolas"/>
              </a:rPr>
              <a:t>    python collect_central.py --client "</a:t>
            </a:r>
            <a:r>
              <a:rPr sz="1300" b="0" dirty="0" err="1">
                <a:solidFill>
                  <a:srgbClr val="222222"/>
                </a:solidFill>
                <a:latin typeface="Consolas"/>
              </a:rPr>
              <a:t>Isruk</a:t>
            </a:r>
            <a:r>
              <a:rPr sz="1300" b="0" dirty="0">
                <a:solidFill>
                  <a:srgbClr val="222222"/>
                </a:solidFill>
                <a:latin typeface="Consolas"/>
              </a:rPr>
              <a:t>" --day 2026-05-08</a:t>
            </a:r>
          </a:p>
          <a:p>
            <a:pPr algn="l">
              <a:spcBef>
                <a:spcPts val="400"/>
              </a:spcBef>
            </a:pPr>
            <a:r>
              <a:rPr sz="1300" b="0" dirty="0">
                <a:solidFill>
                  <a:srgbClr val="222222"/>
                </a:solidFill>
                <a:latin typeface="Consolas"/>
              </a:rPr>
              <a:t>    python collect_central.py --client all --no-identify    # inspect first</a:t>
            </a:r>
          </a:p>
        </p:txBody>
      </p:sp>
      <p:sp>
        <p:nvSpPr>
          <p:cNvPr id="6" name="Rectangle 5"/>
          <p:cNvSpPr/>
          <p:nvPr/>
        </p:nvSpPr>
        <p:spPr>
          <a:xfrm>
            <a:off x="731520" y="3657600"/>
            <a:ext cx="2194560" cy="22860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657600"/>
            <a:ext cx="73152" cy="22860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3749040"/>
            <a:ext cx="1965960" cy="2103120"/>
          </a:xfrm>
          <a:prstGeom prst="rect">
            <a:avLst/>
          </a:prstGeom>
          <a:noFill/>
        </p:spPr>
        <p:txBody>
          <a:bodyPr wrap="square" lIns="0" tIns="0" rIns="0" bIns="0" anchor="t">
            <a:spAutoFit/>
          </a:bodyPr>
          <a:lstStyle/>
          <a:p>
            <a:pPr algn="l"/>
            <a:r>
              <a:rPr sz="1400" b="1">
                <a:solidFill>
                  <a:srgbClr val="2E8A8A"/>
                </a:solidFill>
                <a:latin typeface="Calibri"/>
              </a:rPr>
              <a:t>scan central tree</a:t>
            </a:r>
          </a:p>
          <a:p>
            <a:pPr algn="l">
              <a:spcBef>
                <a:spcPts val="200"/>
              </a:spcBef>
            </a:pPr>
            <a:endParaRPr sz="1400" b="1">
              <a:solidFill>
                <a:srgbClr val="2E8A8A"/>
              </a:solidFill>
              <a:latin typeface="Calibri"/>
            </a:endParaRPr>
          </a:p>
          <a:p>
            <a:pPr algn="l">
              <a:spcBef>
                <a:spcPts val="200"/>
              </a:spcBef>
            </a:pPr>
            <a:endParaRPr sz="1400" b="1">
              <a:solidFill>
                <a:srgbClr val="2E8A8A"/>
              </a:solidFill>
              <a:latin typeface="Calibri"/>
            </a:endParaRPr>
          </a:p>
          <a:p>
            <a:pPr algn="l">
              <a:spcBef>
                <a:spcPts val="200"/>
              </a:spcBef>
            </a:pPr>
            <a:endParaRPr sz="1400" b="1">
              <a:solidFill>
                <a:srgbClr val="2E8A8A"/>
              </a:solidFill>
              <a:latin typeface="Calibri"/>
            </a:endParaRPr>
          </a:p>
          <a:p>
            <a:pPr algn="l">
              <a:spcBef>
                <a:spcPts val="200"/>
              </a:spcBef>
            </a:pPr>
            <a:endParaRPr sz="1400" b="1">
              <a:solidFill>
                <a:srgbClr val="2E8A8A"/>
              </a:solidFill>
              <a:latin typeface="Calibri"/>
            </a:endParaRPr>
          </a:p>
        </p:txBody>
      </p:sp>
      <p:sp>
        <p:nvSpPr>
          <p:cNvPr id="9" name="Rounded Rectangle 8"/>
          <p:cNvSpPr/>
          <p:nvPr/>
        </p:nvSpPr>
        <p:spPr>
          <a:xfrm>
            <a:off x="868680" y="4160520"/>
            <a:ext cx="50292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1</a:t>
            </a:r>
          </a:p>
        </p:txBody>
      </p:sp>
      <p:sp>
        <p:nvSpPr>
          <p:cNvPr id="10" name="Rectangle 9"/>
          <p:cNvSpPr/>
          <p:nvPr/>
        </p:nvSpPr>
        <p:spPr>
          <a:xfrm>
            <a:off x="3108960" y="3657600"/>
            <a:ext cx="2194560" cy="22860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108960" y="3657600"/>
            <a:ext cx="73152" cy="22860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73552" y="3749040"/>
            <a:ext cx="1965960" cy="2103120"/>
          </a:xfrm>
          <a:prstGeom prst="rect">
            <a:avLst/>
          </a:prstGeom>
          <a:noFill/>
        </p:spPr>
        <p:txBody>
          <a:bodyPr wrap="square" lIns="0" tIns="0" rIns="0" bIns="0" anchor="t">
            <a:spAutoFit/>
          </a:bodyPr>
          <a:lstStyle/>
          <a:p>
            <a:pPr algn="l"/>
            <a:r>
              <a:rPr sz="1400" b="1">
                <a:solidFill>
                  <a:srgbClr val="6A4C93"/>
                </a:solidFill>
                <a:latin typeface="Calibri"/>
              </a:rPr>
              <a:t>filter by client</a:t>
            </a:r>
          </a:p>
          <a:p>
            <a:pPr algn="l">
              <a:spcBef>
                <a:spcPts val="200"/>
              </a:spcBef>
            </a:pPr>
            <a:endParaRPr sz="1400" b="1">
              <a:solidFill>
                <a:srgbClr val="6A4C93"/>
              </a:solidFill>
              <a:latin typeface="Calibri"/>
            </a:endParaRPr>
          </a:p>
          <a:p>
            <a:pPr algn="l">
              <a:spcBef>
                <a:spcPts val="200"/>
              </a:spcBef>
            </a:pPr>
            <a:endParaRPr sz="1400" b="1">
              <a:solidFill>
                <a:srgbClr val="6A4C93"/>
              </a:solidFill>
              <a:latin typeface="Calibri"/>
            </a:endParaRPr>
          </a:p>
          <a:p>
            <a:pPr algn="l">
              <a:spcBef>
                <a:spcPts val="200"/>
              </a:spcBef>
            </a:pPr>
            <a:endParaRPr sz="1400" b="1">
              <a:solidFill>
                <a:srgbClr val="6A4C93"/>
              </a:solidFill>
              <a:latin typeface="Calibri"/>
            </a:endParaRPr>
          </a:p>
          <a:p>
            <a:pPr algn="l">
              <a:spcBef>
                <a:spcPts val="200"/>
              </a:spcBef>
            </a:pPr>
            <a:endParaRPr sz="1400" b="1">
              <a:solidFill>
                <a:srgbClr val="6A4C93"/>
              </a:solidFill>
              <a:latin typeface="Calibri"/>
            </a:endParaRPr>
          </a:p>
        </p:txBody>
      </p:sp>
      <p:sp>
        <p:nvSpPr>
          <p:cNvPr id="13" name="Rounded Rectangle 12"/>
          <p:cNvSpPr/>
          <p:nvPr/>
        </p:nvSpPr>
        <p:spPr>
          <a:xfrm>
            <a:off x="3246120" y="4160520"/>
            <a:ext cx="502920" cy="502920"/>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2</a:t>
            </a:r>
          </a:p>
        </p:txBody>
      </p:sp>
      <p:sp>
        <p:nvSpPr>
          <p:cNvPr id="14" name="Rectangle 13"/>
          <p:cNvSpPr/>
          <p:nvPr/>
        </p:nvSpPr>
        <p:spPr>
          <a:xfrm>
            <a:off x="5486400" y="3657600"/>
            <a:ext cx="2194560" cy="22860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0" y="3657600"/>
            <a:ext cx="73152" cy="228600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50992" y="3749040"/>
            <a:ext cx="1965960" cy="2103120"/>
          </a:xfrm>
          <a:prstGeom prst="rect">
            <a:avLst/>
          </a:prstGeom>
          <a:noFill/>
        </p:spPr>
        <p:txBody>
          <a:bodyPr wrap="square" lIns="0" tIns="0" rIns="0" bIns="0" anchor="t">
            <a:spAutoFit/>
          </a:bodyPr>
          <a:lstStyle/>
          <a:p>
            <a:pPr algn="l"/>
            <a:r>
              <a:rPr sz="1400" b="1">
                <a:solidFill>
                  <a:srgbClr val="E07856"/>
                </a:solidFill>
                <a:latin typeface="Calibri"/>
              </a:rPr>
              <a:t>transcribe + build session doc</a:t>
            </a:r>
          </a:p>
          <a:p>
            <a:pPr algn="l">
              <a:spcBef>
                <a:spcPts val="200"/>
              </a:spcBef>
            </a:pPr>
            <a:endParaRPr sz="1400" b="1">
              <a:solidFill>
                <a:srgbClr val="E07856"/>
              </a:solidFill>
              <a:latin typeface="Calibri"/>
            </a:endParaRPr>
          </a:p>
          <a:p>
            <a:pPr algn="l">
              <a:spcBef>
                <a:spcPts val="200"/>
              </a:spcBef>
            </a:pPr>
            <a:endParaRPr sz="1400" b="1">
              <a:solidFill>
                <a:srgbClr val="E07856"/>
              </a:solidFill>
              <a:latin typeface="Calibri"/>
            </a:endParaRPr>
          </a:p>
          <a:p>
            <a:pPr algn="l">
              <a:spcBef>
                <a:spcPts val="200"/>
              </a:spcBef>
            </a:pPr>
            <a:endParaRPr sz="1400" b="1">
              <a:solidFill>
                <a:srgbClr val="E07856"/>
              </a:solidFill>
              <a:latin typeface="Calibri"/>
            </a:endParaRPr>
          </a:p>
          <a:p>
            <a:pPr algn="l">
              <a:spcBef>
                <a:spcPts val="200"/>
              </a:spcBef>
            </a:pPr>
            <a:endParaRPr sz="1400" b="1">
              <a:solidFill>
                <a:srgbClr val="E07856"/>
              </a:solidFill>
              <a:latin typeface="Calibri"/>
            </a:endParaRPr>
          </a:p>
        </p:txBody>
      </p:sp>
      <p:sp>
        <p:nvSpPr>
          <p:cNvPr id="17" name="Rounded Rectangle 16"/>
          <p:cNvSpPr/>
          <p:nvPr/>
        </p:nvSpPr>
        <p:spPr>
          <a:xfrm>
            <a:off x="5623560" y="4160520"/>
            <a:ext cx="502920" cy="50292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3</a:t>
            </a:r>
          </a:p>
        </p:txBody>
      </p:sp>
      <p:sp>
        <p:nvSpPr>
          <p:cNvPr id="18" name="Rectangle 17"/>
          <p:cNvSpPr/>
          <p:nvPr/>
        </p:nvSpPr>
        <p:spPr>
          <a:xfrm>
            <a:off x="7863840" y="3657600"/>
            <a:ext cx="2194560" cy="22860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63840" y="3657600"/>
            <a:ext cx="73152" cy="228600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28432" y="3749040"/>
            <a:ext cx="1965960" cy="2103120"/>
          </a:xfrm>
          <a:prstGeom prst="rect">
            <a:avLst/>
          </a:prstGeom>
          <a:noFill/>
        </p:spPr>
        <p:txBody>
          <a:bodyPr wrap="square" lIns="0" tIns="0" rIns="0" bIns="0" anchor="t">
            <a:spAutoFit/>
          </a:bodyPr>
          <a:lstStyle/>
          <a:p>
            <a:pPr algn="l"/>
            <a:r>
              <a:rPr sz="1400" b="1">
                <a:solidFill>
                  <a:srgbClr val="4A7A4A"/>
                </a:solidFill>
                <a:latin typeface="Calibri"/>
              </a:rPr>
              <a:t>verify_session -&gt; .eml in Drafts</a:t>
            </a:r>
          </a:p>
          <a:p>
            <a:pPr algn="l">
              <a:spcBef>
                <a:spcPts val="200"/>
              </a:spcBef>
            </a:pPr>
            <a:endParaRPr sz="1400" b="1">
              <a:solidFill>
                <a:srgbClr val="4A7A4A"/>
              </a:solidFill>
              <a:latin typeface="Calibri"/>
            </a:endParaRPr>
          </a:p>
          <a:p>
            <a:pPr algn="l">
              <a:spcBef>
                <a:spcPts val="200"/>
              </a:spcBef>
            </a:pPr>
            <a:endParaRPr sz="1400" b="1">
              <a:solidFill>
                <a:srgbClr val="4A7A4A"/>
              </a:solidFill>
              <a:latin typeface="Calibri"/>
            </a:endParaRPr>
          </a:p>
          <a:p>
            <a:pPr algn="l">
              <a:spcBef>
                <a:spcPts val="200"/>
              </a:spcBef>
            </a:pPr>
            <a:endParaRPr sz="1400" b="1">
              <a:solidFill>
                <a:srgbClr val="4A7A4A"/>
              </a:solidFill>
              <a:latin typeface="Calibri"/>
            </a:endParaRPr>
          </a:p>
          <a:p>
            <a:pPr algn="l">
              <a:spcBef>
                <a:spcPts val="200"/>
              </a:spcBef>
            </a:pPr>
            <a:endParaRPr sz="1400" b="1">
              <a:solidFill>
                <a:srgbClr val="4A7A4A"/>
              </a:solidFill>
              <a:latin typeface="Calibri"/>
            </a:endParaRPr>
          </a:p>
        </p:txBody>
      </p:sp>
      <p:sp>
        <p:nvSpPr>
          <p:cNvPr id="21" name="Rounded Rectangle 20"/>
          <p:cNvSpPr/>
          <p:nvPr/>
        </p:nvSpPr>
        <p:spPr>
          <a:xfrm>
            <a:off x="8001000" y="4160520"/>
            <a:ext cx="502920" cy="50292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What the boss sees</a:t>
            </a:r>
          </a:p>
          <a:p>
            <a:pPr algn="l">
              <a:spcBef>
                <a:spcPts val="200"/>
              </a:spcBef>
            </a:pPr>
            <a:r>
              <a:rPr sz="1400" b="0">
                <a:solidFill>
                  <a:srgbClr val="6B7785"/>
                </a:solidFill>
                <a:latin typeface="Calibri"/>
              </a:rPr>
              <a:t>One email per client per day, with two attachments.</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371600"/>
            <a:ext cx="5486400" cy="4572000"/>
          </a:xfrm>
          <a:prstGeom prst="rect">
            <a:avLst/>
          </a:prstGeom>
          <a:noFill/>
        </p:spPr>
        <p:txBody>
          <a:bodyPr wrap="square" lIns="0" tIns="0" rIns="0" bIns="0" anchor="t">
            <a:spAutoFit/>
          </a:bodyPr>
          <a:lstStyle/>
          <a:p>
            <a:pPr algn="l"/>
            <a:r>
              <a:rPr sz="1500" b="1">
                <a:solidFill>
                  <a:srgbClr val="1F4E79"/>
                </a:solidFill>
                <a:latin typeface="Calibri"/>
              </a:rPr>
              <a:t>Verification email (Gmail Drafts)</a:t>
            </a:r>
          </a:p>
          <a:p>
            <a:pPr algn="l">
              <a:spcBef>
                <a:spcPts val="600"/>
              </a:spcBef>
            </a:pPr>
            <a:r>
              <a:rPr sz="1200" b="0">
                <a:solidFill>
                  <a:srgbClr val="222222"/>
                </a:solidFill>
                <a:latin typeface="Consolas"/>
              </a:rPr>
              <a:t>From: Mohammad &lt;khasan@ael-bd.com&gt;</a:t>
            </a:r>
          </a:p>
          <a:p>
            <a:pPr algn="l">
              <a:spcBef>
                <a:spcPts val="200"/>
              </a:spcBef>
            </a:pPr>
            <a:r>
              <a:rPr sz="1200" b="0">
                <a:solidFill>
                  <a:srgbClr val="222222"/>
                </a:solidFill>
                <a:latin typeface="Consolas"/>
              </a:rPr>
              <a:t>To: &lt;client&gt;@&lt;domain&gt;</a:t>
            </a:r>
          </a:p>
          <a:p>
            <a:pPr algn="l">
              <a:spcBef>
                <a:spcPts val="200"/>
              </a:spcBef>
            </a:pPr>
            <a:r>
              <a:rPr sz="1200" b="0">
                <a:solidFill>
                  <a:srgbClr val="222222"/>
                </a:solidFill>
                <a:latin typeface="Consolas"/>
              </a:rPr>
              <a:t>Subject: Requirements Verification - 2026-05-08</a:t>
            </a:r>
          </a:p>
          <a:p>
            <a:pPr algn="l">
              <a:spcBef>
                <a:spcPts val="1000"/>
              </a:spcBef>
            </a:pPr>
            <a:r>
              <a:rPr sz="1300" b="1">
                <a:solidFill>
                  <a:srgbClr val="1F4E79"/>
                </a:solidFill>
                <a:latin typeface="Calibri"/>
              </a:rPr>
              <a:t>Attachments (2):</a:t>
            </a:r>
          </a:p>
          <a:p>
            <a:pPr algn="l">
              <a:spcBef>
                <a:spcPts val="400"/>
              </a:spcBef>
            </a:pPr>
            <a:r>
              <a:rPr sz="1200" b="0">
                <a:solidFill>
                  <a:srgbClr val="222222"/>
                </a:solidFill>
                <a:latin typeface="Consolas"/>
              </a:rPr>
              <a:t>    Requirements Verification 2026-05-08.docx</a:t>
            </a:r>
          </a:p>
          <a:p>
            <a:pPr algn="l">
              <a:spcBef>
                <a:spcPts val="100"/>
              </a:spcBef>
            </a:pPr>
            <a:r>
              <a:rPr sz="1100" b="0">
                <a:solidFill>
                  <a:srgbClr val="6B7785"/>
                </a:solidFill>
                <a:latin typeface="Calibri"/>
              </a:rPr>
              <a:t>        the curated list</a:t>
            </a:r>
          </a:p>
          <a:p>
            <a:pPr algn="l">
              <a:spcBef>
                <a:spcPts val="600"/>
              </a:spcBef>
            </a:pPr>
            <a:r>
              <a:rPr sz="1200" b="0">
                <a:solidFill>
                  <a:srgbClr val="222222"/>
                </a:solidFill>
                <a:latin typeface="Consolas"/>
              </a:rPr>
              <a:t>    Pull Session 2026-05-08.docx</a:t>
            </a:r>
          </a:p>
          <a:p>
            <a:pPr algn="l">
              <a:spcBef>
                <a:spcPts val="100"/>
              </a:spcBef>
            </a:pPr>
            <a:r>
              <a:rPr sz="1100" b="0">
                <a:solidFill>
                  <a:srgbClr val="6B7785"/>
                </a:solidFill>
                <a:latin typeface="Calibri"/>
              </a:rPr>
              <a:t>        the raw source material so they can cross-check</a:t>
            </a:r>
          </a:p>
        </p:txBody>
      </p:sp>
      <p:sp>
        <p:nvSpPr>
          <p:cNvPr id="6" name="Rectangle 5"/>
          <p:cNvSpPr/>
          <p:nvPr/>
        </p:nvSpPr>
        <p:spPr>
          <a:xfrm>
            <a:off x="6400800" y="1371600"/>
            <a:ext cx="5212080" cy="45720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0" y="1371600"/>
            <a:ext cx="73152" cy="45720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65392" y="1463040"/>
            <a:ext cx="4983480" cy="4389120"/>
          </a:xfrm>
          <a:prstGeom prst="rect">
            <a:avLst/>
          </a:prstGeom>
          <a:noFill/>
        </p:spPr>
        <p:txBody>
          <a:bodyPr wrap="square" lIns="0" tIns="0" rIns="0" bIns="0" anchor="t">
            <a:spAutoFit/>
          </a:bodyPr>
          <a:lstStyle/>
          <a:p>
            <a:pPr algn="l"/>
            <a:r>
              <a:rPr sz="1400" b="1">
                <a:solidFill>
                  <a:srgbClr val="C9962B"/>
                </a:solidFill>
                <a:latin typeface="Calibri"/>
              </a:rPr>
              <a:t>Requirements Verification (sample)</a:t>
            </a:r>
          </a:p>
          <a:p>
            <a:pPr algn="l">
              <a:spcBef>
                <a:spcPts val="200"/>
              </a:spcBef>
            </a:pPr>
            <a:r>
              <a:rPr sz="1100" b="0">
                <a:solidFill>
                  <a:srgbClr val="222222"/>
                </a:solidFill>
                <a:latin typeface="Calibri"/>
              </a:rPr>
              <a:t>1. Operator Management feature</a:t>
            </a:r>
          </a:p>
          <a:p>
            <a:pPr algn="l">
              <a:spcBef>
                <a:spcPts val="200"/>
              </a:spcBef>
            </a:pPr>
            <a:r>
              <a:rPr sz="1100" b="0">
                <a:solidFill>
                  <a:srgbClr val="222222"/>
                </a:solidFill>
                <a:latin typeface="Calibri"/>
              </a:rPr>
              <a:t>    Full CRUD, search filters, pagination,</a:t>
            </a:r>
          </a:p>
          <a:p>
            <a:pPr algn="l">
              <a:spcBef>
                <a:spcPts val="200"/>
              </a:spcBef>
            </a:pPr>
            <a:r>
              <a:rPr sz="1100" b="0">
                <a:solidFill>
                  <a:srgbClr val="222222"/>
                </a:solidFill>
                <a:latin typeface="Calibri"/>
              </a:rPr>
              <a:t>    role-based access via Setup Roles +</a:t>
            </a:r>
          </a:p>
          <a:p>
            <a:pPr algn="l">
              <a:spcBef>
                <a:spcPts val="200"/>
              </a:spcBef>
            </a:pPr>
            <a:r>
              <a:rPr sz="1100" b="0">
                <a:solidFill>
                  <a:srgbClr val="222222"/>
                </a:solidFill>
                <a:latin typeface="Calibri"/>
              </a:rPr>
              <a:t>    Setup Partition Groups, audit logging.</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2. Setup Partition Group</a:t>
            </a:r>
          </a:p>
          <a:p>
            <a:pPr algn="l">
              <a:spcBef>
                <a:spcPts val="200"/>
              </a:spcBef>
            </a:pPr>
            <a:r>
              <a:rPr sz="1100" b="0">
                <a:solidFill>
                  <a:srgbClr val="222222"/>
                </a:solidFill>
                <a:latin typeface="Calibri"/>
              </a:rPr>
              <a:t>    Add / edit / delete with confirmation,</a:t>
            </a:r>
          </a:p>
          <a:p>
            <a:pPr algn="l">
              <a:spcBef>
                <a:spcPts val="200"/>
              </a:spcBef>
            </a:pPr>
            <a:r>
              <a:rPr sz="1100" b="0">
                <a:solidFill>
                  <a:srgbClr val="222222"/>
                </a:solidFill>
                <a:latin typeface="Calibri"/>
              </a:rPr>
              <a:t>    paginated grid (configurable page size),</a:t>
            </a:r>
          </a:p>
          <a:p>
            <a:pPr algn="l">
              <a:spcBef>
                <a:spcPts val="200"/>
              </a:spcBef>
            </a:pPr>
            <a:r>
              <a:rPr sz="1100" b="0">
                <a:solidFill>
                  <a:srgbClr val="222222"/>
                </a:solidFill>
                <a:latin typeface="Calibri"/>
              </a:rPr>
              <a:t>    search field.</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3. Secure Logout</a:t>
            </a:r>
          </a:p>
          <a:p>
            <a:pPr algn="l">
              <a:spcBef>
                <a:spcPts val="200"/>
              </a:spcBef>
            </a:pPr>
            <a:r>
              <a:rPr sz="1100" b="0">
                <a:solidFill>
                  <a:srgbClr val="222222"/>
                </a:solidFill>
                <a:latin typeface="Calibri"/>
              </a:rPr>
              <a:t>    Session termination, token invalidation,</a:t>
            </a:r>
          </a:p>
          <a:p>
            <a:pPr algn="l">
              <a:spcBef>
                <a:spcPts val="200"/>
              </a:spcBef>
            </a:pPr>
            <a:r>
              <a:rPr sz="1100" b="0">
                <a:solidFill>
                  <a:srgbClr val="222222"/>
                </a:solidFill>
                <a:latin typeface="Calibri"/>
              </a:rPr>
              <a:t>    redirect to login, clear cached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Deployment</a:t>
            </a:r>
          </a:p>
          <a:p>
            <a:pPr algn="l">
              <a:spcBef>
                <a:spcPts val="200"/>
              </a:spcBef>
            </a:pPr>
            <a:r>
              <a:rPr sz="1400" b="0">
                <a:solidFill>
                  <a:srgbClr val="6B7785"/>
                </a:solidFill>
                <a:latin typeface="Calibri"/>
              </a:rPr>
              <a:t>Three install patterns. One commit. ~10 minutes per role.</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371600"/>
            <a:ext cx="3749039" cy="48463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371600"/>
            <a:ext cx="73152" cy="48463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463040"/>
            <a:ext cx="3520439" cy="4663440"/>
          </a:xfrm>
          <a:prstGeom prst="rect">
            <a:avLst/>
          </a:prstGeom>
          <a:noFill/>
        </p:spPr>
        <p:txBody>
          <a:bodyPr wrap="square" lIns="0" tIns="0" rIns="0" bIns="0" anchor="t">
            <a:spAutoFit/>
          </a:bodyPr>
          <a:lstStyle/>
          <a:p>
            <a:pPr algn="l"/>
            <a:r>
              <a:rPr sz="1400" b="1">
                <a:solidFill>
                  <a:srgbClr val="1F4E79"/>
                </a:solidFill>
                <a:latin typeface="Calibri"/>
              </a:rPr>
              <a:t>MVPACCESS (one-time)</a:t>
            </a:r>
          </a:p>
          <a:p>
            <a:pPr algn="l">
              <a:spcBef>
                <a:spcPts val="200"/>
              </a:spcBef>
            </a:pPr>
            <a:r>
              <a:rPr sz="1100" b="0">
                <a:solidFill>
                  <a:srgbClr val="222222"/>
                </a:solidFill>
                <a:latin typeface="Calibri"/>
              </a:rPr>
              <a:t>AS ADMIN ON THE VM:</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  git clone napco-labs/napco-nucleus</a:t>
            </a:r>
          </a:p>
          <a:p>
            <a:pPr algn="l">
              <a:spcBef>
                <a:spcPts val="200"/>
              </a:spcBef>
            </a:pPr>
            <a:r>
              <a:rPr sz="1100" b="0">
                <a:solidFill>
                  <a:srgbClr val="222222"/>
                </a:solidFill>
                <a:latin typeface="Calibri"/>
              </a:rPr>
              <a:t>  scripts\setup.bat</a:t>
            </a:r>
          </a:p>
          <a:p>
            <a:pPr algn="l">
              <a:spcBef>
                <a:spcPts val="200"/>
              </a:spcBef>
            </a:pPr>
            <a:r>
              <a:rPr sz="1100" b="0">
                <a:solidFill>
                  <a:srgbClr val="222222"/>
                </a:solidFill>
                <a:latin typeface="Calibri"/>
              </a:rPr>
              <a:t>  Create SMB share \\172.16.205.209\nucleus-central</a:t>
            </a:r>
          </a:p>
          <a:p>
            <a:pPr algn="l">
              <a:spcBef>
                <a:spcPts val="200"/>
              </a:spcBef>
            </a:pPr>
            <a:r>
              <a:rPr sz="1100" b="0">
                <a:solidFill>
                  <a:srgbClr val="222222"/>
                </a:solidFill>
                <a:latin typeface="Calibri"/>
              </a:rPr>
              <a:t>  Open firewall (port 445 from .205.0/24)</a:t>
            </a:r>
          </a:p>
          <a:p>
            <a:pPr algn="l">
              <a:spcBef>
                <a:spcPts val="200"/>
              </a:spcBef>
            </a:pPr>
            <a:r>
              <a:rPr sz="1100" b="0">
                <a:solidFill>
                  <a:srgbClr val="222222"/>
                </a:solidFill>
                <a:latin typeface="Calibri"/>
              </a:rPr>
              <a:t>  Set NUCLEUS_CENTRAL_PATH=C:\nucleus-central in .env</a:t>
            </a:r>
          </a:p>
          <a:p>
            <a:pPr algn="l">
              <a:spcBef>
                <a:spcPts val="200"/>
              </a:spcBef>
            </a:pPr>
            <a:r>
              <a:rPr sz="1100" b="0">
                <a:solidFill>
                  <a:srgbClr val="222222"/>
                </a:solidFill>
                <a:latin typeface="Calibri"/>
              </a:rPr>
              <a:t>  Verify Claude Max auth: claude --version</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Estimated: 30 min including network/firewall.</a:t>
            </a:r>
          </a:p>
        </p:txBody>
      </p:sp>
      <p:sp>
        <p:nvSpPr>
          <p:cNvPr id="8" name="Rectangle 7"/>
          <p:cNvSpPr/>
          <p:nvPr/>
        </p:nvSpPr>
        <p:spPr>
          <a:xfrm>
            <a:off x="4206240" y="1371600"/>
            <a:ext cx="3749039" cy="48463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06240" y="1371600"/>
            <a:ext cx="73152" cy="484632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70832" y="1463040"/>
            <a:ext cx="3520439" cy="4663440"/>
          </a:xfrm>
          <a:prstGeom prst="rect">
            <a:avLst/>
          </a:prstGeom>
          <a:noFill/>
        </p:spPr>
        <p:txBody>
          <a:bodyPr wrap="square" lIns="0" tIns="0" rIns="0" bIns="0" anchor="t">
            <a:spAutoFit/>
          </a:bodyPr>
          <a:lstStyle/>
          <a:p>
            <a:pPr algn="l"/>
            <a:r>
              <a:rPr sz="1400" b="1">
                <a:solidFill>
                  <a:srgbClr val="2E8A8A"/>
                </a:solidFill>
                <a:latin typeface="Calibri"/>
              </a:rPr>
              <a:t>Each dev (per teammate)</a:t>
            </a:r>
          </a:p>
          <a:p>
            <a:pPr algn="l">
              <a:spcBef>
                <a:spcPts val="200"/>
              </a:spcBef>
            </a:pPr>
            <a:r>
              <a:rPr sz="1100" b="0">
                <a:solidFill>
                  <a:srgbClr val="222222"/>
                </a:solidFill>
                <a:latin typeface="Calibri"/>
              </a:rPr>
              <a:t>AS THE LOGGED-IN USER:</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  git clone</a:t>
            </a:r>
          </a:p>
          <a:p>
            <a:pPr algn="l">
              <a:spcBef>
                <a:spcPts val="200"/>
              </a:spcBef>
            </a:pPr>
            <a:r>
              <a:rPr sz="1100" b="0">
                <a:solidFill>
                  <a:srgbClr val="222222"/>
                </a:solidFill>
                <a:latin typeface="Calibri"/>
              </a:rPr>
              <a:t>  scripts\setup.bat (winget Python, .venv, .env, ...)</a:t>
            </a:r>
          </a:p>
          <a:p>
            <a:pPr algn="l">
              <a:spcBef>
                <a:spcPts val="200"/>
              </a:spcBef>
            </a:pPr>
            <a:r>
              <a:rPr sz="1100" b="0">
                <a:solidFill>
                  <a:srgbClr val="222222"/>
                </a:solidFill>
                <a:latin typeface="Calibri"/>
              </a:rPr>
              <a:t>  net use \\172.16.205.209\nucleus-central /persistent:yes</a:t>
            </a:r>
          </a:p>
          <a:p>
            <a:pPr algn="l">
              <a:spcBef>
                <a:spcPts val="200"/>
              </a:spcBef>
            </a:pPr>
            <a:r>
              <a:rPr sz="1100" b="0">
                <a:solidFill>
                  <a:srgbClr val="222222"/>
                </a:solidFill>
                <a:latin typeface="Calibri"/>
              </a:rPr>
              <a:t>  scripts\register-chat-push-task.ps1</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Day-to-day:</a:t>
            </a:r>
          </a:p>
          <a:p>
            <a:pPr algn="l">
              <a:spcBef>
                <a:spcPts val="200"/>
              </a:spcBef>
            </a:pPr>
            <a:r>
              <a:rPr sz="1100" b="0">
                <a:solidFill>
                  <a:srgbClr val="222222"/>
                </a:solidFill>
                <a:latin typeface="Calibri"/>
              </a:rPr>
              <a:t>  scripts\start-daemon.bat at start of day</a:t>
            </a:r>
          </a:p>
          <a:p>
            <a:pPr algn="l">
              <a:spcBef>
                <a:spcPts val="200"/>
              </a:spcBef>
            </a:pPr>
            <a:r>
              <a:rPr sz="1100" b="0">
                <a:solidFill>
                  <a:srgbClr val="222222"/>
                </a:solidFill>
                <a:latin typeface="Calibri"/>
              </a:rPr>
              <a:t>  Talk normally during calls.</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Estimated: 10 min per teammate.</a:t>
            </a:r>
          </a:p>
        </p:txBody>
      </p:sp>
      <p:sp>
        <p:nvSpPr>
          <p:cNvPr id="11" name="Rectangle 10"/>
          <p:cNvSpPr/>
          <p:nvPr/>
        </p:nvSpPr>
        <p:spPr>
          <a:xfrm>
            <a:off x="8046720" y="1371600"/>
            <a:ext cx="3749039" cy="48463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46720" y="1371600"/>
            <a:ext cx="73152" cy="484632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11312" y="1463040"/>
            <a:ext cx="3520439" cy="4663440"/>
          </a:xfrm>
          <a:prstGeom prst="rect">
            <a:avLst/>
          </a:prstGeom>
          <a:noFill/>
        </p:spPr>
        <p:txBody>
          <a:bodyPr wrap="square" lIns="0" tIns="0" rIns="0" bIns="0" anchor="t">
            <a:spAutoFit/>
          </a:bodyPr>
          <a:lstStyle/>
          <a:p>
            <a:pPr algn="l"/>
            <a:r>
              <a:rPr sz="1400" b="1">
                <a:solidFill>
                  <a:srgbClr val="C9962B"/>
                </a:solidFill>
                <a:latin typeface="Calibri"/>
              </a:rPr>
              <a:t>You (daily)</a:t>
            </a:r>
          </a:p>
          <a:p>
            <a:pPr algn="l">
              <a:spcBef>
                <a:spcPts val="200"/>
              </a:spcBef>
            </a:pPr>
            <a:r>
              <a:rPr sz="1100" b="0">
                <a:solidFill>
                  <a:srgbClr val="222222"/>
                </a:solidFill>
                <a:latin typeface="Calibri"/>
              </a:rPr>
              <a:t>ON MVPACCESS:</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  scripts\central-pull.bat "Client A"</a:t>
            </a:r>
          </a:p>
          <a:p>
            <a:pPr algn="l">
              <a:spcBef>
                <a:spcPts val="200"/>
              </a:spcBef>
            </a:pPr>
            <a:r>
              <a:rPr sz="1100" b="0">
                <a:solidFill>
                  <a:srgbClr val="222222"/>
                </a:solidFill>
                <a:latin typeface="Calibri"/>
              </a:rPr>
              <a:t>  scripts\central-pull.bat "Client B"</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Each run -&gt; one .eml in Gmail Drafts.</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Review, edit if needed, send.</a:t>
            </a:r>
          </a:p>
          <a:p>
            <a:pPr algn="l">
              <a:spcBef>
                <a:spcPts val="200"/>
              </a:spcBef>
            </a:pPr>
            <a:endParaRPr sz="1100" b="0">
              <a:solidFill>
                <a:srgbClr val="222222"/>
              </a:solidFill>
              <a:latin typeface="Calibri"/>
            </a:endParaRPr>
          </a:p>
          <a:p>
            <a:pPr algn="l">
              <a:spcBef>
                <a:spcPts val="200"/>
              </a:spcBef>
            </a:pPr>
            <a:r>
              <a:rPr sz="1100" b="0">
                <a:solidFill>
                  <a:srgbClr val="222222"/>
                </a:solidFill>
                <a:latin typeface="Calibri"/>
              </a:rPr>
              <a:t>Estimated: 5 min per client per day.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640080"/>
          </a:xfrm>
          <a:prstGeom prst="rect">
            <a:avLst/>
          </a:prstGeom>
          <a:noFill/>
        </p:spPr>
        <p:txBody>
          <a:bodyPr wrap="square" lIns="0" tIns="0" rIns="0" bIns="0" anchor="t">
            <a:spAutoFit/>
          </a:bodyPr>
          <a:lstStyle/>
          <a:p>
            <a:pPr algn="l"/>
            <a:r>
              <a:rPr sz="2800" b="1">
                <a:solidFill>
                  <a:srgbClr val="1F4E79"/>
                </a:solidFill>
                <a:latin typeface="Calibri"/>
              </a:rPr>
              <a:t>Status</a:t>
            </a:r>
          </a:p>
          <a:p>
            <a:pPr algn="l">
              <a:spcBef>
                <a:spcPts val="200"/>
              </a:spcBef>
            </a:pPr>
            <a:r>
              <a:rPr sz="1400" b="0">
                <a:solidFill>
                  <a:srgbClr val="6B7785"/>
                </a:solidFill>
                <a:latin typeface="Calibri"/>
              </a:rPr>
              <a:t>Code shipped. Ready for the boss demo with same test data.</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554480"/>
            <a:ext cx="10698480" cy="64008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Code: pushed to napco-labs/napco-nucleus@main (commit 1b92e87)</a:t>
            </a:r>
          </a:p>
        </p:txBody>
      </p:sp>
      <p:sp>
        <p:nvSpPr>
          <p:cNvPr id="6" name="TextBox 5"/>
          <p:cNvSpPr txBox="1"/>
          <p:nvPr/>
        </p:nvSpPr>
        <p:spPr>
          <a:xfrm>
            <a:off x="731520" y="2468880"/>
            <a:ext cx="10698480" cy="3657600"/>
          </a:xfrm>
          <a:prstGeom prst="rect">
            <a:avLst/>
          </a:prstGeom>
          <a:noFill/>
        </p:spPr>
        <p:txBody>
          <a:bodyPr wrap="square" lIns="0" tIns="0" rIns="0" bIns="0" anchor="t">
            <a:spAutoFit/>
          </a:bodyPr>
          <a:lstStyle/>
          <a:p>
            <a:endParaRPr/>
          </a:p>
          <a:p>
            <a:pPr algn="l"/>
            <a:r>
              <a:rPr sz="1500" b="1">
                <a:solidFill>
                  <a:srgbClr val="1F4E79"/>
                </a:solidFill>
                <a:latin typeface="Calibri"/>
              </a:rPr>
              <a:t>Verified end-to-end on the dev machine:</a:t>
            </a:r>
          </a:p>
          <a:p>
            <a:pPr algn="l">
              <a:spcBef>
                <a:spcPts val="400"/>
              </a:spcBef>
            </a:pPr>
            <a:r>
              <a:rPr sz="1300" b="0">
                <a:solidFill>
                  <a:srgbClr val="222222"/>
                </a:solidFill>
                <a:latin typeface="Calibri"/>
              </a:rPr>
              <a:t>  - record_call -&gt; central upload (file structure correct)</a:t>
            </a:r>
          </a:p>
          <a:p>
            <a:pPr algn="l">
              <a:spcBef>
                <a:spcPts val="400"/>
              </a:spcBef>
            </a:pPr>
            <a:r>
              <a:rPr sz="1300" b="0">
                <a:solidFill>
                  <a:srgbClr val="222222"/>
                </a:solidFill>
                <a:latin typeface="Calibri"/>
              </a:rPr>
              <a:t>  - push_chat -&gt; central upload (8 chats / 22 msgs picked up)</a:t>
            </a:r>
          </a:p>
          <a:p>
            <a:pPr algn="l">
              <a:spcBef>
                <a:spcPts val="400"/>
              </a:spcBef>
            </a:pPr>
            <a:r>
              <a:rPr sz="1300" b="0">
                <a:solidFill>
                  <a:srgbClr val="222222"/>
                </a:solidFill>
                <a:latin typeface="Calibri"/>
              </a:rPr>
              <a:t>  - collect_central reads both flows</a:t>
            </a:r>
          </a:p>
          <a:p>
            <a:pPr algn="l">
              <a:spcBef>
                <a:spcPts val="400"/>
              </a:spcBef>
            </a:pPr>
            <a:r>
              <a:rPr sz="1300" b="0">
                <a:solidFill>
                  <a:srgbClr val="222222"/>
                </a:solidFill>
                <a:latin typeface="Calibri"/>
              </a:rPr>
              <a:t>  - IndexedDB call resolver matches 843 historical calls cleanly</a:t>
            </a:r>
          </a:p>
          <a:p>
            <a:pPr algn="l">
              <a:spcBef>
                <a:spcPts val="1400"/>
              </a:spcBef>
            </a:pPr>
            <a:r>
              <a:rPr sz="1500" b="1">
                <a:solidFill>
                  <a:srgbClr val="1F4E79"/>
                </a:solidFill>
                <a:latin typeface="Calibri"/>
              </a:rPr>
              <a:t>Pending (sysadmin only):</a:t>
            </a:r>
          </a:p>
          <a:p>
            <a:pPr algn="l">
              <a:spcBef>
                <a:spcPts val="400"/>
              </a:spcBef>
            </a:pPr>
            <a:r>
              <a:rPr sz="1300" b="0">
                <a:solidFill>
                  <a:srgbClr val="222222"/>
                </a:solidFill>
                <a:latin typeface="Calibri"/>
              </a:rPr>
              <a:t>  - Create SMB share + firewall rule on MVPACCESS</a:t>
            </a:r>
          </a:p>
          <a:p>
            <a:pPr algn="l">
              <a:spcBef>
                <a:spcPts val="400"/>
              </a:spcBef>
            </a:pPr>
            <a:r>
              <a:rPr sz="1300" b="0">
                <a:solidFill>
                  <a:srgbClr val="222222"/>
                </a:solidFill>
                <a:latin typeface="Calibri"/>
              </a:rPr>
              <a:t>  - First end-to-end test: one dev's call -&gt; central -&gt; identify</a:t>
            </a:r>
          </a:p>
          <a:p>
            <a:pPr algn="l">
              <a:spcBef>
                <a:spcPts val="400"/>
              </a:spcBef>
            </a:pPr>
            <a:r>
              <a:rPr sz="1300" b="0">
                <a:solidFill>
                  <a:srgbClr val="222222"/>
                </a:solidFill>
                <a:latin typeface="Calibri"/>
              </a:rPr>
              <a:t>  - Roll out to remaining 4 devs after round-trip is proven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1911</Words>
  <Application>Microsoft Office PowerPoint</Application>
  <PresentationFormat>Custom</PresentationFormat>
  <Paragraphs>223</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Kamrul Hasan</cp:lastModifiedBy>
  <cp:revision>3</cp:revision>
  <dcterms:created xsi:type="dcterms:W3CDTF">2013-01-27T09:14:16Z</dcterms:created>
  <dcterms:modified xsi:type="dcterms:W3CDTF">2026-05-08T13:26:23Z</dcterms:modified>
  <cp:category/>
</cp:coreProperties>
</file>