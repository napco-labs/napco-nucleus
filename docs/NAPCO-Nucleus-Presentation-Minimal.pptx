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thanks for the time. 30-40 min total.</a:t>
            </a:r>
          </a:p>
          <a:p>
            <a:r>
              <a:t>Frame: This is the result of two months of focused study and rebuild.</a:t>
            </a:r>
          </a:p>
          <a:p>
            <a:r>
              <a:t>Don't read the slide. Just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anchor for everything that follows.</a:t>
            </a:r>
          </a:p>
          <a:p>
            <a:r>
              <a:t>I'm a QA, not a coder. AI is the leverage that turns that into team-level output.</a:t>
            </a:r>
          </a:p>
          <a:p>
            <a:r>
              <a:t>Every slide after this 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blocks. Inputs are the eight ways work actually arrives — email, Drive, meeting recordings, OpenProject, GitHub source, TFS for CICD, cron, and on-demand dispatch.</a:t>
            </a:r>
          </a:p>
          <a:p>
            <a:r>
              <a:t>The agent in the middle is one Python process backed by Claude Max via the local CLI. No API key on disk anywhere.</a:t>
            </a:r>
          </a:p>
          <a:p>
            <a:r>
              <a:t>Outputs land in seven places the team already looks — OpenProject, inboxes, Teams, IIS, and the memory database that feeds tomorrow's reports.</a:t>
            </a:r>
          </a:p>
          <a:p>
            <a:r>
              <a:t>Next slide opens the center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inside of the agent box. Four layers.</a:t>
            </a:r>
          </a:p>
          <a:p>
            <a:r>
              <a:t>Top: prompts. One markdown file per task tells the agent the goal, the order of operations, and the guardrails.</a:t>
            </a:r>
          </a:p>
          <a:p>
            <a:r>
              <a:t>Reasoning loop: the agent reads the prompt, picks the right tool, runs it, reads the result, picks the next tool. Claude Max via the local CLI — no API key.</a:t>
            </a:r>
          </a:p>
          <a:p>
            <a:r>
              <a:t>Tools: six categories. Files for workspace, git for source, memory for state, requirements for intake, tests for execution, report for output.</a:t>
            </a:r>
          </a:p>
          <a:p>
            <a:r>
              <a:t>Memory: a SQLite database with three tables. Activity logs for every action, requirements_seen for dedup, test_run_history for trends. Tomorrow's daily report reads from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read on the stack.</a:t>
            </a:r>
          </a:p>
          <a:p>
            <a:r>
              <a:t>Languages: Python is the agent. PowerShell drives the runner and CICD scripts. Node hosts the Newman runner.</a:t>
            </a:r>
          </a:p>
          <a:p>
            <a:r>
              <a:t>AI: Claude Agent SDK with the Claude Max CLI — no API key on disk. MCP defines the tool interface. Groq handles meeting-audio transcription.</a:t>
            </a:r>
          </a:p>
          <a:p>
            <a:r>
              <a:t>Test frameworks: industry standards, picked per test type.</a:t>
            </a:r>
          </a:p>
          <a:p>
            <a:r>
              <a:t>Integrations and reporting: nothing exotic — battle-tested libraries.</a:t>
            </a:r>
          </a:p>
          <a:p>
            <a:r>
              <a:t>CICD: GitHub Actions on a self-hosted Windows runner that I administer.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steps. Step 1 — the agent polls three intake channels: IMAP for email, Drive for files and audio, Teams channel (planned).</a:t>
            </a:r>
          </a:p>
          <a:p>
            <a:r>
              <a:t>Step 2 — extract. The agent parses content, transcribes audio via Groq when needed, and pulls out atomic requirements.</a:t>
            </a:r>
          </a:p>
          <a:p>
            <a:r>
              <a:t>Step 3 — classify. The agent looks up the requirements_seen table to decide if this is a new item, a revision of an existing item, or a duplicate to skip.</a:t>
            </a:r>
          </a:p>
          <a:p>
            <a:r>
              <a:t>Step 4 — publish. New items become OpenProject work items. Revisions update the existing item in place and add a timestamped comment.</a:t>
            </a:r>
          </a:p>
          <a:p>
            <a:r>
              <a:t>Step 5 — record. Every action lands in the memory database. The activity log feeds tomorrow's daily report; the dedup index prevents duplicate filings.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1. Three intake channels: email, Drive, and Teams.</a:t>
            </a:r>
          </a:p>
          <a:p>
            <a:r>
              <a:t>PMO sends an email, drops a recording in Drive, or posts in the Teams channel. The agent extracts the requirements, breaks them into tasks, and tracks each one in OpenProject.</a:t>
            </a:r>
          </a:p>
          <a:p>
            <a:r>
              <a:t>If a revision arrives later, the agent updates the existing item in place and adds a timestamped comment — not a duplicate.</a:t>
            </a:r>
          </a:p>
          <a:p>
            <a:r>
              <a:t>Verified end-to-end: 10 created and 2 in-place updates on the most recent demo cycle.</a:t>
            </a:r>
          </a:p>
          <a:p>
            <a:r>
              <a:t>INTERNAL NOTE (do not say): Teams channel polling is on the roadmap, not yet wired. Live demo path is email + Drive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an AI agent adds over a scheduled script.</a:t>
            </a:r>
          </a:p>
          <a:p>
            <a:r>
              <a:t>Same five-step loop runs for functional, integration, load, and E2E. Step 2 swaps the tool — the rest is identical.</a:t>
            </a:r>
          </a:p>
          <a:p>
            <a:r>
              <a:t>Pre-flight stops the run if the API is dead, so we don't pollute trend data.</a:t>
            </a:r>
          </a:p>
          <a:p>
            <a:r>
              <a:t>Read and classify is where the agent earns its keep — it knows which failures are already filed by the dev team and which are new.</a:t>
            </a:r>
          </a:p>
          <a:p>
            <a:r>
              <a:t>Report writes a PDF and logs to the memory database, which is what tomorrow's daily report reads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2. Newman runs the Postman collection against the access-control API.</a:t>
            </a:r>
          </a:p>
          <a:p>
            <a:r>
              <a:t>Today: 288 of 315 cases pass — 91.4 percent.</a:t>
            </a:r>
          </a:p>
          <a:p>
            <a:r>
              <a:t>Of the 27 failures, the agent recognized 2 as known xfailed bugs already filed by the dev team. The other 25 it triages by signature into the PDF — including one Facility Code 409/400 pair that looks like fresh test-data hygiene, not a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3. pytest drives multi-step flows — login, create, read, update, delete.</a:t>
            </a:r>
          </a:p>
          <a:p>
            <a:r>
              <a:t>Today: 165 passed, 1 skipped, 10 expected failures (xfailed, dev-owned), and 4 xpassed.</a:t>
            </a:r>
          </a:p>
          <a:p>
            <a:r>
              <a:t>The 4 xpassed are interesting — tests that were marked expected-fail but now pass. Could be silent dev fixes; the agent flags these for human follow-up rather than auto-removing the xfail markers.</a:t>
            </a:r>
          </a:p>
          <a:p>
            <a:r>
              <a:t>Zero new regressions. The agent compared this run to prior runs in memory before declaring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4. Locust ramps in 5 tiers from 10 to 10,000 concurrent users.</a:t>
            </a:r>
          </a:p>
          <a:p>
            <a:r>
              <a:t>Headline finding: capacity ceiling well below 100 users. Latency jumped 15x between the 10-user and 100-user tiers while RPS stayed flat at 3.4.</a:t>
            </a:r>
          </a:p>
          <a:p>
            <a:r>
              <a:t>The agent diagnosed the pattern: flat RPS across 10/100/500 users equals a server-side serialization point — a lock, sync I/O, or single-threaded DB call. The 1K cliff with 100 percent fast-failures is connection-pool exhaustion, not application slowness.</a:t>
            </a:r>
          </a:p>
          <a:p>
            <a:r>
              <a:t>Most actionable finding of the three API tests. Real engineering signal for the dev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5. End-to-end through a real Chromium browser.</a:t>
            </a:r>
          </a:p>
          <a:p>
            <a:r>
              <a:t>Playwright drives the UI. The agent reads the Playwright trace, identifies which step broke, and decides whether it's a real UI regression or a flaky retry.</a:t>
            </a:r>
          </a:p>
          <a:p>
            <a:r>
              <a:t>Headless on CI. --headed for local debugging — there's a known Windows JSON encoding quirk on --headed that I'll mention in the honest gaps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steps. Step 1 — pre-flight checks the six IT-managed secrets are loaded and reachable.</a:t>
            </a:r>
          </a:p>
          <a:p>
            <a:r>
              <a:t>Step 2 — checkout pulls the source from TFS at the requested branch.</a:t>
            </a:r>
          </a:p>
          <a:p>
            <a:r>
              <a:t>Step 3 — build runs MSBuild and unit tests.</a:t>
            </a:r>
          </a:p>
          <a:p>
            <a:r>
              <a:t>Step 4 — deploy uses robocopy into IIS and follows with a smoke check before declaring the deploy successful.</a:t>
            </a:r>
          </a:p>
          <a:p>
            <a:r>
              <a:t>Step 5 — record writes the deploy log, updates memory, and notifies the team. Honestly: this is wired but blocked on the IT secret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6. The pipeline wires TFS source through MSBuild and into IIS deploy.</a:t>
            </a:r>
          </a:p>
          <a:p>
            <a:r>
              <a:t>Three modes: dry-run validates the YAML, validate compiles, deploy ships.</a:t>
            </a:r>
          </a:p>
          <a:p>
            <a:r>
              <a:t>Honestly: I cannot finish this one alone. It needs six secrets that IT owns — TFS URL, project path, credentials, solution file, IIS deploy path. The YAML is production-ready when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Stream 7. The reporting layer reads the test_run_history table and composes two emails.</a:t>
            </a:r>
          </a:p>
          <a:p>
            <a:r>
              <a:t>Detailed report at 9:00 AM to the full team. Six blocks: requirement-management tasks status to OpenProject, each test details report (all API and E2E), and CICD status.</a:t>
            </a:r>
          </a:p>
          <a:p>
            <a:r>
              <a:t>Executive summary at 22:30 to leadership. Short summary of the detailed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I'd rather flag these myself than have the audience find them.</a:t>
            </a:r>
          </a:p>
          <a:p>
            <a:r>
              <a:t>CICD: the YAML is production-ready. The blocker is six secrets that IT manages.</a:t>
            </a:r>
          </a:p>
          <a:p>
            <a:r>
              <a:t>Load test: we have one solid baseline. Two more runs and the trend chart starts mattering.</a:t>
            </a:r>
          </a:p>
          <a:p>
            <a:r>
              <a:t>E2E: --headed has a Windows JSON encoding quirk; headless is fine for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Wait for the room.</a:t>
            </a:r>
          </a:p>
          <a:p>
            <a:r>
              <a:t>Take questions. Offer to drive any of the seven streams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463040"/>
            <a:ext cx="10362895" cy="39319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4484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NAPCO Nucleus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C9962B"/>
                </a:solidFill>
                <a:latin typeface="Calibri"/>
              </a:rPr>
              <a:t>AI-Augmented QA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Mohammad Kamrul Hasan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Calibri"/>
              </a:rPr>
              <a:t>May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Calibri"/>
              </a:rPr>
              <a:t>QA architect + AI = senior dev team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9962B"/>
                </a:solidFill>
                <a:latin typeface="Calibri"/>
              </a:rPr>
              <a:t>NAPCO Nucleus is the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785"/>
                </a:solidFill>
                <a:latin typeface="Calibri"/>
              </a:rPr>
              <a:t>Inputs · Agent · 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108960" cy="4114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A8A"/>
                </a:solidFill>
                <a:latin typeface="Calibri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Email (IMAP)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Google 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MS Teams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Meeting audio  →  Groq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OpenProject (read)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GitHub (test code)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TFS (CICD source)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Cron + manual dispatch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2011680"/>
            <a:ext cx="4572000" cy="41148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40" y="2148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NAPCO Nucleus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26060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9962B"/>
                </a:solidFill>
                <a:latin typeface="Calibri"/>
              </a:rPr>
              <a:t>Python  ·  Claude Max  ·  MCP tools  ·  No API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246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Reads the prompt for the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703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Reasons through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41605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Calls tools, writes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617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Composes PDFs and emails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074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One process, one runner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011680"/>
            <a:ext cx="3108960" cy="41148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2148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7856"/>
                </a:solidFill>
                <a:latin typeface="Calibri"/>
              </a:rPr>
              <a:t>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OpenProject items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Test result PDFs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Team email (09:00)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9776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Leadership email (09:30)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MS Teams digest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IIS deploy (CICD)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alibri"/>
              </a:rPr>
              <a:t>•  Memory writes (SQLite)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566160" y="4069080"/>
            <a:ext cx="228600" cy="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66760" y="4069080"/>
            <a:ext cx="274320" cy="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libri"/>
              </a:rPr>
              <a:t>Agent Internals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785"/>
                </a:solidFill>
                <a:latin typeface="Calibri"/>
              </a:rPr>
              <a:t>Inside the center box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11277295" cy="7772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79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One markdown file per task  ·  requirement_management.md  ·  api_*_test.md  ·  daily_report_*.md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7729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Reasoning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962B"/>
                </a:solidFill>
                <a:latin typeface="Calibri"/>
              </a:rPr>
              <a:t>Claude Max via local CLI  ·  reads prompt  ·  picks tools  ·  iterates until task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11880"/>
            <a:ext cx="1788109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1605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8A8A"/>
                </a:solidFill>
                <a:latin typeface="Calibri"/>
              </a:rPr>
              <a:t>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60522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list, read, write, edit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5037" y="3611880"/>
            <a:ext cx="1788109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4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6477" y="3703320"/>
            <a:ext cx="1605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A7A4A"/>
                </a:solidFill>
                <a:latin typeface="Calibri"/>
              </a:rPr>
              <a:t>Git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6477" y="4114800"/>
            <a:ext cx="160522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diff, commit, push,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2874" y="3611880"/>
            <a:ext cx="1788109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C99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4314" y="3703320"/>
            <a:ext cx="1605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4314" y="4114800"/>
            <a:ext cx="160522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recall, remember, stats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0711" y="3611880"/>
            <a:ext cx="1788109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2151" y="3703320"/>
            <a:ext cx="1605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4C93"/>
                </a:solidFill>
                <a:latin typeface="Calibri"/>
              </a:rPr>
              <a:t>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4114800"/>
            <a:ext cx="160522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poll, ingest, publish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8548" y="3611880"/>
            <a:ext cx="1788109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07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9988" y="3703320"/>
            <a:ext cx="1605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7856"/>
                </a:solidFill>
                <a:latin typeface="Calibri"/>
              </a:rPr>
              <a:t>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9988" y="4114800"/>
            <a:ext cx="160522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API, integration, load, E2E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46385" y="3611880"/>
            <a:ext cx="1788109" cy="13716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7825" y="3703320"/>
            <a:ext cx="160522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7825" y="4114800"/>
            <a:ext cx="160522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PDF, email,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Memory  ·  SQLite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3685946" cy="777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532120"/>
            <a:ext cx="34116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62B"/>
                </a:solidFill>
                <a:latin typeface="Calibri"/>
              </a:rPr>
              <a:t>activity_logs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852160"/>
            <a:ext cx="341162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every tool call, every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52874" y="5486400"/>
            <a:ext cx="3685946" cy="777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90034" y="5532120"/>
            <a:ext cx="34116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62B"/>
                </a:solidFill>
                <a:latin typeface="Calibri"/>
              </a:rPr>
              <a:t>requirements_seen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0034" y="5852160"/>
            <a:ext cx="341162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OpenProject id + title + body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8548" y="5486400"/>
            <a:ext cx="3685946" cy="77724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5708" y="5532120"/>
            <a:ext cx="341162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9962B"/>
                </a:solidFill>
                <a:latin typeface="Calibri"/>
              </a:rPr>
              <a:t>test_run_history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5708" y="5852160"/>
            <a:ext cx="341162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pass/fail counts, capacity ceilings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libri"/>
              </a:rPr>
              <a:t>Tools &amp;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785"/>
                </a:solidFill>
                <a:latin typeface="Calibri"/>
              </a:rPr>
              <a:t>What's under the hood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695879" cy="1828800"/>
          </a:xfrm>
          <a:prstGeom prst="roundRect">
            <a:avLst/>
          </a:prstGeom>
          <a:solidFill>
            <a:srgbClr val="F5F7FA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2695879" cy="3657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48256"/>
            <a:ext cx="2512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24215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Python  ·  PowerShell  ·  JavaScript (Node)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7671" y="2011680"/>
            <a:ext cx="2695879" cy="1828800"/>
          </a:xfrm>
          <a:prstGeom prst="roundRect">
            <a:avLst/>
          </a:prstGeom>
          <a:solidFill>
            <a:srgbClr val="F5F7FA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7671" y="2011680"/>
            <a:ext cx="2695879" cy="36576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9111" y="2048256"/>
            <a:ext cx="2512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/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831" y="2468880"/>
            <a:ext cx="24215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Claude Agent SDK  ·  Claude Max CLI
MCP  ·  Groq (audio)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2011680"/>
            <a:ext cx="2695879" cy="1828800"/>
          </a:xfrm>
          <a:prstGeom prst="roundRect">
            <a:avLst/>
          </a:prstGeom>
          <a:solidFill>
            <a:srgbClr val="F5F7FA"/>
          </a:solidFill>
          <a:ln w="22225">
            <a:solidFill>
              <a:srgbClr val="2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8143" y="2011680"/>
            <a:ext cx="2695879" cy="36576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9583" y="2048256"/>
            <a:ext cx="2512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Test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5303" y="2468880"/>
            <a:ext cx="24215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Newman + Postman  ·  pytest
Locust  ·  Playwright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8615" y="2011680"/>
            <a:ext cx="2695879" cy="1828800"/>
          </a:xfrm>
          <a:prstGeom prst="roundRect">
            <a:avLst/>
          </a:prstGeom>
          <a:solidFill>
            <a:srgbClr val="F5F7FA"/>
          </a:solidFill>
          <a:ln w="22225">
            <a:solidFill>
              <a:srgbClr val="C99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38615" y="2011680"/>
            <a:ext cx="2695879" cy="36576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2048256"/>
            <a:ext cx="25129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5775" y="2468880"/>
            <a:ext cx="24215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SQLite  ·  python-dotenv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14800"/>
            <a:ext cx="3649370" cy="1828800"/>
          </a:xfrm>
          <a:prstGeom prst="roundRect">
            <a:avLst/>
          </a:prstGeom>
          <a:solidFill>
            <a:srgbClr val="F5F7FA"/>
          </a:solidFill>
          <a:ln w="22225">
            <a:solidFill>
              <a:srgbClr val="4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3649370" cy="365760"/>
          </a:xfrm>
          <a:prstGeom prst="round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51376"/>
            <a:ext cx="34664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572000"/>
            <a:ext cx="337505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OpenProject  ·  Google Drive
IMAP / SMTP  ·  MS Teams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71162" y="4114800"/>
            <a:ext cx="3649370" cy="1828800"/>
          </a:xfrm>
          <a:prstGeom prst="roundRect">
            <a:avLst/>
          </a:prstGeom>
          <a:solidFill>
            <a:srgbClr val="F5F7FA"/>
          </a:solidFill>
          <a:ln w="22225">
            <a:solidFill>
              <a:srgbClr val="E07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71162" y="4114800"/>
            <a:ext cx="3649370" cy="365760"/>
          </a:xfrm>
          <a:prstGeom prst="round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2602" y="4151376"/>
            <a:ext cx="34664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8322" y="4572000"/>
            <a:ext cx="337505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ReportLab  ·  pypdf
python-docx  ·  openpyxl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5124" y="4114800"/>
            <a:ext cx="3649370" cy="1828800"/>
          </a:xfrm>
          <a:prstGeom prst="roundRect">
            <a:avLst/>
          </a:prstGeom>
          <a:solidFill>
            <a:srgbClr val="F5F7FA"/>
          </a:solidFill>
          <a:ln w="222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5124" y="4114800"/>
            <a:ext cx="3649370" cy="3657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6564" y="4151376"/>
            <a:ext cx="346649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CI/CD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2284" y="4572000"/>
            <a:ext cx="337505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22222"/>
                </a:solidFill>
                <a:latin typeface="Calibri"/>
              </a:rPr>
              <a:t>GitHub Actions  ·  Self-hosted runner
MSBuild  ·  IIS  ·  TFS  ·  Git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A4C93"/>
                </a:solidFill>
                <a:latin typeface="Calibri"/>
              </a:rPr>
              <a:t>Requirement Management — Internal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785"/>
                </a:solidFill>
                <a:latin typeface="Calibri"/>
              </a:rPr>
              <a:t>How the agent goes from intake to backlog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889699" cy="24688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IMAP  ·  Drive  ·
Teams (planned)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46899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4099" y="2468880"/>
            <a:ext cx="1889699" cy="24688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41259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1259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8A8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539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5539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Parse content
identify items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93798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50998" y="2468880"/>
            <a:ext cx="1889699" cy="246888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88158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8158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962B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2438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2438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New  ·  revision  ·
duplicate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0697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7897" y="2468880"/>
            <a:ext cx="1889699" cy="2468880"/>
          </a:xfrm>
          <a:prstGeom prst="round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057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057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7856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337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PUBLISH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337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OpenProject
create or update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87596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44796" y="2468880"/>
            <a:ext cx="1889699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1956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1956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6236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6236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Memory + activity
dedup 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4E79"/>
                </a:solidFill>
                <a:latin typeface="Calibri"/>
              </a:rPr>
              <a:t>Brief in. Tasks out. Revisions update in 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7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960120" cy="9601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502920"/>
            <a:ext cx="9905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Calibri"/>
              </a:rPr>
              <a:t>Requirement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017520" cy="6400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Email (IMAP)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017520" cy="6400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Google Drive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87952"/>
            <a:ext cx="3017520" cy="640080"/>
          </a:xfrm>
          <a:prstGeom prst="roundRect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MS Teams (planned)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5"/>
                </a:solidFill>
                <a:latin typeface="Calibri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514600"/>
            <a:ext cx="3840480" cy="2377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NAPCO 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Extract  ·  Classify
Publish  ·  Update in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31720"/>
            <a:ext cx="30175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496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4C93"/>
                </a:solidFill>
                <a:latin typeface="Calibri"/>
              </a:rPr>
              <a:t>OpenProject work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Task — Build RFID reader-service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29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Task — Block / unblock console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Bug — Login session timeout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251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Revisions update existing WP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3886200.0"/>
            <a:ext cx="594360" cy="0.0"/>
          </a:xfrm>
          <a:prstGeom prst="bentConnector3">
            <a:avLst/>
          </a:prstGeom>
          <a:ln w="254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3886200.0"/>
            <a:ext cx="594360" cy="0.0"/>
          </a:xfrm>
          <a:prstGeom prst="bentConnector3">
            <a:avLst/>
          </a:prstGeom>
          <a:ln w="254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62B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10 created  ·  2 updated in place  ·  9 dedup-skips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libri"/>
              </a:rPr>
              <a:t>API + E2E Testing — Internal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785"/>
                </a:solidFill>
                <a:latin typeface="Calibri"/>
              </a:rPr>
              <a:t>Same loop. Different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889699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PRE-FLIGHT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Health + env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46899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4099" y="2468880"/>
            <a:ext cx="1889699" cy="24688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41259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1259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8A8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539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5539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Newman  ·  pytest
Locust  ·  Playwright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93798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50998" y="2468880"/>
            <a:ext cx="1889699" cy="2468880"/>
          </a:xfrm>
          <a:prstGeom prst="round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88158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8158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7856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2438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2438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JSON  ·  log  ·
metrics  ·  trace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0697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7897" y="2468880"/>
            <a:ext cx="1889699" cy="246888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057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057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962B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337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337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Known vs new
vs env failure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87596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44796" y="2468880"/>
            <a:ext cx="1889699" cy="24688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1956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1956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6236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6236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PDF  ·  memory  ·
daily feed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4E79"/>
                </a:solidFill>
                <a:latin typeface="Calibri"/>
              </a:rPr>
              <a:t>Tester's judgment runs every time. Not a script — a teammate.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9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960120" cy="96012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502920"/>
            <a:ext cx="9905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Calibri"/>
              </a:rPr>
              <a:t>API Functional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017520" cy="6400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Postman collection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315 test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87952"/>
            <a:ext cx="3017520" cy="640080"/>
          </a:xfrm>
          <a:prstGeom prst="round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API base URL + creds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5"/>
                </a:solidFill>
                <a:latin typeface="Calibri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514600"/>
            <a:ext cx="3840480" cy="2377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NAPCO 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Pre-flight  ·  Run Newman
Classify failures  ·  Trend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31720"/>
            <a:ext cx="30175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2E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496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8A8A"/>
                </a:solidFill>
                <a:latin typeface="Calibri"/>
              </a:rPr>
              <a:t>PDF report  +  memory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288 passed  ·  27 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29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2 known xfailed bugs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25 new failures triaged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251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Facility Code 409/400 — data hygiene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3886200.0"/>
            <a:ext cx="594360" cy="0.0"/>
          </a:xfrm>
          <a:prstGeom prst="bentConnector3">
            <a:avLst/>
          </a:prstGeom>
          <a:ln w="25400">
            <a:solidFill>
              <a:srgbClr val="2E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3886200.0"/>
            <a:ext cx="594360" cy="0.0"/>
          </a:xfrm>
          <a:prstGeom prst="bentConnector3">
            <a:avLst/>
          </a:prstGeom>
          <a:ln w="25400">
            <a:solidFill>
              <a:srgbClr val="2E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62B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288 / 315 passed  ·  91.4%   ·   Agent triaged 27 failures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10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960120" cy="960120"/>
          </a:xfrm>
          <a:prstGeom prst="round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502920"/>
            <a:ext cx="9905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Calibri"/>
              </a:rPr>
              <a:t>API Integration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017520" cy="640080"/>
          </a:xfrm>
          <a:prstGeom prst="round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pytest 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Endpoint chains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87952"/>
            <a:ext cx="3017520" cy="64008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Prior run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5"/>
                </a:solidFill>
                <a:latin typeface="Calibri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514600"/>
            <a:ext cx="3840480" cy="2377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NAPCO 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Pre-flight  ·  Run pytest
Diff prior  ·  Flag regressions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31720"/>
            <a:ext cx="30175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4A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496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7A4A"/>
                </a:solidFill>
                <a:latin typeface="Calibri"/>
              </a:rPr>
              <a:t>PDF report  +  memory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165 passed  ·  1 skipped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29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10 xfailed (dev-owned)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4 xpassed (silent fixes)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251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0 new regressions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3886200.0"/>
            <a:ext cx="594360" cy="0.0"/>
          </a:xfrm>
          <a:prstGeom prst="bentConnector3">
            <a:avLst/>
          </a:prstGeom>
          <a:ln w="25400">
            <a:solidFill>
              <a:srgbClr val="4A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3886200.0"/>
            <a:ext cx="594360" cy="0.0"/>
          </a:xfrm>
          <a:prstGeom prst="bentConnector3">
            <a:avLst/>
          </a:prstGeom>
          <a:ln w="25400">
            <a:solidFill>
              <a:srgbClr val="4A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4A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62B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165 passed  ·  4 xpassed flagged for follow-up   ·   0 new regressions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11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960120" cy="960120"/>
          </a:xfrm>
          <a:prstGeom prst="round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502920"/>
            <a:ext cx="9905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Calibri"/>
              </a:rPr>
              <a:t>API Load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017520" cy="640080"/>
          </a:xfrm>
          <a:prstGeom prst="round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Locust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5-tier ramp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87952"/>
            <a:ext cx="3017520" cy="6400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Tiers: 10 → 10K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5"/>
                </a:solidFill>
                <a:latin typeface="Calibri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514600"/>
            <a:ext cx="3840480" cy="2377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NAPCO 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Pre-flight  ·  Drive ramp
Read metrics  ·  Diagnose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31720"/>
            <a:ext cx="30175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E078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496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856"/>
                </a:solidFill>
                <a:latin typeface="Calibri"/>
              </a:rPr>
              <a:t>PDF report  +  memory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10u: 1.7s avg, 4.7% 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29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100u: 26.6s avg, RPS flat 3.5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500u: 117s avg, system hung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251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1K-10Ku: pool wall, 100% fail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3886200.0"/>
            <a:ext cx="594360" cy="0.0"/>
          </a:xfrm>
          <a:prstGeom prst="bentConnector3">
            <a:avLst/>
          </a:prstGeom>
          <a:ln w="25400">
            <a:solidFill>
              <a:srgbClr val="E07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3886200.0"/>
            <a:ext cx="594360" cy="0.0"/>
          </a:xfrm>
          <a:prstGeom prst="bentConnector3">
            <a:avLst/>
          </a:prstGeom>
          <a:ln w="25400">
            <a:solidFill>
              <a:srgbClr val="E07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62B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Capacity ceiling  &lt;  100 users   ·   Agent: server-side serialization (flat 3.4 RPS)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12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960120" cy="96012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502920"/>
            <a:ext cx="9905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Calibri"/>
              </a:rPr>
              <a:t>MVP Access E2E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017520" cy="64008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Playwright 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Real Chromium browser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87952"/>
            <a:ext cx="3017520" cy="6400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User-flow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5"/>
                </a:solidFill>
                <a:latin typeface="Calibri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514600"/>
            <a:ext cx="3840480" cy="2377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NAPCO 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Pre-flight  ·  Drive UI
Read traces  ·  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31720"/>
            <a:ext cx="30175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C99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496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962B"/>
                </a:solidFill>
                <a:latin typeface="Calibri"/>
              </a:rPr>
              <a:t>PDF report  +  memory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Login → action → assert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29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Trace + screenshots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UI-break vs flaky retry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251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Step-level break point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3886200.0"/>
            <a:ext cx="594360" cy="0.0"/>
          </a:xfrm>
          <a:prstGeom prst="bentConnector3">
            <a:avLst/>
          </a:prstGeom>
          <a:ln w="25400">
            <a:solidFill>
              <a:srgbClr val="C99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3886200.0"/>
            <a:ext cx="594360" cy="0.0"/>
          </a:xfrm>
          <a:prstGeom prst="bentConnector3">
            <a:avLst/>
          </a:prstGeom>
          <a:ln w="25400">
            <a:solidFill>
              <a:srgbClr val="C996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62B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Real-browser E2E   ·   Agent classifies UI regressions vs flakies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Calibri"/>
              </a:rPr>
              <a:t>CICD — Internal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785"/>
                </a:solidFill>
                <a:latin typeface="Calibri"/>
              </a:rPr>
              <a:t>Source to production, gated by the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889699" cy="24688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4E79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PRE-FLIGHT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Validate secrets
+ env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46899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4099" y="2468880"/>
            <a:ext cx="1889699" cy="24688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41259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1259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8A8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539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CHECKOUT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5539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TFS source
+ branch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93798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50998" y="2468880"/>
            <a:ext cx="1889699" cy="2468880"/>
          </a:xfrm>
          <a:prstGeom prst="round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88158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8158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07856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2438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2438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MSBuild
+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0697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7897" y="2468880"/>
            <a:ext cx="1889699" cy="246888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635057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057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962B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337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337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IIS robocopy
+ smoke check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87596.0" y="3703320.0"/>
            <a:ext cx="457200.0" cy="0.0"/>
          </a:xfrm>
          <a:prstGeom prst="bentConnector3">
            <a:avLst/>
          </a:prstGeom>
          <a:ln w="25400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44796" y="2468880"/>
            <a:ext cx="1889699" cy="24688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1956" y="2606040"/>
            <a:ext cx="4572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1956" y="2633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6236" y="3246120"/>
            <a:ext cx="17068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6236" y="3749040"/>
            <a:ext cx="17068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Logs + memory
+ team notify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4E79"/>
                </a:solidFill>
                <a:latin typeface="Calibri"/>
              </a:rPr>
              <a:t>Three modes — dry-run, validate, deploy. Agent gates each step.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14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960120" cy="96012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502920"/>
            <a:ext cx="9905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Calibri"/>
              </a:rPr>
              <a:t>MVP Access CICD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017520" cy="64008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TFS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017520" cy="6400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Mode: dry-run / validate / 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87952"/>
            <a:ext cx="3017520" cy="64008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Branch + secrets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5"/>
                </a:solidFill>
                <a:latin typeface="Calibri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514600"/>
            <a:ext cx="3840480" cy="2377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NAPCO 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Validate secrets  ·  Build
Deploy  ·  Smoke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31720"/>
            <a:ext cx="30175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496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IIS deploy  +  memory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MSBuild compile +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29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robocopy → IIS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Smoke check on 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251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Team notify on outcome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3886200.0"/>
            <a:ext cx="594360" cy="0.0"/>
          </a:xfrm>
          <a:prstGeom prst="bentConnector3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3886200.0"/>
            <a:ext cx="594360" cy="0.0"/>
          </a:xfrm>
          <a:prstGeom prst="bentConnector3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62B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Pipeline wired   ·   Awaiting 6 IT-managed secrets (TFS + IIS)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15 /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11480"/>
            <a:ext cx="960120" cy="96012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60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502920"/>
            <a:ext cx="9905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Calibri"/>
              </a:rPr>
              <a:t>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78608"/>
            <a:ext cx="3017520" cy="64008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test_run_history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3017520" cy="640080"/>
          </a:xfrm>
          <a:prstGeom prst="roundRect">
            <a:avLst/>
          </a:prstGeom>
          <a:solidFill>
            <a:srgbClr val="2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activity_logs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87952"/>
            <a:ext cx="3017520" cy="640080"/>
          </a:xfrm>
          <a:prstGeom prst="roundRect">
            <a:avLst/>
          </a:prstGeom>
          <a:solidFill>
            <a:srgbClr val="C99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requirements_seen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83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B7785"/>
                </a:solidFill>
                <a:latin typeface="Calibri"/>
              </a:rPr>
              <a:t>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2514600"/>
            <a:ext cx="3840480" cy="23774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743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962B"/>
                </a:solidFill>
                <a:latin typeface="Calibri"/>
              </a:rPr>
              <a:t>NAPCO Nucleus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Read memory  ·  Compose
Send email  ·  Notify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7785"/>
                </a:solidFill>
                <a:latin typeface="Calibri"/>
              </a:rPr>
              <a:t>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331720"/>
            <a:ext cx="3017520" cy="27432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4963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A4C93"/>
                </a:solidFill>
                <a:latin typeface="Calibri"/>
              </a:rPr>
              <a:t>Two daily emails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09:00 AM — Team detailed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429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22:30 PM — Leadership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8404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6 blocks: RM + 4 tests + CICD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2519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 Three numbers + the ask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20440" y="3886200.0"/>
            <a:ext cx="594360" cy="0.0"/>
          </a:xfrm>
          <a:prstGeom prst="bentConnector3">
            <a:avLst/>
          </a:prstGeom>
          <a:ln w="254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46720" y="3886200.0"/>
            <a:ext cx="594360" cy="0.0"/>
          </a:xfrm>
          <a:prstGeom prst="bentConnector3">
            <a:avLst/>
          </a:prstGeom>
          <a:ln w="254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5532120"/>
            <a:ext cx="11277295" cy="77724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869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9962B"/>
                </a:solidFill>
                <a:latin typeface="Calibri"/>
              </a:rP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79592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Two emails per day   ·   Reads memory, composes, sends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07856"/>
                </a:solidFill>
                <a:latin typeface="Calibri"/>
              </a:rPr>
              <a:t>Honest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785"/>
                </a:solidFill>
                <a:latin typeface="Calibri"/>
              </a:rPr>
              <a:t>What still needs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10362895" cy="9144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4505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7856"/>
                </a:solidFill>
                <a:latin typeface="Calibri"/>
              </a:rPr>
              <a:t>CICD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450592"/>
            <a:ext cx="7802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Pipeline wired. Awaiting IT secrets (TFS, IIS).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10362895" cy="9144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393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7856"/>
                </a:solidFill>
                <a:latin typeface="Calibri"/>
              </a:rPr>
              <a:t>Load test 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39312"/>
            <a:ext cx="7802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Baseline only. Two more runs unlock regression detection.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663440"/>
            <a:ext cx="10362895" cy="91440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8280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07856"/>
                </a:solidFill>
                <a:latin typeface="Calibri"/>
              </a:rPr>
              <a:t>E2E headed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828032"/>
            <a:ext cx="78025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Calibri"/>
              </a:rPr>
              <a:t>Windows encoding edge case. Headless works.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Mohammad Kamrul Hasan  ·  Napco Nucleus</a:t>
            </a:r>
          </a:p>
          <a:p>
            <a:pPr algn="l"/>
            <a:r>
              <a:rPr sz="100" b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11535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785"/>
                </a:solidFill>
                <a:latin typeface="Calibri"/>
              </a:rPr>
              <a:t>17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1F4E79"/>
                </a:solidFill>
                <a:latin typeface="Calibri"/>
              </a:rPr>
              <a:t>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B7785"/>
                </a:solidFill>
                <a:latin typeface="Calibri"/>
              </a:rPr>
              <a:t>Live demo on request.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