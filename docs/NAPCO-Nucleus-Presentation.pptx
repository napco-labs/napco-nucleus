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setting the stakes: this is not a slide-deck about a future plan. NAPCO Nucleus is in production, running 9 workflows every day. The talk will cover what it is, how it's built, why it works, what it costs, and what comes next. Speak briefly to the title — "Autonomous Intelligent Orchestrator" is the honest one-line description, not marketing. The NAPCO Nucleus Framework is the architectural pattern reused from prior work.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agenda once, then commit to the timing. 60 min total: ≈8 min on Case + Architecture overview, ≈25 min on Inside NN + Prompts + Integrations (the meat), ≈12 min on CI/CD + Extending, ≈10 min Benefits/Limits/Roadmap, leaving ≈5 min for Q&amp;A. If we run long, the deepest cut is the prompts section — it's the most interesting but I can summarize and direct people to the docs.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problem in human terms. The test team was drowning in fragmented signal: four overnight runs producing four mailbox items, requirements that lived in chat threads or call notes until somebody remembered to file them, OpenProject Work Packages with frequent duplicates because nobody could remember what was already filed. NN's mandate was to consolidate, not to replace. Emphasize: human QA judgment is unchanged. NN takes over the logistics — what to file, when to file, how to format — so humans focus on the things that need a human.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centerpiece. If the audience remembers one thing from the talk, it should be this: reasoning lives in prompts, tools wrap I/O. Repeat that exact phrase. Then explain the three pillars: one-turn-per-process means crash safety and no leaked state; memory-in-git means we get version control for free; Claude Max means cost ceiling is fixed at the subscription level, not metered per token. The audience will ask about cost — be ready with the ~$200/mo number.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I land the central architectural insight: NN is not 'just' a test bot or 'just' a PM bot. It's both, because the same agent.py + Claude Agent SDK + MCP server can swing between dimensions purely by loading a different prompt. The two-dimension framing is also how we explain it to non-engineers: product/leadership care about the PM side, the test team cares about the automation side, but it's one system they're both consuming.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boss-facing slide. Anchor every answer to the four streams. Three are live and producing artifacts you can click through to today; the fourth (CI/CD) is code-complete and waiting only on IT secrets — be honest about that, it shows the gap is operational not technical. The 'twice daily' cadence for Req Mgmt was tightened on 2026-04-28 from a 5-slot business-hours poll. Same code, fewer runs, less LLM cost.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diagram top-down: four channels feed the agent; the agent reasons + classifies; OpenProject is the single backlog of record. Side cards explain the two non-obvious mechanics — how dedup works (two stacked layers, both self-healing) and what 'in-place update' means in practice (subject swap + comment, OpenProject's Activity tab is the audit trail).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numbers to anchor the conversation. The most surprising ones for the audience: $200/month fixed (vs. token-billed alternatives that scale with traffic), 3.6k LOC (small enough for one person to own), 8 prompt files (the real intellectual asset of the system). The two emails per day number replaces the previous 6+ overnight messages reality.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each node clockwise from top-left: .env feeds secrets and paths; Claude Agent SDK is how Python talks to Claude; Prompts on the right are the actual algorithms; nucleus_memory.db is where state persists across runs; GitHub Actions is the trigger layer; MCP server is the tool surface Claude calls into. Emphasize: these six external boundaries are the entire system. There is nothing else.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engineers in the audience will push back. Be ready: 'why not LangGraph?' Answer: we tried, and the complexity exceeded the gain. For workflows that are fundamentally sequential — poll inbox, summarize, file issue — a planner/worker split adds latency and failure modes without improving outcomes. We measured. Single agent + great prompt wins.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Pace this slide deliberately — it's the backbone. Each step takes seconds, except step 6 which is the actual work (1-15 minutes depending on workflow). The key insight to deliver: this lifecycle is universal across all 9 workflows. Adding a new workflow doesn't change the shape, only what's inside step 6.</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five constraints are why every architectural decision feels coherent. If a future change violates one of these, we don't make it. Useful for the audience to remember when they're tempted to ask 'can NN do X?' — answer is yes if it fits these constraints, and 'maybe but reconsider' if it doesn't.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single most surprising number in the whole talk: 198 lines. That's the entire orchestrator. People expect AI agent code to be thousands of lines. It isn't, because we offload reasoning to prompts. Walk through the code briefly — the SDK does the heavy lifting via create_sdk_mcp_server and ClaudeSDKClient. Adding a new workflow really is two string additions plus a new prompt file.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only slide where I show real tool registration code. Highlight: the @tool decorator handles all the JSON Schema and MCP envelope plumbing. Claude sees the tool name, description, and arg schema; the Python function is plain async. No magic.</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earns trust with the budget owner. Anyone who's looked at API-billed AI agents knows the worry: what if a prompt loops forever? Token bill blows up. NN's Claude Max model removes that worry. Be honest about the constraint: it does mean we're locked to one machine that has to stay logged in. That's a known tradeoff and we accepted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31-tool surface is broad on purpose — covers both dimensions. The split into 6 modules is by responsibility, not by feature: memory tools are reused across all workflows, report tools likewise. Notice tests is the largest module (9 tools) — that's because each test type has slightly different invocation contracts.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non-negotiable. New tool reviews fail if they compose other tools, or skip log_activity, or ignore dry-run. The lazy-import rule is operational hygiene: in a one-turn process, cold start matters. We don't pay imaplib's cost on a workflow that doesn't poll email.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Memory in git is the most controversial design choice. Critics will say: SQLite isn't meant for that. Counter: it's small (currently ~5MB), it's binary but well-compressed, and the version control gives us audit + dedup history for free. If we needed scale we'd switch to Postgres — for now we don't.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here. This is the deepest insight in NN's architecture. Most teams put algorithmic logic in code and treat prompts as config. NN inverts that. Prompts ARE the algorithms. Code is config — it just exposes capabilities. When you really internalize this, every architectural choice in NN follows.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prompts are 100-200 lines of markdown. system.md is longer (~300 lines) because it defines the shared rules. The real intellectual asset of NN is these 8 files. Code can be rewritten in a week; the prompts took months of iteration to get right.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integration list is honest: NN is glue. Every meaningful external system has one tool. No tool wraps multiple systems. If we add a new client (Slack, Notion, etc.) it's one new tool, ~50 lines of Python.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as the wrap-up for the inside-NN section. Nothing exotic — every component is well-understood, well-supported. Claude Agent SDK is the only piece newer than 1 year. The rest is boring tech, deliberately.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YAML is intentionally boring. Anyone who knows GitHub Actions can read a NN workflow without learning anything new. That's a feature. Concurrency groups are the most important guardrail — they're how we guarantee memory commits never race.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timeline: everything fires inside a single 3-hour window, 01:00–04:00 BDT. The four test workflows go first (01:00 functional, 01:15 integration, 01:30 load, 02:30 E2E) — they queue on the single self-hosted runner. CICD follows at 03:00 once tests have passed. Requirement Management runs twice daily at 13:00 + 01:00 BDT to ingest anything that arrived overnight. Daily reports close the window at 03:30 (detailed) and 03:45 (summary), so by 4 AM every consumer has fresh state in their inbox before the workday starts.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runner is the single most fragile component in NN. If it goes down, every workflow stops. We accept this because: (a) the cost saving is meaningful, (b) our usage doesn't justify redundancy, (c) we can spin up a cold-standby runner in an afternoon if we need to. Roadmap: cold-standby pre-imaged.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 pacing: a brand-new workflow with new tools takes 1-2 days end-to-end. A workflow that uses existing tools is done in 30 minutes. Most of the time goes into prompt iteration in step 1 — getting the loop right. Steps 2-7 are mechanical.</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template if anyone asks. The shape is the same for every tool — that's deliberate. Code review for new tools is fast because everything looks the same.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2 minutes here. Pick the 3 most relevant for your audience: for engineering — behavior-via-prompt, idempotent, single-machine. For leadership — cost-bounded, two emails per day. Don't read all ten.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builds credibility. The audience knows nothing is perfect. Listing the limits openly tells them I've thought about NN clearly. Be especially honest about non-determinism and prompt drift — those are real and we manage them through review discipline, not tooling.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roadmap is honest about prioritization: near-term items address the limits we just listed. Mid-term is value expansion. Long-term is speculation — don't promise dates we can't keep. Notice: 'agentic refactor' on long-term means we'd revisit the single-agent decision IF a future workflow truly needs it. We haven't found one yet.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talk on the thesis line. Pause. Then open Q&amp;A. Predicted questions: (1) what about token costs / API billing — covered by Claude Max slide. (2) why not LangGraph — covered by single-agent slide, repeat the answer. (3) how do we handle Claude getting it wrong — answer: human-in-loop is preserved, NN files draft OpenProject Work Packages, humans approve/edit; reports are read by humans before action. (4) can this be commercialized — yes, the architecture is product-agnostic, multi-tenant is on the roadmap.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57200" cy="685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011680"/>
            <a:ext cx="457200" cy="2286000"/>
          </a:xfrm>
          <a:prstGeom prst="rect">
            <a:avLst/>
          </a:prstGeom>
          <a:solidFill>
            <a:srgbClr val="C99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822960"/>
            <a:ext cx="10058400" cy="320040"/>
          </a:xfrm>
          <a:prstGeom prst="rect">
            <a:avLst/>
          </a:prstGeom>
          <a:noFill/>
        </p:spPr>
        <p:txBody>
          <a:bodyPr wrap="none">
            <a:spAutoFit/>
          </a:bodyPr>
          <a:lstStyle/>
          <a:p>
            <a:pPr algn="l"/>
            <a:r>
              <a:rPr sz="1200" b="1">
                <a:solidFill>
                  <a:srgbClr val="C9962B"/>
                </a:solidFill>
                <a:latin typeface="Calibri"/>
              </a:rPr>
              <a:t>AEL  ·  Engineering Showcase  ·  30 April 2026</a:t>
            </a:r>
          </a:p>
        </p:txBody>
      </p:sp>
      <p:sp>
        <p:nvSpPr>
          <p:cNvPr id="5" name="TextBox 4"/>
          <p:cNvSpPr txBox="1"/>
          <p:nvPr/>
        </p:nvSpPr>
        <p:spPr>
          <a:xfrm>
            <a:off x="914400" y="1463040"/>
            <a:ext cx="10515600" cy="1828800"/>
          </a:xfrm>
          <a:prstGeom prst="rect">
            <a:avLst/>
          </a:prstGeom>
          <a:noFill/>
        </p:spPr>
        <p:txBody>
          <a:bodyPr wrap="square">
            <a:spAutoFit/>
          </a:bodyPr>
          <a:lstStyle/>
          <a:p>
            <a:pPr algn="l"/>
            <a:r>
              <a:rPr sz="5400" b="1">
                <a:solidFill>
                  <a:srgbClr val="1F4E79"/>
                </a:solidFill>
                <a:latin typeface="Calibri"/>
              </a:rPr>
              <a:t>NAPCO Nucleus</a:t>
            </a:r>
          </a:p>
          <a:p>
            <a:pPr algn="l">
              <a:spcBef>
                <a:spcPts val="400"/>
              </a:spcBef>
            </a:pPr>
            <a:r>
              <a:rPr sz="3000" b="1">
                <a:solidFill>
                  <a:srgbClr val="1F4E79"/>
                </a:solidFill>
                <a:latin typeface="Calibri"/>
              </a:rPr>
              <a:t>An Autonomous Intelligent Orchestrator</a:t>
            </a:r>
          </a:p>
        </p:txBody>
      </p:sp>
      <p:sp>
        <p:nvSpPr>
          <p:cNvPr id="6" name="TextBox 5"/>
          <p:cNvSpPr txBox="1"/>
          <p:nvPr/>
        </p:nvSpPr>
        <p:spPr>
          <a:xfrm>
            <a:off x="914400" y="3749039"/>
            <a:ext cx="10515600" cy="548640"/>
          </a:xfrm>
          <a:prstGeom prst="rect">
            <a:avLst/>
          </a:prstGeom>
          <a:noFill/>
        </p:spPr>
        <p:txBody>
          <a:bodyPr wrap="none">
            <a:spAutoFit/>
          </a:bodyPr>
          <a:lstStyle/>
          <a:p>
            <a:pPr algn="l"/>
            <a:r>
              <a:rPr sz="1800" b="0">
                <a:solidFill>
                  <a:srgbClr val="2E8A8A"/>
                </a:solidFill>
                <a:latin typeface="Calibri"/>
              </a:rPr>
              <a:t>Autonomous AI Orchestrator for QA &amp; Project Governance</a:t>
            </a:r>
          </a:p>
        </p:txBody>
      </p:sp>
      <p:sp>
        <p:nvSpPr>
          <p:cNvPr id="7" name="TextBox 6"/>
          <p:cNvSpPr txBox="1"/>
          <p:nvPr/>
        </p:nvSpPr>
        <p:spPr>
          <a:xfrm>
            <a:off x="914400" y="4754880"/>
            <a:ext cx="10515600" cy="1280160"/>
          </a:xfrm>
          <a:prstGeom prst="rect">
            <a:avLst/>
          </a:prstGeom>
          <a:noFill/>
        </p:spPr>
        <p:txBody>
          <a:bodyPr wrap="square">
            <a:spAutoFit/>
          </a:bodyPr>
          <a:lstStyle/>
          <a:p>
            <a:pPr algn="l"/>
            <a:r>
              <a:rPr sz="1100" b="0">
                <a:solidFill>
                  <a:srgbClr val="6B7785"/>
                </a:solidFill>
                <a:latin typeface="Calibri"/>
              </a:rPr>
              <a:t>Developed &amp; Engineered by</a:t>
            </a:r>
          </a:p>
          <a:p>
            <a:pPr algn="l">
              <a:spcBef>
                <a:spcPts val="200"/>
              </a:spcBef>
            </a:pPr>
            <a:r>
              <a:rPr sz="2200" b="1">
                <a:solidFill>
                  <a:srgbClr val="1F4E79"/>
                </a:solidFill>
                <a:latin typeface="Calibri"/>
              </a:rPr>
              <a:t>Mohammad Kamrul Hasan</a:t>
            </a:r>
          </a:p>
          <a:p>
            <a:pPr algn="l">
              <a:spcBef>
                <a:spcPts val="200"/>
              </a:spcBef>
            </a:pPr>
            <a:r>
              <a:rPr sz="1400" b="0">
                <a:solidFill>
                  <a:srgbClr val="222222"/>
                </a:solidFill>
                <a:latin typeface="Calibri"/>
              </a:rPr>
              <a:t>AI-Augmented QA Architect  |  Adaptive Enterprise Limited</a:t>
            </a:r>
          </a:p>
        </p:txBody>
      </p:sp>
      <p:sp>
        <p:nvSpPr>
          <p:cNvPr id="8" name="Rectangle 7"/>
          <p:cNvSpPr/>
          <p:nvPr/>
        </p:nvSpPr>
        <p:spPr>
          <a:xfrm>
            <a:off x="0" y="6583680"/>
            <a:ext cx="12191695" cy="2743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01968"/>
            <a:ext cx="10972800" cy="228600"/>
          </a:xfrm>
          <a:prstGeom prst="rect">
            <a:avLst/>
          </a:prstGeom>
          <a:noFill/>
        </p:spPr>
        <p:txBody>
          <a:bodyPr wrap="none">
            <a:spAutoFit/>
          </a:bodyPr>
          <a:lstStyle/>
          <a:p>
            <a:pPr algn="l"/>
            <a:r>
              <a:rPr sz="1000" b="0">
                <a:solidFill>
                  <a:srgbClr val="FFFFFF"/>
                </a:solidFill>
                <a:latin typeface="Calibri"/>
              </a:rPr>
              <a:t>Engineering Showcase  ·  Thursday 30 April 2026  ·  60 minutes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565392"/>
            <a:ext cx="11277295" cy="9000"/>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601968"/>
            <a:ext cx="7315200" cy="228600"/>
          </a:xfrm>
          <a:prstGeom prst="rect">
            <a:avLst/>
          </a:prstGeom>
          <a:noFill/>
        </p:spPr>
        <p:txBody>
          <a:bodyPr wrap="none">
            <a:spAutoFit/>
          </a:bodyPr>
          <a:lstStyle/>
          <a:p>
            <a:pPr algn="l"/>
            <a:r>
              <a:rPr sz="900" b="0">
                <a:solidFill>
                  <a:srgbClr val="6B7785"/>
                </a:solidFill>
                <a:latin typeface="Calibri"/>
              </a:rPr>
              <a:t>NAPCO Nucleus  |  Mohammad Kamrul Hasan  |  Adaptive Enterprise Limited</a:t>
            </a:r>
          </a:p>
        </p:txBody>
      </p:sp>
      <p:sp>
        <p:nvSpPr>
          <p:cNvPr id="5" name="TextBox 4"/>
          <p:cNvSpPr txBox="1"/>
          <p:nvPr/>
        </p:nvSpPr>
        <p:spPr>
          <a:xfrm>
            <a:off x="10515600" y="6601968"/>
            <a:ext cx="1280160" cy="228600"/>
          </a:xfrm>
          <a:prstGeom prst="rect">
            <a:avLst/>
          </a:prstGeom>
          <a:noFill/>
        </p:spPr>
        <p:txBody>
          <a:bodyPr wrap="none">
            <a:spAutoFit/>
          </a:bodyPr>
          <a:lstStyle/>
          <a:p>
            <a:pPr algn="r"/>
            <a:r>
              <a:rPr sz="900" b="0">
                <a:solidFill>
                  <a:srgbClr val="6B7785"/>
                </a:solidFill>
                <a:latin typeface="Calibri"/>
              </a:rPr>
              <a:t>2 / 31</a:t>
            </a:r>
          </a:p>
        </p:txBody>
      </p:sp>
      <p:sp>
        <p:nvSpPr>
          <p:cNvPr id="6" name="TextBox 5"/>
          <p:cNvSpPr txBox="1"/>
          <p:nvPr/>
        </p:nvSpPr>
        <p:spPr>
          <a:xfrm>
            <a:off x="457200" y="274320"/>
            <a:ext cx="11277295" cy="640080"/>
          </a:xfrm>
          <a:prstGeom prst="rect">
            <a:avLst/>
          </a:prstGeom>
          <a:noFill/>
        </p:spPr>
        <p:txBody>
          <a:bodyPr wrap="none">
            <a:spAutoFit/>
          </a:bodyPr>
          <a:lstStyle/>
          <a:p>
            <a:pPr algn="l"/>
            <a:r>
              <a:rPr sz="2800" b="1">
                <a:solidFill>
                  <a:srgbClr val="1F4E79"/>
                </a:solidFill>
                <a:latin typeface="Calibri"/>
              </a:rPr>
              <a:t>Agenda</a:t>
            </a:r>
          </a:p>
        </p:txBody>
      </p:sp>
      <p:sp>
        <p:nvSpPr>
          <p:cNvPr id="7" name="TextBox 6"/>
          <p:cNvSpPr txBox="1"/>
          <p:nvPr/>
        </p:nvSpPr>
        <p:spPr>
          <a:xfrm>
            <a:off x="457200" y="868680"/>
            <a:ext cx="11277295" cy="365760"/>
          </a:xfrm>
          <a:prstGeom prst="rect">
            <a:avLst/>
          </a:prstGeom>
          <a:noFill/>
        </p:spPr>
        <p:txBody>
          <a:bodyPr wrap="none">
            <a:spAutoFit/>
          </a:bodyPr>
          <a:lstStyle/>
          <a:p>
            <a:pPr algn="l"/>
            <a:r>
              <a:rPr sz="1400" b="0">
                <a:solidFill>
                  <a:srgbClr val="6B7785"/>
                </a:solidFill>
                <a:latin typeface="Calibri"/>
              </a:rPr>
              <a:t>Sixty minutes, eight sections, one architecture</a:t>
            </a:r>
          </a:p>
        </p:txBody>
      </p:sp>
      <p:sp>
        <p:nvSpPr>
          <p:cNvPr id="8" name="Rectangle 7"/>
          <p:cNvSpPr/>
          <p:nvPr/>
        </p:nvSpPr>
        <p:spPr>
          <a:xfrm>
            <a:off x="548640" y="1554480"/>
            <a:ext cx="914400" cy="109728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800" b="1">
                <a:solidFill>
                  <a:srgbClr val="FFFFFF"/>
                </a:solidFill>
                <a:latin typeface="Calibri"/>
              </a:rPr>
              <a:t>01</a:t>
            </a:r>
          </a:p>
        </p:txBody>
      </p:sp>
      <p:sp>
        <p:nvSpPr>
          <p:cNvPr id="9" name="Rectangle 8"/>
          <p:cNvSpPr/>
          <p:nvPr/>
        </p:nvSpPr>
        <p:spPr>
          <a:xfrm>
            <a:off x="1463040" y="1554480"/>
            <a:ext cx="4663440" cy="1097280"/>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tIns="109728" wrap="square"/>
          <a:lstStyle/>
          <a:p>
            <a:pPr algn="l"/>
            <a:r>
              <a:rPr sz="1600" b="1">
                <a:solidFill>
                  <a:srgbClr val="1F4E79"/>
                </a:solidFill>
                <a:latin typeface="Calibri"/>
              </a:rPr>
              <a:t>The Case</a:t>
            </a:r>
          </a:p>
          <a:p>
            <a:pPr algn="l">
              <a:spcBef>
                <a:spcPts val="200"/>
              </a:spcBef>
            </a:pPr>
            <a:r>
              <a:rPr sz="1100" b="0">
                <a:solidFill>
                  <a:srgbClr val="6B7785"/>
                </a:solidFill>
                <a:latin typeface="Calibri"/>
              </a:rPr>
              <a:t>Why NN exists, the thesis, the impact</a:t>
            </a:r>
          </a:p>
        </p:txBody>
      </p:sp>
      <p:sp>
        <p:nvSpPr>
          <p:cNvPr id="10" name="Rectangle 9"/>
          <p:cNvSpPr/>
          <p:nvPr/>
        </p:nvSpPr>
        <p:spPr>
          <a:xfrm>
            <a:off x="6245352" y="1554480"/>
            <a:ext cx="914400" cy="1097280"/>
          </a:xfrm>
          <a:prstGeom prst="rect">
            <a:avLst/>
          </a:prstGeom>
          <a:solidFill>
            <a:srgbClr val="2E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800" b="1">
                <a:solidFill>
                  <a:srgbClr val="FFFFFF"/>
                </a:solidFill>
                <a:latin typeface="Calibri"/>
              </a:rPr>
              <a:t>02</a:t>
            </a:r>
          </a:p>
        </p:txBody>
      </p:sp>
      <p:sp>
        <p:nvSpPr>
          <p:cNvPr id="11" name="Rectangle 10"/>
          <p:cNvSpPr/>
          <p:nvPr/>
        </p:nvSpPr>
        <p:spPr>
          <a:xfrm>
            <a:off x="7159752" y="1554480"/>
            <a:ext cx="4663440" cy="1097280"/>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tIns="109728" wrap="square"/>
          <a:lstStyle/>
          <a:p>
            <a:pPr algn="l"/>
            <a:r>
              <a:rPr sz="1600" b="1">
                <a:solidFill>
                  <a:srgbClr val="1F4E79"/>
                </a:solidFill>
                <a:latin typeface="Calibri"/>
              </a:rPr>
              <a:t>Architecture</a:t>
            </a:r>
          </a:p>
          <a:p>
            <a:pPr algn="l">
              <a:spcBef>
                <a:spcPts val="200"/>
              </a:spcBef>
            </a:pPr>
            <a:r>
              <a:rPr sz="1100" b="0">
                <a:solidFill>
                  <a:srgbClr val="6B7785"/>
                </a:solidFill>
                <a:latin typeface="Calibri"/>
              </a:rPr>
              <a:t>Component map, single-agent model, lifecycle</a:t>
            </a:r>
          </a:p>
        </p:txBody>
      </p:sp>
      <p:sp>
        <p:nvSpPr>
          <p:cNvPr id="12" name="Rectangle 11"/>
          <p:cNvSpPr/>
          <p:nvPr/>
        </p:nvSpPr>
        <p:spPr>
          <a:xfrm>
            <a:off x="548640" y="2798064"/>
            <a:ext cx="914400" cy="1097280"/>
          </a:xfrm>
          <a:prstGeom prst="rect">
            <a:avLst/>
          </a:prstGeom>
          <a:solidFill>
            <a:srgbClr val="E078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800" b="1">
                <a:solidFill>
                  <a:srgbClr val="FFFFFF"/>
                </a:solidFill>
                <a:latin typeface="Calibri"/>
              </a:rPr>
              <a:t>03</a:t>
            </a:r>
          </a:p>
        </p:txBody>
      </p:sp>
      <p:sp>
        <p:nvSpPr>
          <p:cNvPr id="13" name="Rectangle 12"/>
          <p:cNvSpPr/>
          <p:nvPr/>
        </p:nvSpPr>
        <p:spPr>
          <a:xfrm>
            <a:off x="1463040" y="2798064"/>
            <a:ext cx="4663440" cy="1097280"/>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tIns="109728" wrap="square"/>
          <a:lstStyle/>
          <a:p>
            <a:pPr algn="l"/>
            <a:r>
              <a:rPr sz="1600" b="1">
                <a:solidFill>
                  <a:srgbClr val="1F4E79"/>
                </a:solidFill>
                <a:latin typeface="Calibri"/>
              </a:rPr>
              <a:t>Inside NN</a:t>
            </a:r>
          </a:p>
          <a:p>
            <a:pPr algn="l">
              <a:spcBef>
                <a:spcPts val="200"/>
              </a:spcBef>
            </a:pPr>
            <a:r>
              <a:rPr sz="1100" b="0">
                <a:solidFill>
                  <a:srgbClr val="6B7785"/>
                </a:solidFill>
                <a:latin typeface="Calibri"/>
              </a:rPr>
              <a:t>Orchestrator, SDK, MCP tools, memory</a:t>
            </a:r>
          </a:p>
        </p:txBody>
      </p:sp>
      <p:sp>
        <p:nvSpPr>
          <p:cNvPr id="14" name="Rectangle 13"/>
          <p:cNvSpPr/>
          <p:nvPr/>
        </p:nvSpPr>
        <p:spPr>
          <a:xfrm>
            <a:off x="6245352" y="2798064"/>
            <a:ext cx="914400" cy="1097280"/>
          </a:xfrm>
          <a:prstGeom prst="rect">
            <a:avLst/>
          </a:prstGeom>
          <a:solidFill>
            <a:srgbClr val="4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800" b="1">
                <a:solidFill>
                  <a:srgbClr val="FFFFFF"/>
                </a:solidFill>
                <a:latin typeface="Calibri"/>
              </a:rPr>
              <a:t>04</a:t>
            </a:r>
          </a:p>
        </p:txBody>
      </p:sp>
      <p:sp>
        <p:nvSpPr>
          <p:cNvPr id="15" name="Rectangle 14"/>
          <p:cNvSpPr/>
          <p:nvPr/>
        </p:nvSpPr>
        <p:spPr>
          <a:xfrm>
            <a:off x="7159752" y="2798064"/>
            <a:ext cx="4663440" cy="1097280"/>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tIns="109728" wrap="square"/>
          <a:lstStyle/>
          <a:p>
            <a:pPr algn="l"/>
            <a:r>
              <a:rPr sz="1600" b="1">
                <a:solidFill>
                  <a:srgbClr val="1F4E79"/>
                </a:solidFill>
                <a:latin typeface="Calibri"/>
              </a:rPr>
              <a:t>Prompts</a:t>
            </a:r>
          </a:p>
          <a:p>
            <a:pPr algn="l">
              <a:spcBef>
                <a:spcPts val="200"/>
              </a:spcBef>
            </a:pPr>
            <a:r>
              <a:rPr sz="1100" b="0">
                <a:solidFill>
                  <a:srgbClr val="6B7785"/>
                </a:solidFill>
                <a:latin typeface="Calibri"/>
              </a:rPr>
              <a:t>Algorithms in markdown, the 8 prompt files</a:t>
            </a:r>
          </a:p>
        </p:txBody>
      </p:sp>
      <p:sp>
        <p:nvSpPr>
          <p:cNvPr id="16" name="Rectangle 15"/>
          <p:cNvSpPr/>
          <p:nvPr/>
        </p:nvSpPr>
        <p:spPr>
          <a:xfrm>
            <a:off x="548640" y="4041648"/>
            <a:ext cx="914400" cy="1097280"/>
          </a:xfrm>
          <a:prstGeom prst="rect">
            <a:avLst/>
          </a:prstGeom>
          <a:solidFill>
            <a:srgbClr val="C99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800" b="1">
                <a:solidFill>
                  <a:srgbClr val="FFFFFF"/>
                </a:solidFill>
                <a:latin typeface="Calibri"/>
              </a:rPr>
              <a:t>05</a:t>
            </a:r>
          </a:p>
        </p:txBody>
      </p:sp>
      <p:sp>
        <p:nvSpPr>
          <p:cNvPr id="17" name="Rectangle 16"/>
          <p:cNvSpPr/>
          <p:nvPr/>
        </p:nvSpPr>
        <p:spPr>
          <a:xfrm>
            <a:off x="1463040" y="4041648"/>
            <a:ext cx="4663440" cy="1097280"/>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tIns="109728" wrap="square"/>
          <a:lstStyle/>
          <a:p>
            <a:pPr algn="l"/>
            <a:r>
              <a:rPr sz="1600" b="1">
                <a:solidFill>
                  <a:srgbClr val="1F4E79"/>
                </a:solidFill>
                <a:latin typeface="Calibri"/>
              </a:rPr>
              <a:t>Integrations &amp; Stack</a:t>
            </a:r>
          </a:p>
          <a:p>
            <a:pPr algn="l">
              <a:spcBef>
                <a:spcPts val="200"/>
              </a:spcBef>
            </a:pPr>
            <a:r>
              <a:rPr sz="1100" b="0">
                <a:solidFill>
                  <a:srgbClr val="6B7785"/>
                </a:solidFill>
                <a:latin typeface="Calibri"/>
              </a:rPr>
              <a:t>Everything NN talks to, end to end</a:t>
            </a:r>
          </a:p>
        </p:txBody>
      </p:sp>
      <p:sp>
        <p:nvSpPr>
          <p:cNvPr id="18" name="Rectangle 17"/>
          <p:cNvSpPr/>
          <p:nvPr/>
        </p:nvSpPr>
        <p:spPr>
          <a:xfrm>
            <a:off x="6245352" y="4041648"/>
            <a:ext cx="914400" cy="1097280"/>
          </a:xfrm>
          <a:prstGeom prst="rect">
            <a:avLst/>
          </a:prstGeom>
          <a:solidFill>
            <a:srgbClr val="6A4C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800" b="1">
                <a:solidFill>
                  <a:srgbClr val="FFFFFF"/>
                </a:solidFill>
                <a:latin typeface="Calibri"/>
              </a:rPr>
              <a:t>06</a:t>
            </a:r>
          </a:p>
        </p:txBody>
      </p:sp>
      <p:sp>
        <p:nvSpPr>
          <p:cNvPr id="19" name="Rectangle 18"/>
          <p:cNvSpPr/>
          <p:nvPr/>
        </p:nvSpPr>
        <p:spPr>
          <a:xfrm>
            <a:off x="7159752" y="4041648"/>
            <a:ext cx="4663440" cy="1097280"/>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tIns="109728" wrap="square"/>
          <a:lstStyle/>
          <a:p>
            <a:pPr algn="l"/>
            <a:r>
              <a:rPr sz="1600" b="1">
                <a:solidFill>
                  <a:srgbClr val="1F4E79"/>
                </a:solidFill>
                <a:latin typeface="Calibri"/>
              </a:rPr>
              <a:t>CI/CD &amp; Operations</a:t>
            </a:r>
          </a:p>
          <a:p>
            <a:pPr algn="l">
              <a:spcBef>
                <a:spcPts val="200"/>
              </a:spcBef>
            </a:pPr>
            <a:r>
              <a:rPr sz="1100" b="0">
                <a:solidFill>
                  <a:srgbClr val="6B7785"/>
                </a:solidFill>
                <a:latin typeface="Calibri"/>
              </a:rPr>
              <a:t>Workflows, runner, guardrails</a:t>
            </a:r>
          </a:p>
        </p:txBody>
      </p:sp>
      <p:sp>
        <p:nvSpPr>
          <p:cNvPr id="20" name="Rectangle 19"/>
          <p:cNvSpPr/>
          <p:nvPr/>
        </p:nvSpPr>
        <p:spPr>
          <a:xfrm>
            <a:off x="548640" y="5285232"/>
            <a:ext cx="914400" cy="109728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800" b="1">
                <a:solidFill>
                  <a:srgbClr val="FFFFFF"/>
                </a:solidFill>
                <a:latin typeface="Calibri"/>
              </a:rPr>
              <a:t>07</a:t>
            </a:r>
          </a:p>
        </p:txBody>
      </p:sp>
      <p:sp>
        <p:nvSpPr>
          <p:cNvPr id="21" name="Rectangle 20"/>
          <p:cNvSpPr/>
          <p:nvPr/>
        </p:nvSpPr>
        <p:spPr>
          <a:xfrm>
            <a:off x="1463040" y="5285232"/>
            <a:ext cx="4663440" cy="1097280"/>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tIns="109728" wrap="square"/>
          <a:lstStyle/>
          <a:p>
            <a:pPr algn="l"/>
            <a:r>
              <a:rPr sz="1600" b="1">
                <a:solidFill>
                  <a:srgbClr val="1F4E79"/>
                </a:solidFill>
                <a:latin typeface="Calibri"/>
              </a:rPr>
              <a:t>Extending NN</a:t>
            </a:r>
          </a:p>
          <a:p>
            <a:pPr algn="l">
              <a:spcBef>
                <a:spcPts val="200"/>
              </a:spcBef>
            </a:pPr>
            <a:r>
              <a:rPr sz="1100" b="0">
                <a:solidFill>
                  <a:srgbClr val="6B7785"/>
                </a:solidFill>
                <a:latin typeface="Calibri"/>
              </a:rPr>
              <a:t>Adding workflows and tools — the recipes</a:t>
            </a:r>
          </a:p>
        </p:txBody>
      </p:sp>
      <p:sp>
        <p:nvSpPr>
          <p:cNvPr id="22" name="Rectangle 21"/>
          <p:cNvSpPr/>
          <p:nvPr/>
        </p:nvSpPr>
        <p:spPr>
          <a:xfrm>
            <a:off x="6245352" y="5285232"/>
            <a:ext cx="914400" cy="1097280"/>
          </a:xfrm>
          <a:prstGeom prst="rect">
            <a:avLst/>
          </a:prstGeom>
          <a:solidFill>
            <a:srgbClr val="2E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800" b="1">
                <a:solidFill>
                  <a:srgbClr val="FFFFFF"/>
                </a:solidFill>
                <a:latin typeface="Calibri"/>
              </a:rPr>
              <a:t>08</a:t>
            </a:r>
          </a:p>
        </p:txBody>
      </p:sp>
      <p:sp>
        <p:nvSpPr>
          <p:cNvPr id="23" name="Rectangle 22"/>
          <p:cNvSpPr/>
          <p:nvPr/>
        </p:nvSpPr>
        <p:spPr>
          <a:xfrm>
            <a:off x="7159752" y="5285232"/>
            <a:ext cx="4663440" cy="1097280"/>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tIns="109728" wrap="square"/>
          <a:lstStyle/>
          <a:p>
            <a:pPr algn="l"/>
            <a:r>
              <a:rPr sz="1600" b="1">
                <a:solidFill>
                  <a:srgbClr val="1F4E79"/>
                </a:solidFill>
                <a:latin typeface="Calibri"/>
              </a:rPr>
              <a:t>Closing</a:t>
            </a:r>
          </a:p>
          <a:p>
            <a:pPr algn="l">
              <a:spcBef>
                <a:spcPts val="200"/>
              </a:spcBef>
            </a:pPr>
            <a:r>
              <a:rPr sz="1100" b="0">
                <a:solidFill>
                  <a:srgbClr val="6B7785"/>
                </a:solidFill>
                <a:latin typeface="Calibri"/>
              </a:rPr>
              <a:t>Benefits, limits, roadmap, Q&amp;A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565392"/>
            <a:ext cx="11277295" cy="9000"/>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601968"/>
            <a:ext cx="7315200" cy="228600"/>
          </a:xfrm>
          <a:prstGeom prst="rect">
            <a:avLst/>
          </a:prstGeom>
          <a:noFill/>
        </p:spPr>
        <p:txBody>
          <a:bodyPr wrap="none">
            <a:spAutoFit/>
          </a:bodyPr>
          <a:lstStyle/>
          <a:p>
            <a:pPr algn="l"/>
            <a:r>
              <a:rPr sz="900" b="0">
                <a:solidFill>
                  <a:srgbClr val="6B7785"/>
                </a:solidFill>
                <a:latin typeface="Calibri"/>
              </a:rPr>
              <a:t>NAPCO Nucleus  |  Mohammad Kamrul Hasan  |  Adaptive Enterprise Limited</a:t>
            </a:r>
          </a:p>
        </p:txBody>
      </p:sp>
      <p:sp>
        <p:nvSpPr>
          <p:cNvPr id="5" name="TextBox 4"/>
          <p:cNvSpPr txBox="1"/>
          <p:nvPr/>
        </p:nvSpPr>
        <p:spPr>
          <a:xfrm>
            <a:off x="10515600" y="6601968"/>
            <a:ext cx="1280160" cy="228600"/>
          </a:xfrm>
          <a:prstGeom prst="rect">
            <a:avLst/>
          </a:prstGeom>
          <a:noFill/>
        </p:spPr>
        <p:txBody>
          <a:bodyPr wrap="none">
            <a:spAutoFit/>
          </a:bodyPr>
          <a:lstStyle/>
          <a:p>
            <a:pPr algn="r"/>
            <a:r>
              <a:rPr sz="900" b="0">
                <a:solidFill>
                  <a:srgbClr val="6B7785"/>
                </a:solidFill>
                <a:latin typeface="Calibri"/>
              </a:rPr>
              <a:t>3 / 31</a:t>
            </a:r>
          </a:p>
        </p:txBody>
      </p:sp>
      <p:sp>
        <p:nvSpPr>
          <p:cNvPr id="6" name="TextBox 5"/>
          <p:cNvSpPr txBox="1"/>
          <p:nvPr/>
        </p:nvSpPr>
        <p:spPr>
          <a:xfrm>
            <a:off x="457200" y="274320"/>
            <a:ext cx="11277295" cy="640080"/>
          </a:xfrm>
          <a:prstGeom prst="rect">
            <a:avLst/>
          </a:prstGeom>
          <a:noFill/>
        </p:spPr>
        <p:txBody>
          <a:bodyPr wrap="none">
            <a:spAutoFit/>
          </a:bodyPr>
          <a:lstStyle/>
          <a:p>
            <a:pPr algn="l"/>
            <a:r>
              <a:rPr sz="2800" b="1">
                <a:solidFill>
                  <a:srgbClr val="1F4E79"/>
                </a:solidFill>
                <a:latin typeface="Calibri"/>
              </a:rPr>
              <a:t>01 · The Problem</a:t>
            </a:r>
          </a:p>
        </p:txBody>
      </p:sp>
      <p:sp>
        <p:nvSpPr>
          <p:cNvPr id="7" name="TextBox 6"/>
          <p:cNvSpPr txBox="1"/>
          <p:nvPr/>
        </p:nvSpPr>
        <p:spPr>
          <a:xfrm>
            <a:off x="457200" y="868680"/>
            <a:ext cx="11277295" cy="365760"/>
          </a:xfrm>
          <a:prstGeom prst="rect">
            <a:avLst/>
          </a:prstGeom>
          <a:noFill/>
        </p:spPr>
        <p:txBody>
          <a:bodyPr wrap="none">
            <a:spAutoFit/>
          </a:bodyPr>
          <a:lstStyle/>
          <a:p>
            <a:pPr algn="l"/>
            <a:r>
              <a:rPr sz="1400" b="0">
                <a:solidFill>
                  <a:srgbClr val="6B7785"/>
                </a:solidFill>
                <a:latin typeface="Calibri"/>
              </a:rPr>
              <a:t>What QA looked like before NAPCO Nucleus</a:t>
            </a:r>
          </a:p>
        </p:txBody>
      </p:sp>
      <p:sp>
        <p:nvSpPr>
          <p:cNvPr id="8" name="Rectangle 7"/>
          <p:cNvSpPr/>
          <p:nvPr/>
        </p:nvSpPr>
        <p:spPr>
          <a:xfrm>
            <a:off x="548640" y="1554480"/>
            <a:ext cx="5532120" cy="329184"/>
          </a:xfrm>
          <a:prstGeom prst="rect">
            <a:avLst/>
          </a:prstGeom>
          <a:solidFill>
            <a:srgbClr val="E07856"/>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200" b="1">
                <a:solidFill>
                  <a:srgbClr val="FFFFFF"/>
                </a:solidFill>
                <a:latin typeface="Calibri"/>
              </a:rPr>
              <a:t>BEFORE — THE FRAGMENTED REALITY</a:t>
            </a:r>
          </a:p>
        </p:txBody>
      </p:sp>
      <p:sp>
        <p:nvSpPr>
          <p:cNvPr id="9" name="Rectangle 8"/>
          <p:cNvSpPr/>
          <p:nvPr/>
        </p:nvSpPr>
        <p:spPr>
          <a:xfrm>
            <a:off x="548640" y="1883664"/>
            <a:ext cx="5532120" cy="4425696"/>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rIns="164592" tIns="109728" bIns="109728" wrap="square"/>
          <a:lstStyle/>
          <a:p>
            <a:pPr algn="l"/>
            <a:r>
              <a:rPr sz="1400" b="1">
                <a:solidFill>
                  <a:srgbClr val="1F4E79"/>
                </a:solidFill>
                <a:latin typeface="Calibri"/>
              </a:rPr>
              <a:t>• </a:t>
            </a:r>
            <a:r>
              <a:rPr sz="1400" b="1">
                <a:solidFill>
                  <a:srgbClr val="1F4E79"/>
                </a:solidFill>
                <a:latin typeface="Calibri"/>
              </a:rPr>
              <a:t>4 test runs overnight, </a:t>
            </a:r>
            <a:r>
              <a:rPr sz="1400">
                <a:solidFill>
                  <a:srgbClr val="222222"/>
                </a:solidFill>
                <a:latin typeface="Calibri"/>
              </a:rPr>
              <a:t>4 separate emails, no consolidation</a:t>
            </a:r>
          </a:p>
          <a:p>
            <a:pPr algn="l">
              <a:spcBef>
                <a:spcPts val="600"/>
              </a:spcBef>
            </a:pPr>
            <a:r>
              <a:rPr sz="1400" b="1">
                <a:solidFill>
                  <a:srgbClr val="1F4E79"/>
                </a:solidFill>
                <a:latin typeface="Calibri"/>
              </a:rPr>
              <a:t>• </a:t>
            </a:r>
            <a:r>
              <a:rPr sz="1400" b="1">
                <a:solidFill>
                  <a:srgbClr val="1F4E79"/>
                </a:solidFill>
                <a:latin typeface="Calibri"/>
              </a:rPr>
              <a:t>Requirements lost in chat, </a:t>
            </a:r>
            <a:r>
              <a:rPr sz="1400">
                <a:solidFill>
                  <a:srgbClr val="222222"/>
                </a:solidFill>
                <a:latin typeface="Calibri"/>
              </a:rPr>
              <a:t>spoken on calls, never filed</a:t>
            </a:r>
          </a:p>
          <a:p>
            <a:pPr algn="l">
              <a:spcBef>
                <a:spcPts val="600"/>
              </a:spcBef>
            </a:pPr>
            <a:r>
              <a:rPr sz="1400" b="1">
                <a:solidFill>
                  <a:srgbClr val="1F4E79"/>
                </a:solidFill>
                <a:latin typeface="Calibri"/>
              </a:rPr>
              <a:t>• </a:t>
            </a:r>
            <a:r>
              <a:rPr sz="1400" b="1">
                <a:solidFill>
                  <a:srgbClr val="1F4E79"/>
                </a:solidFill>
                <a:latin typeface="Calibri"/>
              </a:rPr>
              <a:t>Manual OpenProject issue creation </a:t>
            </a:r>
            <a:r>
              <a:rPr sz="1400">
                <a:solidFill>
                  <a:srgbClr val="222222"/>
                </a:solidFill>
                <a:latin typeface="Calibri"/>
              </a:rPr>
              <a:t>with frequent duplicates</a:t>
            </a:r>
          </a:p>
          <a:p>
            <a:pPr algn="l">
              <a:spcBef>
                <a:spcPts val="600"/>
              </a:spcBef>
            </a:pPr>
            <a:r>
              <a:rPr sz="1400" b="1">
                <a:solidFill>
                  <a:srgbClr val="1F4E79"/>
                </a:solidFill>
                <a:latin typeface="Calibri"/>
              </a:rPr>
              <a:t>• </a:t>
            </a:r>
            <a:r>
              <a:rPr sz="1400" b="1">
                <a:solidFill>
                  <a:srgbClr val="1F4E79"/>
                </a:solidFill>
                <a:latin typeface="Calibri"/>
              </a:rPr>
              <a:t>Daily reports built by hand </a:t>
            </a:r>
            <a:r>
              <a:rPr sz="1400">
                <a:solidFill>
                  <a:srgbClr val="222222"/>
                </a:solidFill>
                <a:latin typeface="Calibri"/>
              </a:rPr>
              <a:t>every morning, ~45 minutes</a:t>
            </a:r>
          </a:p>
          <a:p>
            <a:pPr algn="l">
              <a:spcBef>
                <a:spcPts val="600"/>
              </a:spcBef>
            </a:pPr>
            <a:r>
              <a:rPr sz="1400" b="1">
                <a:solidFill>
                  <a:srgbClr val="1F4E79"/>
                </a:solidFill>
                <a:latin typeface="Calibri"/>
              </a:rPr>
              <a:t>• </a:t>
            </a:r>
            <a:r>
              <a:rPr sz="1400" b="1">
                <a:solidFill>
                  <a:srgbClr val="1F4E79"/>
                </a:solidFill>
                <a:latin typeface="Calibri"/>
              </a:rPr>
              <a:t>Test failures triaged by humans </a:t>
            </a:r>
            <a:r>
              <a:rPr sz="1400">
                <a:solidFill>
                  <a:srgbClr val="222222"/>
                </a:solidFill>
                <a:latin typeface="Calibri"/>
              </a:rPr>
              <a:t>before classification</a:t>
            </a:r>
          </a:p>
          <a:p>
            <a:pPr algn="l">
              <a:spcBef>
                <a:spcPts val="600"/>
              </a:spcBef>
            </a:pPr>
            <a:r>
              <a:rPr sz="1400" b="1">
                <a:solidFill>
                  <a:srgbClr val="1F4E79"/>
                </a:solidFill>
                <a:latin typeface="Calibri"/>
              </a:rPr>
              <a:t>• </a:t>
            </a:r>
            <a:r>
              <a:rPr sz="1400" b="1">
                <a:solidFill>
                  <a:srgbClr val="1F4E79"/>
                </a:solidFill>
                <a:latin typeface="Calibri"/>
              </a:rPr>
              <a:t>Memory in heads, not systems — </a:t>
            </a:r>
            <a:r>
              <a:rPr sz="1400">
                <a:solidFill>
                  <a:srgbClr val="222222"/>
                </a:solidFill>
                <a:latin typeface="Calibri"/>
              </a:rPr>
              <a:t>context died with people</a:t>
            </a:r>
          </a:p>
        </p:txBody>
      </p:sp>
      <p:sp>
        <p:nvSpPr>
          <p:cNvPr id="10" name="Rectangle 9"/>
          <p:cNvSpPr/>
          <p:nvPr/>
        </p:nvSpPr>
        <p:spPr>
          <a:xfrm>
            <a:off x="6263640" y="1554480"/>
            <a:ext cx="5532120" cy="329184"/>
          </a:xfrm>
          <a:prstGeom prst="rect">
            <a:avLst/>
          </a:prstGeom>
          <a:solidFill>
            <a:srgbClr val="4A7A4A"/>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200" b="1">
                <a:solidFill>
                  <a:srgbClr val="FFFFFF"/>
                </a:solidFill>
                <a:latin typeface="Calibri"/>
              </a:rPr>
              <a:t>AFTER — NAPCO NUCLEUS IN PRODUCTION</a:t>
            </a:r>
          </a:p>
        </p:txBody>
      </p:sp>
      <p:sp>
        <p:nvSpPr>
          <p:cNvPr id="11" name="Rectangle 10"/>
          <p:cNvSpPr/>
          <p:nvPr/>
        </p:nvSpPr>
        <p:spPr>
          <a:xfrm>
            <a:off x="6263640" y="1883664"/>
            <a:ext cx="5532120" cy="4425696"/>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rIns="164592" tIns="109728" bIns="109728" wrap="square"/>
          <a:lstStyle/>
          <a:p>
            <a:pPr algn="l"/>
            <a:r>
              <a:rPr sz="1400" b="1">
                <a:solidFill>
                  <a:srgbClr val="1F4E79"/>
                </a:solidFill>
                <a:latin typeface="Calibri"/>
              </a:rPr>
              <a:t>• </a:t>
            </a:r>
            <a:r>
              <a:rPr sz="1400" b="1">
                <a:solidFill>
                  <a:srgbClr val="1F4E79"/>
                </a:solidFill>
                <a:latin typeface="Calibri"/>
              </a:rPr>
              <a:t>Two consolidated emails per day — </a:t>
            </a:r>
            <a:r>
              <a:rPr sz="1400">
                <a:solidFill>
                  <a:srgbClr val="222222"/>
                </a:solidFill>
                <a:latin typeface="Calibri"/>
              </a:rPr>
              <a:t>09:00 detailed, 09:30 executive</a:t>
            </a:r>
          </a:p>
          <a:p>
            <a:pPr algn="l">
              <a:spcBef>
                <a:spcPts val="600"/>
              </a:spcBef>
            </a:pPr>
            <a:r>
              <a:rPr sz="1400" b="1">
                <a:solidFill>
                  <a:srgbClr val="1F4E79"/>
                </a:solidFill>
                <a:latin typeface="Calibri"/>
              </a:rPr>
              <a:t>• </a:t>
            </a:r>
            <a:r>
              <a:rPr sz="1400" b="1">
                <a:solidFill>
                  <a:srgbClr val="1F4E79"/>
                </a:solidFill>
                <a:latin typeface="Calibri"/>
              </a:rPr>
              <a:t>Requirements captured automatically </a:t>
            </a:r>
            <a:r>
              <a:rPr sz="1400">
                <a:solidFill>
                  <a:srgbClr val="222222"/>
                </a:solidFill>
                <a:latin typeface="Calibri"/>
              </a:rPr>
              <a:t>from email + Drive + meetings</a:t>
            </a:r>
          </a:p>
          <a:p>
            <a:pPr algn="l">
              <a:spcBef>
                <a:spcPts val="600"/>
              </a:spcBef>
            </a:pPr>
            <a:r>
              <a:rPr sz="1400" b="1">
                <a:solidFill>
                  <a:srgbClr val="1F4E79"/>
                </a:solidFill>
                <a:latin typeface="Calibri"/>
              </a:rPr>
              <a:t>• </a:t>
            </a:r>
            <a:r>
              <a:rPr sz="1400" b="1">
                <a:solidFill>
                  <a:srgbClr val="1F4E79"/>
                </a:solidFill>
                <a:latin typeface="Calibri"/>
              </a:rPr>
              <a:t>OpenProject Work Packages filed twice daily </a:t>
            </a:r>
            <a:r>
              <a:rPr sz="1400">
                <a:solidFill>
                  <a:srgbClr val="222222"/>
                </a:solidFill>
                <a:latin typeface="Calibri"/>
              </a:rPr>
              <a:t>with dedup + in-place update on revisions</a:t>
            </a:r>
          </a:p>
          <a:p>
            <a:pPr algn="l">
              <a:spcBef>
                <a:spcPts val="600"/>
              </a:spcBef>
            </a:pPr>
            <a:r>
              <a:rPr sz="1400" b="1">
                <a:solidFill>
                  <a:srgbClr val="1F4E79"/>
                </a:solidFill>
                <a:latin typeface="Calibri"/>
              </a:rPr>
              <a:t>• </a:t>
            </a:r>
            <a:r>
              <a:rPr sz="1400" b="1">
                <a:solidFill>
                  <a:srgbClr val="1F4E79"/>
                </a:solidFill>
                <a:latin typeface="Calibri"/>
              </a:rPr>
              <a:t>Reports generated by AI in minutes, </a:t>
            </a:r>
            <a:r>
              <a:rPr sz="1400">
                <a:solidFill>
                  <a:srgbClr val="222222"/>
                </a:solidFill>
                <a:latin typeface="Calibri"/>
              </a:rPr>
              <a:t>not by humans for 45</a:t>
            </a:r>
          </a:p>
          <a:p>
            <a:pPr algn="l">
              <a:spcBef>
                <a:spcPts val="600"/>
              </a:spcBef>
            </a:pPr>
            <a:r>
              <a:rPr sz="1400" b="1">
                <a:solidFill>
                  <a:srgbClr val="1F4E79"/>
                </a:solidFill>
                <a:latin typeface="Calibri"/>
              </a:rPr>
              <a:t>• </a:t>
            </a:r>
            <a:r>
              <a:rPr sz="1400" b="1">
                <a:solidFill>
                  <a:srgbClr val="1F4E79"/>
                </a:solidFill>
                <a:latin typeface="Calibri"/>
              </a:rPr>
              <a:t>Failures classified by Claude </a:t>
            </a:r>
            <a:r>
              <a:rPr sz="1400">
                <a:solidFill>
                  <a:srgbClr val="222222"/>
                </a:solidFill>
                <a:latin typeface="Calibri"/>
              </a:rPr>
              <a:t>with reasoning in markdown prompts</a:t>
            </a:r>
          </a:p>
          <a:p>
            <a:pPr algn="l">
              <a:spcBef>
                <a:spcPts val="600"/>
              </a:spcBef>
            </a:pPr>
            <a:r>
              <a:rPr sz="1400" b="1">
                <a:solidFill>
                  <a:srgbClr val="1F4E79"/>
                </a:solidFill>
                <a:latin typeface="Calibri"/>
              </a:rPr>
              <a:t>• </a:t>
            </a:r>
            <a:r>
              <a:rPr sz="1400" b="1">
                <a:solidFill>
                  <a:srgbClr val="1F4E79"/>
                </a:solidFill>
                <a:latin typeface="Calibri"/>
              </a:rPr>
              <a:t>Memory in SQLite committed to git — </a:t>
            </a:r>
            <a:r>
              <a:rPr sz="1400">
                <a:solidFill>
                  <a:srgbClr val="222222"/>
                </a:solidFill>
                <a:latin typeface="Calibri"/>
              </a:rPr>
              <a:t>audit trail survives forever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565392"/>
            <a:ext cx="11277295" cy="9000"/>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601968"/>
            <a:ext cx="7315200" cy="228600"/>
          </a:xfrm>
          <a:prstGeom prst="rect">
            <a:avLst/>
          </a:prstGeom>
          <a:noFill/>
        </p:spPr>
        <p:txBody>
          <a:bodyPr wrap="none">
            <a:spAutoFit/>
          </a:bodyPr>
          <a:lstStyle/>
          <a:p>
            <a:pPr algn="l"/>
            <a:r>
              <a:rPr sz="900" b="0">
                <a:solidFill>
                  <a:srgbClr val="6B7785"/>
                </a:solidFill>
                <a:latin typeface="Calibri"/>
              </a:rPr>
              <a:t>NAPCO Nucleus  |  Mohammad Kamrul Hasan  |  Adaptive Enterprise Limited</a:t>
            </a:r>
          </a:p>
        </p:txBody>
      </p:sp>
      <p:sp>
        <p:nvSpPr>
          <p:cNvPr id="5" name="TextBox 4"/>
          <p:cNvSpPr txBox="1"/>
          <p:nvPr/>
        </p:nvSpPr>
        <p:spPr>
          <a:xfrm>
            <a:off x="10515600" y="6601968"/>
            <a:ext cx="1280160" cy="228600"/>
          </a:xfrm>
          <a:prstGeom prst="rect">
            <a:avLst/>
          </a:prstGeom>
          <a:noFill/>
        </p:spPr>
        <p:txBody>
          <a:bodyPr wrap="none">
            <a:spAutoFit/>
          </a:bodyPr>
          <a:lstStyle/>
          <a:p>
            <a:pPr algn="r"/>
            <a:r>
              <a:rPr sz="900" b="0">
                <a:solidFill>
                  <a:srgbClr val="6B7785"/>
                </a:solidFill>
                <a:latin typeface="Calibri"/>
              </a:rPr>
              <a:t>4 / 31</a:t>
            </a:r>
          </a:p>
        </p:txBody>
      </p:sp>
      <p:sp>
        <p:nvSpPr>
          <p:cNvPr id="6" name="TextBox 5"/>
          <p:cNvSpPr txBox="1"/>
          <p:nvPr/>
        </p:nvSpPr>
        <p:spPr>
          <a:xfrm>
            <a:off x="457200" y="274320"/>
            <a:ext cx="11277295" cy="640080"/>
          </a:xfrm>
          <a:prstGeom prst="rect">
            <a:avLst/>
          </a:prstGeom>
          <a:noFill/>
        </p:spPr>
        <p:txBody>
          <a:bodyPr wrap="none">
            <a:spAutoFit/>
          </a:bodyPr>
          <a:lstStyle/>
          <a:p>
            <a:pPr algn="l"/>
            <a:r>
              <a:rPr sz="2800" b="1">
                <a:solidFill>
                  <a:srgbClr val="1F4E79"/>
                </a:solidFill>
                <a:latin typeface="Calibri"/>
              </a:rPr>
              <a:t>01 · The Thesis</a:t>
            </a:r>
          </a:p>
        </p:txBody>
      </p:sp>
      <p:sp>
        <p:nvSpPr>
          <p:cNvPr id="7" name="TextBox 6"/>
          <p:cNvSpPr txBox="1"/>
          <p:nvPr/>
        </p:nvSpPr>
        <p:spPr>
          <a:xfrm>
            <a:off x="457200" y="868680"/>
            <a:ext cx="11277295" cy="365760"/>
          </a:xfrm>
          <a:prstGeom prst="rect">
            <a:avLst/>
          </a:prstGeom>
          <a:noFill/>
        </p:spPr>
        <p:txBody>
          <a:bodyPr wrap="none">
            <a:spAutoFit/>
          </a:bodyPr>
          <a:lstStyle/>
          <a:p>
            <a:pPr algn="l"/>
            <a:r>
              <a:rPr sz="1400" b="0">
                <a:solidFill>
                  <a:srgbClr val="6B7785"/>
                </a:solidFill>
                <a:latin typeface="Calibri"/>
              </a:rPr>
              <a:t>One sentence that explains every design choice in NN</a:t>
            </a:r>
          </a:p>
        </p:txBody>
      </p:sp>
      <p:sp>
        <p:nvSpPr>
          <p:cNvPr id="8" name="Rectangle 7"/>
          <p:cNvSpPr/>
          <p:nvPr/>
        </p:nvSpPr>
        <p:spPr>
          <a:xfrm>
            <a:off x="548640" y="1554480"/>
            <a:ext cx="11091672" cy="201168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lIns="457200" rIns="457200"/>
          <a:lstStyle/>
          <a:p>
            <a:pPr algn="ctr"/>
            <a:r>
              <a:rPr sz="3600" b="1">
                <a:solidFill>
                  <a:srgbClr val="FFFFFF"/>
                </a:solidFill>
                <a:latin typeface="Calibri"/>
              </a:rPr>
              <a:t>Reasoning lives in prompts. Tools wrap I/O.</a:t>
            </a:r>
          </a:p>
          <a:p>
            <a:pPr algn="ctr">
              <a:spcBef>
                <a:spcPts val="800"/>
              </a:spcBef>
            </a:pPr>
            <a:r>
              <a:rPr sz="1500" b="0">
                <a:solidFill>
                  <a:srgbClr val="C9962B"/>
                </a:solidFill>
                <a:latin typeface="Calibri"/>
              </a:rPr>
              <a:t>Python does no algorithmic work. To change behavior, edit a markdown file. To add capability, wrap one external system as a tool.</a:t>
            </a:r>
          </a:p>
        </p:txBody>
      </p:sp>
      <p:sp>
        <p:nvSpPr>
          <p:cNvPr id="9" name="Rectangle 8"/>
          <p:cNvSpPr/>
          <p:nvPr/>
        </p:nvSpPr>
        <p:spPr>
          <a:xfrm>
            <a:off x="548640" y="3840480"/>
            <a:ext cx="3703320" cy="329184"/>
          </a:xfrm>
          <a:prstGeom prst="rect">
            <a:avLst/>
          </a:prstGeom>
          <a:solidFill>
            <a:srgbClr val="2E8A8A"/>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200" b="1">
                <a:solidFill>
                  <a:srgbClr val="FFFFFF"/>
                </a:solidFill>
                <a:latin typeface="Calibri"/>
              </a:rPr>
              <a:t>ONE TURN PER PROCESS</a:t>
            </a:r>
          </a:p>
        </p:txBody>
      </p:sp>
      <p:sp>
        <p:nvSpPr>
          <p:cNvPr id="10" name="Rectangle 9"/>
          <p:cNvSpPr/>
          <p:nvPr/>
        </p:nvSpPr>
        <p:spPr>
          <a:xfrm>
            <a:off x="548640" y="4169664"/>
            <a:ext cx="3703320" cy="2139696"/>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rIns="164592" tIns="109728" bIns="109728" wrap="square"/>
          <a:lstStyle/>
          <a:p>
            <a:pPr algn="l"/>
            <a:r>
              <a:rPr sz="1300" b="1">
                <a:solidFill>
                  <a:srgbClr val="1F4E79"/>
                </a:solidFill>
                <a:latin typeface="Calibri"/>
              </a:rPr>
              <a:t>• </a:t>
            </a:r>
            <a:r>
              <a:rPr sz="1300" b="1">
                <a:solidFill>
                  <a:srgbClr val="1F4E79"/>
                </a:solidFill>
                <a:latin typeface="Calibri"/>
              </a:rPr>
              <a:t> </a:t>
            </a:r>
            <a:r>
              <a:rPr sz="1300">
                <a:solidFill>
                  <a:srgbClr val="222222"/>
                </a:solidFill>
                <a:latin typeface="Calibri"/>
              </a:rPr>
              <a:t>agent.py boots, runs ONE Claude turn, exits. No daemons, no long-running graph. Crash-safe by construction.</a:t>
            </a:r>
          </a:p>
        </p:txBody>
      </p:sp>
      <p:sp>
        <p:nvSpPr>
          <p:cNvPr id="11" name="Rectangle 10"/>
          <p:cNvSpPr/>
          <p:nvPr/>
        </p:nvSpPr>
        <p:spPr>
          <a:xfrm>
            <a:off x="4343400" y="3840480"/>
            <a:ext cx="3703320" cy="329184"/>
          </a:xfrm>
          <a:prstGeom prst="rect">
            <a:avLst/>
          </a:prstGeom>
          <a:solidFill>
            <a:srgbClr val="E07856"/>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200" b="1">
                <a:solidFill>
                  <a:srgbClr val="FFFFFF"/>
                </a:solidFill>
                <a:latin typeface="Calibri"/>
              </a:rPr>
              <a:t>MEMORY IN GIT</a:t>
            </a:r>
          </a:p>
        </p:txBody>
      </p:sp>
      <p:sp>
        <p:nvSpPr>
          <p:cNvPr id="12" name="Rectangle 11"/>
          <p:cNvSpPr/>
          <p:nvPr/>
        </p:nvSpPr>
        <p:spPr>
          <a:xfrm>
            <a:off x="4343400" y="4169664"/>
            <a:ext cx="3703320" cy="2139696"/>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rIns="164592" tIns="109728" bIns="109728" wrap="square"/>
          <a:lstStyle/>
          <a:p>
            <a:pPr algn="l"/>
            <a:r>
              <a:rPr sz="1300" b="1">
                <a:solidFill>
                  <a:srgbClr val="1F4E79"/>
                </a:solidFill>
                <a:latin typeface="Calibri"/>
              </a:rPr>
              <a:t>• </a:t>
            </a:r>
            <a:r>
              <a:rPr sz="1300" b="1">
                <a:solidFill>
                  <a:srgbClr val="1F4E79"/>
                </a:solidFill>
                <a:latin typeface="Calibri"/>
              </a:rPr>
              <a:t> </a:t>
            </a:r>
            <a:r>
              <a:rPr sz="1300">
                <a:solidFill>
                  <a:srgbClr val="222222"/>
                </a:solidFill>
                <a:latin typeface="Calibri"/>
              </a:rPr>
              <a:t>SQLite + FTS5 committed to main after every run. The repo IS the database. Audit trail and dedup history are version-controlled.</a:t>
            </a:r>
          </a:p>
        </p:txBody>
      </p:sp>
      <p:sp>
        <p:nvSpPr>
          <p:cNvPr id="13" name="Rectangle 12"/>
          <p:cNvSpPr/>
          <p:nvPr/>
        </p:nvSpPr>
        <p:spPr>
          <a:xfrm>
            <a:off x="8138160" y="3840480"/>
            <a:ext cx="3703320" cy="329184"/>
          </a:xfrm>
          <a:prstGeom prst="rect">
            <a:avLst/>
          </a:prstGeom>
          <a:solidFill>
            <a:srgbClr val="6A4C93"/>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200" b="1">
                <a:solidFill>
                  <a:srgbClr val="FFFFFF"/>
                </a:solidFill>
                <a:latin typeface="Calibri"/>
              </a:rPr>
              <a:t>CLAUDE MAX, NOT API</a:t>
            </a:r>
          </a:p>
        </p:txBody>
      </p:sp>
      <p:sp>
        <p:nvSpPr>
          <p:cNvPr id="14" name="Rectangle 13"/>
          <p:cNvSpPr/>
          <p:nvPr/>
        </p:nvSpPr>
        <p:spPr>
          <a:xfrm>
            <a:off x="8138160" y="4169664"/>
            <a:ext cx="3703320" cy="2139696"/>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rIns="164592" tIns="109728" bIns="109728" wrap="square"/>
          <a:lstStyle/>
          <a:p>
            <a:pPr algn="l"/>
            <a:r>
              <a:rPr sz="1300" b="1">
                <a:solidFill>
                  <a:srgbClr val="1F4E79"/>
                </a:solidFill>
                <a:latin typeface="Calibri"/>
              </a:rPr>
              <a:t>• </a:t>
            </a:r>
            <a:r>
              <a:rPr sz="1300" b="1">
                <a:solidFill>
                  <a:srgbClr val="1F4E79"/>
                </a:solidFill>
                <a:latin typeface="Calibri"/>
              </a:rPr>
              <a:t> </a:t>
            </a:r>
            <a:r>
              <a:rPr sz="1300">
                <a:solidFill>
                  <a:srgbClr val="222222"/>
                </a:solidFill>
                <a:latin typeface="Calibri"/>
              </a:rPr>
              <a:t>No ANTHROPIC_API_KEY. Reasoning runs through the local Claude Code CLI under a Claude Max subscription. Cost is fixed monthly.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565392"/>
            <a:ext cx="11277295" cy="9000"/>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601968"/>
            <a:ext cx="7315200" cy="228600"/>
          </a:xfrm>
          <a:prstGeom prst="rect">
            <a:avLst/>
          </a:prstGeom>
          <a:noFill/>
        </p:spPr>
        <p:txBody>
          <a:bodyPr wrap="none">
            <a:spAutoFit/>
          </a:bodyPr>
          <a:lstStyle/>
          <a:p>
            <a:pPr algn="l"/>
            <a:r>
              <a:rPr sz="900" b="0">
                <a:solidFill>
                  <a:srgbClr val="6B7785"/>
                </a:solidFill>
                <a:latin typeface="Calibri"/>
              </a:rPr>
              <a:t>NAPCO Nucleus  |  Mohammad Kamrul Hasan  |  Adaptive Enterprise Limited</a:t>
            </a:r>
          </a:p>
        </p:txBody>
      </p:sp>
      <p:sp>
        <p:nvSpPr>
          <p:cNvPr id="5" name="TextBox 4"/>
          <p:cNvSpPr txBox="1"/>
          <p:nvPr/>
        </p:nvSpPr>
        <p:spPr>
          <a:xfrm>
            <a:off x="10515600" y="6601968"/>
            <a:ext cx="1280160" cy="228600"/>
          </a:xfrm>
          <a:prstGeom prst="rect">
            <a:avLst/>
          </a:prstGeom>
          <a:noFill/>
        </p:spPr>
        <p:txBody>
          <a:bodyPr wrap="none">
            <a:spAutoFit/>
          </a:bodyPr>
          <a:lstStyle/>
          <a:p>
            <a:pPr algn="r"/>
            <a:r>
              <a:rPr sz="900" b="0">
                <a:solidFill>
                  <a:srgbClr val="6B7785"/>
                </a:solidFill>
                <a:latin typeface="Calibri"/>
              </a:rPr>
              <a:t>5 / 31</a:t>
            </a:r>
          </a:p>
        </p:txBody>
      </p:sp>
      <p:sp>
        <p:nvSpPr>
          <p:cNvPr id="6" name="TextBox 5"/>
          <p:cNvSpPr txBox="1"/>
          <p:nvPr/>
        </p:nvSpPr>
        <p:spPr>
          <a:xfrm>
            <a:off x="457200" y="274320"/>
            <a:ext cx="11277295" cy="640080"/>
          </a:xfrm>
          <a:prstGeom prst="rect">
            <a:avLst/>
          </a:prstGeom>
          <a:noFill/>
        </p:spPr>
        <p:txBody>
          <a:bodyPr wrap="none">
            <a:spAutoFit/>
          </a:bodyPr>
          <a:lstStyle/>
          <a:p>
            <a:pPr algn="l"/>
            <a:r>
              <a:rPr sz="2800" b="1">
                <a:solidFill>
                  <a:srgbClr val="1F4E79"/>
                </a:solidFill>
                <a:latin typeface="Calibri"/>
              </a:rPr>
              <a:t>01 · What NN Does</a:t>
            </a:r>
          </a:p>
        </p:txBody>
      </p:sp>
      <p:sp>
        <p:nvSpPr>
          <p:cNvPr id="7" name="TextBox 6"/>
          <p:cNvSpPr txBox="1"/>
          <p:nvPr/>
        </p:nvSpPr>
        <p:spPr>
          <a:xfrm>
            <a:off x="457200" y="868680"/>
            <a:ext cx="11277295" cy="365760"/>
          </a:xfrm>
          <a:prstGeom prst="rect">
            <a:avLst/>
          </a:prstGeom>
          <a:noFill/>
        </p:spPr>
        <p:txBody>
          <a:bodyPr wrap="none">
            <a:spAutoFit/>
          </a:bodyPr>
          <a:lstStyle/>
          <a:p>
            <a:pPr algn="l"/>
            <a:r>
              <a:rPr sz="1400" b="0">
                <a:solidFill>
                  <a:srgbClr val="6B7785"/>
                </a:solidFill>
                <a:latin typeface="Calibri"/>
              </a:rPr>
              <a:t>Two operational dimensions, one agent</a:t>
            </a:r>
          </a:p>
        </p:txBody>
      </p:sp>
      <p:sp>
        <p:nvSpPr>
          <p:cNvPr id="8" name="Rectangle 7"/>
          <p:cNvSpPr/>
          <p:nvPr/>
        </p:nvSpPr>
        <p:spPr>
          <a:xfrm>
            <a:off x="548640" y="1554480"/>
            <a:ext cx="5532120" cy="329184"/>
          </a:xfrm>
          <a:prstGeom prst="rect">
            <a:avLst/>
          </a:prstGeom>
          <a:solidFill>
            <a:srgbClr val="2E8A8A"/>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200" b="1">
                <a:solidFill>
                  <a:srgbClr val="FFFFFF"/>
                </a:solidFill>
                <a:latin typeface="Calibri"/>
              </a:rPr>
              <a:t>PROJECT MANAGEMENT DIMENSION</a:t>
            </a:r>
          </a:p>
        </p:txBody>
      </p:sp>
      <p:sp>
        <p:nvSpPr>
          <p:cNvPr id="9" name="Rectangle 8"/>
          <p:cNvSpPr/>
          <p:nvPr/>
        </p:nvSpPr>
        <p:spPr>
          <a:xfrm>
            <a:off x="548640" y="1883664"/>
            <a:ext cx="5532120" cy="4425696"/>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rIns="164592" tIns="109728" bIns="109728" wrap="square"/>
          <a:lstStyle/>
          <a:p>
            <a:pPr algn="l"/>
            <a:r>
              <a:rPr sz="1400" b="1">
                <a:solidFill>
                  <a:srgbClr val="1F4E79"/>
                </a:solidFill>
                <a:latin typeface="Calibri"/>
              </a:rPr>
              <a:t>• </a:t>
            </a:r>
            <a:r>
              <a:rPr sz="1400" b="1">
                <a:solidFill>
                  <a:srgbClr val="1F4E79"/>
                </a:solidFill>
                <a:latin typeface="Calibri"/>
              </a:rPr>
              <a:t>Requirement Management — </a:t>
            </a:r>
            <a:r>
              <a:rPr sz="1400">
                <a:solidFill>
                  <a:srgbClr val="222222"/>
                </a:solidFill>
                <a:latin typeface="Calibri"/>
              </a:rPr>
              <a:t>13:00 + 01:00 BDT, ingests Email (IMAP) + Google Drive PDFs + meeting audio (Whisper) + Teams channel, publishes to OpenProject Work Packages with dedup + in-place update</a:t>
            </a:r>
          </a:p>
          <a:p>
            <a:pPr algn="l">
              <a:spcBef>
                <a:spcPts val="600"/>
              </a:spcBef>
            </a:pPr>
            <a:r>
              <a:rPr sz="1400" b="1">
                <a:solidFill>
                  <a:srgbClr val="1F4E79"/>
                </a:solidFill>
                <a:latin typeface="Calibri"/>
              </a:rPr>
              <a:t>• </a:t>
            </a:r>
            <a:r>
              <a:rPr sz="1400" b="1">
                <a:solidFill>
                  <a:srgbClr val="1F4E79"/>
                </a:solidFill>
                <a:latin typeface="Calibri"/>
              </a:rPr>
              <a:t>Daily Report (Detailed) — </a:t>
            </a:r>
            <a:r>
              <a:rPr sz="1400">
                <a:solidFill>
                  <a:srgbClr val="222222"/>
                </a:solidFill>
                <a:latin typeface="Calibri"/>
              </a:rPr>
              <a:t>03:30 BDT, 6 sections, full team</a:t>
            </a:r>
          </a:p>
          <a:p>
            <a:pPr algn="l">
              <a:spcBef>
                <a:spcPts val="600"/>
              </a:spcBef>
            </a:pPr>
            <a:r>
              <a:rPr sz="1400" b="1">
                <a:solidFill>
                  <a:srgbClr val="1F4E79"/>
                </a:solidFill>
                <a:latin typeface="Calibri"/>
              </a:rPr>
              <a:t>• </a:t>
            </a:r>
            <a:r>
              <a:rPr sz="1400" b="1">
                <a:solidFill>
                  <a:srgbClr val="1F4E79"/>
                </a:solidFill>
                <a:latin typeface="Calibri"/>
              </a:rPr>
              <a:t>Daily Report (Summary) — </a:t>
            </a:r>
            <a:r>
              <a:rPr sz="1400">
                <a:solidFill>
                  <a:srgbClr val="222222"/>
                </a:solidFill>
                <a:latin typeface="Calibri"/>
              </a:rPr>
              <a:t>03:45 BDT, 7 blocks, leadership</a:t>
            </a:r>
          </a:p>
          <a:p>
            <a:pPr algn="l">
              <a:spcBef>
                <a:spcPts val="600"/>
              </a:spcBef>
            </a:pPr>
            <a:r>
              <a:rPr sz="1400" b="1">
                <a:solidFill>
                  <a:srgbClr val="1F4E79"/>
                </a:solidFill>
                <a:latin typeface="Calibri"/>
              </a:rPr>
              <a:t>• </a:t>
            </a:r>
            <a:r>
              <a:rPr sz="1400" b="1">
                <a:solidFill>
                  <a:srgbClr val="1F4E79"/>
                </a:solidFill>
                <a:latin typeface="Calibri"/>
              </a:rPr>
              <a:t> </a:t>
            </a:r>
            <a:r>
              <a:rPr sz="1400">
                <a:solidFill>
                  <a:srgbClr val="222222"/>
                </a:solidFill>
                <a:latin typeface="Calibri"/>
              </a:rPr>
              <a:t/>
            </a:r>
          </a:p>
          <a:p>
            <a:pPr algn="l">
              <a:spcBef>
                <a:spcPts val="600"/>
              </a:spcBef>
            </a:pPr>
            <a:r>
              <a:rPr sz="1400" b="1">
                <a:solidFill>
                  <a:srgbClr val="1F4E79"/>
                </a:solidFill>
                <a:latin typeface="Calibri"/>
              </a:rPr>
              <a:t>• </a:t>
            </a:r>
            <a:r>
              <a:rPr sz="1400" b="1">
                <a:solidFill>
                  <a:srgbClr val="1F4E79"/>
                </a:solidFill>
                <a:latin typeface="Calibri"/>
              </a:rPr>
              <a:t>Reads state from the world, </a:t>
            </a:r>
            <a:r>
              <a:rPr sz="1400">
                <a:solidFill>
                  <a:srgbClr val="222222"/>
                </a:solidFill>
                <a:latin typeface="Calibri"/>
              </a:rPr>
              <a:t>produces governance artifacts.</a:t>
            </a:r>
          </a:p>
          <a:p>
            <a:pPr algn="l">
              <a:spcBef>
                <a:spcPts val="600"/>
              </a:spcBef>
            </a:pPr>
            <a:r>
              <a:rPr sz="1400" b="1">
                <a:solidFill>
                  <a:srgbClr val="1F4E79"/>
                </a:solidFill>
                <a:latin typeface="Calibri"/>
              </a:rPr>
              <a:t>• </a:t>
            </a:r>
            <a:r>
              <a:rPr sz="1400" b="1">
                <a:solidFill>
                  <a:srgbClr val="1F4E79"/>
                </a:solidFill>
                <a:latin typeface="Calibri"/>
              </a:rPr>
              <a:t>Where strategy meets execution. </a:t>
            </a:r>
            <a:r>
              <a:rPr sz="1400">
                <a:solidFill>
                  <a:srgbClr val="222222"/>
                </a:solidFill>
                <a:latin typeface="Calibri"/>
              </a:rPr>
              <a:t/>
            </a:r>
          </a:p>
        </p:txBody>
      </p:sp>
      <p:sp>
        <p:nvSpPr>
          <p:cNvPr id="10" name="Rectangle 9"/>
          <p:cNvSpPr/>
          <p:nvPr/>
        </p:nvSpPr>
        <p:spPr>
          <a:xfrm>
            <a:off x="6263640" y="1554480"/>
            <a:ext cx="5532120" cy="329184"/>
          </a:xfrm>
          <a:prstGeom prst="rect">
            <a:avLst/>
          </a:prstGeom>
          <a:solidFill>
            <a:srgbClr val="E07856"/>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200" b="1">
                <a:solidFill>
                  <a:srgbClr val="FFFFFF"/>
                </a:solidFill>
                <a:latin typeface="Calibri"/>
              </a:rPr>
              <a:t>TEST AUTOMATION DIMENSION</a:t>
            </a:r>
          </a:p>
        </p:txBody>
      </p:sp>
      <p:sp>
        <p:nvSpPr>
          <p:cNvPr id="11" name="Rectangle 10"/>
          <p:cNvSpPr/>
          <p:nvPr/>
        </p:nvSpPr>
        <p:spPr>
          <a:xfrm>
            <a:off x="6263640" y="1883664"/>
            <a:ext cx="5532120" cy="4425696"/>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rIns="164592" tIns="109728" bIns="109728" wrap="square"/>
          <a:lstStyle/>
          <a:p>
            <a:pPr algn="l"/>
            <a:r>
              <a:rPr sz="1400" b="1">
                <a:solidFill>
                  <a:srgbClr val="1F4E79"/>
                </a:solidFill>
                <a:latin typeface="Calibri"/>
              </a:rPr>
              <a:t>• </a:t>
            </a:r>
            <a:r>
              <a:rPr sz="1400" b="1">
                <a:solidFill>
                  <a:srgbClr val="1F4E79"/>
                </a:solidFill>
                <a:latin typeface="Calibri"/>
              </a:rPr>
              <a:t>API Functional Test — </a:t>
            </a:r>
            <a:r>
              <a:rPr sz="1400">
                <a:solidFill>
                  <a:srgbClr val="222222"/>
                </a:solidFill>
                <a:latin typeface="Calibri"/>
              </a:rPr>
              <a:t>01:00 BDT, Newman + Postman</a:t>
            </a:r>
          </a:p>
          <a:p>
            <a:pPr algn="l">
              <a:spcBef>
                <a:spcPts val="600"/>
              </a:spcBef>
            </a:pPr>
            <a:r>
              <a:rPr sz="1400" b="1">
                <a:solidFill>
                  <a:srgbClr val="1F4E79"/>
                </a:solidFill>
                <a:latin typeface="Calibri"/>
              </a:rPr>
              <a:t>• </a:t>
            </a:r>
            <a:r>
              <a:rPr sz="1400" b="1">
                <a:solidFill>
                  <a:srgbClr val="1F4E79"/>
                </a:solidFill>
                <a:latin typeface="Calibri"/>
              </a:rPr>
              <a:t>API Integration Test — </a:t>
            </a:r>
            <a:r>
              <a:rPr sz="1400">
                <a:solidFill>
                  <a:srgbClr val="222222"/>
                </a:solidFill>
                <a:latin typeface="Calibri"/>
              </a:rPr>
              <a:t>01:15 BDT, pytest + regression diff</a:t>
            </a:r>
          </a:p>
          <a:p>
            <a:pPr algn="l">
              <a:spcBef>
                <a:spcPts val="600"/>
              </a:spcBef>
            </a:pPr>
            <a:r>
              <a:rPr sz="1400" b="1">
                <a:solidFill>
                  <a:srgbClr val="1F4E79"/>
                </a:solidFill>
                <a:latin typeface="Calibri"/>
              </a:rPr>
              <a:t>• </a:t>
            </a:r>
            <a:r>
              <a:rPr sz="1400" b="1">
                <a:solidFill>
                  <a:srgbClr val="1F4E79"/>
                </a:solidFill>
                <a:latin typeface="Calibri"/>
              </a:rPr>
              <a:t>API Load Test — </a:t>
            </a:r>
            <a:r>
              <a:rPr sz="1400">
                <a:solidFill>
                  <a:srgbClr val="222222"/>
                </a:solidFill>
                <a:latin typeface="Calibri"/>
              </a:rPr>
              <a:t>01:30 BDT, Locust 10 → 10,000 users</a:t>
            </a:r>
          </a:p>
          <a:p>
            <a:pPr algn="l">
              <a:spcBef>
                <a:spcPts val="600"/>
              </a:spcBef>
            </a:pPr>
            <a:r>
              <a:rPr sz="1400" b="1">
                <a:solidFill>
                  <a:srgbClr val="1F4E79"/>
                </a:solidFill>
                <a:latin typeface="Calibri"/>
              </a:rPr>
              <a:t>• </a:t>
            </a:r>
            <a:r>
              <a:rPr sz="1400" b="1">
                <a:solidFill>
                  <a:srgbClr val="1F4E79"/>
                </a:solidFill>
                <a:latin typeface="Calibri"/>
              </a:rPr>
              <a:t>MVP Access E2E Test — </a:t>
            </a:r>
            <a:r>
              <a:rPr sz="1400">
                <a:solidFill>
                  <a:srgbClr val="222222"/>
                </a:solidFill>
                <a:latin typeface="Calibri"/>
              </a:rPr>
              <a:t>02:30 BDT, Playwright full suite</a:t>
            </a:r>
          </a:p>
          <a:p>
            <a:pPr algn="l">
              <a:spcBef>
                <a:spcPts val="600"/>
              </a:spcBef>
            </a:pPr>
            <a:r>
              <a:rPr sz="1400" b="1">
                <a:solidFill>
                  <a:srgbClr val="1F4E79"/>
                </a:solidFill>
                <a:latin typeface="Calibri"/>
              </a:rPr>
              <a:t>• </a:t>
            </a:r>
            <a:r>
              <a:rPr sz="1400" b="1">
                <a:solidFill>
                  <a:srgbClr val="1F4E79"/>
                </a:solidFill>
                <a:latin typeface="Calibri"/>
              </a:rPr>
              <a:t>MVPAccess CICD — </a:t>
            </a:r>
            <a:r>
              <a:rPr sz="1400">
                <a:solidFill>
                  <a:srgbClr val="222222"/>
                </a:solidFill>
                <a:latin typeface="Calibri"/>
              </a:rPr>
              <a:t>03:00 BDT, TFS + MSBuild + IIS deploy</a:t>
            </a:r>
          </a:p>
          <a:p>
            <a:pPr algn="l">
              <a:spcBef>
                <a:spcPts val="600"/>
              </a:spcBef>
            </a:pPr>
            <a:r>
              <a:rPr sz="1400" b="1">
                <a:solidFill>
                  <a:srgbClr val="1F4E79"/>
                </a:solidFill>
                <a:latin typeface="Calibri"/>
              </a:rPr>
              <a:t>• </a:t>
            </a:r>
            <a:r>
              <a:rPr sz="1400" b="1">
                <a:solidFill>
                  <a:srgbClr val="1F4E79"/>
                </a:solidFill>
                <a:latin typeface="Calibri"/>
              </a:rPr>
              <a:t> </a:t>
            </a:r>
            <a:r>
              <a:rPr sz="1400">
                <a:solidFill>
                  <a:srgbClr val="222222"/>
                </a:solidFill>
                <a:latin typeface="Calibri"/>
              </a:rPr>
              <a:t/>
            </a:r>
          </a:p>
          <a:p>
            <a:pPr algn="l">
              <a:spcBef>
                <a:spcPts val="600"/>
              </a:spcBef>
            </a:pPr>
            <a:r>
              <a:rPr sz="1400" b="1">
                <a:solidFill>
                  <a:srgbClr val="1F4E79"/>
                </a:solidFill>
                <a:latin typeface="Calibri"/>
              </a:rPr>
              <a:t>• </a:t>
            </a:r>
            <a:r>
              <a:rPr sz="1400" b="1">
                <a:solidFill>
                  <a:srgbClr val="1F4E79"/>
                </a:solidFill>
                <a:latin typeface="Calibri"/>
              </a:rPr>
              <a:t>Pure execution. </a:t>
            </a:r>
            <a:r>
              <a:rPr sz="1400">
                <a:solidFill>
                  <a:srgbClr val="222222"/>
                </a:solidFill>
                <a:latin typeface="Calibri"/>
              </a:rPr>
              <a:t>Run, classify, report.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565392"/>
            <a:ext cx="11277295" cy="9000"/>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601968"/>
            <a:ext cx="7315200" cy="228600"/>
          </a:xfrm>
          <a:prstGeom prst="rect">
            <a:avLst/>
          </a:prstGeom>
          <a:noFill/>
        </p:spPr>
        <p:txBody>
          <a:bodyPr wrap="none">
            <a:spAutoFit/>
          </a:bodyPr>
          <a:lstStyle/>
          <a:p>
            <a:pPr algn="l"/>
            <a:r>
              <a:rPr sz="900" b="0">
                <a:solidFill>
                  <a:srgbClr val="6B7785"/>
                </a:solidFill>
                <a:latin typeface="Calibri"/>
              </a:rPr>
              <a:t>NAPCO Nucleus  |  Mohammad Kamrul Hasan  |  Adaptive Enterprise Limited</a:t>
            </a:r>
          </a:p>
        </p:txBody>
      </p:sp>
      <p:sp>
        <p:nvSpPr>
          <p:cNvPr id="5" name="TextBox 4"/>
          <p:cNvSpPr txBox="1"/>
          <p:nvPr/>
        </p:nvSpPr>
        <p:spPr>
          <a:xfrm>
            <a:off x="10515600" y="6601968"/>
            <a:ext cx="1280160" cy="228600"/>
          </a:xfrm>
          <a:prstGeom prst="rect">
            <a:avLst/>
          </a:prstGeom>
          <a:noFill/>
        </p:spPr>
        <p:txBody>
          <a:bodyPr wrap="none">
            <a:spAutoFit/>
          </a:bodyPr>
          <a:lstStyle/>
          <a:p>
            <a:pPr algn="r"/>
            <a:r>
              <a:rPr sz="900" b="0">
                <a:solidFill>
                  <a:srgbClr val="6B7785"/>
                </a:solidFill>
                <a:latin typeface="Calibri"/>
              </a:rPr>
              <a:t>6 / 31</a:t>
            </a:r>
          </a:p>
        </p:txBody>
      </p:sp>
      <p:sp>
        <p:nvSpPr>
          <p:cNvPr id="6" name="TextBox 5"/>
          <p:cNvSpPr txBox="1"/>
          <p:nvPr/>
        </p:nvSpPr>
        <p:spPr>
          <a:xfrm>
            <a:off x="457200" y="274320"/>
            <a:ext cx="11277295" cy="640080"/>
          </a:xfrm>
          <a:prstGeom prst="rect">
            <a:avLst/>
          </a:prstGeom>
          <a:noFill/>
        </p:spPr>
        <p:txBody>
          <a:bodyPr wrap="none">
            <a:spAutoFit/>
          </a:bodyPr>
          <a:lstStyle/>
          <a:p>
            <a:pPr algn="l"/>
            <a:r>
              <a:rPr sz="2800" b="1">
                <a:solidFill>
                  <a:srgbClr val="1F4E79"/>
                </a:solidFill>
                <a:latin typeface="Calibri"/>
              </a:rPr>
              <a:t>01 · Four Streams to the Team</a:t>
            </a:r>
          </a:p>
        </p:txBody>
      </p:sp>
      <p:sp>
        <p:nvSpPr>
          <p:cNvPr id="7" name="TextBox 6"/>
          <p:cNvSpPr txBox="1"/>
          <p:nvPr/>
        </p:nvSpPr>
        <p:spPr>
          <a:xfrm>
            <a:off x="457200" y="868680"/>
            <a:ext cx="11277295" cy="365760"/>
          </a:xfrm>
          <a:prstGeom prst="rect">
            <a:avLst/>
          </a:prstGeom>
          <a:noFill/>
        </p:spPr>
        <p:txBody>
          <a:bodyPr wrap="none">
            <a:spAutoFit/>
          </a:bodyPr>
          <a:lstStyle/>
          <a:p>
            <a:pPr algn="l"/>
            <a:r>
              <a:rPr sz="1400" b="0">
                <a:solidFill>
                  <a:srgbClr val="6B7785"/>
                </a:solidFill>
                <a:latin typeface="Calibri"/>
              </a:rPr>
              <a:t>How NAPCO Nucleus multiplies QA + PM throughput</a:t>
            </a:r>
          </a:p>
        </p:txBody>
      </p:sp>
      <p:sp>
        <p:nvSpPr>
          <p:cNvPr id="8" name="Rectangle 7"/>
          <p:cNvSpPr/>
          <p:nvPr/>
        </p:nvSpPr>
        <p:spPr>
          <a:xfrm>
            <a:off x="548640" y="1463040"/>
            <a:ext cx="5532120" cy="384048"/>
          </a:xfrm>
          <a:prstGeom prst="rect">
            <a:avLst/>
          </a:prstGeom>
          <a:solidFill>
            <a:srgbClr val="2E8A8A"/>
          </a:solidFill>
          <a:ln>
            <a:noFill/>
          </a:ln>
        </p:spPr>
        <p:style>
          <a:lnRef idx="1">
            <a:schemeClr val="accent1"/>
          </a:lnRef>
          <a:fillRef idx="3">
            <a:schemeClr val="accent1"/>
          </a:fillRef>
          <a:effectRef idx="2">
            <a:schemeClr val="accent1"/>
          </a:effectRef>
          <a:fontRef idx="minor">
            <a:schemeClr val="lt1"/>
          </a:fontRef>
        </p:style>
        <p:txBody>
          <a:bodyPr rtlCol="0" anchor="ctr" lIns="164592" tIns="54864"/>
          <a:lstStyle/>
          <a:p>
            <a:pPr algn="l"/>
            <a:r>
              <a:rPr sz="1300" b="1">
                <a:solidFill>
                  <a:srgbClr val="FFFFFF"/>
                </a:solidFill>
                <a:latin typeface="Calibri"/>
              </a:rPr>
              <a:t>Requirement Management</a:t>
            </a:r>
          </a:p>
        </p:txBody>
      </p:sp>
      <p:sp>
        <p:nvSpPr>
          <p:cNvPr id="9" name="Rounded Rectangle 8"/>
          <p:cNvSpPr/>
          <p:nvPr/>
        </p:nvSpPr>
        <p:spPr>
          <a:xfrm>
            <a:off x="5193792" y="1517904"/>
            <a:ext cx="777240" cy="274320"/>
          </a:xfrm>
          <a:prstGeom prst="roundRect">
            <a:avLst>
              <a:gd name="adj" fmla="val 5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2E8A8A"/>
                </a:solidFill>
                <a:latin typeface="Calibri"/>
              </a:rPr>
              <a:t>LIVE</a:t>
            </a:r>
          </a:p>
        </p:txBody>
      </p:sp>
      <p:sp>
        <p:nvSpPr>
          <p:cNvPr id="10" name="Rectangle 9"/>
          <p:cNvSpPr/>
          <p:nvPr/>
        </p:nvSpPr>
        <p:spPr>
          <a:xfrm>
            <a:off x="548640" y="1847088"/>
            <a:ext cx="5532120" cy="1947672"/>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rIns="164592" tIns="91440" bIns="91440" wrap="square"/>
          <a:lstStyle/>
          <a:p>
            <a:pPr algn="l"/>
            <a:r>
              <a:rPr sz="1100" b="1">
                <a:solidFill>
                  <a:srgbClr val="1F4E79"/>
                </a:solidFill>
                <a:latin typeface="Calibri"/>
              </a:rPr>
              <a:t>• </a:t>
            </a:r>
            <a:r>
              <a:rPr sz="1100" b="1">
                <a:solidFill>
                  <a:srgbClr val="1F4E79"/>
                </a:solidFill>
                <a:latin typeface="Calibri"/>
              </a:rPr>
              <a:t>Schedule — </a:t>
            </a:r>
            <a:r>
              <a:rPr sz="1100">
                <a:solidFill>
                  <a:srgbClr val="222222"/>
                </a:solidFill>
                <a:latin typeface="Calibri"/>
              </a:rPr>
              <a:t>Twice daily · 13:00 + 01:00 BDT</a:t>
            </a:r>
          </a:p>
          <a:p>
            <a:pPr algn="l">
              <a:spcBef>
                <a:spcPts val="600"/>
              </a:spcBef>
            </a:pPr>
            <a:r>
              <a:rPr sz="1100" b="1">
                <a:solidFill>
                  <a:srgbClr val="1F4E79"/>
                </a:solidFill>
                <a:latin typeface="Calibri"/>
              </a:rPr>
              <a:t>• </a:t>
            </a:r>
            <a:r>
              <a:rPr sz="1100" b="1">
                <a:solidFill>
                  <a:srgbClr val="1F4E79"/>
                </a:solidFill>
                <a:latin typeface="Calibri"/>
              </a:rPr>
              <a:t>What it does — </a:t>
            </a:r>
            <a:r>
              <a:rPr sz="1100">
                <a:solidFill>
                  <a:srgbClr val="222222"/>
                </a:solidFill>
                <a:latin typeface="Calibri"/>
              </a:rPr>
              <a:t>Ingests requirements from FOUR channels — Email (IMAP), Google Drive PDFs, meeting audio via Groq Whisper, and Teams channel forwards. Splits each requirement into 3-hour tasks. Publishes to OpenProject with dedup + in-place update on revisions</a:t>
            </a:r>
          </a:p>
          <a:p>
            <a:pPr algn="l">
              <a:spcBef>
                <a:spcPts val="600"/>
              </a:spcBef>
            </a:pPr>
            <a:r>
              <a:rPr sz="1100" b="1">
                <a:solidFill>
                  <a:srgbClr val="1F4E79"/>
                </a:solidFill>
                <a:latin typeface="Calibri"/>
              </a:rPr>
              <a:t>• </a:t>
            </a:r>
            <a:r>
              <a:rPr sz="1100" b="1">
                <a:solidFill>
                  <a:srgbClr val="1F4E79"/>
                </a:solidFill>
                <a:latin typeface="Calibri"/>
              </a:rPr>
              <a:t>Output — </a:t>
            </a:r>
            <a:r>
              <a:rPr sz="1100">
                <a:solidFill>
                  <a:srgbClr val="222222"/>
                </a:solidFill>
                <a:latin typeface="Calibri"/>
              </a:rPr>
              <a:t>Categorized Work Packages with full audit trail in the Activity tab</a:t>
            </a:r>
          </a:p>
        </p:txBody>
      </p:sp>
      <p:sp>
        <p:nvSpPr>
          <p:cNvPr id="11" name="Rectangle 10"/>
          <p:cNvSpPr/>
          <p:nvPr/>
        </p:nvSpPr>
        <p:spPr>
          <a:xfrm>
            <a:off x="6245352" y="1463040"/>
            <a:ext cx="5532120" cy="384048"/>
          </a:xfrm>
          <a:prstGeom prst="rect">
            <a:avLst/>
          </a:prstGeom>
          <a:solidFill>
            <a:srgbClr val="E07856"/>
          </a:solidFill>
          <a:ln>
            <a:noFill/>
          </a:ln>
        </p:spPr>
        <p:style>
          <a:lnRef idx="1">
            <a:schemeClr val="accent1"/>
          </a:lnRef>
          <a:fillRef idx="3">
            <a:schemeClr val="accent1"/>
          </a:fillRef>
          <a:effectRef idx="2">
            <a:schemeClr val="accent1"/>
          </a:effectRef>
          <a:fontRef idx="minor">
            <a:schemeClr val="lt1"/>
          </a:fontRef>
        </p:style>
        <p:txBody>
          <a:bodyPr rtlCol="0" anchor="ctr" lIns="164592" tIns="54864"/>
          <a:lstStyle/>
          <a:p>
            <a:pPr algn="l"/>
            <a:r>
              <a:rPr sz="1300" b="1">
                <a:solidFill>
                  <a:srgbClr val="FFFFFF"/>
                </a:solidFill>
                <a:latin typeface="Calibri"/>
              </a:rPr>
              <a:t>API Testing — Functional · Integration · Load</a:t>
            </a:r>
          </a:p>
        </p:txBody>
      </p:sp>
      <p:sp>
        <p:nvSpPr>
          <p:cNvPr id="12" name="Rounded Rectangle 11"/>
          <p:cNvSpPr/>
          <p:nvPr/>
        </p:nvSpPr>
        <p:spPr>
          <a:xfrm>
            <a:off x="10890504" y="1517904"/>
            <a:ext cx="777240" cy="274320"/>
          </a:xfrm>
          <a:prstGeom prst="roundRect">
            <a:avLst>
              <a:gd name="adj" fmla="val 5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E07856"/>
                </a:solidFill>
                <a:latin typeface="Calibri"/>
              </a:rPr>
              <a:t>LIVE</a:t>
            </a:r>
          </a:p>
        </p:txBody>
      </p:sp>
      <p:sp>
        <p:nvSpPr>
          <p:cNvPr id="13" name="Rectangle 12"/>
          <p:cNvSpPr/>
          <p:nvPr/>
        </p:nvSpPr>
        <p:spPr>
          <a:xfrm>
            <a:off x="6245352" y="1847088"/>
            <a:ext cx="5532120" cy="1947672"/>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rIns="164592" tIns="91440" bIns="91440" wrap="square"/>
          <a:lstStyle/>
          <a:p>
            <a:pPr algn="l"/>
            <a:r>
              <a:rPr sz="1100" b="1">
                <a:solidFill>
                  <a:srgbClr val="1F4E79"/>
                </a:solidFill>
                <a:latin typeface="Calibri"/>
              </a:rPr>
              <a:t>• </a:t>
            </a:r>
            <a:r>
              <a:rPr sz="1100" b="1">
                <a:solidFill>
                  <a:srgbClr val="1F4E79"/>
                </a:solidFill>
                <a:latin typeface="Calibri"/>
              </a:rPr>
              <a:t>Schedule — </a:t>
            </a:r>
            <a:r>
              <a:rPr sz="1100">
                <a:solidFill>
                  <a:srgbClr val="222222"/>
                </a:solidFill>
                <a:latin typeface="Calibri"/>
              </a:rPr>
              <a:t>Daily · 02:00 BDT</a:t>
            </a:r>
          </a:p>
          <a:p>
            <a:pPr algn="l">
              <a:spcBef>
                <a:spcPts val="600"/>
              </a:spcBef>
            </a:pPr>
            <a:r>
              <a:rPr sz="1100" b="1">
                <a:solidFill>
                  <a:srgbClr val="1F4E79"/>
                </a:solidFill>
                <a:latin typeface="Calibri"/>
              </a:rPr>
              <a:t>• </a:t>
            </a:r>
            <a:r>
              <a:rPr sz="1100" b="1">
                <a:solidFill>
                  <a:srgbClr val="1F4E79"/>
                </a:solidFill>
                <a:latin typeface="Calibri"/>
              </a:rPr>
              <a:t>What it does — </a:t>
            </a:r>
            <a:r>
              <a:rPr sz="1100">
                <a:solidFill>
                  <a:srgbClr val="222222"/>
                </a:solidFill>
                <a:latin typeface="Calibri"/>
              </a:rPr>
              <a:t>Newman + pytest + Locust suites, classifies failures, regression diff against prior runs</a:t>
            </a:r>
          </a:p>
          <a:p>
            <a:pPr algn="l">
              <a:spcBef>
                <a:spcPts val="600"/>
              </a:spcBef>
            </a:pPr>
            <a:r>
              <a:rPr sz="1100" b="1">
                <a:solidFill>
                  <a:srgbClr val="1F4E79"/>
                </a:solidFill>
                <a:latin typeface="Calibri"/>
              </a:rPr>
              <a:t>• </a:t>
            </a:r>
            <a:r>
              <a:rPr sz="1100" b="1">
                <a:solidFill>
                  <a:srgbClr val="1F4E79"/>
                </a:solidFill>
                <a:latin typeface="Calibri"/>
              </a:rPr>
              <a:t>Output — </a:t>
            </a:r>
            <a:r>
              <a:rPr sz="1100">
                <a:solidFill>
                  <a:srgbClr val="222222"/>
                </a:solidFill>
                <a:latin typeface="Calibri"/>
              </a:rPr>
              <a:t>Per-run PDFs + per-test rows in test_run_history</a:t>
            </a:r>
          </a:p>
        </p:txBody>
      </p:sp>
      <p:sp>
        <p:nvSpPr>
          <p:cNvPr id="14" name="Rectangle 13"/>
          <p:cNvSpPr/>
          <p:nvPr/>
        </p:nvSpPr>
        <p:spPr>
          <a:xfrm>
            <a:off x="548640" y="3959352"/>
            <a:ext cx="5532120" cy="384048"/>
          </a:xfrm>
          <a:prstGeom prst="rect">
            <a:avLst/>
          </a:prstGeom>
          <a:solidFill>
            <a:srgbClr val="4A7A4A"/>
          </a:solidFill>
          <a:ln>
            <a:noFill/>
          </a:ln>
        </p:spPr>
        <p:style>
          <a:lnRef idx="1">
            <a:schemeClr val="accent1"/>
          </a:lnRef>
          <a:fillRef idx="3">
            <a:schemeClr val="accent1"/>
          </a:fillRef>
          <a:effectRef idx="2">
            <a:schemeClr val="accent1"/>
          </a:effectRef>
          <a:fontRef idx="minor">
            <a:schemeClr val="lt1"/>
          </a:fontRef>
        </p:style>
        <p:txBody>
          <a:bodyPr rtlCol="0" anchor="ctr" lIns="164592" tIns="54864"/>
          <a:lstStyle/>
          <a:p>
            <a:pPr algn="l"/>
            <a:r>
              <a:rPr sz="1300" b="1">
                <a:solidFill>
                  <a:srgbClr val="FFFFFF"/>
                </a:solidFill>
                <a:latin typeface="Calibri"/>
              </a:rPr>
              <a:t>End-to-End Testing</a:t>
            </a:r>
          </a:p>
        </p:txBody>
      </p:sp>
      <p:sp>
        <p:nvSpPr>
          <p:cNvPr id="15" name="Rounded Rectangle 14"/>
          <p:cNvSpPr/>
          <p:nvPr/>
        </p:nvSpPr>
        <p:spPr>
          <a:xfrm>
            <a:off x="5193792" y="4014216"/>
            <a:ext cx="777240" cy="274320"/>
          </a:xfrm>
          <a:prstGeom prst="roundRect">
            <a:avLst>
              <a:gd name="adj" fmla="val 5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4A7A4A"/>
                </a:solidFill>
                <a:latin typeface="Calibri"/>
              </a:rPr>
              <a:t>LIVE</a:t>
            </a:r>
          </a:p>
        </p:txBody>
      </p:sp>
      <p:sp>
        <p:nvSpPr>
          <p:cNvPr id="16" name="Rectangle 15"/>
          <p:cNvSpPr/>
          <p:nvPr/>
        </p:nvSpPr>
        <p:spPr>
          <a:xfrm>
            <a:off x="548640" y="4343400"/>
            <a:ext cx="5532120" cy="1947672"/>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rIns="164592" tIns="91440" bIns="91440" wrap="square"/>
          <a:lstStyle/>
          <a:p>
            <a:pPr algn="l"/>
            <a:r>
              <a:rPr sz="1100" b="1">
                <a:solidFill>
                  <a:srgbClr val="1F4E79"/>
                </a:solidFill>
                <a:latin typeface="Calibri"/>
              </a:rPr>
              <a:t>• </a:t>
            </a:r>
            <a:r>
              <a:rPr sz="1100" b="1">
                <a:solidFill>
                  <a:srgbClr val="1F4E79"/>
                </a:solidFill>
                <a:latin typeface="Calibri"/>
              </a:rPr>
              <a:t>Schedule — </a:t>
            </a:r>
            <a:r>
              <a:rPr sz="1100">
                <a:solidFill>
                  <a:srgbClr val="222222"/>
                </a:solidFill>
                <a:latin typeface="Calibri"/>
              </a:rPr>
              <a:t>Daily · 02:00 BDT</a:t>
            </a:r>
          </a:p>
          <a:p>
            <a:pPr algn="l">
              <a:spcBef>
                <a:spcPts val="600"/>
              </a:spcBef>
            </a:pPr>
            <a:r>
              <a:rPr sz="1100" b="1">
                <a:solidFill>
                  <a:srgbClr val="1F4E79"/>
                </a:solidFill>
                <a:latin typeface="Calibri"/>
              </a:rPr>
              <a:t>• </a:t>
            </a:r>
            <a:r>
              <a:rPr sz="1100" b="1">
                <a:solidFill>
                  <a:srgbClr val="1F4E79"/>
                </a:solidFill>
                <a:latin typeface="Calibri"/>
              </a:rPr>
              <a:t>What it does — </a:t>
            </a:r>
            <a:r>
              <a:rPr sz="1100">
                <a:solidFill>
                  <a:srgbClr val="222222"/>
                </a:solidFill>
                <a:latin typeface="Calibri"/>
              </a:rPr>
              <a:t>Full Playwright suite headless on Chromium, screenshots on failure, regression detection</a:t>
            </a:r>
          </a:p>
          <a:p>
            <a:pPr algn="l">
              <a:spcBef>
                <a:spcPts val="600"/>
              </a:spcBef>
            </a:pPr>
            <a:r>
              <a:rPr sz="1100" b="1">
                <a:solidFill>
                  <a:srgbClr val="1F4E79"/>
                </a:solidFill>
                <a:latin typeface="Calibri"/>
              </a:rPr>
              <a:t>• </a:t>
            </a:r>
            <a:r>
              <a:rPr sz="1100" b="1">
                <a:solidFill>
                  <a:srgbClr val="1F4E79"/>
                </a:solidFill>
                <a:latin typeface="Calibri"/>
              </a:rPr>
              <a:t>Output — </a:t>
            </a:r>
            <a:r>
              <a:rPr sz="1100">
                <a:solidFill>
                  <a:srgbClr val="222222"/>
                </a:solidFill>
                <a:latin typeface="Calibri"/>
              </a:rPr>
              <a:t>PDF + screenshots + memory entries</a:t>
            </a:r>
          </a:p>
        </p:txBody>
      </p:sp>
      <p:sp>
        <p:nvSpPr>
          <p:cNvPr id="17" name="Rectangle 16"/>
          <p:cNvSpPr/>
          <p:nvPr/>
        </p:nvSpPr>
        <p:spPr>
          <a:xfrm>
            <a:off x="6245352" y="3959352"/>
            <a:ext cx="5532120" cy="384048"/>
          </a:xfrm>
          <a:prstGeom prst="rect">
            <a:avLst/>
          </a:prstGeom>
          <a:solidFill>
            <a:srgbClr val="6A4C93"/>
          </a:solidFill>
          <a:ln>
            <a:noFill/>
          </a:ln>
        </p:spPr>
        <p:style>
          <a:lnRef idx="1">
            <a:schemeClr val="accent1"/>
          </a:lnRef>
          <a:fillRef idx="3">
            <a:schemeClr val="accent1"/>
          </a:fillRef>
          <a:effectRef idx="2">
            <a:schemeClr val="accent1"/>
          </a:effectRef>
          <a:fontRef idx="minor">
            <a:schemeClr val="lt1"/>
          </a:fontRef>
        </p:style>
        <p:txBody>
          <a:bodyPr rtlCol="0" anchor="ctr" lIns="164592" tIns="54864"/>
          <a:lstStyle/>
          <a:p>
            <a:pPr algn="l"/>
            <a:r>
              <a:rPr sz="1300" b="1">
                <a:solidFill>
                  <a:srgbClr val="FFFFFF"/>
                </a:solidFill>
                <a:latin typeface="Calibri"/>
              </a:rPr>
              <a:t>CI/CD — TFS · MSBuild · IIS</a:t>
            </a:r>
          </a:p>
        </p:txBody>
      </p:sp>
      <p:sp>
        <p:nvSpPr>
          <p:cNvPr id="18" name="Rounded Rectangle 17"/>
          <p:cNvSpPr/>
          <p:nvPr/>
        </p:nvSpPr>
        <p:spPr>
          <a:xfrm>
            <a:off x="10890504" y="4014216"/>
            <a:ext cx="777240" cy="274320"/>
          </a:xfrm>
          <a:prstGeom prst="roundRect">
            <a:avLst>
              <a:gd name="adj" fmla="val 50000"/>
            </a:avLst>
          </a:prstGeom>
          <a:solidFill>
            <a:srgbClr val="C99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222222"/>
                </a:solidFill>
                <a:latin typeface="Calibri"/>
              </a:rPr>
              <a:t>PENDING</a:t>
            </a:r>
          </a:p>
        </p:txBody>
      </p:sp>
      <p:sp>
        <p:nvSpPr>
          <p:cNvPr id="19" name="Rectangle 18"/>
          <p:cNvSpPr/>
          <p:nvPr/>
        </p:nvSpPr>
        <p:spPr>
          <a:xfrm>
            <a:off x="6245352" y="4343400"/>
            <a:ext cx="5532120" cy="1947672"/>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rIns="164592" tIns="91440" bIns="91440" wrap="square"/>
          <a:lstStyle/>
          <a:p>
            <a:pPr algn="l"/>
            <a:r>
              <a:rPr sz="1100" b="1">
                <a:solidFill>
                  <a:srgbClr val="1F4E79"/>
                </a:solidFill>
                <a:latin typeface="Calibri"/>
              </a:rPr>
              <a:t>• </a:t>
            </a:r>
            <a:r>
              <a:rPr sz="1100" b="1">
                <a:solidFill>
                  <a:srgbClr val="1F4E79"/>
                </a:solidFill>
                <a:latin typeface="Calibri"/>
              </a:rPr>
              <a:t>Schedule — </a:t>
            </a:r>
            <a:r>
              <a:rPr sz="1100">
                <a:solidFill>
                  <a:srgbClr val="222222"/>
                </a:solidFill>
                <a:latin typeface="Calibri"/>
              </a:rPr>
              <a:t>Daily · 03:00 BDT (workflow ready)</a:t>
            </a:r>
          </a:p>
          <a:p>
            <a:pPr algn="l">
              <a:spcBef>
                <a:spcPts val="600"/>
              </a:spcBef>
            </a:pPr>
            <a:r>
              <a:rPr sz="1100" b="1">
                <a:solidFill>
                  <a:srgbClr val="1F4E79"/>
                </a:solidFill>
                <a:latin typeface="Calibri"/>
              </a:rPr>
              <a:t>• </a:t>
            </a:r>
            <a:r>
              <a:rPr sz="1100" b="1">
                <a:solidFill>
                  <a:srgbClr val="1F4E79"/>
                </a:solidFill>
                <a:latin typeface="Calibri"/>
              </a:rPr>
              <a:t>What it does — </a:t>
            </a:r>
            <a:r>
              <a:rPr sz="1100">
                <a:solidFill>
                  <a:srgbClr val="222222"/>
                </a:solidFill>
                <a:latin typeface="Calibri"/>
              </a:rPr>
              <a:t>Pulls source from TFS, MSBuilds the solution, deploys to IIS — gated on 6 IT-managed secrets</a:t>
            </a:r>
          </a:p>
          <a:p>
            <a:pPr algn="l">
              <a:spcBef>
                <a:spcPts val="600"/>
              </a:spcBef>
            </a:pPr>
            <a:r>
              <a:rPr sz="1100" b="1">
                <a:solidFill>
                  <a:srgbClr val="1F4E79"/>
                </a:solidFill>
                <a:latin typeface="Calibri"/>
              </a:rPr>
              <a:t>• </a:t>
            </a:r>
            <a:r>
              <a:rPr sz="1100" b="1">
                <a:solidFill>
                  <a:srgbClr val="1F4E79"/>
                </a:solidFill>
                <a:latin typeface="Calibri"/>
              </a:rPr>
              <a:t>Output — </a:t>
            </a:r>
            <a:r>
              <a:rPr sz="1100">
                <a:solidFill>
                  <a:srgbClr val="222222"/>
                </a:solidFill>
                <a:latin typeface="Calibri"/>
              </a:rPr>
              <a:t>Build artifacts + deployment status email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565392"/>
            <a:ext cx="11277295" cy="9000"/>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601968"/>
            <a:ext cx="7315200" cy="228600"/>
          </a:xfrm>
          <a:prstGeom prst="rect">
            <a:avLst/>
          </a:prstGeom>
          <a:noFill/>
        </p:spPr>
        <p:txBody>
          <a:bodyPr wrap="none">
            <a:spAutoFit/>
          </a:bodyPr>
          <a:lstStyle/>
          <a:p>
            <a:pPr algn="l"/>
            <a:r>
              <a:rPr sz="900" b="0">
                <a:solidFill>
                  <a:srgbClr val="6B7785"/>
                </a:solidFill>
                <a:latin typeface="Calibri"/>
              </a:rPr>
              <a:t>NAPCO Nucleus  |  Mohammad Kamrul Hasan  |  Adaptive Enterprise Limited</a:t>
            </a:r>
          </a:p>
        </p:txBody>
      </p:sp>
      <p:sp>
        <p:nvSpPr>
          <p:cNvPr id="5" name="TextBox 4"/>
          <p:cNvSpPr txBox="1"/>
          <p:nvPr/>
        </p:nvSpPr>
        <p:spPr>
          <a:xfrm>
            <a:off x="10515600" y="6601968"/>
            <a:ext cx="1280160" cy="228600"/>
          </a:xfrm>
          <a:prstGeom prst="rect">
            <a:avLst/>
          </a:prstGeom>
          <a:noFill/>
        </p:spPr>
        <p:txBody>
          <a:bodyPr wrap="none">
            <a:spAutoFit/>
          </a:bodyPr>
          <a:lstStyle/>
          <a:p>
            <a:pPr algn="r"/>
            <a:r>
              <a:rPr sz="900" b="0">
                <a:solidFill>
                  <a:srgbClr val="6B7785"/>
                </a:solidFill>
                <a:latin typeface="Calibri"/>
              </a:rPr>
              <a:t>7 / 31</a:t>
            </a:r>
          </a:p>
        </p:txBody>
      </p:sp>
      <p:sp>
        <p:nvSpPr>
          <p:cNvPr id="6" name="TextBox 5"/>
          <p:cNvSpPr txBox="1"/>
          <p:nvPr/>
        </p:nvSpPr>
        <p:spPr>
          <a:xfrm>
            <a:off x="457200" y="274320"/>
            <a:ext cx="11277295" cy="640080"/>
          </a:xfrm>
          <a:prstGeom prst="rect">
            <a:avLst/>
          </a:prstGeom>
          <a:noFill/>
        </p:spPr>
        <p:txBody>
          <a:bodyPr wrap="none">
            <a:spAutoFit/>
          </a:bodyPr>
          <a:lstStyle/>
          <a:p>
            <a:pPr algn="l"/>
            <a:r>
              <a:rPr sz="2800" b="1">
                <a:solidFill>
                  <a:srgbClr val="1F4E79"/>
                </a:solidFill>
                <a:latin typeface="Calibri"/>
              </a:rPr>
              <a:t>01 · Requirement Gathering Pipeline</a:t>
            </a:r>
          </a:p>
        </p:txBody>
      </p:sp>
      <p:sp>
        <p:nvSpPr>
          <p:cNvPr id="7" name="TextBox 6"/>
          <p:cNvSpPr txBox="1"/>
          <p:nvPr/>
        </p:nvSpPr>
        <p:spPr>
          <a:xfrm>
            <a:off x="457200" y="868680"/>
            <a:ext cx="11277295" cy="365760"/>
          </a:xfrm>
          <a:prstGeom prst="rect">
            <a:avLst/>
          </a:prstGeom>
          <a:noFill/>
        </p:spPr>
        <p:txBody>
          <a:bodyPr wrap="none">
            <a:spAutoFit/>
          </a:bodyPr>
          <a:lstStyle/>
          <a:p>
            <a:pPr algn="l"/>
            <a:r>
              <a:rPr sz="1400" b="0">
                <a:solidFill>
                  <a:srgbClr val="6B7785"/>
                </a:solidFill>
                <a:latin typeface="Calibri"/>
              </a:rPr>
              <a:t>Four input channels, one OpenProject backlog</a:t>
            </a:r>
          </a:p>
        </p:txBody>
      </p:sp>
      <p:sp>
        <p:nvSpPr>
          <p:cNvPr id="8" name="Rounded Rectangle 7"/>
          <p:cNvSpPr/>
          <p:nvPr/>
        </p:nvSpPr>
        <p:spPr>
          <a:xfrm>
            <a:off x="728319" y="1691640"/>
            <a:ext cx="2560320" cy="914400"/>
          </a:xfrm>
          <a:prstGeom prst="roundRect">
            <a:avLst>
              <a:gd name="adj" fmla="val 10000"/>
            </a:avLst>
          </a:prstGeom>
          <a:solidFill>
            <a:srgbClr val="2E8A8A"/>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36576" bIns="36576" wrap="square"/>
          <a:lstStyle/>
          <a:p>
            <a:pPr algn="ctr"/>
            <a:r>
              <a:rPr sz="1800" b="1">
                <a:solidFill>
                  <a:srgbClr val="FFFFFF"/>
                </a:solidFill>
                <a:latin typeface="Calibri"/>
              </a:rPr>
              <a:t>Email</a:t>
            </a:r>
          </a:p>
          <a:p>
            <a:pPr algn="ctr">
              <a:spcBef>
                <a:spcPts val="200"/>
              </a:spcBef>
            </a:pPr>
            <a:r>
              <a:rPr sz="1000" b="0">
                <a:solidFill>
                  <a:srgbClr val="FFFFFF"/>
                </a:solidFill>
                <a:latin typeface="Calibri"/>
              </a:rPr>
              <a:t>IMAP poll · allowlisted senders</a:t>
            </a:r>
          </a:p>
        </p:txBody>
      </p:sp>
      <p:sp>
        <p:nvSpPr>
          <p:cNvPr id="9" name="Rounded Rectangle 8"/>
          <p:cNvSpPr/>
          <p:nvPr/>
        </p:nvSpPr>
        <p:spPr>
          <a:xfrm>
            <a:off x="3453231" y="1691640"/>
            <a:ext cx="2560320" cy="914400"/>
          </a:xfrm>
          <a:prstGeom prst="roundRect">
            <a:avLst>
              <a:gd name="adj" fmla="val 10000"/>
            </a:avLst>
          </a:prstGeom>
          <a:solidFill>
            <a:srgbClr val="E07856"/>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36576" bIns="36576" wrap="square"/>
          <a:lstStyle/>
          <a:p>
            <a:pPr algn="ctr"/>
            <a:r>
              <a:rPr sz="1800" b="1">
                <a:solidFill>
                  <a:srgbClr val="FFFFFF"/>
                </a:solidFill>
                <a:latin typeface="Calibri"/>
              </a:rPr>
              <a:t>Drive PDF</a:t>
            </a:r>
          </a:p>
          <a:p>
            <a:pPr algn="ctr">
              <a:spcBef>
                <a:spcPts val="200"/>
              </a:spcBef>
            </a:pPr>
            <a:r>
              <a:rPr sz="1000" b="0">
                <a:solidFill>
                  <a:srgbClr val="FFFFFF"/>
                </a:solidFill>
                <a:latin typeface="Calibri"/>
              </a:rPr>
              <a:t>Google Drive · pypdf extract</a:t>
            </a:r>
          </a:p>
        </p:txBody>
      </p:sp>
      <p:sp>
        <p:nvSpPr>
          <p:cNvPr id="10" name="Rounded Rectangle 9"/>
          <p:cNvSpPr/>
          <p:nvPr/>
        </p:nvSpPr>
        <p:spPr>
          <a:xfrm>
            <a:off x="6178143" y="1691640"/>
            <a:ext cx="2560320" cy="914400"/>
          </a:xfrm>
          <a:prstGeom prst="roundRect">
            <a:avLst>
              <a:gd name="adj" fmla="val 10000"/>
            </a:avLst>
          </a:prstGeom>
          <a:solidFill>
            <a:srgbClr val="4A7A4A"/>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36576" bIns="36576" wrap="square"/>
          <a:lstStyle/>
          <a:p>
            <a:pPr algn="ctr"/>
            <a:r>
              <a:rPr sz="1800" b="1">
                <a:solidFill>
                  <a:srgbClr val="FFFFFF"/>
                </a:solidFill>
                <a:latin typeface="Calibri"/>
              </a:rPr>
              <a:t>Audio File</a:t>
            </a:r>
          </a:p>
          <a:p>
            <a:pPr algn="ctr">
              <a:spcBef>
                <a:spcPts val="200"/>
              </a:spcBef>
            </a:pPr>
            <a:r>
              <a:rPr sz="1000" b="0">
                <a:solidFill>
                  <a:srgbClr val="FFFFFF"/>
                </a:solidFill>
                <a:latin typeface="Calibri"/>
              </a:rPr>
              <a:t>Drive · Groq Whisper transcribe</a:t>
            </a:r>
          </a:p>
        </p:txBody>
      </p:sp>
      <p:sp>
        <p:nvSpPr>
          <p:cNvPr id="11" name="Rounded Rectangle 10"/>
          <p:cNvSpPr/>
          <p:nvPr/>
        </p:nvSpPr>
        <p:spPr>
          <a:xfrm>
            <a:off x="8903055" y="1691640"/>
            <a:ext cx="2560320" cy="914400"/>
          </a:xfrm>
          <a:prstGeom prst="roundRect">
            <a:avLst>
              <a:gd name="adj" fmla="val 10000"/>
            </a:avLst>
          </a:prstGeom>
          <a:solidFill>
            <a:srgbClr val="6A4C93"/>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36576" bIns="36576" wrap="square"/>
          <a:lstStyle/>
          <a:p>
            <a:pPr algn="ctr"/>
            <a:r>
              <a:rPr sz="1800" b="1">
                <a:solidFill>
                  <a:srgbClr val="FFFFFF"/>
                </a:solidFill>
                <a:latin typeface="Calibri"/>
              </a:rPr>
              <a:t>Teams</a:t>
            </a:r>
          </a:p>
          <a:p>
            <a:pPr algn="ctr">
              <a:spcBef>
                <a:spcPts val="200"/>
              </a:spcBef>
            </a:pPr>
            <a:r>
              <a:rPr sz="1000" b="0">
                <a:solidFill>
                  <a:srgbClr val="FFFFFF"/>
                </a:solidFill>
                <a:latin typeface="Calibri"/>
              </a:rPr>
              <a:t>Power Automate forwards to inbox</a:t>
            </a:r>
          </a:p>
        </p:txBody>
      </p:sp>
      <p:sp>
        <p:nvSpPr>
          <p:cNvPr id="12" name="Rounded Rectangle 11"/>
          <p:cNvSpPr/>
          <p:nvPr/>
        </p:nvSpPr>
        <p:spPr>
          <a:xfrm>
            <a:off x="3535527" y="3246120"/>
            <a:ext cx="5120640" cy="1188720"/>
          </a:xfrm>
          <a:prstGeom prst="roundRect">
            <a:avLst>
              <a:gd name="adj" fmla="val 10000"/>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36576" bIns="36576" wrap="square"/>
          <a:lstStyle/>
          <a:p>
            <a:pPr algn="ctr"/>
            <a:r>
              <a:rPr sz="1800" b="1">
                <a:solidFill>
                  <a:srgbClr val="FFFFFF"/>
                </a:solidFill>
                <a:latin typeface="Calibri"/>
              </a:rPr>
              <a:t>NAPCO Nucleus Agent</a:t>
            </a:r>
          </a:p>
          <a:p>
            <a:pPr algn="ctr">
              <a:spcBef>
                <a:spcPts val="200"/>
              </a:spcBef>
            </a:pPr>
            <a:r>
              <a:rPr sz="1000" b="0">
                <a:solidFill>
                  <a:srgbClr val="FFFFFF"/>
                </a:solidFill>
                <a:latin typeface="Calibri"/>
              </a:rPr>
              <a:t>Memory check · Read inbox · Identify requirements · Dedup vs prior · Classify (new / Bug / updatedRequirements) · Split into 3-hour tasks</a:t>
            </a:r>
          </a:p>
        </p:txBody>
      </p:sp>
      <p:sp>
        <p:nvSpPr>
          <p:cNvPr id="13" name="Rounded Rectangle 12"/>
          <p:cNvSpPr/>
          <p:nvPr/>
        </p:nvSpPr>
        <p:spPr>
          <a:xfrm>
            <a:off x="2255367" y="4983480"/>
            <a:ext cx="7680960" cy="1097280"/>
          </a:xfrm>
          <a:prstGeom prst="roundRect">
            <a:avLst>
              <a:gd name="adj" fmla="val 10000"/>
            </a:avLst>
          </a:prstGeom>
          <a:solidFill>
            <a:srgbClr val="C9962B"/>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36576" bIns="36576" wrap="square"/>
          <a:lstStyle/>
          <a:p>
            <a:pPr algn="ctr"/>
            <a:r>
              <a:rPr sz="1700" b="1">
                <a:solidFill>
                  <a:srgbClr val="FFFFFF"/>
                </a:solidFill>
                <a:latin typeface="Calibri"/>
              </a:rPr>
              <a:t>OpenProject — mvp-access backlog</a:t>
            </a:r>
          </a:p>
          <a:p>
            <a:pPr algn="ctr">
              <a:spcBef>
                <a:spcPts val="200"/>
              </a:spcBef>
            </a:pPr>
            <a:r>
              <a:rPr sz="1000" b="0">
                <a:solidFill>
                  <a:srgbClr val="FFFFFF"/>
                </a:solidFill>
                <a:latin typeface="Calibri"/>
              </a:rPr>
              <a:t>Type=Task or Bug · Category=AccessGroup / BadgeHolder / Personnel · Status=New on create · Subject swap + comment on revision</a:t>
            </a:r>
          </a:p>
        </p:txBody>
      </p:sp>
      <p:cxnSp>
        <p:nvCxnSpPr>
          <p:cNvPr id="14" name="Connector 13"/>
          <p:cNvCxnSpPr/>
          <p:nvPr/>
        </p:nvCxnSpPr>
        <p:spPr>
          <a:xfrm>
            <a:off x="2008479" y="2606040"/>
            <a:ext cx="0" cy="640080"/>
          </a:xfrm>
          <a:prstGeom prst="line">
            <a:avLst/>
          </a:prstGeom>
          <a:ln w="19050">
            <a:solidFill>
              <a:srgbClr val="6B7785"/>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733391" y="2606040"/>
            <a:ext cx="0" cy="640080"/>
          </a:xfrm>
          <a:prstGeom prst="line">
            <a:avLst/>
          </a:prstGeom>
          <a:ln w="19050">
            <a:solidFill>
              <a:srgbClr val="6B7785"/>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458303" y="2606040"/>
            <a:ext cx="0" cy="640080"/>
          </a:xfrm>
          <a:prstGeom prst="line">
            <a:avLst/>
          </a:prstGeom>
          <a:ln w="19050">
            <a:solidFill>
              <a:srgbClr val="6B7785"/>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183215" y="2606040"/>
            <a:ext cx="0" cy="640080"/>
          </a:xfrm>
          <a:prstGeom prst="line">
            <a:avLst/>
          </a:prstGeom>
          <a:ln w="19050">
            <a:solidFill>
              <a:srgbClr val="6B7785"/>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095847" y="4434840"/>
            <a:ext cx="0" cy="548640"/>
          </a:xfrm>
          <a:prstGeom prst="line">
            <a:avLst/>
          </a:prstGeom>
          <a:ln w="25400">
            <a:solidFill>
              <a:srgbClr val="1F4E79"/>
            </a:solidFill>
            <a:tailEnd type="triangle" w="med" h="med"/>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457200" y="3246120"/>
            <a:ext cx="2377440" cy="329184"/>
          </a:xfrm>
          <a:prstGeom prst="rect">
            <a:avLst/>
          </a:prstGeom>
          <a:solidFill>
            <a:srgbClr val="E07856"/>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200" b="1">
                <a:solidFill>
                  <a:srgbClr val="FFFFFF"/>
                </a:solidFill>
                <a:latin typeface="Calibri"/>
              </a:rPr>
              <a:t>DEDUP GATES</a:t>
            </a:r>
          </a:p>
        </p:txBody>
      </p:sp>
      <p:sp>
        <p:nvSpPr>
          <p:cNvPr id="20" name="Rectangle 19"/>
          <p:cNvSpPr/>
          <p:nvPr/>
        </p:nvSpPr>
        <p:spPr>
          <a:xfrm>
            <a:off x="457200" y="3575304"/>
            <a:ext cx="2377440" cy="859536"/>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rIns="164592" tIns="109728" bIns="109728" wrap="square"/>
          <a:lstStyle/>
          <a:p>
            <a:pPr algn="l"/>
            <a:r>
              <a:rPr sz="1000" b="1">
                <a:solidFill>
                  <a:srgbClr val="1F4E79"/>
                </a:solidFill>
                <a:latin typeface="Calibri"/>
              </a:rPr>
              <a:t>• </a:t>
            </a:r>
            <a:r>
              <a:rPr sz="1000">
                <a:solidFill>
                  <a:srgbClr val="222222"/>
                </a:solidFill>
                <a:latin typeface="Calibri"/>
              </a:rPr>
              <a:t>Layer 1 · Open WP titles in OpenProject</a:t>
            </a:r>
          </a:p>
          <a:p>
            <a:pPr algn="l">
              <a:spcBef>
                <a:spcPts val="600"/>
              </a:spcBef>
            </a:pPr>
            <a:r>
              <a:rPr sz="1000" b="1">
                <a:solidFill>
                  <a:srgbClr val="1F4E79"/>
                </a:solidFill>
                <a:latin typeface="Calibri"/>
              </a:rPr>
              <a:t>• </a:t>
            </a:r>
            <a:r>
              <a:rPr sz="1000">
                <a:solidFill>
                  <a:srgbClr val="222222"/>
                </a:solidFill>
                <a:latin typeface="Calibri"/>
              </a:rPr>
              <a:t>Layer 2 · requirements_seen FTS in SQLite</a:t>
            </a:r>
          </a:p>
          <a:p>
            <a:pPr algn="l">
              <a:spcBef>
                <a:spcPts val="600"/>
              </a:spcBef>
            </a:pPr>
            <a:r>
              <a:rPr sz="1000" b="1">
                <a:solidFill>
                  <a:srgbClr val="1F4E79"/>
                </a:solidFill>
                <a:latin typeface="Calibri"/>
              </a:rPr>
              <a:t>• </a:t>
            </a:r>
            <a:r>
              <a:rPr sz="1000">
                <a:solidFill>
                  <a:srgbClr val="222222"/>
                </a:solidFill>
                <a:latin typeface="Calibri"/>
              </a:rPr>
              <a:t>Both populated on every run (self-heal)</a:t>
            </a:r>
          </a:p>
        </p:txBody>
      </p:sp>
      <p:sp>
        <p:nvSpPr>
          <p:cNvPr id="21" name="Rectangle 20"/>
          <p:cNvSpPr/>
          <p:nvPr/>
        </p:nvSpPr>
        <p:spPr>
          <a:xfrm>
            <a:off x="9357055" y="3246120"/>
            <a:ext cx="2377440" cy="329184"/>
          </a:xfrm>
          <a:prstGeom prst="rect">
            <a:avLst/>
          </a:prstGeom>
          <a:solidFill>
            <a:srgbClr val="6A4C93"/>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200" b="1">
                <a:solidFill>
                  <a:srgbClr val="FFFFFF"/>
                </a:solidFill>
                <a:latin typeface="Calibri"/>
              </a:rPr>
              <a:t>ON REVISION</a:t>
            </a:r>
          </a:p>
        </p:txBody>
      </p:sp>
      <p:sp>
        <p:nvSpPr>
          <p:cNvPr id="22" name="Rectangle 21"/>
          <p:cNvSpPr/>
          <p:nvPr/>
        </p:nvSpPr>
        <p:spPr>
          <a:xfrm>
            <a:off x="9357055" y="3575304"/>
            <a:ext cx="2377440" cy="859536"/>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rIns="164592" tIns="109728" bIns="109728" wrap="square"/>
          <a:lstStyle/>
          <a:p>
            <a:pPr algn="l"/>
            <a:r>
              <a:rPr sz="1000" b="1">
                <a:solidFill>
                  <a:srgbClr val="1F4E79"/>
                </a:solidFill>
                <a:latin typeface="Calibri"/>
              </a:rPr>
              <a:t>• </a:t>
            </a:r>
            <a:r>
              <a:rPr sz="1000">
                <a:solidFill>
                  <a:srgbClr val="222222"/>
                </a:solidFill>
                <a:latin typeface="Calibri"/>
              </a:rPr>
              <a:t>Subject swap on existing Work Package</a:t>
            </a:r>
          </a:p>
          <a:p>
            <a:pPr algn="l">
              <a:spcBef>
                <a:spcPts val="600"/>
              </a:spcBef>
            </a:pPr>
            <a:r>
              <a:rPr sz="1000" b="1">
                <a:solidFill>
                  <a:srgbClr val="1F4E79"/>
                </a:solidFill>
                <a:latin typeface="Calibri"/>
              </a:rPr>
              <a:t>• </a:t>
            </a:r>
            <a:r>
              <a:rPr sz="1000">
                <a:solidFill>
                  <a:srgbClr val="222222"/>
                </a:solidFill>
                <a:latin typeface="Calibri"/>
              </a:rPr>
              <a:t>Timestamped comment with new spec</a:t>
            </a:r>
          </a:p>
          <a:p>
            <a:pPr algn="l">
              <a:spcBef>
                <a:spcPts val="600"/>
              </a:spcBef>
            </a:pPr>
            <a:r>
              <a:rPr sz="1000" b="1">
                <a:solidFill>
                  <a:srgbClr val="1F4E79"/>
                </a:solidFill>
                <a:latin typeface="Calibri"/>
              </a:rPr>
              <a:t>• </a:t>
            </a:r>
            <a:r>
              <a:rPr sz="1000">
                <a:solidFill>
                  <a:srgbClr val="222222"/>
                </a:solidFill>
                <a:latin typeface="Calibri"/>
              </a:rPr>
              <a:t>Activity tab preserves full diff</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565392"/>
            <a:ext cx="11277295" cy="9000"/>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601968"/>
            <a:ext cx="7315200" cy="228600"/>
          </a:xfrm>
          <a:prstGeom prst="rect">
            <a:avLst/>
          </a:prstGeom>
          <a:noFill/>
        </p:spPr>
        <p:txBody>
          <a:bodyPr wrap="none">
            <a:spAutoFit/>
          </a:bodyPr>
          <a:lstStyle/>
          <a:p>
            <a:pPr algn="l"/>
            <a:r>
              <a:rPr sz="900" b="0">
                <a:solidFill>
                  <a:srgbClr val="6B7785"/>
                </a:solidFill>
                <a:latin typeface="Calibri"/>
              </a:rPr>
              <a:t>NAPCO Nucleus  |  Mohammad Kamrul Hasan  |  Adaptive Enterprise Limited</a:t>
            </a:r>
          </a:p>
        </p:txBody>
      </p:sp>
      <p:sp>
        <p:nvSpPr>
          <p:cNvPr id="5" name="TextBox 4"/>
          <p:cNvSpPr txBox="1"/>
          <p:nvPr/>
        </p:nvSpPr>
        <p:spPr>
          <a:xfrm>
            <a:off x="10515600" y="6601968"/>
            <a:ext cx="1280160" cy="228600"/>
          </a:xfrm>
          <a:prstGeom prst="rect">
            <a:avLst/>
          </a:prstGeom>
          <a:noFill/>
        </p:spPr>
        <p:txBody>
          <a:bodyPr wrap="none">
            <a:spAutoFit/>
          </a:bodyPr>
          <a:lstStyle/>
          <a:p>
            <a:pPr algn="r"/>
            <a:r>
              <a:rPr sz="900" b="0">
                <a:solidFill>
                  <a:srgbClr val="6B7785"/>
                </a:solidFill>
                <a:latin typeface="Calibri"/>
              </a:rPr>
              <a:t>8 / 31</a:t>
            </a:r>
          </a:p>
        </p:txBody>
      </p:sp>
      <p:sp>
        <p:nvSpPr>
          <p:cNvPr id="6" name="TextBox 5"/>
          <p:cNvSpPr txBox="1"/>
          <p:nvPr/>
        </p:nvSpPr>
        <p:spPr>
          <a:xfrm>
            <a:off x="457200" y="274320"/>
            <a:ext cx="11277295" cy="640080"/>
          </a:xfrm>
          <a:prstGeom prst="rect">
            <a:avLst/>
          </a:prstGeom>
          <a:noFill/>
        </p:spPr>
        <p:txBody>
          <a:bodyPr wrap="none">
            <a:spAutoFit/>
          </a:bodyPr>
          <a:lstStyle/>
          <a:p>
            <a:pPr algn="l"/>
            <a:r>
              <a:rPr sz="2800" b="1">
                <a:solidFill>
                  <a:srgbClr val="1F4E79"/>
                </a:solidFill>
                <a:latin typeface="Calibri"/>
              </a:rPr>
              <a:t>01 · Impact at a Glance</a:t>
            </a:r>
          </a:p>
        </p:txBody>
      </p:sp>
      <p:sp>
        <p:nvSpPr>
          <p:cNvPr id="7" name="TextBox 6"/>
          <p:cNvSpPr txBox="1"/>
          <p:nvPr/>
        </p:nvSpPr>
        <p:spPr>
          <a:xfrm>
            <a:off x="457200" y="868680"/>
            <a:ext cx="11277295" cy="365760"/>
          </a:xfrm>
          <a:prstGeom prst="rect">
            <a:avLst/>
          </a:prstGeom>
          <a:noFill/>
        </p:spPr>
        <p:txBody>
          <a:bodyPr wrap="none">
            <a:spAutoFit/>
          </a:bodyPr>
          <a:lstStyle/>
          <a:p>
            <a:pPr algn="l"/>
            <a:r>
              <a:rPr sz="1400" b="0">
                <a:solidFill>
                  <a:srgbClr val="6B7785"/>
                </a:solidFill>
                <a:latin typeface="Calibri"/>
              </a:rPr>
              <a:t>What NN delivers, in numbers</a:t>
            </a:r>
          </a:p>
        </p:txBody>
      </p:sp>
      <p:sp>
        <p:nvSpPr>
          <p:cNvPr id="8" name="Rectangle 7"/>
          <p:cNvSpPr/>
          <p:nvPr/>
        </p:nvSpPr>
        <p:spPr>
          <a:xfrm>
            <a:off x="548640" y="1645920"/>
            <a:ext cx="3703320" cy="210312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645920"/>
            <a:ext cx="3703320" cy="5486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920240"/>
            <a:ext cx="3703320" cy="777240"/>
          </a:xfrm>
          <a:prstGeom prst="rect">
            <a:avLst/>
          </a:prstGeom>
          <a:noFill/>
        </p:spPr>
        <p:txBody>
          <a:bodyPr wrap="none">
            <a:spAutoFit/>
          </a:bodyPr>
          <a:lstStyle/>
          <a:p>
            <a:pPr algn="ctr"/>
            <a:r>
              <a:rPr sz="4000" b="1">
                <a:solidFill>
                  <a:srgbClr val="1F4E79"/>
                </a:solidFill>
                <a:latin typeface="Calibri"/>
              </a:rPr>
              <a:t>9</a:t>
            </a:r>
          </a:p>
        </p:txBody>
      </p:sp>
      <p:sp>
        <p:nvSpPr>
          <p:cNvPr id="11" name="TextBox 10"/>
          <p:cNvSpPr txBox="1"/>
          <p:nvPr/>
        </p:nvSpPr>
        <p:spPr>
          <a:xfrm>
            <a:off x="548640" y="3291840"/>
            <a:ext cx="3703320" cy="365760"/>
          </a:xfrm>
          <a:prstGeom prst="rect">
            <a:avLst/>
          </a:prstGeom>
          <a:noFill/>
        </p:spPr>
        <p:txBody>
          <a:bodyPr wrap="none">
            <a:spAutoFit/>
          </a:bodyPr>
          <a:lstStyle/>
          <a:p>
            <a:pPr algn="ctr"/>
            <a:r>
              <a:rPr sz="1100" b="0">
                <a:solidFill>
                  <a:srgbClr val="6B7785"/>
                </a:solidFill>
                <a:latin typeface="Calibri"/>
              </a:rPr>
              <a:t>PRODUCTION WORKFLOWS</a:t>
            </a:r>
          </a:p>
        </p:txBody>
      </p:sp>
      <p:sp>
        <p:nvSpPr>
          <p:cNvPr id="12" name="Rectangle 11"/>
          <p:cNvSpPr/>
          <p:nvPr/>
        </p:nvSpPr>
        <p:spPr>
          <a:xfrm>
            <a:off x="4343400" y="1645920"/>
            <a:ext cx="3703320" cy="210312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1645920"/>
            <a:ext cx="3703320" cy="54864"/>
          </a:xfrm>
          <a:prstGeom prst="rect">
            <a:avLst/>
          </a:prstGeom>
          <a:solidFill>
            <a:srgbClr val="2E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43400" y="1920240"/>
            <a:ext cx="3703320" cy="777240"/>
          </a:xfrm>
          <a:prstGeom prst="rect">
            <a:avLst/>
          </a:prstGeom>
          <a:noFill/>
        </p:spPr>
        <p:txBody>
          <a:bodyPr wrap="none">
            <a:spAutoFit/>
          </a:bodyPr>
          <a:lstStyle/>
          <a:p>
            <a:pPr algn="ctr"/>
            <a:r>
              <a:rPr sz="4000" b="1">
                <a:solidFill>
                  <a:srgbClr val="1F4E79"/>
                </a:solidFill>
                <a:latin typeface="Calibri"/>
              </a:rPr>
              <a:t>31</a:t>
            </a:r>
          </a:p>
        </p:txBody>
      </p:sp>
      <p:sp>
        <p:nvSpPr>
          <p:cNvPr id="15" name="TextBox 14"/>
          <p:cNvSpPr txBox="1"/>
          <p:nvPr/>
        </p:nvSpPr>
        <p:spPr>
          <a:xfrm>
            <a:off x="4343400" y="3291840"/>
            <a:ext cx="3703320" cy="365760"/>
          </a:xfrm>
          <a:prstGeom prst="rect">
            <a:avLst/>
          </a:prstGeom>
          <a:noFill/>
        </p:spPr>
        <p:txBody>
          <a:bodyPr wrap="none">
            <a:spAutoFit/>
          </a:bodyPr>
          <a:lstStyle/>
          <a:p>
            <a:pPr algn="ctr"/>
            <a:r>
              <a:rPr sz="1100" b="0">
                <a:solidFill>
                  <a:srgbClr val="6B7785"/>
                </a:solidFill>
                <a:latin typeface="Calibri"/>
              </a:rPr>
              <a:t>MCP TOOLS</a:t>
            </a:r>
          </a:p>
        </p:txBody>
      </p:sp>
      <p:sp>
        <p:nvSpPr>
          <p:cNvPr id="16" name="Rectangle 15"/>
          <p:cNvSpPr/>
          <p:nvPr/>
        </p:nvSpPr>
        <p:spPr>
          <a:xfrm>
            <a:off x="8138160" y="1645920"/>
            <a:ext cx="3703320" cy="210312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38160" y="1645920"/>
            <a:ext cx="3703320" cy="54864"/>
          </a:xfrm>
          <a:prstGeom prst="rect">
            <a:avLst/>
          </a:prstGeom>
          <a:solidFill>
            <a:srgbClr val="4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38160" y="1920240"/>
            <a:ext cx="3703320" cy="777240"/>
          </a:xfrm>
          <a:prstGeom prst="rect">
            <a:avLst/>
          </a:prstGeom>
          <a:noFill/>
        </p:spPr>
        <p:txBody>
          <a:bodyPr wrap="none">
            <a:spAutoFit/>
          </a:bodyPr>
          <a:lstStyle/>
          <a:p>
            <a:pPr algn="ctr"/>
            <a:r>
              <a:rPr sz="4000" b="1">
                <a:solidFill>
                  <a:srgbClr val="1F4E79"/>
                </a:solidFill>
                <a:latin typeface="Calibri"/>
              </a:rPr>
              <a:t>8</a:t>
            </a:r>
          </a:p>
        </p:txBody>
      </p:sp>
      <p:sp>
        <p:nvSpPr>
          <p:cNvPr id="19" name="TextBox 18"/>
          <p:cNvSpPr txBox="1"/>
          <p:nvPr/>
        </p:nvSpPr>
        <p:spPr>
          <a:xfrm>
            <a:off x="8138160" y="3291840"/>
            <a:ext cx="3703320" cy="365760"/>
          </a:xfrm>
          <a:prstGeom prst="rect">
            <a:avLst/>
          </a:prstGeom>
          <a:noFill/>
        </p:spPr>
        <p:txBody>
          <a:bodyPr wrap="none">
            <a:spAutoFit/>
          </a:bodyPr>
          <a:lstStyle/>
          <a:p>
            <a:pPr algn="ctr"/>
            <a:r>
              <a:rPr sz="1100" b="0">
                <a:solidFill>
                  <a:srgbClr val="6B7785"/>
                </a:solidFill>
                <a:latin typeface="Calibri"/>
              </a:rPr>
              <a:t>PROMPT FILES</a:t>
            </a:r>
          </a:p>
        </p:txBody>
      </p:sp>
      <p:sp>
        <p:nvSpPr>
          <p:cNvPr id="20" name="Rectangle 19"/>
          <p:cNvSpPr/>
          <p:nvPr/>
        </p:nvSpPr>
        <p:spPr>
          <a:xfrm>
            <a:off x="548640" y="3931920"/>
            <a:ext cx="3703320" cy="210312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3931920"/>
            <a:ext cx="3703320" cy="54864"/>
          </a:xfrm>
          <a:prstGeom prst="rect">
            <a:avLst/>
          </a:prstGeom>
          <a:solidFill>
            <a:srgbClr val="C99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206240"/>
            <a:ext cx="3703320" cy="777240"/>
          </a:xfrm>
          <a:prstGeom prst="rect">
            <a:avLst/>
          </a:prstGeom>
          <a:noFill/>
        </p:spPr>
        <p:txBody>
          <a:bodyPr wrap="none">
            <a:spAutoFit/>
          </a:bodyPr>
          <a:lstStyle/>
          <a:p>
            <a:pPr algn="ctr"/>
            <a:r>
              <a:rPr sz="4000" b="1">
                <a:solidFill>
                  <a:srgbClr val="1F4E79"/>
                </a:solidFill>
                <a:latin typeface="Calibri"/>
              </a:rPr>
              <a:t>~3.6k</a:t>
            </a:r>
          </a:p>
        </p:txBody>
      </p:sp>
      <p:sp>
        <p:nvSpPr>
          <p:cNvPr id="23" name="TextBox 22"/>
          <p:cNvSpPr txBox="1"/>
          <p:nvPr/>
        </p:nvSpPr>
        <p:spPr>
          <a:xfrm>
            <a:off x="548640" y="5577840"/>
            <a:ext cx="3703320" cy="365760"/>
          </a:xfrm>
          <a:prstGeom prst="rect">
            <a:avLst/>
          </a:prstGeom>
          <a:noFill/>
        </p:spPr>
        <p:txBody>
          <a:bodyPr wrap="none">
            <a:spAutoFit/>
          </a:bodyPr>
          <a:lstStyle/>
          <a:p>
            <a:pPr algn="ctr"/>
            <a:r>
              <a:rPr sz="1100" b="0">
                <a:solidFill>
                  <a:srgbClr val="6B7785"/>
                </a:solidFill>
                <a:latin typeface="Calibri"/>
              </a:rPr>
              <a:t>PYTHON LOC</a:t>
            </a:r>
          </a:p>
        </p:txBody>
      </p:sp>
      <p:sp>
        <p:nvSpPr>
          <p:cNvPr id="24" name="Rectangle 23"/>
          <p:cNvSpPr/>
          <p:nvPr/>
        </p:nvSpPr>
        <p:spPr>
          <a:xfrm>
            <a:off x="4343400" y="3931920"/>
            <a:ext cx="3703320" cy="210312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43400" y="3931920"/>
            <a:ext cx="3703320" cy="54864"/>
          </a:xfrm>
          <a:prstGeom prst="rect">
            <a:avLst/>
          </a:prstGeom>
          <a:solidFill>
            <a:srgbClr val="E078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43400" y="4206240"/>
            <a:ext cx="3703320" cy="777240"/>
          </a:xfrm>
          <a:prstGeom prst="rect">
            <a:avLst/>
          </a:prstGeom>
          <a:noFill/>
        </p:spPr>
        <p:txBody>
          <a:bodyPr wrap="none">
            <a:spAutoFit/>
          </a:bodyPr>
          <a:lstStyle/>
          <a:p>
            <a:pPr algn="ctr"/>
            <a:r>
              <a:rPr sz="4000" b="1">
                <a:solidFill>
                  <a:srgbClr val="1F4E79"/>
                </a:solidFill>
                <a:latin typeface="Calibri"/>
              </a:rPr>
              <a:t>2</a:t>
            </a:r>
          </a:p>
        </p:txBody>
      </p:sp>
      <p:sp>
        <p:nvSpPr>
          <p:cNvPr id="27" name="TextBox 26"/>
          <p:cNvSpPr txBox="1"/>
          <p:nvPr/>
        </p:nvSpPr>
        <p:spPr>
          <a:xfrm>
            <a:off x="4343400" y="5577840"/>
            <a:ext cx="3703320" cy="365760"/>
          </a:xfrm>
          <a:prstGeom prst="rect">
            <a:avLst/>
          </a:prstGeom>
          <a:noFill/>
        </p:spPr>
        <p:txBody>
          <a:bodyPr wrap="none">
            <a:spAutoFit/>
          </a:bodyPr>
          <a:lstStyle/>
          <a:p>
            <a:pPr algn="ctr"/>
            <a:r>
              <a:rPr sz="1100" b="0">
                <a:solidFill>
                  <a:srgbClr val="6B7785"/>
                </a:solidFill>
                <a:latin typeface="Calibri"/>
              </a:rPr>
              <a:t>EMAILS PER DAY</a:t>
            </a:r>
          </a:p>
        </p:txBody>
      </p:sp>
      <p:sp>
        <p:nvSpPr>
          <p:cNvPr id="28" name="Rectangle 27"/>
          <p:cNvSpPr/>
          <p:nvPr/>
        </p:nvSpPr>
        <p:spPr>
          <a:xfrm>
            <a:off x="8138160" y="3931920"/>
            <a:ext cx="3703320" cy="210312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138160" y="3931920"/>
            <a:ext cx="3703320" cy="54864"/>
          </a:xfrm>
          <a:prstGeom prst="rect">
            <a:avLst/>
          </a:prstGeom>
          <a:solidFill>
            <a:srgbClr val="6A4C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38160" y="4206240"/>
            <a:ext cx="3703320" cy="777240"/>
          </a:xfrm>
          <a:prstGeom prst="rect">
            <a:avLst/>
          </a:prstGeom>
          <a:noFill/>
        </p:spPr>
        <p:txBody>
          <a:bodyPr wrap="none">
            <a:spAutoFit/>
          </a:bodyPr>
          <a:lstStyle/>
          <a:p>
            <a:pPr algn="ctr"/>
            <a:r>
              <a:rPr sz="4000" b="1">
                <a:solidFill>
                  <a:srgbClr val="1F4E79"/>
                </a:solidFill>
                <a:latin typeface="Calibri"/>
              </a:rPr>
              <a:t>$200</a:t>
            </a:r>
          </a:p>
        </p:txBody>
      </p:sp>
      <p:sp>
        <p:nvSpPr>
          <p:cNvPr id="31" name="TextBox 30"/>
          <p:cNvSpPr txBox="1"/>
          <p:nvPr/>
        </p:nvSpPr>
        <p:spPr>
          <a:xfrm>
            <a:off x="8138160" y="5577840"/>
            <a:ext cx="3703320" cy="365760"/>
          </a:xfrm>
          <a:prstGeom prst="rect">
            <a:avLst/>
          </a:prstGeom>
          <a:noFill/>
        </p:spPr>
        <p:txBody>
          <a:bodyPr wrap="none">
            <a:spAutoFit/>
          </a:bodyPr>
          <a:lstStyle/>
          <a:p>
            <a:pPr algn="ctr"/>
            <a:r>
              <a:rPr sz="1100" b="0">
                <a:solidFill>
                  <a:srgbClr val="6B7785"/>
                </a:solidFill>
                <a:latin typeface="Calibri"/>
              </a:rPr>
              <a:t>FIXED MONTHLY COST</a:t>
            </a:r>
          </a:p>
        </p:txBody>
      </p:sp>
      <p:sp>
        <p:nvSpPr>
          <p:cNvPr id="32" name="TextBox 31"/>
          <p:cNvSpPr txBox="1"/>
          <p:nvPr/>
        </p:nvSpPr>
        <p:spPr>
          <a:xfrm>
            <a:off x="548640" y="6126480"/>
            <a:ext cx="10972800" cy="365760"/>
          </a:xfrm>
          <a:prstGeom prst="rect">
            <a:avLst/>
          </a:prstGeom>
          <a:noFill/>
        </p:spPr>
        <p:txBody>
          <a:bodyPr wrap="none">
            <a:spAutoFit/>
          </a:bodyPr>
          <a:lstStyle/>
          <a:p>
            <a:pPr algn="ctr"/>
            <a:r>
              <a:rPr sz="1300" b="0">
                <a:solidFill>
                  <a:srgbClr val="6B7785"/>
                </a:solidFill>
                <a:latin typeface="Calibri"/>
              </a:rPr>
              <a:t>One self-hosted runner, one repo, one .env. Zero cloud bill, zero per-token billing.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565392"/>
            <a:ext cx="11277295" cy="9000"/>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601968"/>
            <a:ext cx="7315200" cy="228600"/>
          </a:xfrm>
          <a:prstGeom prst="rect">
            <a:avLst/>
          </a:prstGeom>
          <a:noFill/>
        </p:spPr>
        <p:txBody>
          <a:bodyPr wrap="none">
            <a:spAutoFit/>
          </a:bodyPr>
          <a:lstStyle/>
          <a:p>
            <a:pPr algn="l"/>
            <a:r>
              <a:rPr sz="900" b="0">
                <a:solidFill>
                  <a:srgbClr val="6B7785"/>
                </a:solidFill>
                <a:latin typeface="Calibri"/>
              </a:rPr>
              <a:t>NAPCO Nucleus  |  Mohammad Kamrul Hasan  |  Adaptive Enterprise Limited</a:t>
            </a:r>
          </a:p>
        </p:txBody>
      </p:sp>
      <p:sp>
        <p:nvSpPr>
          <p:cNvPr id="5" name="TextBox 4"/>
          <p:cNvSpPr txBox="1"/>
          <p:nvPr/>
        </p:nvSpPr>
        <p:spPr>
          <a:xfrm>
            <a:off x="10515600" y="6601968"/>
            <a:ext cx="1280160" cy="228600"/>
          </a:xfrm>
          <a:prstGeom prst="rect">
            <a:avLst/>
          </a:prstGeom>
          <a:noFill/>
        </p:spPr>
        <p:txBody>
          <a:bodyPr wrap="none">
            <a:spAutoFit/>
          </a:bodyPr>
          <a:lstStyle/>
          <a:p>
            <a:pPr algn="r"/>
            <a:r>
              <a:rPr sz="900" b="0">
                <a:solidFill>
                  <a:srgbClr val="6B7785"/>
                </a:solidFill>
                <a:latin typeface="Calibri"/>
              </a:rPr>
              <a:t>9 / 31</a:t>
            </a:r>
          </a:p>
        </p:txBody>
      </p:sp>
      <p:sp>
        <p:nvSpPr>
          <p:cNvPr id="6" name="TextBox 5"/>
          <p:cNvSpPr txBox="1"/>
          <p:nvPr/>
        </p:nvSpPr>
        <p:spPr>
          <a:xfrm>
            <a:off x="457200" y="274320"/>
            <a:ext cx="11277295" cy="640080"/>
          </a:xfrm>
          <a:prstGeom prst="rect">
            <a:avLst/>
          </a:prstGeom>
          <a:noFill/>
        </p:spPr>
        <p:txBody>
          <a:bodyPr wrap="none">
            <a:spAutoFit/>
          </a:bodyPr>
          <a:lstStyle/>
          <a:p>
            <a:pPr algn="l"/>
            <a:r>
              <a:rPr sz="2800" b="1">
                <a:solidFill>
                  <a:srgbClr val="1F4E79"/>
                </a:solidFill>
                <a:latin typeface="Calibri"/>
              </a:rPr>
              <a:t>02 · Architecture — Component Map</a:t>
            </a:r>
          </a:p>
        </p:txBody>
      </p:sp>
      <p:sp>
        <p:nvSpPr>
          <p:cNvPr id="7" name="TextBox 6"/>
          <p:cNvSpPr txBox="1"/>
          <p:nvPr/>
        </p:nvSpPr>
        <p:spPr>
          <a:xfrm>
            <a:off x="457200" y="868680"/>
            <a:ext cx="11277295" cy="365760"/>
          </a:xfrm>
          <a:prstGeom prst="rect">
            <a:avLst/>
          </a:prstGeom>
          <a:noFill/>
        </p:spPr>
        <p:txBody>
          <a:bodyPr wrap="none">
            <a:spAutoFit/>
          </a:bodyPr>
          <a:lstStyle/>
          <a:p>
            <a:pPr algn="l"/>
            <a:r>
              <a:rPr sz="1400" b="0">
                <a:solidFill>
                  <a:srgbClr val="6B7785"/>
                </a:solidFill>
                <a:latin typeface="Calibri"/>
              </a:rPr>
              <a:t>agent.py at the center, talking to six things</a:t>
            </a:r>
          </a:p>
        </p:txBody>
      </p:sp>
      <p:sp>
        <p:nvSpPr>
          <p:cNvPr id="8" name="Rounded Rectangle 7"/>
          <p:cNvSpPr/>
          <p:nvPr/>
        </p:nvSpPr>
        <p:spPr>
          <a:xfrm>
            <a:off x="4892040" y="3543300"/>
            <a:ext cx="2377440" cy="777240"/>
          </a:xfrm>
          <a:prstGeom prst="roundRect">
            <a:avLst>
              <a:gd name="adj" fmla="val 10000"/>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36576" bIns="36576" wrap="square"/>
          <a:lstStyle/>
          <a:p>
            <a:pPr algn="ctr"/>
            <a:r>
              <a:rPr sz="1800" b="1">
                <a:solidFill>
                  <a:srgbClr val="FFFFFF"/>
                </a:solidFill>
                <a:latin typeface="Calibri"/>
              </a:rPr>
              <a:t>agent.py</a:t>
            </a:r>
          </a:p>
          <a:p>
            <a:pPr algn="ctr">
              <a:spcBef>
                <a:spcPts val="200"/>
              </a:spcBef>
            </a:pPr>
            <a:r>
              <a:rPr sz="1100" b="0">
                <a:solidFill>
                  <a:srgbClr val="FFFFFF"/>
                </a:solidFill>
                <a:latin typeface="Calibri"/>
              </a:rPr>
              <a:t>Python orchestrator</a:t>
            </a:r>
          </a:p>
        </p:txBody>
      </p:sp>
      <p:sp>
        <p:nvSpPr>
          <p:cNvPr id="9" name="Rounded Rectangle 8"/>
          <p:cNvSpPr/>
          <p:nvPr/>
        </p:nvSpPr>
        <p:spPr>
          <a:xfrm>
            <a:off x="1783080" y="5029200"/>
            <a:ext cx="2377440" cy="731520"/>
          </a:xfrm>
          <a:prstGeom prst="roundRect">
            <a:avLst>
              <a:gd name="adj" fmla="val 10000"/>
            </a:avLst>
          </a:prstGeom>
          <a:solidFill>
            <a:srgbClr val="2E8A8A"/>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36576" bIns="36576" wrap="square"/>
          <a:lstStyle/>
          <a:p>
            <a:pPr algn="ctr"/>
            <a:r>
              <a:rPr sz="1400" b="1">
                <a:solidFill>
                  <a:srgbClr val="FFFFFF"/>
                </a:solidFill>
                <a:latin typeface="Calibri"/>
              </a:rPr>
              <a:t>.env / config</a:t>
            </a:r>
          </a:p>
          <a:p>
            <a:pPr algn="ctr">
              <a:spcBef>
                <a:spcPts val="200"/>
              </a:spcBef>
            </a:pPr>
            <a:r>
              <a:rPr sz="1000" b="0">
                <a:solidFill>
                  <a:srgbClr val="FFFFFF"/>
                </a:solidFill>
                <a:latin typeface="Calibri"/>
              </a:rPr>
              <a:t>secrets, paths, CLI override</a:t>
            </a:r>
          </a:p>
        </p:txBody>
      </p:sp>
      <p:cxnSp>
        <p:nvCxnSpPr>
          <p:cNvPr id="10" name="Connector 9"/>
          <p:cNvCxnSpPr/>
          <p:nvPr/>
        </p:nvCxnSpPr>
        <p:spPr>
          <a:xfrm flipV="1">
            <a:off x="4160520.0" y="4320540.0"/>
            <a:ext cx="1325880.0" cy="708660.0"/>
          </a:xfrm>
          <a:prstGeom prst="line">
            <a:avLst/>
          </a:prstGeom>
          <a:ln w="17780">
            <a:solidFill>
              <a:srgbClr val="6B7785"/>
            </a:solidFill>
            <a:tailEnd type="triangle" w="med" h="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001000" y="5029200"/>
            <a:ext cx="2377440" cy="731520"/>
          </a:xfrm>
          <a:prstGeom prst="roundRect">
            <a:avLst>
              <a:gd name="adj" fmla="val 10000"/>
            </a:avLst>
          </a:prstGeom>
          <a:solidFill>
            <a:srgbClr val="C9962B"/>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36576" bIns="36576" wrap="square"/>
          <a:lstStyle/>
          <a:p>
            <a:pPr algn="ctr"/>
            <a:r>
              <a:rPr sz="1400" b="1">
                <a:solidFill>
                  <a:srgbClr val="FFFFFF"/>
                </a:solidFill>
                <a:latin typeface="Calibri"/>
              </a:rPr>
              <a:t>Claude Agent SDK</a:t>
            </a:r>
          </a:p>
          <a:p>
            <a:pPr algn="ctr">
              <a:spcBef>
                <a:spcPts val="200"/>
              </a:spcBef>
            </a:pPr>
            <a:r>
              <a:rPr sz="1000" b="0">
                <a:solidFill>
                  <a:srgbClr val="FFFFFF"/>
                </a:solidFill>
                <a:latin typeface="Calibri"/>
              </a:rPr>
              <a:t>ClaudeSDKClient + MCP server</a:t>
            </a:r>
          </a:p>
        </p:txBody>
      </p:sp>
      <p:cxnSp>
        <p:nvCxnSpPr>
          <p:cNvPr id="12" name="Connector 11"/>
          <p:cNvCxnSpPr/>
          <p:nvPr/>
        </p:nvCxnSpPr>
        <p:spPr>
          <a:xfrm flipH="1" flipV="1">
            <a:off x="6675120.0" y="4320540.0"/>
            <a:ext cx="1325880.0" cy="708660.0"/>
          </a:xfrm>
          <a:prstGeom prst="line">
            <a:avLst/>
          </a:prstGeom>
          <a:ln w="17780">
            <a:solidFill>
              <a:srgbClr val="6B7785"/>
            </a:solidFill>
            <a:tailEnd type="triangle" w="med" h="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1783080" y="3566160"/>
            <a:ext cx="2377440" cy="731520"/>
          </a:xfrm>
          <a:prstGeom prst="roundRect">
            <a:avLst>
              <a:gd name="adj" fmla="val 10000"/>
            </a:avLst>
          </a:prstGeom>
          <a:solidFill>
            <a:srgbClr val="6A4C93"/>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36576" bIns="36576" wrap="square"/>
          <a:lstStyle/>
          <a:p>
            <a:pPr algn="ctr"/>
            <a:r>
              <a:rPr sz="1400" b="1">
                <a:solidFill>
                  <a:srgbClr val="FFFFFF"/>
                </a:solidFill>
                <a:latin typeface="Calibri"/>
              </a:rPr>
              <a:t>MCP server</a:t>
            </a:r>
          </a:p>
          <a:p>
            <a:pPr algn="ctr">
              <a:spcBef>
                <a:spcPts val="200"/>
              </a:spcBef>
            </a:pPr>
            <a:r>
              <a:rPr sz="1000" b="0">
                <a:solidFill>
                  <a:srgbClr val="FFFFFF"/>
                </a:solidFill>
                <a:latin typeface="Calibri"/>
              </a:rPr>
              <a:t>31 tools, in-process</a:t>
            </a:r>
          </a:p>
        </p:txBody>
      </p:sp>
      <p:cxnSp>
        <p:nvCxnSpPr>
          <p:cNvPr id="14" name="Connector 13"/>
          <p:cNvCxnSpPr/>
          <p:nvPr/>
        </p:nvCxnSpPr>
        <p:spPr>
          <a:xfrm>
            <a:off x="4160520.0" y="3931920"/>
            <a:ext cx="3108960.0" cy="0"/>
          </a:xfrm>
          <a:prstGeom prst="line">
            <a:avLst/>
          </a:prstGeom>
          <a:ln w="17780">
            <a:solidFill>
              <a:srgbClr val="6B7785"/>
            </a:solidFill>
            <a:tailEnd type="triangle" w="med" h="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001000" y="3566160"/>
            <a:ext cx="2377440" cy="731520"/>
          </a:xfrm>
          <a:prstGeom prst="roundRect">
            <a:avLst>
              <a:gd name="adj" fmla="val 10000"/>
            </a:avLst>
          </a:prstGeom>
          <a:solidFill>
            <a:srgbClr val="4A7A4A"/>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36576" bIns="36576" wrap="square"/>
          <a:lstStyle/>
          <a:p>
            <a:pPr algn="ctr"/>
            <a:r>
              <a:rPr sz="1400" b="1">
                <a:solidFill>
                  <a:srgbClr val="FFFFFF"/>
                </a:solidFill>
                <a:latin typeface="Calibri"/>
              </a:rPr>
              <a:t>Prompts</a:t>
            </a:r>
          </a:p>
          <a:p>
            <a:pPr algn="ctr">
              <a:spcBef>
                <a:spcPts val="200"/>
              </a:spcBef>
            </a:pPr>
            <a:r>
              <a:rPr sz="1000" b="0">
                <a:solidFill>
                  <a:srgbClr val="FFFFFF"/>
                </a:solidFill>
                <a:latin typeface="Calibri"/>
              </a:rPr>
              <a:t>system.md + &lt;task&gt;.md</a:t>
            </a:r>
          </a:p>
        </p:txBody>
      </p:sp>
      <p:cxnSp>
        <p:nvCxnSpPr>
          <p:cNvPr id="16" name="Connector 15"/>
          <p:cNvCxnSpPr/>
          <p:nvPr/>
        </p:nvCxnSpPr>
        <p:spPr>
          <a:xfrm flipH="1">
            <a:off x="4892040.0" y="3931920"/>
            <a:ext cx="3108960.0" cy="0"/>
          </a:xfrm>
          <a:prstGeom prst="line">
            <a:avLst/>
          </a:prstGeom>
          <a:ln w="17780">
            <a:solidFill>
              <a:srgbClr val="6B7785"/>
            </a:solidFill>
            <a:tailEnd type="triangle" w="med" h="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783080" y="2103120"/>
            <a:ext cx="2377440" cy="731520"/>
          </a:xfrm>
          <a:prstGeom prst="roundRect">
            <a:avLst>
              <a:gd name="adj" fmla="val 10000"/>
            </a:avLst>
          </a:prstGeom>
          <a:solidFill>
            <a:srgbClr val="E07856"/>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36576" bIns="36576" wrap="square"/>
          <a:lstStyle/>
          <a:p>
            <a:pPr algn="ctr"/>
            <a:r>
              <a:rPr sz="1400" b="1">
                <a:solidFill>
                  <a:srgbClr val="FFFFFF"/>
                </a:solidFill>
                <a:latin typeface="Calibri"/>
              </a:rPr>
              <a:t>GitHub Actions</a:t>
            </a:r>
          </a:p>
          <a:p>
            <a:pPr algn="ctr">
              <a:spcBef>
                <a:spcPts val="200"/>
              </a:spcBef>
            </a:pPr>
            <a:r>
              <a:rPr sz="1000" b="0">
                <a:solidFill>
                  <a:srgbClr val="FFFFFF"/>
                </a:solidFill>
                <a:latin typeface="Calibri"/>
              </a:rPr>
              <a:t>9 workflows, self-hosted</a:t>
            </a:r>
          </a:p>
        </p:txBody>
      </p:sp>
      <p:cxnSp>
        <p:nvCxnSpPr>
          <p:cNvPr id="18" name="Connector 17"/>
          <p:cNvCxnSpPr/>
          <p:nvPr/>
        </p:nvCxnSpPr>
        <p:spPr>
          <a:xfrm>
            <a:off x="4160520.0" y="2834640.0"/>
            <a:ext cx="1325880.0" cy="708660.0"/>
          </a:xfrm>
          <a:prstGeom prst="line">
            <a:avLst/>
          </a:prstGeom>
          <a:ln w="17780">
            <a:solidFill>
              <a:srgbClr val="6B7785"/>
            </a:solidFill>
            <a:tailEnd type="triangle" w="med" h="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001000" y="2103120"/>
            <a:ext cx="2377440" cy="731520"/>
          </a:xfrm>
          <a:prstGeom prst="roundRect">
            <a:avLst>
              <a:gd name="adj" fmla="val 10000"/>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36576" bIns="36576" wrap="square"/>
          <a:lstStyle/>
          <a:p>
            <a:pPr algn="ctr"/>
            <a:r>
              <a:rPr sz="1400" b="1">
                <a:solidFill>
                  <a:srgbClr val="FFFFFF"/>
                </a:solidFill>
                <a:latin typeface="Calibri"/>
              </a:rPr>
              <a:t>nucleus_memory.db</a:t>
            </a:r>
          </a:p>
          <a:p>
            <a:pPr algn="ctr">
              <a:spcBef>
                <a:spcPts val="200"/>
              </a:spcBef>
            </a:pPr>
            <a:r>
              <a:rPr sz="1000" b="0">
                <a:solidFill>
                  <a:srgbClr val="FFFFFF"/>
                </a:solidFill>
                <a:latin typeface="Calibri"/>
              </a:rPr>
              <a:t>SQLite + FTS5, in git</a:t>
            </a:r>
          </a:p>
        </p:txBody>
      </p:sp>
      <p:cxnSp>
        <p:nvCxnSpPr>
          <p:cNvPr id="20" name="Connector 19"/>
          <p:cNvCxnSpPr/>
          <p:nvPr/>
        </p:nvCxnSpPr>
        <p:spPr>
          <a:xfrm flipH="1">
            <a:off x="6675120.0" y="2834640.0"/>
            <a:ext cx="1325880.0" cy="708660.0"/>
          </a:xfrm>
          <a:prstGeom prst="line">
            <a:avLst/>
          </a:prstGeom>
          <a:ln w="17780">
            <a:solidFill>
              <a:srgbClr val="6B7785"/>
            </a:solidFill>
            <a:tailEnd type="triangle" w="med" h="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48640" y="6126480"/>
            <a:ext cx="10972800" cy="365760"/>
          </a:xfrm>
          <a:prstGeom prst="rect">
            <a:avLst/>
          </a:prstGeom>
          <a:noFill/>
        </p:spPr>
        <p:txBody>
          <a:bodyPr wrap="none">
            <a:spAutoFit/>
          </a:bodyPr>
          <a:lstStyle/>
          <a:p>
            <a:pPr algn="ctr"/>
            <a:r>
              <a:rPr sz="1200" b="0">
                <a:solidFill>
                  <a:srgbClr val="6B7785"/>
                </a:solidFill>
                <a:latin typeface="Calibri"/>
              </a:rPr>
              <a:t>Every arrow is a contract. agent.py composes them; nothing else does.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565392"/>
            <a:ext cx="11277295" cy="9000"/>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601968"/>
            <a:ext cx="7315200" cy="228600"/>
          </a:xfrm>
          <a:prstGeom prst="rect">
            <a:avLst/>
          </a:prstGeom>
          <a:noFill/>
        </p:spPr>
        <p:txBody>
          <a:bodyPr wrap="none">
            <a:spAutoFit/>
          </a:bodyPr>
          <a:lstStyle/>
          <a:p>
            <a:pPr algn="l"/>
            <a:r>
              <a:rPr sz="900" b="0">
                <a:solidFill>
                  <a:srgbClr val="6B7785"/>
                </a:solidFill>
                <a:latin typeface="Calibri"/>
              </a:rPr>
              <a:t>NAPCO Nucleus  |  Mohammad Kamrul Hasan  |  Adaptive Enterprise Limited</a:t>
            </a:r>
          </a:p>
        </p:txBody>
      </p:sp>
      <p:sp>
        <p:nvSpPr>
          <p:cNvPr id="5" name="TextBox 4"/>
          <p:cNvSpPr txBox="1"/>
          <p:nvPr/>
        </p:nvSpPr>
        <p:spPr>
          <a:xfrm>
            <a:off x="10515600" y="6601968"/>
            <a:ext cx="1280160" cy="228600"/>
          </a:xfrm>
          <a:prstGeom prst="rect">
            <a:avLst/>
          </a:prstGeom>
          <a:noFill/>
        </p:spPr>
        <p:txBody>
          <a:bodyPr wrap="none">
            <a:spAutoFit/>
          </a:bodyPr>
          <a:lstStyle/>
          <a:p>
            <a:pPr algn="r"/>
            <a:r>
              <a:rPr sz="900" b="0">
                <a:solidFill>
                  <a:srgbClr val="6B7785"/>
                </a:solidFill>
                <a:latin typeface="Calibri"/>
              </a:rPr>
              <a:t>10 / 31</a:t>
            </a:r>
          </a:p>
        </p:txBody>
      </p:sp>
      <p:sp>
        <p:nvSpPr>
          <p:cNvPr id="6" name="TextBox 5"/>
          <p:cNvSpPr txBox="1"/>
          <p:nvPr/>
        </p:nvSpPr>
        <p:spPr>
          <a:xfrm>
            <a:off x="457200" y="274320"/>
            <a:ext cx="11277295" cy="640080"/>
          </a:xfrm>
          <a:prstGeom prst="rect">
            <a:avLst/>
          </a:prstGeom>
          <a:noFill/>
        </p:spPr>
        <p:txBody>
          <a:bodyPr wrap="none">
            <a:spAutoFit/>
          </a:bodyPr>
          <a:lstStyle/>
          <a:p>
            <a:pPr algn="l"/>
            <a:r>
              <a:rPr sz="2800" b="1">
                <a:solidFill>
                  <a:srgbClr val="1F4E79"/>
                </a:solidFill>
                <a:latin typeface="Calibri"/>
              </a:rPr>
              <a:t>02 · The Single-Agent Model</a:t>
            </a:r>
          </a:p>
        </p:txBody>
      </p:sp>
      <p:sp>
        <p:nvSpPr>
          <p:cNvPr id="7" name="TextBox 6"/>
          <p:cNvSpPr txBox="1"/>
          <p:nvPr/>
        </p:nvSpPr>
        <p:spPr>
          <a:xfrm>
            <a:off x="457200" y="868680"/>
            <a:ext cx="11277295" cy="365760"/>
          </a:xfrm>
          <a:prstGeom prst="rect">
            <a:avLst/>
          </a:prstGeom>
          <a:noFill/>
        </p:spPr>
        <p:txBody>
          <a:bodyPr wrap="none">
            <a:spAutoFit/>
          </a:bodyPr>
          <a:lstStyle/>
          <a:p>
            <a:pPr algn="l"/>
            <a:r>
              <a:rPr sz="1400" b="0">
                <a:solidFill>
                  <a:srgbClr val="6B7785"/>
                </a:solidFill>
                <a:latin typeface="Calibri"/>
              </a:rPr>
              <a:t>One agent.py, many prompts — not a multi-agent graph</a:t>
            </a:r>
          </a:p>
        </p:txBody>
      </p:sp>
      <p:sp>
        <p:nvSpPr>
          <p:cNvPr id="8" name="Rectangle 7"/>
          <p:cNvSpPr/>
          <p:nvPr/>
        </p:nvSpPr>
        <p:spPr>
          <a:xfrm>
            <a:off x="548640" y="1554480"/>
            <a:ext cx="11091672" cy="329184"/>
          </a:xfrm>
          <a:prstGeom prst="rect">
            <a:avLst/>
          </a:prstGeom>
          <a:solidFill>
            <a:srgbClr val="6A4C93"/>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200" b="1">
                <a:solidFill>
                  <a:srgbClr val="FFFFFF"/>
                </a:solidFill>
                <a:latin typeface="Calibri"/>
              </a:rPr>
              <a:t>WHY NOT A MULTI-AGENT FRAMEWORK?</a:t>
            </a:r>
          </a:p>
        </p:txBody>
      </p:sp>
      <p:sp>
        <p:nvSpPr>
          <p:cNvPr id="9" name="Rectangle 8"/>
          <p:cNvSpPr/>
          <p:nvPr/>
        </p:nvSpPr>
        <p:spPr>
          <a:xfrm>
            <a:off x="548640" y="1883664"/>
            <a:ext cx="11091672" cy="1499616"/>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rIns="164592" tIns="109728" bIns="109728" wrap="square"/>
          <a:lstStyle/>
          <a:p>
            <a:pPr algn="l"/>
            <a:r>
              <a:rPr sz="1300" b="1">
                <a:solidFill>
                  <a:srgbClr val="1F4E79"/>
                </a:solidFill>
                <a:latin typeface="Calibri"/>
              </a:rPr>
              <a:t>• </a:t>
            </a:r>
            <a:r>
              <a:rPr sz="1300" b="1">
                <a:solidFill>
                  <a:srgbClr val="1F4E79"/>
                </a:solidFill>
                <a:latin typeface="Calibri"/>
              </a:rPr>
              <a:t>Industry default — </a:t>
            </a:r>
            <a:r>
              <a:rPr sz="1300">
                <a:solidFill>
                  <a:srgbClr val="222222"/>
                </a:solidFill>
                <a:latin typeface="Calibri"/>
              </a:rPr>
              <a:t>LangGraph / CrewAI / AutoGen with planner + worker + critic agents communicating over a graph</a:t>
            </a:r>
          </a:p>
          <a:p>
            <a:pPr algn="l">
              <a:spcBef>
                <a:spcPts val="600"/>
              </a:spcBef>
            </a:pPr>
            <a:r>
              <a:rPr sz="1300" b="1">
                <a:solidFill>
                  <a:srgbClr val="1F4E79"/>
                </a:solidFill>
                <a:latin typeface="Calibri"/>
              </a:rPr>
              <a:t>• </a:t>
            </a:r>
            <a:r>
              <a:rPr sz="1300" b="1">
                <a:solidFill>
                  <a:srgbClr val="1F4E79"/>
                </a:solidFill>
                <a:latin typeface="Calibri"/>
              </a:rPr>
              <a:t>NN's choice — </a:t>
            </a:r>
            <a:r>
              <a:rPr sz="1300">
                <a:solidFill>
                  <a:srgbClr val="222222"/>
                </a:solidFill>
                <a:latin typeface="Calibri"/>
              </a:rPr>
              <a:t>ONE agent.py. Different markdown prompt per workflow. State persists via SQLite, not via inter-agent message passing</a:t>
            </a:r>
          </a:p>
          <a:p>
            <a:pPr algn="l">
              <a:spcBef>
                <a:spcPts val="600"/>
              </a:spcBef>
            </a:pPr>
            <a:r>
              <a:rPr sz="1300" b="1">
                <a:solidFill>
                  <a:srgbClr val="1F4E79"/>
                </a:solidFill>
                <a:latin typeface="Calibri"/>
              </a:rPr>
              <a:t>• </a:t>
            </a:r>
            <a:r>
              <a:rPr sz="1300" b="1">
                <a:solidFill>
                  <a:srgbClr val="1F4E79"/>
                </a:solidFill>
                <a:latin typeface="Calibri"/>
              </a:rPr>
              <a:t>Why — </a:t>
            </a:r>
            <a:r>
              <a:rPr sz="1300">
                <a:solidFill>
                  <a:srgbClr val="222222"/>
                </a:solidFill>
                <a:latin typeface="Calibri"/>
              </a:rPr>
              <a:t>We don't need the orchestration overhead. Claude is good enough to drive a single workflow end-to-end if the prompt is precise</a:t>
            </a:r>
          </a:p>
        </p:txBody>
      </p:sp>
      <p:sp>
        <p:nvSpPr>
          <p:cNvPr id="10" name="Rectangle 9"/>
          <p:cNvSpPr/>
          <p:nvPr/>
        </p:nvSpPr>
        <p:spPr>
          <a:xfrm>
            <a:off x="548640" y="3520440"/>
            <a:ext cx="5532120" cy="329184"/>
          </a:xfrm>
          <a:prstGeom prst="rect">
            <a:avLst/>
          </a:prstGeom>
          <a:solidFill>
            <a:srgbClr val="4A7A4A"/>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200" b="1">
                <a:solidFill>
                  <a:srgbClr val="FFFFFF"/>
                </a:solidFill>
                <a:latin typeface="Calibri"/>
              </a:rPr>
              <a:t>WHAT WE GAIN</a:t>
            </a:r>
          </a:p>
        </p:txBody>
      </p:sp>
      <p:sp>
        <p:nvSpPr>
          <p:cNvPr id="11" name="Rectangle 10"/>
          <p:cNvSpPr/>
          <p:nvPr/>
        </p:nvSpPr>
        <p:spPr>
          <a:xfrm>
            <a:off x="548640" y="3849624"/>
            <a:ext cx="5532120" cy="2414016"/>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rIns="164592" tIns="109728" bIns="109728" wrap="square"/>
          <a:lstStyle/>
          <a:p>
            <a:pPr algn="l"/>
            <a:r>
              <a:rPr sz="1300" b="1">
                <a:solidFill>
                  <a:srgbClr val="1F4E79"/>
                </a:solidFill>
                <a:latin typeface="Calibri"/>
              </a:rPr>
              <a:t>• </a:t>
            </a:r>
            <a:r>
              <a:rPr sz="1300" b="1">
                <a:solidFill>
                  <a:srgbClr val="1F4E79"/>
                </a:solidFill>
                <a:latin typeface="Calibri"/>
              </a:rPr>
              <a:t>Clean state </a:t>
            </a:r>
            <a:r>
              <a:rPr sz="1300">
                <a:solidFill>
                  <a:srgbClr val="222222"/>
                </a:solidFill>
                <a:latin typeface="Calibri"/>
              </a:rPr>
              <a:t>between workflows — no leaked context</a:t>
            </a:r>
          </a:p>
          <a:p>
            <a:pPr algn="l">
              <a:spcBef>
                <a:spcPts val="600"/>
              </a:spcBef>
            </a:pPr>
            <a:r>
              <a:rPr sz="1300" b="1">
                <a:solidFill>
                  <a:srgbClr val="1F4E79"/>
                </a:solidFill>
                <a:latin typeface="Calibri"/>
              </a:rPr>
              <a:t>• </a:t>
            </a:r>
            <a:r>
              <a:rPr sz="1300" b="1">
                <a:solidFill>
                  <a:srgbClr val="1F4E79"/>
                </a:solidFill>
                <a:latin typeface="Calibri"/>
              </a:rPr>
              <a:t>One ground truth </a:t>
            </a:r>
            <a:r>
              <a:rPr sz="1300">
                <a:solidFill>
                  <a:srgbClr val="222222"/>
                </a:solidFill>
                <a:latin typeface="Calibri"/>
              </a:rPr>
              <a:t>per workflow — read the prompt, know the loop</a:t>
            </a:r>
          </a:p>
          <a:p>
            <a:pPr algn="l">
              <a:spcBef>
                <a:spcPts val="600"/>
              </a:spcBef>
            </a:pPr>
            <a:r>
              <a:rPr sz="1300" b="1">
                <a:solidFill>
                  <a:srgbClr val="1F4E79"/>
                </a:solidFill>
                <a:latin typeface="Calibri"/>
              </a:rPr>
              <a:t>• </a:t>
            </a:r>
            <a:r>
              <a:rPr sz="1300" b="1">
                <a:solidFill>
                  <a:srgbClr val="1F4E79"/>
                </a:solidFill>
                <a:latin typeface="Calibri"/>
              </a:rPr>
              <a:t>Crash-safe </a:t>
            </a:r>
            <a:r>
              <a:rPr sz="1300">
                <a:solidFill>
                  <a:srgbClr val="222222"/>
                </a:solidFill>
                <a:latin typeface="Calibri"/>
              </a:rPr>
              <a:t>— process death leaves SQLite consistent</a:t>
            </a:r>
          </a:p>
          <a:p>
            <a:pPr algn="l">
              <a:spcBef>
                <a:spcPts val="600"/>
              </a:spcBef>
            </a:pPr>
            <a:r>
              <a:rPr sz="1300" b="1">
                <a:solidFill>
                  <a:srgbClr val="1F4E79"/>
                </a:solidFill>
                <a:latin typeface="Calibri"/>
              </a:rPr>
              <a:t>• </a:t>
            </a:r>
            <a:r>
              <a:rPr sz="1300" b="1">
                <a:solidFill>
                  <a:srgbClr val="1F4E79"/>
                </a:solidFill>
                <a:latin typeface="Calibri"/>
              </a:rPr>
              <a:t>Cost-bounded </a:t>
            </a:r>
            <a:r>
              <a:rPr sz="1300">
                <a:solidFill>
                  <a:srgbClr val="222222"/>
                </a:solidFill>
                <a:latin typeface="Calibri"/>
              </a:rPr>
              <a:t>— SDK session closes when the prompt loop ends</a:t>
            </a:r>
          </a:p>
          <a:p>
            <a:pPr algn="l">
              <a:spcBef>
                <a:spcPts val="600"/>
              </a:spcBef>
            </a:pPr>
            <a:r>
              <a:rPr sz="1300" b="1">
                <a:solidFill>
                  <a:srgbClr val="1F4E79"/>
                </a:solidFill>
                <a:latin typeface="Calibri"/>
              </a:rPr>
              <a:t>• </a:t>
            </a:r>
            <a:r>
              <a:rPr sz="1300" b="1">
                <a:solidFill>
                  <a:srgbClr val="1F4E79"/>
                </a:solidFill>
                <a:latin typeface="Calibri"/>
              </a:rPr>
              <a:t>Easy to reason about </a:t>
            </a:r>
            <a:r>
              <a:rPr sz="1300">
                <a:solidFill>
                  <a:srgbClr val="222222"/>
                </a:solidFill>
                <a:latin typeface="Calibri"/>
              </a:rPr>
              <a:t>— each run is a function call</a:t>
            </a:r>
          </a:p>
        </p:txBody>
      </p:sp>
      <p:sp>
        <p:nvSpPr>
          <p:cNvPr id="12" name="Rectangle 11"/>
          <p:cNvSpPr/>
          <p:nvPr/>
        </p:nvSpPr>
        <p:spPr>
          <a:xfrm>
            <a:off x="6263640" y="3520440"/>
            <a:ext cx="5532120" cy="329184"/>
          </a:xfrm>
          <a:prstGeom prst="rect">
            <a:avLst/>
          </a:prstGeom>
          <a:solidFill>
            <a:srgbClr val="E07856"/>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200" b="1">
                <a:solidFill>
                  <a:srgbClr val="FFFFFF"/>
                </a:solidFill>
                <a:latin typeface="Calibri"/>
              </a:rPr>
              <a:t>WHAT WE GIVE UP</a:t>
            </a:r>
          </a:p>
        </p:txBody>
      </p:sp>
      <p:sp>
        <p:nvSpPr>
          <p:cNvPr id="13" name="Rectangle 12"/>
          <p:cNvSpPr/>
          <p:nvPr/>
        </p:nvSpPr>
        <p:spPr>
          <a:xfrm>
            <a:off x="6263640" y="3849624"/>
            <a:ext cx="5532120" cy="2414016"/>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rIns="164592" tIns="109728" bIns="109728" wrap="square"/>
          <a:lstStyle/>
          <a:p>
            <a:pPr algn="l"/>
            <a:r>
              <a:rPr sz="1300" b="1">
                <a:solidFill>
                  <a:srgbClr val="1F4E79"/>
                </a:solidFill>
                <a:latin typeface="Calibri"/>
              </a:rPr>
              <a:t>• </a:t>
            </a:r>
            <a:r>
              <a:rPr sz="1300" b="1">
                <a:solidFill>
                  <a:srgbClr val="1F4E79"/>
                </a:solidFill>
                <a:latin typeface="Calibri"/>
              </a:rPr>
              <a:t>No inter-agent debate </a:t>
            </a:r>
            <a:r>
              <a:rPr sz="1300">
                <a:solidFill>
                  <a:srgbClr val="222222"/>
                </a:solidFill>
                <a:latin typeface="Calibri"/>
              </a:rPr>
              <a:t>— Claude reasons solo, no critic loop</a:t>
            </a:r>
          </a:p>
          <a:p>
            <a:pPr algn="l">
              <a:spcBef>
                <a:spcPts val="600"/>
              </a:spcBef>
            </a:pPr>
            <a:r>
              <a:rPr sz="1300" b="1">
                <a:solidFill>
                  <a:srgbClr val="1F4E79"/>
                </a:solidFill>
                <a:latin typeface="Calibri"/>
              </a:rPr>
              <a:t>• </a:t>
            </a:r>
            <a:r>
              <a:rPr sz="1300" b="1">
                <a:solidFill>
                  <a:srgbClr val="1F4E79"/>
                </a:solidFill>
                <a:latin typeface="Calibri"/>
              </a:rPr>
              <a:t>No long-running planner </a:t>
            </a:r>
            <a:r>
              <a:rPr sz="1300">
                <a:solidFill>
                  <a:srgbClr val="222222"/>
                </a:solidFill>
                <a:latin typeface="Calibri"/>
              </a:rPr>
              <a:t>— each turn is independent</a:t>
            </a:r>
          </a:p>
          <a:p>
            <a:pPr algn="l">
              <a:spcBef>
                <a:spcPts val="600"/>
              </a:spcBef>
            </a:pPr>
            <a:r>
              <a:rPr sz="1300" b="1">
                <a:solidFill>
                  <a:srgbClr val="1F4E79"/>
                </a:solidFill>
                <a:latin typeface="Calibri"/>
              </a:rPr>
              <a:t>• </a:t>
            </a:r>
            <a:r>
              <a:rPr sz="1300" b="1">
                <a:solidFill>
                  <a:srgbClr val="1F4E79"/>
                </a:solidFill>
                <a:latin typeface="Calibri"/>
              </a:rPr>
              <a:t>Single point of orchestration </a:t>
            </a:r>
            <a:r>
              <a:rPr sz="1300">
                <a:solidFill>
                  <a:srgbClr val="222222"/>
                </a:solidFill>
                <a:latin typeface="Calibri"/>
              </a:rPr>
              <a:t>— if agent.py errors out, the whole run dies</a:t>
            </a:r>
          </a:p>
          <a:p>
            <a:pPr algn="l">
              <a:spcBef>
                <a:spcPts val="600"/>
              </a:spcBef>
            </a:pPr>
            <a:r>
              <a:rPr sz="1300" b="1">
                <a:solidFill>
                  <a:srgbClr val="1F4E79"/>
                </a:solidFill>
                <a:latin typeface="Calibri"/>
              </a:rPr>
              <a:t>• </a:t>
            </a:r>
            <a:r>
              <a:rPr sz="1300" b="1">
                <a:solidFill>
                  <a:srgbClr val="1F4E79"/>
                </a:solidFill>
                <a:latin typeface="Calibri"/>
              </a:rPr>
              <a:t>Honest tradeoff — </a:t>
            </a:r>
            <a:r>
              <a:rPr sz="1300">
                <a:solidFill>
                  <a:srgbClr val="222222"/>
                </a:solidFill>
                <a:latin typeface="Calibri"/>
              </a:rPr>
              <a:t>we accept these in exchange for simplicity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565392"/>
            <a:ext cx="11277295" cy="9000"/>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601968"/>
            <a:ext cx="7315200" cy="228600"/>
          </a:xfrm>
          <a:prstGeom prst="rect">
            <a:avLst/>
          </a:prstGeom>
          <a:noFill/>
        </p:spPr>
        <p:txBody>
          <a:bodyPr wrap="none">
            <a:spAutoFit/>
          </a:bodyPr>
          <a:lstStyle/>
          <a:p>
            <a:pPr algn="l"/>
            <a:r>
              <a:rPr sz="900" b="0">
                <a:solidFill>
                  <a:srgbClr val="6B7785"/>
                </a:solidFill>
                <a:latin typeface="Calibri"/>
              </a:rPr>
              <a:t>NAPCO Nucleus  |  Mohammad Kamrul Hasan  |  Adaptive Enterprise Limited</a:t>
            </a:r>
          </a:p>
        </p:txBody>
      </p:sp>
      <p:sp>
        <p:nvSpPr>
          <p:cNvPr id="5" name="TextBox 4"/>
          <p:cNvSpPr txBox="1"/>
          <p:nvPr/>
        </p:nvSpPr>
        <p:spPr>
          <a:xfrm>
            <a:off x="10515600" y="6601968"/>
            <a:ext cx="1280160" cy="228600"/>
          </a:xfrm>
          <a:prstGeom prst="rect">
            <a:avLst/>
          </a:prstGeom>
          <a:noFill/>
        </p:spPr>
        <p:txBody>
          <a:bodyPr wrap="none">
            <a:spAutoFit/>
          </a:bodyPr>
          <a:lstStyle/>
          <a:p>
            <a:pPr algn="r"/>
            <a:r>
              <a:rPr sz="900" b="0">
                <a:solidFill>
                  <a:srgbClr val="6B7785"/>
                </a:solidFill>
                <a:latin typeface="Calibri"/>
              </a:rPr>
              <a:t>11 / 31</a:t>
            </a:r>
          </a:p>
        </p:txBody>
      </p:sp>
      <p:sp>
        <p:nvSpPr>
          <p:cNvPr id="6" name="TextBox 5"/>
          <p:cNvSpPr txBox="1"/>
          <p:nvPr/>
        </p:nvSpPr>
        <p:spPr>
          <a:xfrm>
            <a:off x="457200" y="274320"/>
            <a:ext cx="11277295" cy="640080"/>
          </a:xfrm>
          <a:prstGeom prst="rect">
            <a:avLst/>
          </a:prstGeom>
          <a:noFill/>
        </p:spPr>
        <p:txBody>
          <a:bodyPr wrap="none">
            <a:spAutoFit/>
          </a:bodyPr>
          <a:lstStyle/>
          <a:p>
            <a:pPr algn="l"/>
            <a:r>
              <a:rPr sz="2800" b="1">
                <a:solidFill>
                  <a:srgbClr val="1F4E79"/>
                </a:solidFill>
                <a:latin typeface="Calibri"/>
              </a:rPr>
              <a:t>02 · Universal Execution Lifecycle</a:t>
            </a:r>
          </a:p>
        </p:txBody>
      </p:sp>
      <p:sp>
        <p:nvSpPr>
          <p:cNvPr id="7" name="TextBox 6"/>
          <p:cNvSpPr txBox="1"/>
          <p:nvPr/>
        </p:nvSpPr>
        <p:spPr>
          <a:xfrm>
            <a:off x="457200" y="868680"/>
            <a:ext cx="11277295" cy="365760"/>
          </a:xfrm>
          <a:prstGeom prst="rect">
            <a:avLst/>
          </a:prstGeom>
          <a:noFill/>
        </p:spPr>
        <p:txBody>
          <a:bodyPr wrap="none">
            <a:spAutoFit/>
          </a:bodyPr>
          <a:lstStyle/>
          <a:p>
            <a:pPr algn="l"/>
            <a:r>
              <a:rPr sz="1400" b="0">
                <a:solidFill>
                  <a:srgbClr val="6B7785"/>
                </a:solidFill>
                <a:latin typeface="Calibri"/>
              </a:rPr>
              <a:t>Every workflow follows this exact shape</a:t>
            </a:r>
          </a:p>
        </p:txBody>
      </p:sp>
      <p:sp>
        <p:nvSpPr>
          <p:cNvPr id="8" name="Rectangle 7"/>
          <p:cNvSpPr/>
          <p:nvPr/>
        </p:nvSpPr>
        <p:spPr>
          <a:xfrm>
            <a:off x="548640" y="1828800"/>
            <a:ext cx="1306449" cy="3657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Calibri"/>
              </a:rPr>
              <a:t>STEP 1</a:t>
            </a:r>
          </a:p>
        </p:txBody>
      </p:sp>
      <p:sp>
        <p:nvSpPr>
          <p:cNvPr id="9" name="Rectangle 8"/>
          <p:cNvSpPr/>
          <p:nvPr/>
        </p:nvSpPr>
        <p:spPr>
          <a:xfrm>
            <a:off x="548640" y="2194560"/>
            <a:ext cx="1306449" cy="1097280"/>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tIns="91440" wrap="square"/>
          <a:lstStyle/>
          <a:p>
            <a:pPr algn="ctr"/>
            <a:r>
              <a:rPr sz="1400" b="1">
                <a:solidFill>
                  <a:srgbClr val="1F4E79"/>
                </a:solidFill>
                <a:latin typeface="Calibri"/>
              </a:rPr>
              <a:t>Trigger</a:t>
            </a:r>
          </a:p>
          <a:p>
            <a:pPr algn="ctr">
              <a:spcBef>
                <a:spcPts val="200"/>
              </a:spcBef>
            </a:pPr>
            <a:r>
              <a:rPr sz="1000" b="0">
                <a:solidFill>
                  <a:srgbClr val="6B7785"/>
                </a:solidFill>
                <a:latin typeface="Calibri"/>
              </a:rPr>
              <a:t>cron / dispatch</a:t>
            </a:r>
          </a:p>
        </p:txBody>
      </p:sp>
      <p:sp>
        <p:nvSpPr>
          <p:cNvPr id="10" name="Rectangle 9"/>
          <p:cNvSpPr/>
          <p:nvPr/>
        </p:nvSpPr>
        <p:spPr>
          <a:xfrm>
            <a:off x="1946529" y="1828800"/>
            <a:ext cx="1306449" cy="365760"/>
          </a:xfrm>
          <a:prstGeom prst="rect">
            <a:avLst/>
          </a:prstGeom>
          <a:solidFill>
            <a:srgbClr val="2E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Calibri"/>
              </a:rPr>
              <a:t>STEP 2</a:t>
            </a:r>
          </a:p>
        </p:txBody>
      </p:sp>
      <p:sp>
        <p:nvSpPr>
          <p:cNvPr id="11" name="Rectangle 10"/>
          <p:cNvSpPr/>
          <p:nvPr/>
        </p:nvSpPr>
        <p:spPr>
          <a:xfrm>
            <a:off x="1946529" y="2194560"/>
            <a:ext cx="1306449" cy="1097280"/>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tIns="91440" wrap="square"/>
          <a:lstStyle/>
          <a:p>
            <a:pPr algn="ctr"/>
            <a:r>
              <a:rPr sz="1400" b="1">
                <a:solidFill>
                  <a:srgbClr val="1F4E79"/>
                </a:solidFill>
                <a:latin typeface="Calibri"/>
              </a:rPr>
              <a:t>Checkout</a:t>
            </a:r>
          </a:p>
          <a:p>
            <a:pPr algn="ctr">
              <a:spcBef>
                <a:spcPts val="200"/>
              </a:spcBef>
            </a:pPr>
            <a:r>
              <a:rPr sz="1000" b="0">
                <a:solidFill>
                  <a:srgbClr val="6B7785"/>
                </a:solidFill>
                <a:latin typeface="Calibri"/>
              </a:rPr>
              <a:t>actions/checkout</a:t>
            </a:r>
          </a:p>
        </p:txBody>
      </p:sp>
      <p:sp>
        <p:nvSpPr>
          <p:cNvPr id="12" name="Rectangle 11"/>
          <p:cNvSpPr/>
          <p:nvPr/>
        </p:nvSpPr>
        <p:spPr>
          <a:xfrm>
            <a:off x="3344418" y="1828800"/>
            <a:ext cx="1306449" cy="365760"/>
          </a:xfrm>
          <a:prstGeom prst="rect">
            <a:avLst/>
          </a:prstGeom>
          <a:solidFill>
            <a:srgbClr val="E078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Calibri"/>
              </a:rPr>
              <a:t>STEP 3</a:t>
            </a:r>
          </a:p>
        </p:txBody>
      </p:sp>
      <p:sp>
        <p:nvSpPr>
          <p:cNvPr id="13" name="Rectangle 12"/>
          <p:cNvSpPr/>
          <p:nvPr/>
        </p:nvSpPr>
        <p:spPr>
          <a:xfrm>
            <a:off x="3344418" y="2194560"/>
            <a:ext cx="1306449" cy="1097280"/>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tIns="91440" wrap="square"/>
          <a:lstStyle/>
          <a:p>
            <a:pPr algn="ctr"/>
            <a:r>
              <a:rPr sz="1400" b="1">
                <a:solidFill>
                  <a:srgbClr val="1F4E79"/>
                </a:solidFill>
                <a:latin typeface="Calibri"/>
              </a:rPr>
              <a:t>Install</a:t>
            </a:r>
          </a:p>
          <a:p>
            <a:pPr algn="ctr">
              <a:spcBef>
                <a:spcPts val="200"/>
              </a:spcBef>
            </a:pPr>
            <a:r>
              <a:rPr sz="1000" b="0">
                <a:solidFill>
                  <a:srgbClr val="6B7785"/>
                </a:solidFill>
                <a:latin typeface="Calibri"/>
              </a:rPr>
              <a:t>pip install</a:t>
            </a:r>
          </a:p>
        </p:txBody>
      </p:sp>
      <p:sp>
        <p:nvSpPr>
          <p:cNvPr id="14" name="Rectangle 13"/>
          <p:cNvSpPr/>
          <p:nvPr/>
        </p:nvSpPr>
        <p:spPr>
          <a:xfrm>
            <a:off x="4742307" y="1828800"/>
            <a:ext cx="1306449" cy="365760"/>
          </a:xfrm>
          <a:prstGeom prst="rect">
            <a:avLst/>
          </a:prstGeom>
          <a:solidFill>
            <a:srgbClr val="4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Calibri"/>
              </a:rPr>
              <a:t>STEP 4</a:t>
            </a:r>
          </a:p>
        </p:txBody>
      </p:sp>
      <p:sp>
        <p:nvSpPr>
          <p:cNvPr id="15" name="Rectangle 14"/>
          <p:cNvSpPr/>
          <p:nvPr/>
        </p:nvSpPr>
        <p:spPr>
          <a:xfrm>
            <a:off x="4742307" y="2194560"/>
            <a:ext cx="1306449" cy="1097280"/>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tIns="91440" wrap="square"/>
          <a:lstStyle/>
          <a:p>
            <a:pPr algn="ctr"/>
            <a:r>
              <a:rPr sz="1400" b="1">
                <a:solidFill>
                  <a:srgbClr val="1F4E79"/>
                </a:solidFill>
                <a:latin typeface="Calibri"/>
              </a:rPr>
              <a:t>Boot</a:t>
            </a:r>
          </a:p>
          <a:p>
            <a:pPr algn="ctr">
              <a:spcBef>
                <a:spcPts val="200"/>
              </a:spcBef>
            </a:pPr>
            <a:r>
              <a:rPr sz="1000" b="0">
                <a:solidFill>
                  <a:srgbClr val="6B7785"/>
                </a:solidFill>
                <a:latin typeface="Calibri"/>
              </a:rPr>
              <a:t>py agent.py</a:t>
            </a:r>
          </a:p>
        </p:txBody>
      </p:sp>
      <p:sp>
        <p:nvSpPr>
          <p:cNvPr id="16" name="Rectangle 15"/>
          <p:cNvSpPr/>
          <p:nvPr/>
        </p:nvSpPr>
        <p:spPr>
          <a:xfrm>
            <a:off x="6140196" y="1828800"/>
            <a:ext cx="1306449" cy="365760"/>
          </a:xfrm>
          <a:prstGeom prst="rect">
            <a:avLst/>
          </a:prstGeom>
          <a:solidFill>
            <a:srgbClr val="C99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Calibri"/>
              </a:rPr>
              <a:t>STEP 5</a:t>
            </a:r>
          </a:p>
        </p:txBody>
      </p:sp>
      <p:sp>
        <p:nvSpPr>
          <p:cNvPr id="17" name="Rectangle 16"/>
          <p:cNvSpPr/>
          <p:nvPr/>
        </p:nvSpPr>
        <p:spPr>
          <a:xfrm>
            <a:off x="6140196" y="2194560"/>
            <a:ext cx="1306449" cy="1097280"/>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tIns="91440" wrap="square"/>
          <a:lstStyle/>
          <a:p>
            <a:pPr algn="ctr"/>
            <a:r>
              <a:rPr sz="1400" b="1">
                <a:solidFill>
                  <a:srgbClr val="1F4E79"/>
                </a:solidFill>
                <a:latin typeface="Calibri"/>
              </a:rPr>
              <a:t>SDK open</a:t>
            </a:r>
          </a:p>
          <a:p>
            <a:pPr algn="ctr">
              <a:spcBef>
                <a:spcPts val="200"/>
              </a:spcBef>
            </a:pPr>
            <a:r>
              <a:rPr sz="1000" b="0">
                <a:solidFill>
                  <a:srgbClr val="6B7785"/>
                </a:solidFill>
                <a:latin typeface="Calibri"/>
              </a:rPr>
              <a:t>Claude session</a:t>
            </a:r>
          </a:p>
        </p:txBody>
      </p:sp>
      <p:sp>
        <p:nvSpPr>
          <p:cNvPr id="18" name="Rectangle 17"/>
          <p:cNvSpPr/>
          <p:nvPr/>
        </p:nvSpPr>
        <p:spPr>
          <a:xfrm>
            <a:off x="7538085" y="1828800"/>
            <a:ext cx="1306449" cy="365760"/>
          </a:xfrm>
          <a:prstGeom prst="rect">
            <a:avLst/>
          </a:prstGeom>
          <a:solidFill>
            <a:srgbClr val="6A4C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Calibri"/>
              </a:rPr>
              <a:t>STEP 6</a:t>
            </a:r>
          </a:p>
        </p:txBody>
      </p:sp>
      <p:sp>
        <p:nvSpPr>
          <p:cNvPr id="19" name="Rectangle 18"/>
          <p:cNvSpPr/>
          <p:nvPr/>
        </p:nvSpPr>
        <p:spPr>
          <a:xfrm>
            <a:off x="7538085" y="2194560"/>
            <a:ext cx="1306449" cy="1097280"/>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tIns="91440" wrap="square"/>
          <a:lstStyle/>
          <a:p>
            <a:pPr algn="ctr"/>
            <a:r>
              <a:rPr sz="1400" b="1">
                <a:solidFill>
                  <a:srgbClr val="1F4E79"/>
                </a:solidFill>
                <a:latin typeface="Calibri"/>
              </a:rPr>
              <a:t>Loop</a:t>
            </a:r>
          </a:p>
          <a:p>
            <a:pPr algn="ctr">
              <a:spcBef>
                <a:spcPts val="200"/>
              </a:spcBef>
            </a:pPr>
            <a:r>
              <a:rPr sz="1000" b="0">
                <a:solidFill>
                  <a:srgbClr val="6B7785"/>
                </a:solidFill>
                <a:latin typeface="Calibri"/>
              </a:rPr>
              <a:t>tool calls</a:t>
            </a:r>
          </a:p>
        </p:txBody>
      </p:sp>
      <p:sp>
        <p:nvSpPr>
          <p:cNvPr id="20" name="Rectangle 19"/>
          <p:cNvSpPr/>
          <p:nvPr/>
        </p:nvSpPr>
        <p:spPr>
          <a:xfrm>
            <a:off x="8935974" y="1828800"/>
            <a:ext cx="1306449" cy="3657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Calibri"/>
              </a:rPr>
              <a:t>STEP 7</a:t>
            </a:r>
          </a:p>
        </p:txBody>
      </p:sp>
      <p:sp>
        <p:nvSpPr>
          <p:cNvPr id="21" name="Rectangle 20"/>
          <p:cNvSpPr/>
          <p:nvPr/>
        </p:nvSpPr>
        <p:spPr>
          <a:xfrm>
            <a:off x="8935974" y="2194560"/>
            <a:ext cx="1306449" cy="1097280"/>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tIns="91440" wrap="square"/>
          <a:lstStyle/>
          <a:p>
            <a:pPr algn="ctr"/>
            <a:r>
              <a:rPr sz="1400" b="1">
                <a:solidFill>
                  <a:srgbClr val="1F4E79"/>
                </a:solidFill>
                <a:latin typeface="Calibri"/>
              </a:rPr>
              <a:t>Persist</a:t>
            </a:r>
          </a:p>
          <a:p>
            <a:pPr algn="ctr">
              <a:spcBef>
                <a:spcPts val="200"/>
              </a:spcBef>
            </a:pPr>
            <a:r>
              <a:rPr sz="1000" b="0">
                <a:solidFill>
                  <a:srgbClr val="6B7785"/>
                </a:solidFill>
                <a:latin typeface="Calibri"/>
              </a:rPr>
              <a:t>git commit</a:t>
            </a:r>
          </a:p>
        </p:txBody>
      </p:sp>
      <p:sp>
        <p:nvSpPr>
          <p:cNvPr id="22" name="Rectangle 21"/>
          <p:cNvSpPr/>
          <p:nvPr/>
        </p:nvSpPr>
        <p:spPr>
          <a:xfrm>
            <a:off x="10333863" y="1828800"/>
            <a:ext cx="1306449" cy="365760"/>
          </a:xfrm>
          <a:prstGeom prst="rect">
            <a:avLst/>
          </a:prstGeom>
          <a:solidFill>
            <a:srgbClr val="2E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Calibri"/>
              </a:rPr>
              <a:t>STEP 8</a:t>
            </a:r>
          </a:p>
        </p:txBody>
      </p:sp>
      <p:sp>
        <p:nvSpPr>
          <p:cNvPr id="23" name="Rectangle 22"/>
          <p:cNvSpPr/>
          <p:nvPr/>
        </p:nvSpPr>
        <p:spPr>
          <a:xfrm>
            <a:off x="10333863" y="2194560"/>
            <a:ext cx="1306449" cy="1097280"/>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tIns="91440" wrap="square"/>
          <a:lstStyle/>
          <a:p>
            <a:pPr algn="ctr"/>
            <a:r>
              <a:rPr sz="1400" b="1">
                <a:solidFill>
                  <a:srgbClr val="1F4E79"/>
                </a:solidFill>
                <a:latin typeface="Calibri"/>
              </a:rPr>
              <a:t>Push</a:t>
            </a:r>
          </a:p>
          <a:p>
            <a:pPr algn="ctr">
              <a:spcBef>
                <a:spcPts val="200"/>
              </a:spcBef>
            </a:pPr>
            <a:r>
              <a:rPr sz="1000" b="0">
                <a:solidFill>
                  <a:srgbClr val="6B7785"/>
                </a:solidFill>
                <a:latin typeface="Calibri"/>
              </a:rPr>
              <a:t>to main</a:t>
            </a:r>
          </a:p>
        </p:txBody>
      </p:sp>
      <p:sp>
        <p:nvSpPr>
          <p:cNvPr id="24" name="Rectangle 23"/>
          <p:cNvSpPr/>
          <p:nvPr/>
        </p:nvSpPr>
        <p:spPr>
          <a:xfrm>
            <a:off x="548640" y="3657600"/>
            <a:ext cx="11091672" cy="32918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200" b="1">
                <a:solidFill>
                  <a:srgbClr val="FFFFFF"/>
                </a:solidFill>
                <a:latin typeface="Calibri"/>
              </a:rPr>
              <a:t>WHAT EACH STEP DOES</a:t>
            </a:r>
          </a:p>
        </p:txBody>
      </p:sp>
      <p:sp>
        <p:nvSpPr>
          <p:cNvPr id="25" name="Rectangle 24"/>
          <p:cNvSpPr/>
          <p:nvPr/>
        </p:nvSpPr>
        <p:spPr>
          <a:xfrm>
            <a:off x="548640" y="3986784"/>
            <a:ext cx="11091672" cy="2322576"/>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rIns="164592" tIns="109728" bIns="109728" wrap="square"/>
          <a:lstStyle/>
          <a:p>
            <a:pPr algn="l"/>
            <a:r>
              <a:rPr sz="1100" b="1">
                <a:solidFill>
                  <a:srgbClr val="1F4E79"/>
                </a:solidFill>
                <a:latin typeface="Calibri"/>
              </a:rPr>
              <a:t>• </a:t>
            </a:r>
            <a:r>
              <a:rPr sz="1100" b="1">
                <a:solidFill>
                  <a:srgbClr val="1F4E79"/>
                </a:solidFill>
                <a:latin typeface="Calibri"/>
              </a:rPr>
              <a:t>1·Trigger fires — </a:t>
            </a:r>
            <a:r>
              <a:rPr sz="1100">
                <a:solidFill>
                  <a:srgbClr val="222222"/>
                </a:solidFill>
                <a:latin typeface="Calibri"/>
              </a:rPr>
              <a:t>GitHub Actions schedule (cron) or workflow_dispatch starts the job. Pinned to the self-hosted Windows runner.</a:t>
            </a:r>
          </a:p>
          <a:p>
            <a:pPr algn="l">
              <a:spcBef>
                <a:spcPts val="600"/>
              </a:spcBef>
            </a:pPr>
            <a:r>
              <a:rPr sz="1100" b="1">
                <a:solidFill>
                  <a:srgbClr val="1F4E79"/>
                </a:solidFill>
                <a:latin typeface="Calibri"/>
              </a:rPr>
              <a:t>• </a:t>
            </a:r>
            <a:r>
              <a:rPr sz="1100" b="1">
                <a:solidFill>
                  <a:srgbClr val="1F4E79"/>
                </a:solidFill>
                <a:latin typeface="Calibri"/>
              </a:rPr>
              <a:t>2·Repo checkout — </a:t>
            </a:r>
            <a:r>
              <a:rPr sz="1100">
                <a:solidFill>
                  <a:srgbClr val="222222"/>
                </a:solidFill>
                <a:latin typeface="Calibri"/>
              </a:rPr>
              <a:t>actions/checkout@v5 clones the repo. Includes nucleus_memory.db and data/ from prior runs — that's how memory crosses runs.</a:t>
            </a:r>
          </a:p>
          <a:p>
            <a:pPr algn="l">
              <a:spcBef>
                <a:spcPts val="600"/>
              </a:spcBef>
            </a:pPr>
            <a:r>
              <a:rPr sz="1100" b="1">
                <a:solidFill>
                  <a:srgbClr val="1F4E79"/>
                </a:solidFill>
                <a:latin typeface="Calibri"/>
              </a:rPr>
              <a:t>• </a:t>
            </a:r>
            <a:r>
              <a:rPr sz="1100" b="1">
                <a:solidFill>
                  <a:srgbClr val="1F4E79"/>
                </a:solidFill>
                <a:latin typeface="Calibri"/>
              </a:rPr>
              <a:t>3·Install deps — </a:t>
            </a:r>
            <a:r>
              <a:rPr sz="1100">
                <a:solidFill>
                  <a:srgbClr val="222222"/>
                </a:solidFill>
                <a:latin typeface="Calibri"/>
              </a:rPr>
              <a:t>pip install -r requirements.txt. Fast on warm runner.</a:t>
            </a:r>
          </a:p>
          <a:p>
            <a:pPr algn="l">
              <a:spcBef>
                <a:spcPts val="600"/>
              </a:spcBef>
            </a:pPr>
            <a:r>
              <a:rPr sz="1100" b="1">
                <a:solidFill>
                  <a:srgbClr val="1F4E79"/>
                </a:solidFill>
                <a:latin typeface="Calibri"/>
              </a:rPr>
              <a:t>• </a:t>
            </a:r>
            <a:r>
              <a:rPr sz="1100" b="1">
                <a:solidFill>
                  <a:srgbClr val="1F4E79"/>
                </a:solidFill>
                <a:latin typeface="Calibri"/>
              </a:rPr>
              <a:t>4·agent.py boots — </a:t>
            </a:r>
            <a:r>
              <a:rPr sz="1100">
                <a:solidFill>
                  <a:srgbClr val="222222"/>
                </a:solidFill>
                <a:latin typeface="Calibri"/>
              </a:rPr>
              <a:t>Loads .env with override=True. Forces UTF-8 stdout to survive Windows cp1252 console.</a:t>
            </a:r>
          </a:p>
          <a:p>
            <a:pPr algn="l">
              <a:spcBef>
                <a:spcPts val="600"/>
              </a:spcBef>
            </a:pPr>
            <a:r>
              <a:rPr sz="1100" b="1">
                <a:solidFill>
                  <a:srgbClr val="1F4E79"/>
                </a:solidFill>
                <a:latin typeface="Calibri"/>
              </a:rPr>
              <a:t>• </a:t>
            </a:r>
            <a:r>
              <a:rPr sz="1100" b="1">
                <a:solidFill>
                  <a:srgbClr val="1F4E79"/>
                </a:solidFill>
                <a:latin typeface="Calibri"/>
              </a:rPr>
              <a:t>5·SDK opens — </a:t>
            </a:r>
            <a:r>
              <a:rPr sz="1100">
                <a:solidFill>
                  <a:srgbClr val="222222"/>
                </a:solidFill>
                <a:latin typeface="Calibri"/>
              </a:rPr>
              <a:t>create_sdk_mcp_server registers all 31 tools. ClaudeSDKClient opens session against local Claude Code CLI (no API key).</a:t>
            </a:r>
          </a:p>
          <a:p>
            <a:pPr algn="l">
              <a:spcBef>
                <a:spcPts val="600"/>
              </a:spcBef>
            </a:pPr>
            <a:r>
              <a:rPr sz="1100" b="1">
                <a:solidFill>
                  <a:srgbClr val="1F4E79"/>
                </a:solidFill>
                <a:latin typeface="Calibri"/>
              </a:rPr>
              <a:t>• </a:t>
            </a:r>
            <a:r>
              <a:rPr sz="1100" b="1">
                <a:solidFill>
                  <a:srgbClr val="1F4E79"/>
                </a:solidFill>
                <a:latin typeface="Calibri"/>
              </a:rPr>
              <a:t>6·The loop runs — </a:t>
            </a:r>
            <a:r>
              <a:rPr sz="1100">
                <a:solidFill>
                  <a:srgbClr val="222222"/>
                </a:solidFill>
                <a:latin typeface="Calibri"/>
              </a:rPr>
              <a:t>client.query(kickoff). Claude reads the prompt, calls MCP tools, streams results. agent.py prints text blocks.</a:t>
            </a:r>
          </a:p>
          <a:p>
            <a:pPr algn="l">
              <a:spcBef>
                <a:spcPts val="600"/>
              </a:spcBef>
            </a:pPr>
            <a:r>
              <a:rPr sz="1100" b="1">
                <a:solidFill>
                  <a:srgbClr val="1F4E79"/>
                </a:solidFill>
                <a:latin typeface="Calibri"/>
              </a:rPr>
              <a:t>• </a:t>
            </a:r>
            <a:r>
              <a:rPr sz="1100" b="1">
                <a:solidFill>
                  <a:srgbClr val="1F4E79"/>
                </a:solidFill>
                <a:latin typeface="Calibri"/>
              </a:rPr>
              <a:t>7·State persists — </a:t>
            </a:r>
            <a:r>
              <a:rPr sz="1100">
                <a:solidFill>
                  <a:srgbClr val="222222"/>
                </a:solidFill>
                <a:latin typeface="Calibri"/>
              </a:rPr>
              <a:t>Tool calls wrote to SQLite during the run. Final step stages nucleus_memory.db + data/, commits, rebases.</a:t>
            </a:r>
          </a:p>
          <a:p>
            <a:pPr algn="l">
              <a:spcBef>
                <a:spcPts val="600"/>
              </a:spcBef>
            </a:pPr>
            <a:r>
              <a:rPr sz="1100" b="1">
                <a:solidFill>
                  <a:srgbClr val="1F4E79"/>
                </a:solidFill>
                <a:latin typeface="Calibri"/>
              </a:rPr>
              <a:t>• </a:t>
            </a:r>
            <a:r>
              <a:rPr sz="1100" b="1">
                <a:solidFill>
                  <a:srgbClr val="1F4E79"/>
                </a:solidFill>
                <a:latin typeface="Calibri"/>
              </a:rPr>
              <a:t>8·Push to main — </a:t>
            </a:r>
            <a:r>
              <a:rPr sz="1100">
                <a:solidFill>
                  <a:srgbClr val="222222"/>
                </a:solidFill>
                <a:latin typeface="Calibri"/>
              </a:rPr>
              <a:t>git push lands new memory state. Next workflow picks it up at checkout. Concurrency group prevents overlap.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565392"/>
            <a:ext cx="11277295" cy="9000"/>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601968"/>
            <a:ext cx="7315200" cy="228600"/>
          </a:xfrm>
          <a:prstGeom prst="rect">
            <a:avLst/>
          </a:prstGeom>
          <a:noFill/>
        </p:spPr>
        <p:txBody>
          <a:bodyPr wrap="none">
            <a:spAutoFit/>
          </a:bodyPr>
          <a:lstStyle/>
          <a:p>
            <a:pPr algn="l"/>
            <a:r>
              <a:rPr sz="900" b="0">
                <a:solidFill>
                  <a:srgbClr val="6B7785"/>
                </a:solidFill>
                <a:latin typeface="Calibri"/>
              </a:rPr>
              <a:t>NAPCO Nucleus  |  Mohammad Kamrul Hasan  |  Adaptive Enterprise Limited</a:t>
            </a:r>
          </a:p>
        </p:txBody>
      </p:sp>
      <p:sp>
        <p:nvSpPr>
          <p:cNvPr id="5" name="TextBox 4"/>
          <p:cNvSpPr txBox="1"/>
          <p:nvPr/>
        </p:nvSpPr>
        <p:spPr>
          <a:xfrm>
            <a:off x="10515600" y="6601968"/>
            <a:ext cx="1280160" cy="228600"/>
          </a:xfrm>
          <a:prstGeom prst="rect">
            <a:avLst/>
          </a:prstGeom>
          <a:noFill/>
        </p:spPr>
        <p:txBody>
          <a:bodyPr wrap="none">
            <a:spAutoFit/>
          </a:bodyPr>
          <a:lstStyle/>
          <a:p>
            <a:pPr algn="r"/>
            <a:r>
              <a:rPr sz="900" b="0">
                <a:solidFill>
                  <a:srgbClr val="6B7785"/>
                </a:solidFill>
                <a:latin typeface="Calibri"/>
              </a:rPr>
              <a:t>12 / 31</a:t>
            </a:r>
          </a:p>
        </p:txBody>
      </p:sp>
      <p:sp>
        <p:nvSpPr>
          <p:cNvPr id="6" name="TextBox 5"/>
          <p:cNvSpPr txBox="1"/>
          <p:nvPr/>
        </p:nvSpPr>
        <p:spPr>
          <a:xfrm>
            <a:off x="457200" y="274320"/>
            <a:ext cx="11277295" cy="640080"/>
          </a:xfrm>
          <a:prstGeom prst="rect">
            <a:avLst/>
          </a:prstGeom>
          <a:noFill/>
        </p:spPr>
        <p:txBody>
          <a:bodyPr wrap="none">
            <a:spAutoFit/>
          </a:bodyPr>
          <a:lstStyle/>
          <a:p>
            <a:pPr algn="l"/>
            <a:r>
              <a:rPr sz="2800" b="1">
                <a:solidFill>
                  <a:srgbClr val="1F4E79"/>
                </a:solidFill>
                <a:latin typeface="Calibri"/>
              </a:rPr>
              <a:t>02 · Design Constraints</a:t>
            </a:r>
          </a:p>
        </p:txBody>
      </p:sp>
      <p:sp>
        <p:nvSpPr>
          <p:cNvPr id="7" name="TextBox 6"/>
          <p:cNvSpPr txBox="1"/>
          <p:nvPr/>
        </p:nvSpPr>
        <p:spPr>
          <a:xfrm>
            <a:off x="457200" y="868680"/>
            <a:ext cx="11277295" cy="365760"/>
          </a:xfrm>
          <a:prstGeom prst="rect">
            <a:avLst/>
          </a:prstGeom>
          <a:noFill/>
        </p:spPr>
        <p:txBody>
          <a:bodyPr wrap="none">
            <a:spAutoFit/>
          </a:bodyPr>
          <a:lstStyle/>
          <a:p>
            <a:pPr algn="l"/>
            <a:r>
              <a:rPr sz="1400" b="0">
                <a:solidFill>
                  <a:srgbClr val="6B7785"/>
                </a:solidFill>
                <a:latin typeface="Calibri"/>
              </a:rPr>
              <a:t>Five rules that shaped the codebase</a:t>
            </a:r>
          </a:p>
        </p:txBody>
      </p:sp>
      <p:sp>
        <p:nvSpPr>
          <p:cNvPr id="8" name="Rectangle 7"/>
          <p:cNvSpPr/>
          <p:nvPr/>
        </p:nvSpPr>
        <p:spPr>
          <a:xfrm>
            <a:off x="548640" y="1554480"/>
            <a:ext cx="182880"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554480"/>
            <a:ext cx="10863072" cy="914400"/>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tIns="91440" rIns="164592" wrap="square"/>
          <a:lstStyle/>
          <a:p>
            <a:pPr algn="l"/>
            <a:r>
              <a:rPr sz="1400" b="1">
                <a:solidFill>
                  <a:srgbClr val="1F4E79"/>
                </a:solidFill>
                <a:latin typeface="Calibri"/>
              </a:rPr>
              <a:t>ONE AGENT, MANY PROMPTS</a:t>
            </a:r>
          </a:p>
          <a:p>
            <a:pPr algn="l">
              <a:spcBef>
                <a:spcPts val="200"/>
              </a:spcBef>
            </a:pPr>
            <a:r>
              <a:rPr sz="1200" b="0">
                <a:solidFill>
                  <a:srgbClr val="222222"/>
                </a:solidFill>
                <a:latin typeface="Calibri"/>
              </a:rPr>
              <a:t>Not a multi-agent graph. The same agent.py loads a different prompt per workflow. Behavior changes are markdown diffs, not code changes.</a:t>
            </a:r>
          </a:p>
        </p:txBody>
      </p:sp>
      <p:sp>
        <p:nvSpPr>
          <p:cNvPr id="10" name="Rectangle 9"/>
          <p:cNvSpPr/>
          <p:nvPr/>
        </p:nvSpPr>
        <p:spPr>
          <a:xfrm>
            <a:off x="548640" y="2542032"/>
            <a:ext cx="182880" cy="914400"/>
          </a:xfrm>
          <a:prstGeom prst="rect">
            <a:avLst/>
          </a:prstGeom>
          <a:solidFill>
            <a:srgbClr val="2E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542032"/>
            <a:ext cx="10863072" cy="914400"/>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tIns="91440" rIns="164592" wrap="square"/>
          <a:lstStyle/>
          <a:p>
            <a:pPr algn="l"/>
            <a:r>
              <a:rPr sz="1400" b="1">
                <a:solidFill>
                  <a:srgbClr val="2E8A8A"/>
                </a:solidFill>
                <a:latin typeface="Calibri"/>
              </a:rPr>
              <a:t>TOOLS ARE IDEMPOTENT</a:t>
            </a:r>
          </a:p>
          <a:p>
            <a:pPr algn="l">
              <a:spcBef>
                <a:spcPts val="200"/>
              </a:spcBef>
            </a:pPr>
            <a:r>
              <a:rPr sz="1200" b="0">
                <a:solidFill>
                  <a:srgbClr val="222222"/>
                </a:solidFill>
                <a:latin typeface="Calibri"/>
              </a:rPr>
              <a:t>Re-running any workflow is safe. UID checkpoints, Drive file-ID tracking, OpenProject title dedup, fuzzy memory dedup — all baked in.</a:t>
            </a:r>
          </a:p>
        </p:txBody>
      </p:sp>
      <p:sp>
        <p:nvSpPr>
          <p:cNvPr id="12" name="Rectangle 11"/>
          <p:cNvSpPr/>
          <p:nvPr/>
        </p:nvSpPr>
        <p:spPr>
          <a:xfrm>
            <a:off x="548640" y="3529584"/>
            <a:ext cx="182880" cy="914400"/>
          </a:xfrm>
          <a:prstGeom prst="rect">
            <a:avLst/>
          </a:prstGeom>
          <a:solidFill>
            <a:srgbClr val="4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529584"/>
            <a:ext cx="10863072" cy="914400"/>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tIns="91440" rIns="164592" wrap="square"/>
          <a:lstStyle/>
          <a:p>
            <a:pPr algn="l"/>
            <a:r>
              <a:rPr sz="1400" b="1">
                <a:solidFill>
                  <a:srgbClr val="4A7A4A"/>
                </a:solidFill>
                <a:latin typeface="Calibri"/>
              </a:rPr>
              <a:t>MEMORY SURVIVES THE PROCESS</a:t>
            </a:r>
          </a:p>
          <a:p>
            <a:pPr algn="l">
              <a:spcBef>
                <a:spcPts val="200"/>
              </a:spcBef>
            </a:pPr>
            <a:r>
              <a:rPr sz="1200" b="0">
                <a:solidFill>
                  <a:srgbClr val="222222"/>
                </a:solidFill>
                <a:latin typeface="Calibri"/>
              </a:rPr>
              <a:t>The agent has no in-RAM state. Anything that persists writes to SQLite mid-run. The runner commits the DB to git after every workflow.</a:t>
            </a:r>
          </a:p>
        </p:txBody>
      </p:sp>
      <p:sp>
        <p:nvSpPr>
          <p:cNvPr id="14" name="Rectangle 13"/>
          <p:cNvSpPr/>
          <p:nvPr/>
        </p:nvSpPr>
        <p:spPr>
          <a:xfrm>
            <a:off x="548640" y="4517136"/>
            <a:ext cx="182880" cy="914400"/>
          </a:xfrm>
          <a:prstGeom prst="rect">
            <a:avLst/>
          </a:prstGeom>
          <a:solidFill>
            <a:srgbClr val="C99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4517136"/>
            <a:ext cx="10863072" cy="914400"/>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tIns="91440" rIns="164592" wrap="square"/>
          <a:lstStyle/>
          <a:p>
            <a:pPr algn="l"/>
            <a:r>
              <a:rPr sz="1400" b="1">
                <a:solidFill>
                  <a:srgbClr val="C9962B"/>
                </a:solidFill>
                <a:latin typeface="Calibri"/>
              </a:rPr>
              <a:t>PROMPTS ARE HUMAN CONTRACTS</a:t>
            </a:r>
          </a:p>
          <a:p>
            <a:pPr algn="l">
              <a:spcBef>
                <a:spcPts val="200"/>
              </a:spcBef>
            </a:pPr>
            <a:r>
              <a:rPr sz="1200" b="0">
                <a:solidFill>
                  <a:srgbClr val="222222"/>
                </a:solidFill>
                <a:latin typeface="Calibri"/>
              </a:rPr>
              <a:t>Anyone can change the loop in a workflow by editing markdown. PR review for prompt changes is a plain-English diff.</a:t>
            </a:r>
          </a:p>
        </p:txBody>
      </p:sp>
      <p:sp>
        <p:nvSpPr>
          <p:cNvPr id="16" name="Rectangle 15"/>
          <p:cNvSpPr/>
          <p:nvPr/>
        </p:nvSpPr>
        <p:spPr>
          <a:xfrm>
            <a:off x="548640" y="5504688"/>
            <a:ext cx="182880" cy="914400"/>
          </a:xfrm>
          <a:prstGeom prst="rect">
            <a:avLst/>
          </a:prstGeom>
          <a:solidFill>
            <a:srgbClr val="6A4C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504688"/>
            <a:ext cx="10863072" cy="914400"/>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tIns="91440" rIns="164592" wrap="square"/>
          <a:lstStyle/>
          <a:p>
            <a:pPr algn="l"/>
            <a:r>
              <a:rPr sz="1400" b="1">
                <a:solidFill>
                  <a:srgbClr val="6A4C93"/>
                </a:solidFill>
                <a:latin typeface="Calibri"/>
              </a:rPr>
              <a:t>TOOLS NEVER REASON</a:t>
            </a:r>
          </a:p>
          <a:p>
            <a:pPr algn="l">
              <a:spcBef>
                <a:spcPts val="200"/>
              </a:spcBef>
            </a:pPr>
            <a:r>
              <a:rPr sz="1200" b="0">
                <a:solidFill>
                  <a:srgbClr val="222222"/>
                </a:solidFill>
                <a:latin typeface="Calibri"/>
              </a:rPr>
              <a:t>Every algorithmic decision lives in a prompt. Python only does I/O. No tool calls another tool — composition is Claude's job.</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565392"/>
            <a:ext cx="11277295" cy="9000"/>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601968"/>
            <a:ext cx="7315200" cy="228600"/>
          </a:xfrm>
          <a:prstGeom prst="rect">
            <a:avLst/>
          </a:prstGeom>
          <a:noFill/>
        </p:spPr>
        <p:txBody>
          <a:bodyPr wrap="none">
            <a:spAutoFit/>
          </a:bodyPr>
          <a:lstStyle/>
          <a:p>
            <a:pPr algn="l"/>
            <a:r>
              <a:rPr sz="900" b="0">
                <a:solidFill>
                  <a:srgbClr val="6B7785"/>
                </a:solidFill>
                <a:latin typeface="Calibri"/>
              </a:rPr>
              <a:t>NAPCO Nucleus  |  Mohammad Kamrul Hasan  |  Adaptive Enterprise Limited</a:t>
            </a:r>
          </a:p>
        </p:txBody>
      </p:sp>
      <p:sp>
        <p:nvSpPr>
          <p:cNvPr id="5" name="TextBox 4"/>
          <p:cNvSpPr txBox="1"/>
          <p:nvPr/>
        </p:nvSpPr>
        <p:spPr>
          <a:xfrm>
            <a:off x="10515600" y="6601968"/>
            <a:ext cx="1280160" cy="228600"/>
          </a:xfrm>
          <a:prstGeom prst="rect">
            <a:avLst/>
          </a:prstGeom>
          <a:noFill/>
        </p:spPr>
        <p:txBody>
          <a:bodyPr wrap="none">
            <a:spAutoFit/>
          </a:bodyPr>
          <a:lstStyle/>
          <a:p>
            <a:pPr algn="r"/>
            <a:r>
              <a:rPr sz="900" b="0">
                <a:solidFill>
                  <a:srgbClr val="6B7785"/>
                </a:solidFill>
                <a:latin typeface="Calibri"/>
              </a:rPr>
              <a:t>13 / 31</a:t>
            </a:r>
          </a:p>
        </p:txBody>
      </p:sp>
      <p:sp>
        <p:nvSpPr>
          <p:cNvPr id="6" name="TextBox 5"/>
          <p:cNvSpPr txBox="1"/>
          <p:nvPr/>
        </p:nvSpPr>
        <p:spPr>
          <a:xfrm>
            <a:off x="457200" y="274320"/>
            <a:ext cx="11277295" cy="640080"/>
          </a:xfrm>
          <a:prstGeom prst="rect">
            <a:avLst/>
          </a:prstGeom>
          <a:noFill/>
        </p:spPr>
        <p:txBody>
          <a:bodyPr wrap="none">
            <a:spAutoFit/>
          </a:bodyPr>
          <a:lstStyle/>
          <a:p>
            <a:pPr algn="l"/>
            <a:r>
              <a:rPr sz="2800" b="1">
                <a:solidFill>
                  <a:srgbClr val="1F4E79"/>
                </a:solidFill>
                <a:latin typeface="Calibri"/>
              </a:rPr>
              <a:t>03 · The Python Orchestrator (agent.py)</a:t>
            </a:r>
          </a:p>
        </p:txBody>
      </p:sp>
      <p:sp>
        <p:nvSpPr>
          <p:cNvPr id="7" name="TextBox 6"/>
          <p:cNvSpPr txBox="1"/>
          <p:nvPr/>
        </p:nvSpPr>
        <p:spPr>
          <a:xfrm>
            <a:off x="457200" y="868680"/>
            <a:ext cx="11277295" cy="365760"/>
          </a:xfrm>
          <a:prstGeom prst="rect">
            <a:avLst/>
          </a:prstGeom>
          <a:noFill/>
        </p:spPr>
        <p:txBody>
          <a:bodyPr wrap="none">
            <a:spAutoFit/>
          </a:bodyPr>
          <a:lstStyle/>
          <a:p>
            <a:pPr algn="l"/>
            <a:r>
              <a:rPr sz="1400" b="0">
                <a:solidFill>
                  <a:srgbClr val="6B7785"/>
                </a:solidFill>
                <a:latin typeface="Calibri"/>
              </a:rPr>
              <a:t>198 lines. Five responsibilities. No business logic.</a:t>
            </a:r>
          </a:p>
        </p:txBody>
      </p:sp>
      <p:sp>
        <p:nvSpPr>
          <p:cNvPr id="8" name="Rectangle 7"/>
          <p:cNvSpPr/>
          <p:nvPr/>
        </p:nvSpPr>
        <p:spPr>
          <a:xfrm>
            <a:off x="548640" y="1554480"/>
            <a:ext cx="5212080" cy="32918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200" b="1">
                <a:solidFill>
                  <a:srgbClr val="FFFFFF"/>
                </a:solidFill>
                <a:latin typeface="Calibri"/>
              </a:rPr>
              <a:t>WHAT agent.py DOES</a:t>
            </a:r>
          </a:p>
        </p:txBody>
      </p:sp>
      <p:sp>
        <p:nvSpPr>
          <p:cNvPr id="9" name="Rectangle 8"/>
          <p:cNvSpPr/>
          <p:nvPr/>
        </p:nvSpPr>
        <p:spPr>
          <a:xfrm>
            <a:off x="548640" y="1883664"/>
            <a:ext cx="5212080" cy="2414016"/>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rIns="164592" tIns="109728" bIns="109728" wrap="square"/>
          <a:lstStyle/>
          <a:p>
            <a:pPr algn="l"/>
            <a:r>
              <a:rPr sz="1400" b="1">
                <a:solidFill>
                  <a:srgbClr val="1F4E79"/>
                </a:solidFill>
                <a:latin typeface="Calibri"/>
              </a:rPr>
              <a:t>• </a:t>
            </a:r>
            <a:r>
              <a:rPr sz="1400" b="1">
                <a:solidFill>
                  <a:srgbClr val="1F4E79"/>
                </a:solidFill>
                <a:latin typeface="Calibri"/>
              </a:rPr>
              <a:t>1. </a:t>
            </a:r>
            <a:r>
              <a:rPr sz="1400">
                <a:solidFill>
                  <a:srgbClr val="222222"/>
                </a:solidFill>
                <a:latin typeface="Calibri"/>
              </a:rPr>
              <a:t>Load .env with override=True</a:t>
            </a:r>
          </a:p>
          <a:p>
            <a:pPr algn="l">
              <a:spcBef>
                <a:spcPts val="600"/>
              </a:spcBef>
            </a:pPr>
            <a:r>
              <a:rPr sz="1400" b="1">
                <a:solidFill>
                  <a:srgbClr val="1F4E79"/>
                </a:solidFill>
                <a:latin typeface="Calibri"/>
              </a:rPr>
              <a:t>• </a:t>
            </a:r>
            <a:r>
              <a:rPr sz="1400" b="1">
                <a:solidFill>
                  <a:srgbClr val="1F4E79"/>
                </a:solidFill>
                <a:latin typeface="Calibri"/>
              </a:rPr>
              <a:t>2. </a:t>
            </a:r>
            <a:r>
              <a:rPr sz="1400">
                <a:solidFill>
                  <a:srgbClr val="222222"/>
                </a:solidFill>
                <a:latin typeface="Calibri"/>
              </a:rPr>
              <a:t>Register 31 MCP tools</a:t>
            </a:r>
          </a:p>
          <a:p>
            <a:pPr algn="l">
              <a:spcBef>
                <a:spcPts val="600"/>
              </a:spcBef>
            </a:pPr>
            <a:r>
              <a:rPr sz="1400" b="1">
                <a:solidFill>
                  <a:srgbClr val="1F4E79"/>
                </a:solidFill>
                <a:latin typeface="Calibri"/>
              </a:rPr>
              <a:t>• </a:t>
            </a:r>
            <a:r>
              <a:rPr sz="1400" b="1">
                <a:solidFill>
                  <a:srgbClr val="1F4E79"/>
                </a:solidFill>
                <a:latin typeface="Calibri"/>
              </a:rPr>
              <a:t>3. </a:t>
            </a:r>
            <a:r>
              <a:rPr sz="1400">
                <a:solidFill>
                  <a:srgbClr val="222222"/>
                </a:solidFill>
                <a:latin typeface="Calibri"/>
              </a:rPr>
              <a:t>Build the system prompt (system.md + task.md)</a:t>
            </a:r>
          </a:p>
          <a:p>
            <a:pPr algn="l">
              <a:spcBef>
                <a:spcPts val="600"/>
              </a:spcBef>
            </a:pPr>
            <a:r>
              <a:rPr sz="1400" b="1">
                <a:solidFill>
                  <a:srgbClr val="1F4E79"/>
                </a:solidFill>
                <a:latin typeface="Calibri"/>
              </a:rPr>
              <a:t>• </a:t>
            </a:r>
            <a:r>
              <a:rPr sz="1400" b="1">
                <a:solidFill>
                  <a:srgbClr val="1F4E79"/>
                </a:solidFill>
                <a:latin typeface="Calibri"/>
              </a:rPr>
              <a:t>4. </a:t>
            </a:r>
            <a:r>
              <a:rPr sz="1400">
                <a:solidFill>
                  <a:srgbClr val="222222"/>
                </a:solidFill>
                <a:latin typeface="Calibri"/>
              </a:rPr>
              <a:t>Open ONE Claude SDK session</a:t>
            </a:r>
          </a:p>
          <a:p>
            <a:pPr algn="l">
              <a:spcBef>
                <a:spcPts val="600"/>
              </a:spcBef>
            </a:pPr>
            <a:r>
              <a:rPr sz="1400" b="1">
                <a:solidFill>
                  <a:srgbClr val="1F4E79"/>
                </a:solidFill>
                <a:latin typeface="Calibri"/>
              </a:rPr>
              <a:t>• </a:t>
            </a:r>
            <a:r>
              <a:rPr sz="1400" b="1">
                <a:solidFill>
                  <a:srgbClr val="1F4E79"/>
                </a:solidFill>
                <a:latin typeface="Calibri"/>
              </a:rPr>
              <a:t>5. </a:t>
            </a:r>
            <a:r>
              <a:rPr sz="1400">
                <a:solidFill>
                  <a:srgbClr val="222222"/>
                </a:solidFill>
                <a:latin typeface="Calibri"/>
              </a:rPr>
              <a:t>Stream text, exit</a:t>
            </a:r>
          </a:p>
        </p:txBody>
      </p:sp>
      <p:sp>
        <p:nvSpPr>
          <p:cNvPr id="10" name="Rectangle 9"/>
          <p:cNvSpPr/>
          <p:nvPr/>
        </p:nvSpPr>
        <p:spPr>
          <a:xfrm>
            <a:off x="548640" y="4434840"/>
            <a:ext cx="5212080" cy="329184"/>
          </a:xfrm>
          <a:prstGeom prst="rect">
            <a:avLst/>
          </a:prstGeom>
          <a:solidFill>
            <a:srgbClr val="4A7A4A"/>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200" b="1">
                <a:solidFill>
                  <a:srgbClr val="FFFFFF"/>
                </a:solidFill>
                <a:latin typeface="Calibri"/>
              </a:rPr>
              <a:t>ADDING A NEW WORKFLOW</a:t>
            </a:r>
          </a:p>
        </p:txBody>
      </p:sp>
      <p:sp>
        <p:nvSpPr>
          <p:cNvPr id="11" name="Rectangle 10"/>
          <p:cNvSpPr/>
          <p:nvPr/>
        </p:nvSpPr>
        <p:spPr>
          <a:xfrm>
            <a:off x="548640" y="4764024"/>
            <a:ext cx="5212080" cy="1545335"/>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rIns="164592" tIns="109728" bIns="109728" wrap="square"/>
          <a:lstStyle/>
          <a:p>
            <a:pPr algn="l"/>
            <a:r>
              <a:rPr sz="1300" b="1">
                <a:solidFill>
                  <a:srgbClr val="1F4E79"/>
                </a:solidFill>
                <a:latin typeface="Calibri"/>
              </a:rPr>
              <a:t>• </a:t>
            </a:r>
            <a:r>
              <a:rPr sz="1300" b="1">
                <a:solidFill>
                  <a:srgbClr val="1F4E79"/>
                </a:solidFill>
                <a:latin typeface="Calibri"/>
              </a:rPr>
              <a:t>In agent.py: </a:t>
            </a:r>
            <a:r>
              <a:rPr sz="1300">
                <a:solidFill>
                  <a:srgbClr val="222222"/>
                </a:solidFill>
                <a:latin typeface="Calibri"/>
              </a:rPr>
              <a:t>add task name to TASKS set</a:t>
            </a:r>
          </a:p>
          <a:p>
            <a:pPr algn="l">
              <a:spcBef>
                <a:spcPts val="600"/>
              </a:spcBef>
            </a:pPr>
            <a:r>
              <a:rPr sz="1300" b="1">
                <a:solidFill>
                  <a:srgbClr val="1F4E79"/>
                </a:solidFill>
                <a:latin typeface="Calibri"/>
              </a:rPr>
              <a:t>• </a:t>
            </a:r>
            <a:r>
              <a:rPr sz="1300" b="1">
                <a:solidFill>
                  <a:srgbClr val="1F4E79"/>
                </a:solidFill>
                <a:latin typeface="Calibri"/>
              </a:rPr>
              <a:t>In agent.py: </a:t>
            </a:r>
            <a:r>
              <a:rPr sz="1300">
                <a:solidFill>
                  <a:srgbClr val="222222"/>
                </a:solidFill>
                <a:latin typeface="Calibri"/>
              </a:rPr>
              <a:t>add one-line message to TASK_KICKOFF</a:t>
            </a:r>
          </a:p>
          <a:p>
            <a:pPr algn="l">
              <a:spcBef>
                <a:spcPts val="600"/>
              </a:spcBef>
            </a:pPr>
            <a:r>
              <a:rPr sz="1300" b="1">
                <a:solidFill>
                  <a:srgbClr val="1F4E79"/>
                </a:solidFill>
                <a:latin typeface="Calibri"/>
              </a:rPr>
              <a:t>• </a:t>
            </a:r>
            <a:r>
              <a:rPr sz="1300" b="1">
                <a:solidFill>
                  <a:srgbClr val="1F4E79"/>
                </a:solidFill>
                <a:latin typeface="Calibri"/>
              </a:rPr>
              <a:t>Total Python change: </a:t>
            </a:r>
            <a:r>
              <a:rPr sz="1300">
                <a:solidFill>
                  <a:srgbClr val="222222"/>
                </a:solidFill>
                <a:latin typeface="Calibri"/>
              </a:rPr>
              <a:t>two strings.</a:t>
            </a:r>
          </a:p>
        </p:txBody>
      </p:sp>
      <p:sp>
        <p:nvSpPr>
          <p:cNvPr id="12" name="Rectangle 11"/>
          <p:cNvSpPr/>
          <p:nvPr/>
        </p:nvSpPr>
        <p:spPr>
          <a:xfrm>
            <a:off x="5943600" y="1554480"/>
            <a:ext cx="5696712" cy="4754880"/>
          </a:xfrm>
          <a:prstGeom prst="rect">
            <a:avLst/>
          </a:prstGeom>
          <a:solidFill>
            <a:srgbClr val="1E2A38"/>
          </a:solidFill>
          <a:ln>
            <a:noFill/>
          </a:ln>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r>
              <a:rPr sz="1000">
                <a:solidFill>
                  <a:srgbClr val="FFFFFF"/>
                </a:solidFill>
                <a:latin typeface="Consolas"/>
              </a:rPr>
              <a:t>TASKS = {</a:t>
            </a:r>
          </a:p>
          <a:p>
            <a:r>
              <a:rPr sz="1000">
                <a:solidFill>
                  <a:srgbClr val="FFFFFF"/>
                </a:solidFill>
                <a:latin typeface="Consolas"/>
              </a:rPr>
              <a:t>    "requirement-management",</a:t>
            </a:r>
          </a:p>
          <a:p>
            <a:r>
              <a:rPr sz="1000">
                <a:solidFill>
                  <a:srgbClr val="FFFFFF"/>
                </a:solidFill>
                <a:latin typeface="Consolas"/>
              </a:rPr>
              <a:t>    "daily-report-detailed",</a:t>
            </a:r>
          </a:p>
          <a:p>
            <a:r>
              <a:rPr sz="1000">
                <a:solidFill>
                  <a:srgbClr val="FFFFFF"/>
                </a:solidFill>
                <a:latin typeface="Consolas"/>
              </a:rPr>
              <a:t>    "daily-report-summary",</a:t>
            </a:r>
          </a:p>
          <a:p>
            <a:r>
              <a:rPr sz="1000">
                <a:solidFill>
                  <a:srgbClr val="FFFFFF"/>
                </a:solidFill>
                <a:latin typeface="Consolas"/>
              </a:rPr>
              <a:t>    "api-functional-test",</a:t>
            </a:r>
          </a:p>
          <a:p>
            <a:r>
              <a:rPr sz="1000">
                <a:solidFill>
                  <a:srgbClr val="FFFFFF"/>
                </a:solidFill>
                <a:latin typeface="Consolas"/>
              </a:rPr>
              <a:t>    "api-integration-test",</a:t>
            </a:r>
          </a:p>
          <a:p>
            <a:r>
              <a:rPr sz="1000">
                <a:solidFill>
                  <a:srgbClr val="FFFFFF"/>
                </a:solidFill>
                <a:latin typeface="Consolas"/>
              </a:rPr>
              <a:t>    "api-load-test",</a:t>
            </a:r>
          </a:p>
          <a:p>
            <a:r>
              <a:rPr sz="1000">
                <a:solidFill>
                  <a:srgbClr val="FFFFFF"/>
                </a:solidFill>
                <a:latin typeface="Consolas"/>
              </a:rPr>
              <a:t>    "e2e-test",</a:t>
            </a:r>
          </a:p>
          <a:p>
            <a:r>
              <a:rPr sz="1000">
                <a:solidFill>
                  <a:srgbClr val="FFFFFF"/>
                </a:solidFill>
                <a:latin typeface="Consolas"/>
              </a:rPr>
              <a:t>}</a:t>
            </a:r>
          </a:p>
          <a:p>
            <a:r>
              <a:rPr sz="1000">
                <a:solidFill>
                  <a:srgbClr val="FFFFFF"/>
                </a:solidFill>
                <a:latin typeface="Consolas"/>
              </a:rPr>
              <a:t> </a:t>
            </a:r>
          </a:p>
          <a:p>
            <a:r>
              <a:rPr sz="1000">
                <a:solidFill>
                  <a:srgbClr val="FFFFFF"/>
                </a:solidFill>
                <a:latin typeface="Consolas"/>
              </a:rPr>
              <a:t>async def run_agent(task, dry_run):</a:t>
            </a:r>
          </a:p>
          <a:p>
            <a:r>
              <a:rPr sz="1000">
                <a:solidFill>
                  <a:srgbClr val="FFFFFF"/>
                </a:solidFill>
                <a:latin typeface="Consolas"/>
              </a:rPr>
              <a:t>    server = create_sdk_mcp_server(</a:t>
            </a:r>
          </a:p>
          <a:p>
            <a:r>
              <a:rPr sz="1000">
                <a:solidFill>
                  <a:srgbClr val="FFFFFF"/>
                </a:solidFill>
                <a:latin typeface="Consolas"/>
              </a:rPr>
              <a:t>        name="napco-nucleus",</a:t>
            </a:r>
          </a:p>
          <a:p>
            <a:r>
              <a:rPr sz="1000">
                <a:solidFill>
                  <a:srgbClr val="FFFFFF"/>
                </a:solidFill>
                <a:latin typeface="Consolas"/>
              </a:rPr>
              <a:t>        version="0.1.0", tools=ALL_TOOLS)</a:t>
            </a:r>
          </a:p>
          <a:p>
            <a:r>
              <a:rPr sz="1000">
                <a:solidFill>
                  <a:srgbClr val="FFFFFF"/>
                </a:solidFill>
                <a:latin typeface="Consolas"/>
              </a:rPr>
              <a:t>    options = ClaudeAgentOptions(</a:t>
            </a:r>
          </a:p>
          <a:p>
            <a:r>
              <a:rPr sz="1000">
                <a:solidFill>
                  <a:srgbClr val="FFFFFF"/>
                </a:solidFill>
                <a:latin typeface="Consolas"/>
              </a:rPr>
              <a:t>        system_prompt=_load_prompt(task),</a:t>
            </a:r>
          </a:p>
          <a:p>
            <a:r>
              <a:rPr sz="1000">
                <a:solidFill>
                  <a:srgbClr val="FFFFFF"/>
                </a:solidFill>
                <a:latin typeface="Consolas"/>
              </a:rPr>
              <a:t>        mcp_servers={"napco-nucleus": server},</a:t>
            </a:r>
          </a:p>
          <a:p>
            <a:r>
              <a:rPr sz="1000">
                <a:solidFill>
                  <a:srgbClr val="FFFFFF"/>
                </a:solidFill>
                <a:latin typeface="Consolas"/>
              </a:rPr>
              <a:t>        allowed_tools=allowed,</a:t>
            </a:r>
          </a:p>
          <a:p>
            <a:r>
              <a:rPr sz="1000">
                <a:solidFill>
                  <a:srgbClr val="FFFFFF"/>
                </a:solidFill>
                <a:latin typeface="Consolas"/>
              </a:rPr>
              <a:t>    )</a:t>
            </a:r>
          </a:p>
          <a:p>
            <a:r>
              <a:rPr sz="1000">
                <a:solidFill>
                  <a:srgbClr val="FFFFFF"/>
                </a:solidFill>
                <a:latin typeface="Consolas"/>
              </a:rPr>
              <a:t>    async with ClaudeSDKClient(</a:t>
            </a:r>
          </a:p>
          <a:p>
            <a:r>
              <a:rPr sz="1000">
                <a:solidFill>
                  <a:srgbClr val="FFFFFF"/>
                </a:solidFill>
                <a:latin typeface="Consolas"/>
              </a:rPr>
              <a:t>            options=options) as client:</a:t>
            </a:r>
          </a:p>
          <a:p>
            <a:r>
              <a:rPr sz="1000">
                <a:solidFill>
                  <a:srgbClr val="FFFFFF"/>
                </a:solidFill>
                <a:latin typeface="Consolas"/>
              </a:rPr>
              <a:t>        await client.query(</a:t>
            </a:r>
          </a:p>
          <a:p>
            <a:r>
              <a:rPr sz="1000">
                <a:solidFill>
                  <a:srgbClr val="FFFFFF"/>
                </a:solidFill>
                <a:latin typeface="Consolas"/>
              </a:rPr>
              <a:t>            TASK_KICKOFF[task])</a:t>
            </a:r>
          </a:p>
          <a:p>
            <a:r>
              <a:rPr sz="1000">
                <a:solidFill>
                  <a:srgbClr val="FFFFFF"/>
                </a:solidFill>
                <a:latin typeface="Consolas"/>
              </a:rPr>
              <a:t>        async for msg in client.receive_response():</a:t>
            </a:r>
          </a:p>
          <a:p>
            <a:r>
              <a:rPr sz="1000">
                <a:solidFill>
                  <a:srgbClr val="FFFFFF"/>
                </a:solidFill>
                <a:latin typeface="Consolas"/>
              </a:rPr>
              <a:t>            print(_extract_text(msg))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565392"/>
            <a:ext cx="11277295" cy="9000"/>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601968"/>
            <a:ext cx="7315200" cy="228600"/>
          </a:xfrm>
          <a:prstGeom prst="rect">
            <a:avLst/>
          </a:prstGeom>
          <a:noFill/>
        </p:spPr>
        <p:txBody>
          <a:bodyPr wrap="none">
            <a:spAutoFit/>
          </a:bodyPr>
          <a:lstStyle/>
          <a:p>
            <a:pPr algn="l"/>
            <a:r>
              <a:rPr sz="900" b="0">
                <a:solidFill>
                  <a:srgbClr val="6B7785"/>
                </a:solidFill>
                <a:latin typeface="Calibri"/>
              </a:rPr>
              <a:t>NAPCO Nucleus  |  Mohammad Kamrul Hasan  |  Adaptive Enterprise Limited</a:t>
            </a:r>
          </a:p>
        </p:txBody>
      </p:sp>
      <p:sp>
        <p:nvSpPr>
          <p:cNvPr id="5" name="TextBox 4"/>
          <p:cNvSpPr txBox="1"/>
          <p:nvPr/>
        </p:nvSpPr>
        <p:spPr>
          <a:xfrm>
            <a:off x="10515600" y="6601968"/>
            <a:ext cx="1280160" cy="228600"/>
          </a:xfrm>
          <a:prstGeom prst="rect">
            <a:avLst/>
          </a:prstGeom>
          <a:noFill/>
        </p:spPr>
        <p:txBody>
          <a:bodyPr wrap="none">
            <a:spAutoFit/>
          </a:bodyPr>
          <a:lstStyle/>
          <a:p>
            <a:pPr algn="r"/>
            <a:r>
              <a:rPr sz="900" b="0">
                <a:solidFill>
                  <a:srgbClr val="6B7785"/>
                </a:solidFill>
                <a:latin typeface="Calibri"/>
              </a:rPr>
              <a:t>14 / 31</a:t>
            </a:r>
          </a:p>
        </p:txBody>
      </p:sp>
      <p:sp>
        <p:nvSpPr>
          <p:cNvPr id="6" name="TextBox 5"/>
          <p:cNvSpPr txBox="1"/>
          <p:nvPr/>
        </p:nvSpPr>
        <p:spPr>
          <a:xfrm>
            <a:off x="457200" y="274320"/>
            <a:ext cx="11277295" cy="640080"/>
          </a:xfrm>
          <a:prstGeom prst="rect">
            <a:avLst/>
          </a:prstGeom>
          <a:noFill/>
        </p:spPr>
        <p:txBody>
          <a:bodyPr wrap="none">
            <a:spAutoFit/>
          </a:bodyPr>
          <a:lstStyle/>
          <a:p>
            <a:pPr algn="l"/>
            <a:r>
              <a:rPr sz="2800" b="1">
                <a:solidFill>
                  <a:srgbClr val="1F4E79"/>
                </a:solidFill>
                <a:latin typeface="Calibri"/>
              </a:rPr>
              <a:t>03 · Claude Agent SDK Integration</a:t>
            </a:r>
          </a:p>
        </p:txBody>
      </p:sp>
      <p:sp>
        <p:nvSpPr>
          <p:cNvPr id="7" name="TextBox 6"/>
          <p:cNvSpPr txBox="1"/>
          <p:nvPr/>
        </p:nvSpPr>
        <p:spPr>
          <a:xfrm>
            <a:off x="457200" y="868680"/>
            <a:ext cx="11277295" cy="365760"/>
          </a:xfrm>
          <a:prstGeom prst="rect">
            <a:avLst/>
          </a:prstGeom>
          <a:noFill/>
        </p:spPr>
        <p:txBody>
          <a:bodyPr wrap="none">
            <a:spAutoFit/>
          </a:bodyPr>
          <a:lstStyle/>
          <a:p>
            <a:pPr algn="l"/>
            <a:r>
              <a:rPr sz="1400" b="0">
                <a:solidFill>
                  <a:srgbClr val="6B7785"/>
                </a:solidFill>
                <a:latin typeface="Calibri"/>
              </a:rPr>
              <a:t>Three imports, the whole agent</a:t>
            </a:r>
          </a:p>
        </p:txBody>
      </p:sp>
      <p:sp>
        <p:nvSpPr>
          <p:cNvPr id="8" name="Rectangle 7"/>
          <p:cNvSpPr/>
          <p:nvPr/>
        </p:nvSpPr>
        <p:spPr>
          <a:xfrm>
            <a:off x="548640" y="1554480"/>
            <a:ext cx="11091672" cy="329184"/>
          </a:xfrm>
          <a:prstGeom prst="rect">
            <a:avLst/>
          </a:prstGeom>
          <a:solidFill>
            <a:srgbClr val="C9962B"/>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200" b="1">
                <a:solidFill>
                  <a:srgbClr val="FFFFFF"/>
                </a:solidFill>
                <a:latin typeface="Calibri"/>
              </a:rPr>
              <a:t>THE SDK SURFACE NN USES</a:t>
            </a:r>
          </a:p>
        </p:txBody>
      </p:sp>
      <p:sp>
        <p:nvSpPr>
          <p:cNvPr id="9" name="Rectangle 8"/>
          <p:cNvSpPr/>
          <p:nvPr/>
        </p:nvSpPr>
        <p:spPr>
          <a:xfrm>
            <a:off x="548640" y="1883664"/>
            <a:ext cx="11091672" cy="1088136"/>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rIns="164592" tIns="109728" bIns="109728" wrap="square"/>
          <a:lstStyle/>
          <a:p>
            <a:pPr algn="l"/>
            <a:r>
              <a:rPr sz="1300" b="1">
                <a:solidFill>
                  <a:srgbClr val="1F4E79"/>
                </a:solidFill>
                <a:latin typeface="Calibri"/>
              </a:rPr>
              <a:t>• </a:t>
            </a:r>
            <a:r>
              <a:rPr sz="1300" b="1">
                <a:solidFill>
                  <a:srgbClr val="1F4E79"/>
                </a:solidFill>
                <a:latin typeface="Calibri"/>
              </a:rPr>
              <a:t>ClaudeAgentOptions — </a:t>
            </a:r>
            <a:r>
              <a:rPr sz="1300">
                <a:solidFill>
                  <a:srgbClr val="222222"/>
                </a:solidFill>
                <a:latin typeface="Calibri"/>
              </a:rPr>
              <a:t>session config (system prompt, allowed tools, mcp_servers)</a:t>
            </a:r>
          </a:p>
          <a:p>
            <a:pPr algn="l">
              <a:spcBef>
                <a:spcPts val="600"/>
              </a:spcBef>
            </a:pPr>
            <a:r>
              <a:rPr sz="1300" b="1">
                <a:solidFill>
                  <a:srgbClr val="1F4E79"/>
                </a:solidFill>
                <a:latin typeface="Calibri"/>
              </a:rPr>
              <a:t>• </a:t>
            </a:r>
            <a:r>
              <a:rPr sz="1300" b="1">
                <a:solidFill>
                  <a:srgbClr val="1F4E79"/>
                </a:solidFill>
                <a:latin typeface="Calibri"/>
              </a:rPr>
              <a:t>ClaudeSDKClient — </a:t>
            </a:r>
            <a:r>
              <a:rPr sz="1300">
                <a:solidFill>
                  <a:srgbClr val="222222"/>
                </a:solidFill>
                <a:latin typeface="Calibri"/>
              </a:rPr>
              <a:t>the session context manager — opens, queries, streams</a:t>
            </a:r>
          </a:p>
          <a:p>
            <a:pPr algn="l">
              <a:spcBef>
                <a:spcPts val="600"/>
              </a:spcBef>
            </a:pPr>
            <a:r>
              <a:rPr sz="1300" b="1">
                <a:solidFill>
                  <a:srgbClr val="1F4E79"/>
                </a:solidFill>
                <a:latin typeface="Calibri"/>
              </a:rPr>
              <a:t>• </a:t>
            </a:r>
            <a:r>
              <a:rPr sz="1300" b="1">
                <a:solidFill>
                  <a:srgbClr val="1F4E79"/>
                </a:solidFill>
                <a:latin typeface="Calibri"/>
              </a:rPr>
              <a:t>create_sdk_mcp_server — </a:t>
            </a:r>
            <a:r>
              <a:rPr sz="1300">
                <a:solidFill>
                  <a:srgbClr val="222222"/>
                </a:solidFill>
                <a:latin typeface="Calibri"/>
              </a:rPr>
              <a:t>wraps Python functions as MCP tools, registered with @tool</a:t>
            </a:r>
          </a:p>
        </p:txBody>
      </p:sp>
      <p:sp>
        <p:nvSpPr>
          <p:cNvPr id="10" name="Rectangle 9"/>
          <p:cNvSpPr/>
          <p:nvPr/>
        </p:nvSpPr>
        <p:spPr>
          <a:xfrm>
            <a:off x="548640" y="3154680"/>
            <a:ext cx="11091672" cy="3108960"/>
          </a:xfrm>
          <a:prstGeom prst="rect">
            <a:avLst/>
          </a:prstGeom>
          <a:solidFill>
            <a:srgbClr val="1E2A38"/>
          </a:solidFill>
          <a:ln>
            <a:noFill/>
          </a:ln>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r>
              <a:rPr sz="1200">
                <a:solidFill>
                  <a:srgbClr val="FFFFFF"/>
                </a:solidFill>
                <a:latin typeface="Consolas"/>
              </a:rPr>
              <a:t>from claude_agent_sdk import tool</a:t>
            </a:r>
          </a:p>
          <a:p>
            <a:r>
              <a:rPr sz="1200">
                <a:solidFill>
                  <a:srgbClr val="FFFFFF"/>
                </a:solidFill>
                <a:latin typeface="Consolas"/>
              </a:rPr>
              <a:t> </a:t>
            </a:r>
          </a:p>
          <a:p>
            <a:r>
              <a:rPr sz="1200">
                <a:solidFill>
                  <a:srgbClr val="FFFFFF"/>
                </a:solidFill>
                <a:latin typeface="Consolas"/>
              </a:rPr>
              <a:t>@tool(</a:t>
            </a:r>
          </a:p>
          <a:p>
            <a:r>
              <a:rPr sz="1200">
                <a:solidFill>
                  <a:srgbClr val="FFFFFF"/>
                </a:solidFill>
                <a:latin typeface="Consolas"/>
              </a:rPr>
              <a:t>    "search_requirements",  # tool name Claude sees</a:t>
            </a:r>
          </a:p>
          <a:p>
            <a:r>
              <a:rPr sz="1200">
                <a:solidFill>
                  <a:srgbClr val="FFFFFF"/>
                </a:solidFill>
                <a:latin typeface="Consolas"/>
              </a:rPr>
              <a:t>    "Fuzzy search requirements_seen by title. "</a:t>
            </a:r>
          </a:p>
          <a:p>
            <a:r>
              <a:rPr sz="1200">
                <a:solidFill>
                  <a:srgbClr val="FFFFFF"/>
                </a:solidFill>
                <a:latin typeface="Consolas"/>
              </a:rPr>
              <a:t>    "Returns recent N rows with wp_url if present.",</a:t>
            </a:r>
          </a:p>
          <a:p>
            <a:r>
              <a:rPr sz="1200">
                <a:solidFill>
                  <a:srgbClr val="FFFFFF"/>
                </a:solidFill>
                <a:latin typeface="Consolas"/>
              </a:rPr>
              <a:t>    {"query": str, "limit": int},  # arg schema</a:t>
            </a:r>
          </a:p>
          <a:p>
            <a:r>
              <a:rPr sz="1200">
                <a:solidFill>
                  <a:srgbClr val="FFFFFF"/>
                </a:solidFill>
                <a:latin typeface="Consolas"/>
              </a:rPr>
              <a:t>)</a:t>
            </a:r>
          </a:p>
          <a:p>
            <a:r>
              <a:rPr sz="1200">
                <a:solidFill>
                  <a:srgbClr val="FFFFFF"/>
                </a:solidFill>
                <a:latin typeface="Consolas"/>
              </a:rPr>
              <a:t>async def search_requirements_tool(args):</a:t>
            </a:r>
          </a:p>
          <a:p>
            <a:r>
              <a:rPr sz="1200">
                <a:solidFill>
                  <a:srgbClr val="FFFFFF"/>
                </a:solidFill>
                <a:latin typeface="Consolas"/>
              </a:rPr>
              <a:t>    rows = memory.search_requirements(</a:t>
            </a:r>
          </a:p>
          <a:p>
            <a:r>
              <a:rPr sz="1200">
                <a:solidFill>
                  <a:srgbClr val="FFFFFF"/>
                </a:solidFill>
                <a:latin typeface="Consolas"/>
              </a:rPr>
              <a:t>        args["query"], limit=args.get("limit", 5))</a:t>
            </a:r>
          </a:p>
          <a:p>
            <a:r>
              <a:rPr sz="1200">
                <a:solidFill>
                  <a:srgbClr val="FFFFFF"/>
                </a:solidFill>
                <a:latin typeface="Consolas"/>
              </a:rPr>
              <a:t>    return {"content": [{"type": "text",</a:t>
            </a:r>
          </a:p>
          <a:p>
            <a:r>
              <a:rPr sz="1200">
                <a:solidFill>
                  <a:srgbClr val="FFFFFF"/>
                </a:solidFill>
                <a:latin typeface="Consolas"/>
              </a:rPr>
              <a:t>            "text": json.dumps(rows, default=str)}]}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565392"/>
            <a:ext cx="11277295" cy="9000"/>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601968"/>
            <a:ext cx="7315200" cy="228600"/>
          </a:xfrm>
          <a:prstGeom prst="rect">
            <a:avLst/>
          </a:prstGeom>
          <a:noFill/>
        </p:spPr>
        <p:txBody>
          <a:bodyPr wrap="none">
            <a:spAutoFit/>
          </a:bodyPr>
          <a:lstStyle/>
          <a:p>
            <a:pPr algn="l"/>
            <a:r>
              <a:rPr sz="900" b="0">
                <a:solidFill>
                  <a:srgbClr val="6B7785"/>
                </a:solidFill>
                <a:latin typeface="Calibri"/>
              </a:rPr>
              <a:t>NAPCO Nucleus  |  Mohammad Kamrul Hasan  |  Adaptive Enterprise Limited</a:t>
            </a:r>
          </a:p>
        </p:txBody>
      </p:sp>
      <p:sp>
        <p:nvSpPr>
          <p:cNvPr id="5" name="TextBox 4"/>
          <p:cNvSpPr txBox="1"/>
          <p:nvPr/>
        </p:nvSpPr>
        <p:spPr>
          <a:xfrm>
            <a:off x="10515600" y="6601968"/>
            <a:ext cx="1280160" cy="228600"/>
          </a:xfrm>
          <a:prstGeom prst="rect">
            <a:avLst/>
          </a:prstGeom>
          <a:noFill/>
        </p:spPr>
        <p:txBody>
          <a:bodyPr wrap="none">
            <a:spAutoFit/>
          </a:bodyPr>
          <a:lstStyle/>
          <a:p>
            <a:pPr algn="r"/>
            <a:r>
              <a:rPr sz="900" b="0">
                <a:solidFill>
                  <a:srgbClr val="6B7785"/>
                </a:solidFill>
                <a:latin typeface="Calibri"/>
              </a:rPr>
              <a:t>15 / 31</a:t>
            </a:r>
          </a:p>
        </p:txBody>
      </p:sp>
      <p:sp>
        <p:nvSpPr>
          <p:cNvPr id="6" name="TextBox 5"/>
          <p:cNvSpPr txBox="1"/>
          <p:nvPr/>
        </p:nvSpPr>
        <p:spPr>
          <a:xfrm>
            <a:off x="457200" y="274320"/>
            <a:ext cx="11277295" cy="640080"/>
          </a:xfrm>
          <a:prstGeom prst="rect">
            <a:avLst/>
          </a:prstGeom>
          <a:noFill/>
        </p:spPr>
        <p:txBody>
          <a:bodyPr wrap="none">
            <a:spAutoFit/>
          </a:bodyPr>
          <a:lstStyle/>
          <a:p>
            <a:pPr algn="l"/>
            <a:r>
              <a:rPr sz="2800" b="1">
                <a:solidFill>
                  <a:srgbClr val="1F4E79"/>
                </a:solidFill>
                <a:latin typeface="Calibri"/>
              </a:rPr>
              <a:t>03 · No ANTHROPIC_API_KEY</a:t>
            </a:r>
          </a:p>
        </p:txBody>
      </p:sp>
      <p:sp>
        <p:nvSpPr>
          <p:cNvPr id="7" name="TextBox 6"/>
          <p:cNvSpPr txBox="1"/>
          <p:nvPr/>
        </p:nvSpPr>
        <p:spPr>
          <a:xfrm>
            <a:off x="457200" y="868680"/>
            <a:ext cx="11277295" cy="365760"/>
          </a:xfrm>
          <a:prstGeom prst="rect">
            <a:avLst/>
          </a:prstGeom>
          <a:noFill/>
        </p:spPr>
        <p:txBody>
          <a:bodyPr wrap="none">
            <a:spAutoFit/>
          </a:bodyPr>
          <a:lstStyle/>
          <a:p>
            <a:pPr algn="l"/>
            <a:r>
              <a:rPr sz="1400" b="0">
                <a:solidFill>
                  <a:srgbClr val="6B7785"/>
                </a:solidFill>
                <a:latin typeface="Calibri"/>
              </a:rPr>
              <a:t>Why NN runs through the local Claude Code CLI</a:t>
            </a:r>
          </a:p>
        </p:txBody>
      </p:sp>
      <p:sp>
        <p:nvSpPr>
          <p:cNvPr id="8" name="Rectangle 7"/>
          <p:cNvSpPr/>
          <p:nvPr/>
        </p:nvSpPr>
        <p:spPr>
          <a:xfrm>
            <a:off x="548640" y="1554480"/>
            <a:ext cx="11091672" cy="329184"/>
          </a:xfrm>
          <a:prstGeom prst="rect">
            <a:avLst/>
          </a:prstGeom>
          <a:solidFill>
            <a:srgbClr val="6A4C93"/>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200" b="1">
                <a:solidFill>
                  <a:srgbClr val="FFFFFF"/>
                </a:solidFill>
                <a:latin typeface="Calibri"/>
              </a:rPr>
              <a:t>THE TRANSPORT MODEL</a:t>
            </a:r>
          </a:p>
        </p:txBody>
      </p:sp>
      <p:sp>
        <p:nvSpPr>
          <p:cNvPr id="9" name="Rectangle 8"/>
          <p:cNvSpPr/>
          <p:nvPr/>
        </p:nvSpPr>
        <p:spPr>
          <a:xfrm>
            <a:off x="548640" y="1883664"/>
            <a:ext cx="11091672" cy="1133856"/>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rIns="164592" tIns="109728" bIns="109728" wrap="square"/>
          <a:lstStyle/>
          <a:p>
            <a:pPr algn="l"/>
            <a:r>
              <a:rPr sz="1300" b="1">
                <a:solidFill>
                  <a:srgbClr val="1F4E79"/>
                </a:solidFill>
                <a:latin typeface="Calibri"/>
              </a:rPr>
              <a:t>• </a:t>
            </a:r>
            <a:r>
              <a:rPr sz="1300" b="1">
                <a:solidFill>
                  <a:srgbClr val="1F4E79"/>
                </a:solidFill>
                <a:latin typeface="Calibri"/>
              </a:rPr>
              <a:t>SDK normally — </a:t>
            </a:r>
            <a:r>
              <a:rPr sz="1300">
                <a:solidFill>
                  <a:srgbClr val="222222"/>
                </a:solidFill>
                <a:latin typeface="Calibri"/>
              </a:rPr>
              <a:t>talks to api.anthropic.com using ANTHROPIC_API_KEY</a:t>
            </a:r>
          </a:p>
          <a:p>
            <a:pPr algn="l">
              <a:spcBef>
                <a:spcPts val="600"/>
              </a:spcBef>
            </a:pPr>
            <a:r>
              <a:rPr sz="1300" b="1">
                <a:solidFill>
                  <a:srgbClr val="1F4E79"/>
                </a:solidFill>
                <a:latin typeface="Calibri"/>
              </a:rPr>
              <a:t>• </a:t>
            </a:r>
            <a:r>
              <a:rPr sz="1300" b="1">
                <a:solidFill>
                  <a:srgbClr val="1F4E79"/>
                </a:solidFill>
                <a:latin typeface="Calibri"/>
              </a:rPr>
              <a:t>NN — </a:t>
            </a:r>
            <a:r>
              <a:rPr sz="1300">
                <a:solidFill>
                  <a:srgbClr val="222222"/>
                </a:solidFill>
                <a:latin typeface="Calibri"/>
              </a:rPr>
              <a:t>configures the SDK with cli_path=&lt;local Claude Code CLI binary&gt;</a:t>
            </a:r>
          </a:p>
          <a:p>
            <a:pPr algn="l">
              <a:spcBef>
                <a:spcPts val="600"/>
              </a:spcBef>
            </a:pPr>
            <a:r>
              <a:rPr sz="1300" b="1">
                <a:solidFill>
                  <a:srgbClr val="1F4E79"/>
                </a:solidFill>
                <a:latin typeface="Calibri"/>
              </a:rPr>
              <a:t>• </a:t>
            </a:r>
            <a:r>
              <a:rPr sz="1300" b="1">
                <a:solidFill>
                  <a:srgbClr val="1F4E79"/>
                </a:solidFill>
                <a:latin typeface="Calibri"/>
              </a:rPr>
              <a:t>Claude Code CLI handles auth — </a:t>
            </a:r>
            <a:r>
              <a:rPr sz="1300">
                <a:solidFill>
                  <a:srgbClr val="222222"/>
                </a:solidFill>
                <a:latin typeface="Calibri"/>
              </a:rPr>
              <a:t>via the user's Claude Max subscription session, no token billing</a:t>
            </a:r>
          </a:p>
        </p:txBody>
      </p:sp>
      <p:sp>
        <p:nvSpPr>
          <p:cNvPr id="10" name="Rectangle 9"/>
          <p:cNvSpPr/>
          <p:nvPr/>
        </p:nvSpPr>
        <p:spPr>
          <a:xfrm>
            <a:off x="548640" y="3200400"/>
            <a:ext cx="5532120" cy="329184"/>
          </a:xfrm>
          <a:prstGeom prst="rect">
            <a:avLst/>
          </a:prstGeom>
          <a:solidFill>
            <a:srgbClr val="4A7A4A"/>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200" b="1">
                <a:solidFill>
                  <a:srgbClr val="FFFFFF"/>
                </a:solidFill>
                <a:latin typeface="Calibri"/>
              </a:rPr>
              <a:t>CONSEQUENCES — UPSIDE</a:t>
            </a:r>
          </a:p>
        </p:txBody>
      </p:sp>
      <p:sp>
        <p:nvSpPr>
          <p:cNvPr id="11" name="Rectangle 10"/>
          <p:cNvSpPr/>
          <p:nvPr/>
        </p:nvSpPr>
        <p:spPr>
          <a:xfrm>
            <a:off x="548640" y="3529584"/>
            <a:ext cx="5532120" cy="2779776"/>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rIns="164592" tIns="109728" bIns="109728" wrap="square"/>
          <a:lstStyle/>
          <a:p>
            <a:pPr algn="l"/>
            <a:r>
              <a:rPr sz="1300" b="1">
                <a:solidFill>
                  <a:srgbClr val="1F4E79"/>
                </a:solidFill>
                <a:latin typeface="Calibri"/>
              </a:rPr>
              <a:t>• </a:t>
            </a:r>
            <a:r>
              <a:rPr sz="1300" b="1">
                <a:solidFill>
                  <a:srgbClr val="1F4E79"/>
                </a:solidFill>
                <a:latin typeface="Calibri"/>
              </a:rPr>
              <a:t>Cost is fixed — </a:t>
            </a:r>
            <a:r>
              <a:rPr sz="1300">
                <a:solidFill>
                  <a:srgbClr val="222222"/>
                </a:solidFill>
                <a:latin typeface="Calibri"/>
              </a:rPr>
              <a:t>Claude Max subscription, ~$200/month, regardless of traffic</a:t>
            </a:r>
          </a:p>
          <a:p>
            <a:pPr algn="l">
              <a:spcBef>
                <a:spcPts val="600"/>
              </a:spcBef>
            </a:pPr>
            <a:r>
              <a:rPr sz="1300" b="1">
                <a:solidFill>
                  <a:srgbClr val="1F4E79"/>
                </a:solidFill>
                <a:latin typeface="Calibri"/>
              </a:rPr>
              <a:t>• </a:t>
            </a:r>
            <a:r>
              <a:rPr sz="1300" b="1">
                <a:solidFill>
                  <a:srgbClr val="1F4E79"/>
                </a:solidFill>
                <a:latin typeface="Calibri"/>
              </a:rPr>
              <a:t>No token-billing surprise — </a:t>
            </a:r>
            <a:r>
              <a:rPr sz="1300">
                <a:solidFill>
                  <a:srgbClr val="222222"/>
                </a:solidFill>
                <a:latin typeface="Calibri"/>
              </a:rPr>
              <a:t>no runaway loops draining the budget</a:t>
            </a:r>
          </a:p>
          <a:p>
            <a:pPr algn="l">
              <a:spcBef>
                <a:spcPts val="600"/>
              </a:spcBef>
            </a:pPr>
            <a:r>
              <a:rPr sz="1300" b="1">
                <a:solidFill>
                  <a:srgbClr val="1F4E79"/>
                </a:solidFill>
                <a:latin typeface="Calibri"/>
              </a:rPr>
              <a:t>• </a:t>
            </a:r>
            <a:r>
              <a:rPr sz="1300" b="1">
                <a:solidFill>
                  <a:srgbClr val="1F4E79"/>
                </a:solidFill>
                <a:latin typeface="Calibri"/>
              </a:rPr>
              <a:t>No secret to rotate — </a:t>
            </a:r>
            <a:r>
              <a:rPr sz="1300">
                <a:solidFill>
                  <a:srgbClr val="222222"/>
                </a:solidFill>
                <a:latin typeface="Calibri"/>
              </a:rPr>
              <a:t>auth lives in the CLI session, not in env vars</a:t>
            </a:r>
          </a:p>
          <a:p>
            <a:pPr algn="l">
              <a:spcBef>
                <a:spcPts val="600"/>
              </a:spcBef>
            </a:pPr>
            <a:r>
              <a:rPr sz="1300" b="1">
                <a:solidFill>
                  <a:srgbClr val="1F4E79"/>
                </a:solidFill>
                <a:latin typeface="Calibri"/>
              </a:rPr>
              <a:t>• </a:t>
            </a:r>
            <a:r>
              <a:rPr sz="1300" b="1">
                <a:solidFill>
                  <a:srgbClr val="1F4E79"/>
                </a:solidFill>
                <a:latin typeface="Calibri"/>
              </a:rPr>
              <a:t>Predictable forecasting — </a:t>
            </a:r>
            <a:r>
              <a:rPr sz="1300">
                <a:solidFill>
                  <a:srgbClr val="222222"/>
                </a:solidFill>
                <a:latin typeface="Calibri"/>
              </a:rPr>
              <a:t>annual cost = $200 × 12, full stop</a:t>
            </a:r>
          </a:p>
        </p:txBody>
      </p:sp>
      <p:sp>
        <p:nvSpPr>
          <p:cNvPr id="12" name="Rectangle 11"/>
          <p:cNvSpPr/>
          <p:nvPr/>
        </p:nvSpPr>
        <p:spPr>
          <a:xfrm>
            <a:off x="6263640" y="3200400"/>
            <a:ext cx="5532120" cy="329184"/>
          </a:xfrm>
          <a:prstGeom prst="rect">
            <a:avLst/>
          </a:prstGeom>
          <a:solidFill>
            <a:srgbClr val="E07856"/>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200" b="1">
                <a:solidFill>
                  <a:srgbClr val="FFFFFF"/>
                </a:solidFill>
                <a:latin typeface="Calibri"/>
              </a:rPr>
              <a:t>CONSEQUENCES — CONSTRAINT</a:t>
            </a:r>
          </a:p>
        </p:txBody>
      </p:sp>
      <p:sp>
        <p:nvSpPr>
          <p:cNvPr id="13" name="Rectangle 12"/>
          <p:cNvSpPr/>
          <p:nvPr/>
        </p:nvSpPr>
        <p:spPr>
          <a:xfrm>
            <a:off x="6263640" y="3529584"/>
            <a:ext cx="5532120" cy="2779776"/>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rIns="164592" tIns="109728" bIns="109728" wrap="square"/>
          <a:lstStyle/>
          <a:p>
            <a:pPr algn="l"/>
            <a:r>
              <a:rPr sz="1300" b="1">
                <a:solidFill>
                  <a:srgbClr val="1F4E79"/>
                </a:solidFill>
                <a:latin typeface="Calibri"/>
              </a:rPr>
              <a:t>• </a:t>
            </a:r>
            <a:r>
              <a:rPr sz="1300" b="1">
                <a:solidFill>
                  <a:srgbClr val="1F4E79"/>
                </a:solidFill>
                <a:latin typeface="Calibri"/>
              </a:rPr>
              <a:t>Cannot run on cloud CI — </a:t>
            </a:r>
            <a:r>
              <a:rPr sz="1300">
                <a:solidFill>
                  <a:srgbClr val="222222"/>
                </a:solidFill>
                <a:latin typeface="Calibri"/>
              </a:rPr>
              <a:t>no Claude Max session available there</a:t>
            </a:r>
          </a:p>
          <a:p>
            <a:pPr algn="l">
              <a:spcBef>
                <a:spcPts val="600"/>
              </a:spcBef>
            </a:pPr>
            <a:r>
              <a:rPr sz="1300" b="1">
                <a:solidFill>
                  <a:srgbClr val="1F4E79"/>
                </a:solidFill>
                <a:latin typeface="Calibri"/>
              </a:rPr>
              <a:t>• </a:t>
            </a:r>
            <a:r>
              <a:rPr sz="1300" b="1">
                <a:solidFill>
                  <a:srgbClr val="1F4E79"/>
                </a:solidFill>
                <a:latin typeface="Calibri"/>
              </a:rPr>
              <a:t>Self-hosted runner mandatory — </a:t>
            </a:r>
            <a:r>
              <a:rPr sz="1300">
                <a:solidFill>
                  <a:srgbClr val="222222"/>
                </a:solidFill>
                <a:latin typeface="Calibri"/>
              </a:rPr>
              <a:t>the runner has the CLI logged in 24/7</a:t>
            </a:r>
          </a:p>
          <a:p>
            <a:pPr algn="l">
              <a:spcBef>
                <a:spcPts val="600"/>
              </a:spcBef>
            </a:pPr>
            <a:r>
              <a:rPr sz="1300" b="1">
                <a:solidFill>
                  <a:srgbClr val="1F4E79"/>
                </a:solidFill>
                <a:latin typeface="Calibri"/>
              </a:rPr>
              <a:t>• </a:t>
            </a:r>
            <a:r>
              <a:rPr sz="1300" b="1">
                <a:solidFill>
                  <a:srgbClr val="1F4E79"/>
                </a:solidFill>
                <a:latin typeface="Calibri"/>
              </a:rPr>
              <a:t>If CLI logs out —  </a:t>
            </a:r>
            <a:r>
              <a:rPr sz="1300">
                <a:solidFill>
                  <a:srgbClr val="222222"/>
                </a:solidFill>
                <a:latin typeface="Calibri"/>
              </a:rPr>
              <a:t>every workflow fails until somebody re-authenticates</a:t>
            </a:r>
          </a:p>
          <a:p>
            <a:pPr algn="l">
              <a:spcBef>
                <a:spcPts val="600"/>
              </a:spcBef>
            </a:pPr>
            <a:r>
              <a:rPr sz="1300" b="1">
                <a:solidFill>
                  <a:srgbClr val="1F4E79"/>
                </a:solidFill>
                <a:latin typeface="Calibri"/>
              </a:rPr>
              <a:t>• </a:t>
            </a:r>
            <a:r>
              <a:rPr sz="1300" b="1">
                <a:solidFill>
                  <a:srgbClr val="1F4E79"/>
                </a:solidFill>
                <a:latin typeface="Calibri"/>
              </a:rPr>
              <a:t>Honest single-machine bottleneck — </a:t>
            </a:r>
            <a:r>
              <a:rPr sz="1300">
                <a:solidFill>
                  <a:srgbClr val="222222"/>
                </a:solidFill>
                <a:latin typeface="Calibri"/>
              </a:rPr>
              <a:t>tradeoff for the cost ceiling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565392"/>
            <a:ext cx="11277295" cy="9000"/>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601968"/>
            <a:ext cx="7315200" cy="228600"/>
          </a:xfrm>
          <a:prstGeom prst="rect">
            <a:avLst/>
          </a:prstGeom>
          <a:noFill/>
        </p:spPr>
        <p:txBody>
          <a:bodyPr wrap="none">
            <a:spAutoFit/>
          </a:bodyPr>
          <a:lstStyle/>
          <a:p>
            <a:pPr algn="l"/>
            <a:r>
              <a:rPr sz="900" b="0">
                <a:solidFill>
                  <a:srgbClr val="6B7785"/>
                </a:solidFill>
                <a:latin typeface="Calibri"/>
              </a:rPr>
              <a:t>NAPCO Nucleus  |  Mohammad Kamrul Hasan  |  Adaptive Enterprise Limited</a:t>
            </a:r>
          </a:p>
        </p:txBody>
      </p:sp>
      <p:sp>
        <p:nvSpPr>
          <p:cNvPr id="5" name="TextBox 4"/>
          <p:cNvSpPr txBox="1"/>
          <p:nvPr/>
        </p:nvSpPr>
        <p:spPr>
          <a:xfrm>
            <a:off x="10515600" y="6601968"/>
            <a:ext cx="1280160" cy="228600"/>
          </a:xfrm>
          <a:prstGeom prst="rect">
            <a:avLst/>
          </a:prstGeom>
          <a:noFill/>
        </p:spPr>
        <p:txBody>
          <a:bodyPr wrap="none">
            <a:spAutoFit/>
          </a:bodyPr>
          <a:lstStyle/>
          <a:p>
            <a:pPr algn="r"/>
            <a:r>
              <a:rPr sz="900" b="0">
                <a:solidFill>
                  <a:srgbClr val="6B7785"/>
                </a:solidFill>
                <a:latin typeface="Calibri"/>
              </a:rPr>
              <a:t>16 / 31</a:t>
            </a:r>
          </a:p>
        </p:txBody>
      </p:sp>
      <p:sp>
        <p:nvSpPr>
          <p:cNvPr id="6" name="TextBox 5"/>
          <p:cNvSpPr txBox="1"/>
          <p:nvPr/>
        </p:nvSpPr>
        <p:spPr>
          <a:xfrm>
            <a:off x="457200" y="274320"/>
            <a:ext cx="11277295" cy="640080"/>
          </a:xfrm>
          <a:prstGeom prst="rect">
            <a:avLst/>
          </a:prstGeom>
          <a:noFill/>
        </p:spPr>
        <p:txBody>
          <a:bodyPr wrap="none">
            <a:spAutoFit/>
          </a:bodyPr>
          <a:lstStyle/>
          <a:p>
            <a:pPr algn="l"/>
            <a:r>
              <a:rPr sz="2800" b="1">
                <a:solidFill>
                  <a:srgbClr val="1F4E79"/>
                </a:solidFill>
                <a:latin typeface="Calibri"/>
              </a:rPr>
              <a:t>03 · MCP Tool Surface</a:t>
            </a:r>
          </a:p>
        </p:txBody>
      </p:sp>
      <p:sp>
        <p:nvSpPr>
          <p:cNvPr id="7" name="TextBox 6"/>
          <p:cNvSpPr txBox="1"/>
          <p:nvPr/>
        </p:nvSpPr>
        <p:spPr>
          <a:xfrm>
            <a:off x="457200" y="868680"/>
            <a:ext cx="11277295" cy="365760"/>
          </a:xfrm>
          <a:prstGeom prst="rect">
            <a:avLst/>
          </a:prstGeom>
          <a:noFill/>
        </p:spPr>
        <p:txBody>
          <a:bodyPr wrap="none">
            <a:spAutoFit/>
          </a:bodyPr>
          <a:lstStyle/>
          <a:p>
            <a:pPr algn="l"/>
            <a:r>
              <a:rPr sz="1400" b="0">
                <a:solidFill>
                  <a:srgbClr val="6B7785"/>
                </a:solidFill>
                <a:latin typeface="Calibri"/>
              </a:rPr>
              <a:t>31 tools across 6 modules — the I/O layer</a:t>
            </a:r>
          </a:p>
        </p:txBody>
      </p:sp>
      <p:graphicFrame>
        <p:nvGraphicFramePr>
          <p:cNvPr id="8" name="Table 7"/>
          <p:cNvGraphicFramePr>
            <a:graphicFrameLocks noGrp="1"/>
          </p:cNvGraphicFramePr>
          <p:nvPr/>
        </p:nvGraphicFramePr>
        <p:xfrm>
          <a:off x="548640" y="1554480"/>
          <a:ext cx="11091671" cy="2688336"/>
        </p:xfrm>
        <a:graphic>
          <a:graphicData uri="http://schemas.openxmlformats.org/drawingml/2006/table">
            <a:tbl>
              <a:tblPr firstRow="1" bandRow="1">
                <a:tableStyleId>{5C22544A-7EE6-4342-B048-85BDC9FD1C3A}</a:tableStyleId>
              </a:tblPr>
              <a:tblGrid>
                <a:gridCol w="1552834"/>
                <a:gridCol w="665500"/>
                <a:gridCol w="3549335"/>
                <a:gridCol w="5324002"/>
              </a:tblGrid>
              <a:tr h="384048">
                <a:tc>
                  <a:txBody>
                    <a:bodyPr wrap="square"/>
                    <a:lstStyle/>
                    <a:p>
                      <a:pPr algn="l"/>
                      <a:r>
                        <a:rPr sz="1200" b="1">
                          <a:solidFill>
                            <a:srgbClr val="FFFFFF"/>
                          </a:solidFill>
                          <a:latin typeface="Calibri"/>
                        </a:rPr>
                        <a:t>Module</a:t>
                      </a:r>
                    </a:p>
                  </a:txBody>
                  <a:tcPr marL="91440" marR="91440" marT="54864" marB="54864">
                    <a:solidFill>
                      <a:srgbClr val="6A4C93"/>
                    </a:solidFill>
                  </a:tcPr>
                </a:tc>
                <a:tc>
                  <a:txBody>
                    <a:bodyPr wrap="square"/>
                    <a:lstStyle/>
                    <a:p>
                      <a:pPr algn="l"/>
                      <a:r>
                        <a:rPr sz="1200" b="1">
                          <a:solidFill>
                            <a:srgbClr val="FFFFFF"/>
                          </a:solidFill>
                          <a:latin typeface="Calibri"/>
                        </a:rPr>
                        <a:t>N</a:t>
                      </a:r>
                    </a:p>
                  </a:txBody>
                  <a:tcPr marL="91440" marR="91440" marT="54864" marB="54864">
                    <a:solidFill>
                      <a:srgbClr val="6A4C93"/>
                    </a:solidFill>
                  </a:tcPr>
                </a:tc>
                <a:tc>
                  <a:txBody>
                    <a:bodyPr wrap="square"/>
                    <a:lstStyle/>
                    <a:p>
                      <a:pPr algn="l"/>
                      <a:r>
                        <a:rPr sz="1200" b="1">
                          <a:solidFill>
                            <a:srgbClr val="FFFFFF"/>
                          </a:solidFill>
                          <a:latin typeface="Calibri"/>
                        </a:rPr>
                        <a:t>Responsibility</a:t>
                      </a:r>
                    </a:p>
                  </a:txBody>
                  <a:tcPr marL="91440" marR="91440" marT="54864" marB="54864">
                    <a:solidFill>
                      <a:srgbClr val="6A4C93"/>
                    </a:solidFill>
                  </a:tcPr>
                </a:tc>
                <a:tc>
                  <a:txBody>
                    <a:bodyPr wrap="square"/>
                    <a:lstStyle/>
                    <a:p>
                      <a:pPr algn="l"/>
                      <a:r>
                        <a:rPr sz="1200" b="1">
                          <a:solidFill>
                            <a:srgbClr val="FFFFFF"/>
                          </a:solidFill>
                          <a:latin typeface="Calibri"/>
                        </a:rPr>
                        <a:t>Representative tools</a:t>
                      </a:r>
                    </a:p>
                  </a:txBody>
                  <a:tcPr marL="91440" marR="91440" marT="54864" marB="54864">
                    <a:solidFill>
                      <a:srgbClr val="6A4C93"/>
                    </a:solidFill>
                  </a:tcPr>
                </a:tc>
              </a:tr>
              <a:tr h="384048">
                <a:tc>
                  <a:txBody>
                    <a:bodyPr wrap="square"/>
                    <a:lstStyle/>
                    <a:p>
                      <a:pPr algn="l"/>
                      <a:r>
                        <a:rPr sz="1100">
                          <a:solidFill>
                            <a:srgbClr val="222222"/>
                          </a:solidFill>
                          <a:latin typeface="Calibri"/>
                        </a:rPr>
                        <a:t>memory</a:t>
                      </a:r>
                    </a:p>
                  </a:txBody>
                  <a:tcPr marL="91440" marR="91440" marT="54864" marB="54864">
                    <a:solidFill>
                      <a:srgbClr val="FFFFFF"/>
                    </a:solidFill>
                  </a:tcPr>
                </a:tc>
                <a:tc>
                  <a:txBody>
                    <a:bodyPr wrap="square"/>
                    <a:lstStyle/>
                    <a:p>
                      <a:pPr algn="l"/>
                      <a:r>
                        <a:rPr sz="1100">
                          <a:solidFill>
                            <a:srgbClr val="222222"/>
                          </a:solidFill>
                          <a:latin typeface="Calibri"/>
                        </a:rPr>
                        <a:t>5</a:t>
                      </a:r>
                    </a:p>
                  </a:txBody>
                  <a:tcPr marL="91440" marR="91440" marT="54864" marB="54864">
                    <a:solidFill>
                      <a:srgbClr val="FFFFFF"/>
                    </a:solidFill>
                  </a:tcPr>
                </a:tc>
                <a:tc>
                  <a:txBody>
                    <a:bodyPr wrap="square"/>
                    <a:lstStyle/>
                    <a:p>
                      <a:pPr algn="l"/>
                      <a:r>
                        <a:rPr sz="1100">
                          <a:solidFill>
                            <a:srgbClr val="222222"/>
                          </a:solidFill>
                          <a:latin typeface="Calibri"/>
                        </a:rPr>
                        <a:t>SQLite-backed cross-run continuity</a:t>
                      </a:r>
                    </a:p>
                  </a:txBody>
                  <a:tcPr marL="91440" marR="91440" marT="54864" marB="54864">
                    <a:solidFill>
                      <a:srgbClr val="FFFFFF"/>
                    </a:solidFill>
                  </a:tcPr>
                </a:tc>
                <a:tc>
                  <a:txBody>
                    <a:bodyPr wrap="square"/>
                    <a:lstStyle/>
                    <a:p>
                      <a:pPr algn="l"/>
                      <a:r>
                        <a:rPr sz="1100">
                          <a:solidFill>
                            <a:srgbClr val="222222"/>
                          </a:solidFill>
                          <a:latin typeface="Calibri"/>
                        </a:rPr>
                        <a:t>log_activity, recall_activity, search_requirements, recall_test_runs, memory_stats</a:t>
                      </a:r>
                    </a:p>
                  </a:txBody>
                  <a:tcPr marL="91440" marR="91440" marT="54864" marB="54864">
                    <a:solidFill>
                      <a:srgbClr val="FFFFFF"/>
                    </a:solidFill>
                  </a:tcPr>
                </a:tc>
              </a:tr>
              <a:tr h="384048">
                <a:tc>
                  <a:txBody>
                    <a:bodyPr wrap="square"/>
                    <a:lstStyle/>
                    <a:p>
                      <a:pPr algn="l"/>
                      <a:r>
                        <a:rPr sz="1100">
                          <a:solidFill>
                            <a:srgbClr val="222222"/>
                          </a:solidFill>
                          <a:latin typeface="Calibri"/>
                        </a:rPr>
                        <a:t>requirements</a:t>
                      </a:r>
                    </a:p>
                  </a:txBody>
                  <a:tcPr marL="91440" marR="91440" marT="54864" marB="54864">
                    <a:solidFill>
                      <a:srgbClr val="F5F7FA"/>
                    </a:solidFill>
                  </a:tcPr>
                </a:tc>
                <a:tc>
                  <a:txBody>
                    <a:bodyPr wrap="square"/>
                    <a:lstStyle/>
                    <a:p>
                      <a:pPr algn="l"/>
                      <a:r>
                        <a:rPr sz="1100">
                          <a:solidFill>
                            <a:srgbClr val="222222"/>
                          </a:solidFill>
                          <a:latin typeface="Calibri"/>
                        </a:rPr>
                        <a:t>4</a:t>
                      </a:r>
                    </a:p>
                  </a:txBody>
                  <a:tcPr marL="91440" marR="91440" marT="54864" marB="54864">
                    <a:solidFill>
                      <a:srgbClr val="F5F7FA"/>
                    </a:solidFill>
                  </a:tcPr>
                </a:tc>
                <a:tc>
                  <a:txBody>
                    <a:bodyPr wrap="square"/>
                    <a:lstStyle/>
                    <a:p>
                      <a:pPr algn="l"/>
                      <a:r>
                        <a:rPr sz="1100">
                          <a:solidFill>
                            <a:srgbClr val="222222"/>
                          </a:solidFill>
                          <a:latin typeface="Calibri"/>
                        </a:rPr>
                        <a:t>Email + Drive ingestion → OpenProject</a:t>
                      </a:r>
                    </a:p>
                  </a:txBody>
                  <a:tcPr marL="91440" marR="91440" marT="54864" marB="54864">
                    <a:solidFill>
                      <a:srgbClr val="F5F7FA"/>
                    </a:solidFill>
                  </a:tcPr>
                </a:tc>
                <a:tc>
                  <a:txBody>
                    <a:bodyPr wrap="square"/>
                    <a:lstStyle/>
                    <a:p>
                      <a:pPr algn="l"/>
                      <a:r>
                        <a:rPr sz="1100">
                          <a:solidFill>
                            <a:srgbClr val="222222"/>
                          </a:solidFill>
                          <a:latin typeface="Calibri"/>
                        </a:rPr>
                        <a:t>poll_requirement_emails, ingest_drive_files, read_requirement_inbox, publish_tasks_to_backlog</a:t>
                      </a:r>
                    </a:p>
                  </a:txBody>
                  <a:tcPr marL="91440" marR="91440" marT="54864" marB="54864">
                    <a:solidFill>
                      <a:srgbClr val="F5F7FA"/>
                    </a:solidFill>
                  </a:tcPr>
                </a:tc>
              </a:tr>
              <a:tr h="384048">
                <a:tc>
                  <a:txBody>
                    <a:bodyPr wrap="square"/>
                    <a:lstStyle/>
                    <a:p>
                      <a:pPr algn="l"/>
                      <a:r>
                        <a:rPr sz="1100">
                          <a:solidFill>
                            <a:srgbClr val="222222"/>
                          </a:solidFill>
                          <a:latin typeface="Calibri"/>
                        </a:rPr>
                        <a:t>tests</a:t>
                      </a:r>
                    </a:p>
                  </a:txBody>
                  <a:tcPr marL="91440" marR="91440" marT="54864" marB="54864">
                    <a:solidFill>
                      <a:srgbClr val="FFFFFF"/>
                    </a:solidFill>
                  </a:tcPr>
                </a:tc>
                <a:tc>
                  <a:txBody>
                    <a:bodyPr wrap="square"/>
                    <a:lstStyle/>
                    <a:p>
                      <a:pPr algn="l"/>
                      <a:r>
                        <a:rPr sz="1100">
                          <a:solidFill>
                            <a:srgbClr val="222222"/>
                          </a:solidFill>
                          <a:latin typeface="Calibri"/>
                        </a:rPr>
                        <a:t>9</a:t>
                      </a:r>
                    </a:p>
                  </a:txBody>
                  <a:tcPr marL="91440" marR="91440" marT="54864" marB="54864">
                    <a:solidFill>
                      <a:srgbClr val="FFFFFF"/>
                    </a:solidFill>
                  </a:tcPr>
                </a:tc>
                <a:tc>
                  <a:txBody>
                    <a:bodyPr wrap="square"/>
                    <a:lstStyle/>
                    <a:p>
                      <a:pPr algn="l"/>
                      <a:r>
                        <a:rPr sz="1100">
                          <a:solidFill>
                            <a:srgbClr val="222222"/>
                          </a:solidFill>
                          <a:latin typeface="Calibri"/>
                        </a:rPr>
                        <a:t>Test execution + health probes</a:t>
                      </a:r>
                    </a:p>
                  </a:txBody>
                  <a:tcPr marL="91440" marR="91440" marT="54864" marB="54864">
                    <a:solidFill>
                      <a:srgbClr val="FFFFFF"/>
                    </a:solidFill>
                  </a:tcPr>
                </a:tc>
                <a:tc>
                  <a:txBody>
                    <a:bodyPr wrap="square"/>
                    <a:lstStyle/>
                    <a:p>
                      <a:pPr algn="l"/>
                      <a:r>
                        <a:rPr sz="1100">
                          <a:solidFill>
                            <a:srgbClr val="222222"/>
                          </a:solidFill>
                          <a:latin typeface="Calibri"/>
                        </a:rPr>
                        <a:t>run_api_tests, run_integration_tests, run_load_tests, run_e2e_tests, run_single_e2e_test, ...</a:t>
                      </a:r>
                    </a:p>
                  </a:txBody>
                  <a:tcPr marL="91440" marR="91440" marT="54864" marB="54864">
                    <a:solidFill>
                      <a:srgbClr val="FFFFFF"/>
                    </a:solidFill>
                  </a:tcPr>
                </a:tc>
              </a:tr>
              <a:tr h="384048">
                <a:tc>
                  <a:txBody>
                    <a:bodyPr wrap="square"/>
                    <a:lstStyle/>
                    <a:p>
                      <a:pPr algn="l"/>
                      <a:r>
                        <a:rPr sz="1100">
                          <a:solidFill>
                            <a:srgbClr val="222222"/>
                          </a:solidFill>
                          <a:latin typeface="Calibri"/>
                        </a:rPr>
                        <a:t>files</a:t>
                      </a:r>
                    </a:p>
                  </a:txBody>
                  <a:tcPr marL="91440" marR="91440" marT="54864" marB="54864">
                    <a:solidFill>
                      <a:srgbClr val="F5F7FA"/>
                    </a:solidFill>
                  </a:tcPr>
                </a:tc>
                <a:tc>
                  <a:txBody>
                    <a:bodyPr wrap="square"/>
                    <a:lstStyle/>
                    <a:p>
                      <a:pPr algn="l"/>
                      <a:r>
                        <a:rPr sz="1100">
                          <a:solidFill>
                            <a:srgbClr val="222222"/>
                          </a:solidFill>
                          <a:latin typeface="Calibri"/>
                        </a:rPr>
                        <a:t>5</a:t>
                      </a:r>
                    </a:p>
                  </a:txBody>
                  <a:tcPr marL="91440" marR="91440" marT="54864" marB="54864">
                    <a:solidFill>
                      <a:srgbClr val="F5F7FA"/>
                    </a:solidFill>
                  </a:tcPr>
                </a:tc>
                <a:tc>
                  <a:txBody>
                    <a:bodyPr wrap="square"/>
                    <a:lstStyle/>
                    <a:p>
                      <a:pPr algn="l"/>
                      <a:r>
                        <a:rPr sz="1100">
                          <a:solidFill>
                            <a:srgbClr val="222222"/>
                          </a:solidFill>
                          <a:latin typeface="Calibri"/>
                        </a:rPr>
                        <a:t>Sibling-project file IO + Playwright a11y</a:t>
                      </a:r>
                    </a:p>
                  </a:txBody>
                  <a:tcPr marL="91440" marR="91440" marT="54864" marB="54864">
                    <a:solidFill>
                      <a:srgbClr val="F5F7FA"/>
                    </a:solidFill>
                  </a:tcPr>
                </a:tc>
                <a:tc>
                  <a:txBody>
                    <a:bodyPr wrap="square"/>
                    <a:lstStyle/>
                    <a:p>
                      <a:pPr algn="l"/>
                      <a:r>
                        <a:rPr sz="1100">
                          <a:solidFill>
                            <a:srgbClr val="222222"/>
                          </a:solidFill>
                          <a:latin typeface="Calibri"/>
                        </a:rPr>
                        <a:t>list_files, read_file, write_file, edit_file, explore_ui</a:t>
                      </a:r>
                    </a:p>
                  </a:txBody>
                  <a:tcPr marL="91440" marR="91440" marT="54864" marB="54864">
                    <a:solidFill>
                      <a:srgbClr val="F5F7FA"/>
                    </a:solidFill>
                  </a:tcPr>
                </a:tc>
              </a:tr>
              <a:tr h="384048">
                <a:tc>
                  <a:txBody>
                    <a:bodyPr wrap="square"/>
                    <a:lstStyle/>
                    <a:p>
                      <a:pPr algn="l"/>
                      <a:r>
                        <a:rPr sz="1100">
                          <a:solidFill>
                            <a:srgbClr val="222222"/>
                          </a:solidFill>
                          <a:latin typeface="Calibri"/>
                        </a:rPr>
                        <a:t>git</a:t>
                      </a:r>
                    </a:p>
                  </a:txBody>
                  <a:tcPr marL="91440" marR="91440" marT="54864" marB="54864">
                    <a:solidFill>
                      <a:srgbClr val="FFFFFF"/>
                    </a:solidFill>
                  </a:tcPr>
                </a:tc>
                <a:tc>
                  <a:txBody>
                    <a:bodyPr wrap="square"/>
                    <a:lstStyle/>
                    <a:p>
                      <a:pPr algn="l"/>
                      <a:r>
                        <a:rPr sz="1100">
                          <a:solidFill>
                            <a:srgbClr val="222222"/>
                          </a:solidFill>
                          <a:latin typeface="Calibri"/>
                        </a:rPr>
                        <a:t>3</a:t>
                      </a:r>
                    </a:p>
                  </a:txBody>
                  <a:tcPr marL="91440" marR="91440" marT="54864" marB="54864">
                    <a:solidFill>
                      <a:srgbClr val="FFFFFF"/>
                    </a:solidFill>
                  </a:tcPr>
                </a:tc>
                <a:tc>
                  <a:txBody>
                    <a:bodyPr wrap="square"/>
                    <a:lstStyle/>
                    <a:p>
                      <a:pPr algn="l"/>
                      <a:r>
                        <a:rPr sz="1100">
                          <a:solidFill>
                            <a:srgbClr val="222222"/>
                          </a:solidFill>
                          <a:latin typeface="Calibri"/>
                        </a:rPr>
                        <a:t>Read-only git context across projects</a:t>
                      </a:r>
                    </a:p>
                  </a:txBody>
                  <a:tcPr marL="91440" marR="91440" marT="54864" marB="54864">
                    <a:solidFill>
                      <a:srgbClr val="FFFFFF"/>
                    </a:solidFill>
                  </a:tcPr>
                </a:tc>
                <a:tc>
                  <a:txBody>
                    <a:bodyPr wrap="square"/>
                    <a:lstStyle/>
                    <a:p>
                      <a:pPr algn="l"/>
                      <a:r>
                        <a:rPr sz="1100">
                          <a:solidFill>
                            <a:srgbClr val="222222"/>
                          </a:solidFill>
                          <a:latin typeface="Calibri"/>
                        </a:rPr>
                        <a:t>git_diff, git_recent_commits, git_commit_and_push</a:t>
                      </a:r>
                    </a:p>
                  </a:txBody>
                  <a:tcPr marL="91440" marR="91440" marT="54864" marB="54864">
                    <a:solidFill>
                      <a:srgbClr val="FFFFFF"/>
                    </a:solidFill>
                  </a:tcPr>
                </a:tc>
              </a:tr>
              <a:tr h="384048">
                <a:tc>
                  <a:txBody>
                    <a:bodyPr wrap="square"/>
                    <a:lstStyle/>
                    <a:p>
                      <a:pPr algn="l"/>
                      <a:r>
                        <a:rPr sz="1100">
                          <a:solidFill>
                            <a:srgbClr val="222222"/>
                          </a:solidFill>
                          <a:latin typeface="Calibri"/>
                        </a:rPr>
                        <a:t>report</a:t>
                      </a:r>
                    </a:p>
                  </a:txBody>
                  <a:tcPr marL="91440" marR="91440" marT="54864" marB="54864">
                    <a:solidFill>
                      <a:srgbClr val="F5F7FA"/>
                    </a:solidFill>
                  </a:tcPr>
                </a:tc>
                <a:tc>
                  <a:txBody>
                    <a:bodyPr wrap="square"/>
                    <a:lstStyle/>
                    <a:p>
                      <a:pPr algn="l"/>
                      <a:r>
                        <a:rPr sz="1100">
                          <a:solidFill>
                            <a:srgbClr val="222222"/>
                          </a:solidFill>
                          <a:latin typeface="Calibri"/>
                        </a:rPr>
                        <a:t>5</a:t>
                      </a:r>
                    </a:p>
                  </a:txBody>
                  <a:tcPr marL="91440" marR="91440" marT="54864" marB="54864">
                    <a:solidFill>
                      <a:srgbClr val="F5F7FA"/>
                    </a:solidFill>
                  </a:tcPr>
                </a:tc>
                <a:tc>
                  <a:txBody>
                    <a:bodyPr wrap="square"/>
                    <a:lstStyle/>
                    <a:p>
                      <a:pPr algn="l"/>
                      <a:r>
                        <a:rPr sz="1100">
                          <a:solidFill>
                            <a:srgbClr val="222222"/>
                          </a:solidFill>
                          <a:latin typeface="Calibri"/>
                        </a:rPr>
                        <a:t>PDF + email + Teams + log tail + cleanup</a:t>
                      </a:r>
                    </a:p>
                  </a:txBody>
                  <a:tcPr marL="91440" marR="91440" marT="54864" marB="54864">
                    <a:solidFill>
                      <a:srgbClr val="F5F7FA"/>
                    </a:solidFill>
                  </a:tcPr>
                </a:tc>
                <a:tc>
                  <a:txBody>
                    <a:bodyPr wrap="square"/>
                    <a:lstStyle/>
                    <a:p>
                      <a:pPr algn="l"/>
                      <a:r>
                        <a:rPr sz="1100">
                          <a:solidFill>
                            <a:srgbClr val="222222"/>
                          </a:solidFill>
                          <a:latin typeface="Calibri"/>
                        </a:rPr>
                        <a:t>generate_pdf_report, send_email, send_teams_digest, tail_log, clean_reports</a:t>
                      </a:r>
                    </a:p>
                  </a:txBody>
                  <a:tcPr marL="91440" marR="91440" marT="54864" marB="54864">
                    <a:solidFill>
                      <a:srgbClr val="F5F7FA"/>
                    </a:solidFill>
                  </a:tcPr>
                </a:tc>
              </a:tr>
            </a:tbl>
          </a:graphicData>
        </a:graphic>
      </p:graphicFrame>
      <p:sp>
        <p:nvSpPr>
          <p:cNvPr id="9" name="TextBox 8"/>
          <p:cNvSpPr txBox="1"/>
          <p:nvPr/>
        </p:nvSpPr>
        <p:spPr>
          <a:xfrm>
            <a:off x="548640" y="6035040"/>
            <a:ext cx="10972800" cy="365760"/>
          </a:xfrm>
          <a:prstGeom prst="rect">
            <a:avLst/>
          </a:prstGeom>
          <a:noFill/>
        </p:spPr>
        <p:txBody>
          <a:bodyPr wrap="none">
            <a:spAutoFit/>
          </a:bodyPr>
          <a:lstStyle/>
          <a:p>
            <a:pPr algn="ctr"/>
            <a:r>
              <a:rPr sz="1100" b="0">
                <a:solidFill>
                  <a:srgbClr val="6B7785"/>
                </a:solidFill>
                <a:latin typeface="Calibri"/>
              </a:rPr>
              <a:t>Each module exposes TOOLS (registered functions) and TOOL_NAMES (allowlist). tools/__init__.py concatenates them into ALL_TOOLS.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565392"/>
            <a:ext cx="11277295" cy="9000"/>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601968"/>
            <a:ext cx="7315200" cy="228600"/>
          </a:xfrm>
          <a:prstGeom prst="rect">
            <a:avLst/>
          </a:prstGeom>
          <a:noFill/>
        </p:spPr>
        <p:txBody>
          <a:bodyPr wrap="none">
            <a:spAutoFit/>
          </a:bodyPr>
          <a:lstStyle/>
          <a:p>
            <a:pPr algn="l"/>
            <a:r>
              <a:rPr sz="900" b="0">
                <a:solidFill>
                  <a:srgbClr val="6B7785"/>
                </a:solidFill>
                <a:latin typeface="Calibri"/>
              </a:rPr>
              <a:t>NAPCO Nucleus  |  Mohammad Kamrul Hasan  |  Adaptive Enterprise Limited</a:t>
            </a:r>
          </a:p>
        </p:txBody>
      </p:sp>
      <p:sp>
        <p:nvSpPr>
          <p:cNvPr id="5" name="TextBox 4"/>
          <p:cNvSpPr txBox="1"/>
          <p:nvPr/>
        </p:nvSpPr>
        <p:spPr>
          <a:xfrm>
            <a:off x="10515600" y="6601968"/>
            <a:ext cx="1280160" cy="228600"/>
          </a:xfrm>
          <a:prstGeom prst="rect">
            <a:avLst/>
          </a:prstGeom>
          <a:noFill/>
        </p:spPr>
        <p:txBody>
          <a:bodyPr wrap="none">
            <a:spAutoFit/>
          </a:bodyPr>
          <a:lstStyle/>
          <a:p>
            <a:pPr algn="r"/>
            <a:r>
              <a:rPr sz="900" b="0">
                <a:solidFill>
                  <a:srgbClr val="6B7785"/>
                </a:solidFill>
                <a:latin typeface="Calibri"/>
              </a:rPr>
              <a:t>17 / 31</a:t>
            </a:r>
          </a:p>
        </p:txBody>
      </p:sp>
      <p:sp>
        <p:nvSpPr>
          <p:cNvPr id="6" name="TextBox 5"/>
          <p:cNvSpPr txBox="1"/>
          <p:nvPr/>
        </p:nvSpPr>
        <p:spPr>
          <a:xfrm>
            <a:off x="457200" y="274320"/>
            <a:ext cx="11277295" cy="640080"/>
          </a:xfrm>
          <a:prstGeom prst="rect">
            <a:avLst/>
          </a:prstGeom>
          <a:noFill/>
        </p:spPr>
        <p:txBody>
          <a:bodyPr wrap="none">
            <a:spAutoFit/>
          </a:bodyPr>
          <a:lstStyle/>
          <a:p>
            <a:pPr algn="l"/>
            <a:r>
              <a:rPr sz="2800" b="1">
                <a:solidFill>
                  <a:srgbClr val="1F4E79"/>
                </a:solidFill>
                <a:latin typeface="Calibri"/>
              </a:rPr>
              <a:t>03 · Tool Contract — The Invariants</a:t>
            </a:r>
          </a:p>
        </p:txBody>
      </p:sp>
      <p:sp>
        <p:nvSpPr>
          <p:cNvPr id="7" name="TextBox 6"/>
          <p:cNvSpPr txBox="1"/>
          <p:nvPr/>
        </p:nvSpPr>
        <p:spPr>
          <a:xfrm>
            <a:off x="457200" y="868680"/>
            <a:ext cx="11277295" cy="365760"/>
          </a:xfrm>
          <a:prstGeom prst="rect">
            <a:avLst/>
          </a:prstGeom>
          <a:noFill/>
        </p:spPr>
        <p:txBody>
          <a:bodyPr wrap="none">
            <a:spAutoFit/>
          </a:bodyPr>
          <a:lstStyle/>
          <a:p>
            <a:pPr algn="l"/>
            <a:r>
              <a:rPr sz="1400" b="0">
                <a:solidFill>
                  <a:srgbClr val="6B7785"/>
                </a:solidFill>
                <a:latin typeface="Calibri"/>
              </a:rPr>
              <a:t>Five rules every MCP tool follows</a:t>
            </a:r>
          </a:p>
        </p:txBody>
      </p:sp>
      <p:sp>
        <p:nvSpPr>
          <p:cNvPr id="8" name="Rectangle 7"/>
          <p:cNvSpPr/>
          <p:nvPr/>
        </p:nvSpPr>
        <p:spPr>
          <a:xfrm>
            <a:off x="548640" y="1554480"/>
            <a:ext cx="182880"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554480"/>
            <a:ext cx="10863072" cy="914400"/>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tIns="91440" rIns="164592" wrap="square"/>
          <a:lstStyle/>
          <a:p>
            <a:pPr algn="l"/>
            <a:r>
              <a:rPr sz="1400" b="1">
                <a:solidFill>
                  <a:srgbClr val="1F4E79"/>
                </a:solidFill>
                <a:latin typeface="Calibri"/>
              </a:rPr>
              <a:t>WRAP ONE EXTERNAL SYSTEM PER TOOL</a:t>
            </a:r>
          </a:p>
          <a:p>
            <a:pPr algn="l">
              <a:spcBef>
                <a:spcPts val="200"/>
              </a:spcBef>
            </a:pPr>
            <a:r>
              <a:rPr sz="1200" b="0">
                <a:solidFill>
                  <a:srgbClr val="222222"/>
                </a:solidFill>
                <a:latin typeface="Calibri"/>
              </a:rPr>
              <a:t>No tool calls another tool. Composition is Claude's job, not Python's.</a:t>
            </a:r>
          </a:p>
        </p:txBody>
      </p:sp>
      <p:sp>
        <p:nvSpPr>
          <p:cNvPr id="10" name="Rectangle 9"/>
          <p:cNvSpPr/>
          <p:nvPr/>
        </p:nvSpPr>
        <p:spPr>
          <a:xfrm>
            <a:off x="548640" y="2542032"/>
            <a:ext cx="182880" cy="914400"/>
          </a:xfrm>
          <a:prstGeom prst="rect">
            <a:avLst/>
          </a:prstGeom>
          <a:solidFill>
            <a:srgbClr val="2E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542032"/>
            <a:ext cx="10863072" cy="914400"/>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tIns="91440" rIns="164592" wrap="square"/>
          <a:lstStyle/>
          <a:p>
            <a:pPr algn="l"/>
            <a:r>
              <a:rPr sz="1400" b="1">
                <a:solidFill>
                  <a:srgbClr val="2E8A8A"/>
                </a:solidFill>
                <a:latin typeface="Calibri"/>
              </a:rPr>
              <a:t>SIDE EFFECTS LOG TO MEMORY</a:t>
            </a:r>
          </a:p>
          <a:p>
            <a:pPr algn="l">
              <a:spcBef>
                <a:spcPts val="200"/>
              </a:spcBef>
            </a:pPr>
            <a:r>
              <a:rPr sz="1200" b="0">
                <a:solidFill>
                  <a:srgbClr val="222222"/>
                </a:solidFill>
                <a:latin typeface="Calibri"/>
              </a:rPr>
              <a:t>Every tool calls memory.log_activity inside try/except. A memory write never breaks the primary flow.</a:t>
            </a:r>
          </a:p>
        </p:txBody>
      </p:sp>
      <p:sp>
        <p:nvSpPr>
          <p:cNvPr id="12" name="Rectangle 11"/>
          <p:cNvSpPr/>
          <p:nvPr/>
        </p:nvSpPr>
        <p:spPr>
          <a:xfrm>
            <a:off x="548640" y="3529584"/>
            <a:ext cx="182880" cy="914400"/>
          </a:xfrm>
          <a:prstGeom prst="rect">
            <a:avLst/>
          </a:prstGeom>
          <a:solidFill>
            <a:srgbClr val="E078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529584"/>
            <a:ext cx="10863072" cy="914400"/>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tIns="91440" rIns="164592" wrap="square"/>
          <a:lstStyle/>
          <a:p>
            <a:pPr algn="l"/>
            <a:r>
              <a:rPr sz="1400" b="1">
                <a:solidFill>
                  <a:srgbClr val="E07856"/>
                </a:solidFill>
                <a:latin typeface="Calibri"/>
              </a:rPr>
              <a:t>HONOR NAPCO_NUCLEUS_DRY_RUN</a:t>
            </a:r>
          </a:p>
          <a:p>
            <a:pPr algn="l">
              <a:spcBef>
                <a:spcPts val="200"/>
              </a:spcBef>
            </a:pPr>
            <a:r>
              <a:rPr sz="1200" b="0">
                <a:solidFill>
                  <a:srgbClr val="222222"/>
                </a:solidFill>
                <a:latin typeface="Calibri"/>
              </a:rPr>
              <a:t>Mutating tools (publish_tasks_to_backlog, send_email, git_commit_and_push) check the env var and short-circuit.</a:t>
            </a:r>
          </a:p>
        </p:txBody>
      </p:sp>
      <p:sp>
        <p:nvSpPr>
          <p:cNvPr id="14" name="Rectangle 13"/>
          <p:cNvSpPr/>
          <p:nvPr/>
        </p:nvSpPr>
        <p:spPr>
          <a:xfrm>
            <a:off x="548640" y="4517136"/>
            <a:ext cx="182880" cy="914400"/>
          </a:xfrm>
          <a:prstGeom prst="rect">
            <a:avLst/>
          </a:prstGeom>
          <a:solidFill>
            <a:srgbClr val="4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4517136"/>
            <a:ext cx="10863072" cy="914400"/>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tIns="91440" rIns="164592" wrap="square"/>
          <a:lstStyle/>
          <a:p>
            <a:pPr algn="l"/>
            <a:r>
              <a:rPr sz="1400" b="1">
                <a:solidFill>
                  <a:srgbClr val="4A7A4A"/>
                </a:solidFill>
                <a:latin typeface="Calibri"/>
              </a:rPr>
              <a:t>RETURN THE SDK ENVELOPE</a:t>
            </a:r>
          </a:p>
          <a:p>
            <a:pPr algn="l">
              <a:spcBef>
                <a:spcPts val="200"/>
              </a:spcBef>
            </a:pPr>
            <a:r>
              <a:rPr sz="1200" b="0">
                <a:solidFill>
                  <a:srgbClr val="222222"/>
                </a:solidFill>
                <a:latin typeface="Calibri"/>
              </a:rPr>
              <a:t>Every tool returns {"content": [{"type": "text", "text": json.dumps(...)}]}. The _text() helper enforces it.</a:t>
            </a:r>
          </a:p>
        </p:txBody>
      </p:sp>
      <p:sp>
        <p:nvSpPr>
          <p:cNvPr id="16" name="Rectangle 15"/>
          <p:cNvSpPr/>
          <p:nvPr/>
        </p:nvSpPr>
        <p:spPr>
          <a:xfrm>
            <a:off x="548640" y="5504688"/>
            <a:ext cx="182880" cy="914400"/>
          </a:xfrm>
          <a:prstGeom prst="rect">
            <a:avLst/>
          </a:prstGeom>
          <a:solidFill>
            <a:srgbClr val="C99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504688"/>
            <a:ext cx="10863072" cy="914400"/>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tIns="91440" rIns="164592" wrap="square"/>
          <a:lstStyle/>
          <a:p>
            <a:pPr algn="l"/>
            <a:r>
              <a:rPr sz="1400" b="1">
                <a:solidFill>
                  <a:srgbClr val="C9962B"/>
                </a:solidFill>
                <a:latin typeface="Calibri"/>
              </a:rPr>
              <a:t>LAZY HEAVY IMPORTS</a:t>
            </a:r>
          </a:p>
          <a:p>
            <a:pPr algn="l">
              <a:spcBef>
                <a:spcPts val="200"/>
              </a:spcBef>
            </a:pPr>
            <a:r>
              <a:rPr sz="1200" b="0">
                <a:solidFill>
                  <a:srgbClr val="222222"/>
                </a:solidFill>
                <a:latin typeface="Calibri"/>
              </a:rPr>
              <a:t>imaplib, googleapiclient, requests for OpenProject, Playwright runner — all imported inside the tool fn. Cold-start stays sub-second.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565392"/>
            <a:ext cx="11277295" cy="9000"/>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601968"/>
            <a:ext cx="7315200" cy="228600"/>
          </a:xfrm>
          <a:prstGeom prst="rect">
            <a:avLst/>
          </a:prstGeom>
          <a:noFill/>
        </p:spPr>
        <p:txBody>
          <a:bodyPr wrap="none">
            <a:spAutoFit/>
          </a:bodyPr>
          <a:lstStyle/>
          <a:p>
            <a:pPr algn="l"/>
            <a:r>
              <a:rPr sz="900" b="0">
                <a:solidFill>
                  <a:srgbClr val="6B7785"/>
                </a:solidFill>
                <a:latin typeface="Calibri"/>
              </a:rPr>
              <a:t>NAPCO Nucleus  |  Mohammad Kamrul Hasan  |  Adaptive Enterprise Limited</a:t>
            </a:r>
          </a:p>
        </p:txBody>
      </p:sp>
      <p:sp>
        <p:nvSpPr>
          <p:cNvPr id="5" name="TextBox 4"/>
          <p:cNvSpPr txBox="1"/>
          <p:nvPr/>
        </p:nvSpPr>
        <p:spPr>
          <a:xfrm>
            <a:off x="10515600" y="6601968"/>
            <a:ext cx="1280160" cy="228600"/>
          </a:xfrm>
          <a:prstGeom prst="rect">
            <a:avLst/>
          </a:prstGeom>
          <a:noFill/>
        </p:spPr>
        <p:txBody>
          <a:bodyPr wrap="none">
            <a:spAutoFit/>
          </a:bodyPr>
          <a:lstStyle/>
          <a:p>
            <a:pPr algn="r"/>
            <a:r>
              <a:rPr sz="900" b="0">
                <a:solidFill>
                  <a:srgbClr val="6B7785"/>
                </a:solidFill>
                <a:latin typeface="Calibri"/>
              </a:rPr>
              <a:t>18 / 31</a:t>
            </a:r>
          </a:p>
        </p:txBody>
      </p:sp>
      <p:sp>
        <p:nvSpPr>
          <p:cNvPr id="6" name="TextBox 5"/>
          <p:cNvSpPr txBox="1"/>
          <p:nvPr/>
        </p:nvSpPr>
        <p:spPr>
          <a:xfrm>
            <a:off x="457200" y="274320"/>
            <a:ext cx="11277295" cy="640080"/>
          </a:xfrm>
          <a:prstGeom prst="rect">
            <a:avLst/>
          </a:prstGeom>
          <a:noFill/>
        </p:spPr>
        <p:txBody>
          <a:bodyPr wrap="none">
            <a:spAutoFit/>
          </a:bodyPr>
          <a:lstStyle/>
          <a:p>
            <a:pPr algn="l"/>
            <a:r>
              <a:rPr sz="2800" b="1">
                <a:solidFill>
                  <a:srgbClr val="1F4E79"/>
                </a:solidFill>
                <a:latin typeface="Calibri"/>
              </a:rPr>
              <a:t>03 · The Memory Layer</a:t>
            </a:r>
          </a:p>
        </p:txBody>
      </p:sp>
      <p:sp>
        <p:nvSpPr>
          <p:cNvPr id="7" name="TextBox 6"/>
          <p:cNvSpPr txBox="1"/>
          <p:nvPr/>
        </p:nvSpPr>
        <p:spPr>
          <a:xfrm>
            <a:off x="457200" y="868680"/>
            <a:ext cx="11277295" cy="365760"/>
          </a:xfrm>
          <a:prstGeom prst="rect">
            <a:avLst/>
          </a:prstGeom>
          <a:noFill/>
        </p:spPr>
        <p:txBody>
          <a:bodyPr wrap="none">
            <a:spAutoFit/>
          </a:bodyPr>
          <a:lstStyle/>
          <a:p>
            <a:pPr algn="l"/>
            <a:r>
              <a:rPr sz="1400" b="0">
                <a:solidFill>
                  <a:srgbClr val="6B7785"/>
                </a:solidFill>
                <a:latin typeface="Calibri"/>
              </a:rPr>
              <a:t>SQLite + FTS5, committed to git after every run</a:t>
            </a:r>
          </a:p>
        </p:txBody>
      </p:sp>
      <p:sp>
        <p:nvSpPr>
          <p:cNvPr id="8" name="Rectangle 7"/>
          <p:cNvSpPr/>
          <p:nvPr/>
        </p:nvSpPr>
        <p:spPr>
          <a:xfrm>
            <a:off x="548640" y="1554480"/>
            <a:ext cx="11091672" cy="32918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200" b="1">
                <a:solidFill>
                  <a:srgbClr val="FFFFFF"/>
                </a:solidFill>
                <a:latin typeface="Calibri"/>
              </a:rPr>
              <a:t>WHY SQLITE IN GIT?</a:t>
            </a:r>
          </a:p>
        </p:txBody>
      </p:sp>
      <p:sp>
        <p:nvSpPr>
          <p:cNvPr id="9" name="Rectangle 8"/>
          <p:cNvSpPr/>
          <p:nvPr/>
        </p:nvSpPr>
        <p:spPr>
          <a:xfrm>
            <a:off x="548640" y="1883664"/>
            <a:ext cx="11091672" cy="950976"/>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rIns="164592" tIns="109728" bIns="109728" wrap="square"/>
          <a:lstStyle/>
          <a:p>
            <a:pPr algn="l"/>
            <a:r>
              <a:rPr sz="1300" b="1">
                <a:solidFill>
                  <a:srgbClr val="1F4E79"/>
                </a:solidFill>
                <a:latin typeface="Calibri"/>
              </a:rPr>
              <a:t>• </a:t>
            </a:r>
            <a:r>
              <a:rPr sz="1300" b="1">
                <a:solidFill>
                  <a:srgbClr val="1F4E79"/>
                </a:solidFill>
                <a:latin typeface="Calibri"/>
              </a:rPr>
              <a:t> </a:t>
            </a:r>
            <a:r>
              <a:rPr sz="1300">
                <a:solidFill>
                  <a:srgbClr val="222222"/>
                </a:solidFill>
                <a:latin typeface="Calibri"/>
              </a:rPr>
              <a:t>Cloning the project on a new machine instantly recovers prior context. Every requirement ever filed, every test run, every IMAP UID checkpoint, every Drive file ID processed. No external state store. The repo IS the database.</a:t>
            </a:r>
          </a:p>
        </p:txBody>
      </p:sp>
      <p:graphicFrame>
        <p:nvGraphicFramePr>
          <p:cNvPr id="10" name="Table 9"/>
          <p:cNvGraphicFramePr>
            <a:graphicFrameLocks noGrp="1"/>
          </p:cNvGraphicFramePr>
          <p:nvPr/>
        </p:nvGraphicFramePr>
        <p:xfrm>
          <a:off x="548640" y="3017520"/>
          <a:ext cx="11091671" cy="2304288"/>
        </p:xfrm>
        <a:graphic>
          <a:graphicData uri="http://schemas.openxmlformats.org/drawingml/2006/table">
            <a:tbl>
              <a:tblPr firstRow="1" bandRow="1">
                <a:tableStyleId>{5C22544A-7EE6-4342-B048-85BDC9FD1C3A}</a:tableStyleId>
              </a:tblPr>
              <a:tblGrid>
                <a:gridCol w="2440167"/>
                <a:gridCol w="8651504"/>
              </a:tblGrid>
              <a:tr h="384048">
                <a:tc>
                  <a:txBody>
                    <a:bodyPr wrap="square"/>
                    <a:lstStyle/>
                    <a:p>
                      <a:pPr algn="l"/>
                      <a:r>
                        <a:rPr sz="1200" b="1">
                          <a:solidFill>
                            <a:srgbClr val="FFFFFF"/>
                          </a:solidFill>
                          <a:latin typeface="Calibri"/>
                        </a:rPr>
                        <a:t>Table</a:t>
                      </a:r>
                    </a:p>
                  </a:txBody>
                  <a:tcPr marL="91440" marR="91440" marT="54864" marB="54864">
                    <a:solidFill>
                      <a:srgbClr val="1F4E79"/>
                    </a:solidFill>
                  </a:tcPr>
                </a:tc>
                <a:tc>
                  <a:txBody>
                    <a:bodyPr wrap="square"/>
                    <a:lstStyle/>
                    <a:p>
                      <a:pPr algn="l"/>
                      <a:r>
                        <a:rPr sz="1200" b="1">
                          <a:solidFill>
                            <a:srgbClr val="FFFFFF"/>
                          </a:solidFill>
                          <a:latin typeface="Calibri"/>
                        </a:rPr>
                        <a:t>Purpose</a:t>
                      </a:r>
                    </a:p>
                  </a:txBody>
                  <a:tcPr marL="91440" marR="91440" marT="54864" marB="54864">
                    <a:solidFill>
                      <a:srgbClr val="1F4E79"/>
                    </a:solidFill>
                  </a:tcPr>
                </a:tc>
              </a:tr>
              <a:tr h="384048">
                <a:tc>
                  <a:txBody>
                    <a:bodyPr wrap="square"/>
                    <a:lstStyle/>
                    <a:p>
                      <a:pPr algn="l"/>
                      <a:r>
                        <a:rPr sz="1100">
                          <a:solidFill>
                            <a:srgbClr val="222222"/>
                          </a:solidFill>
                          <a:latin typeface="Calibri"/>
                        </a:rPr>
                        <a:t>activity_logs</a:t>
                      </a:r>
                    </a:p>
                  </a:txBody>
                  <a:tcPr marL="91440" marR="91440" marT="54864" marB="54864">
                    <a:solidFill>
                      <a:srgbClr val="FFFFFF"/>
                    </a:solidFill>
                  </a:tcPr>
                </a:tc>
                <a:tc>
                  <a:txBody>
                    <a:bodyPr wrap="square"/>
                    <a:lstStyle/>
                    <a:p>
                      <a:pPr algn="l"/>
                      <a:r>
                        <a:rPr sz="1100">
                          <a:solidFill>
                            <a:srgbClr val="222222"/>
                          </a:solidFill>
                          <a:latin typeface="Calibri"/>
                        </a:rPr>
                        <a:t>Every meaningful action with task_name, result string, technical_details JSON. Drives the daily report.</a:t>
                      </a:r>
                    </a:p>
                  </a:txBody>
                  <a:tcPr marL="91440" marR="91440" marT="54864" marB="54864">
                    <a:solidFill>
                      <a:srgbClr val="FFFFFF"/>
                    </a:solidFill>
                  </a:tcPr>
                </a:tc>
              </a:tr>
              <a:tr h="384048">
                <a:tc>
                  <a:txBody>
                    <a:bodyPr wrap="square"/>
                    <a:lstStyle/>
                    <a:p>
                      <a:pPr algn="l"/>
                      <a:r>
                        <a:rPr sz="1100">
                          <a:solidFill>
                            <a:srgbClr val="222222"/>
                          </a:solidFill>
                          <a:latin typeface="Calibri"/>
                        </a:rPr>
                        <a:t>requirements_seen</a:t>
                      </a:r>
                    </a:p>
                  </a:txBody>
                  <a:tcPr marL="91440" marR="91440" marT="54864" marB="54864">
                    <a:solidFill>
                      <a:srgbClr val="F5F7FA"/>
                    </a:solidFill>
                  </a:tcPr>
                </a:tc>
                <a:tc>
                  <a:txBody>
                    <a:bodyPr wrap="square"/>
                    <a:lstStyle/>
                    <a:p>
                      <a:pPr algn="l"/>
                      <a:r>
                        <a:rPr sz="1100">
                          <a:solidFill>
                            <a:srgbClr val="222222"/>
                          </a:solidFill>
                          <a:latin typeface="Calibri"/>
                        </a:rPr>
                        <a:t>One row per requirement processed. Normalized title + FTS5 fuzzy match. Powers two-layer dedup.</a:t>
                      </a:r>
                    </a:p>
                  </a:txBody>
                  <a:tcPr marL="91440" marR="91440" marT="54864" marB="54864">
                    <a:solidFill>
                      <a:srgbClr val="F5F7FA"/>
                    </a:solidFill>
                  </a:tcPr>
                </a:tc>
              </a:tr>
              <a:tr h="384048">
                <a:tc>
                  <a:txBody>
                    <a:bodyPr wrap="square"/>
                    <a:lstStyle/>
                    <a:p>
                      <a:pPr algn="l"/>
                      <a:r>
                        <a:rPr sz="1100">
                          <a:solidFill>
                            <a:srgbClr val="222222"/>
                          </a:solidFill>
                          <a:latin typeface="Calibri"/>
                        </a:rPr>
                        <a:t>test_run_history</a:t>
                      </a:r>
                    </a:p>
                  </a:txBody>
                  <a:tcPr marL="91440" marR="91440" marT="54864" marB="54864">
                    <a:solidFill>
                      <a:srgbClr val="FFFFFF"/>
                    </a:solidFill>
                  </a:tcPr>
                </a:tc>
                <a:tc>
                  <a:txBody>
                    <a:bodyPr wrap="square"/>
                    <a:lstStyle/>
                    <a:p>
                      <a:pPr algn="l"/>
                      <a:r>
                        <a:rPr sz="1100">
                          <a:solidFill>
                            <a:srgbClr val="222222"/>
                          </a:solidFill>
                          <a:latin typeface="Calibri"/>
                        </a:rPr>
                        <a:t>One row per suite-run: pass/fail counts, duration, PDF path, regression set. Trend graphs.</a:t>
                      </a:r>
                    </a:p>
                  </a:txBody>
                  <a:tcPr marL="91440" marR="91440" marT="54864" marB="54864">
                    <a:solidFill>
                      <a:srgbClr val="FFFFFF"/>
                    </a:solidFill>
                  </a:tcPr>
                </a:tc>
              </a:tr>
              <a:tr h="384048">
                <a:tc>
                  <a:txBody>
                    <a:bodyPr wrap="square"/>
                    <a:lstStyle/>
                    <a:p>
                      <a:pPr algn="l"/>
                      <a:r>
                        <a:rPr sz="1100">
                          <a:solidFill>
                            <a:srgbClr val="222222"/>
                          </a:solidFill>
                          <a:latin typeface="Calibri"/>
                        </a:rPr>
                        <a:t>email_checkpoints</a:t>
                      </a:r>
                    </a:p>
                  </a:txBody>
                  <a:tcPr marL="91440" marR="91440" marT="54864" marB="54864">
                    <a:solidFill>
                      <a:srgbClr val="F5F7FA"/>
                    </a:solidFill>
                  </a:tcPr>
                </a:tc>
                <a:tc>
                  <a:txBody>
                    <a:bodyPr wrap="square"/>
                    <a:lstStyle/>
                    <a:p>
                      <a:pPr algn="l"/>
                      <a:r>
                        <a:rPr sz="1100">
                          <a:solidFill>
                            <a:srgbClr val="222222"/>
                          </a:solidFill>
                          <a:latin typeface="Calibri"/>
                        </a:rPr>
                        <a:t>IMAP UIDVALIDITY + last UID. Idempotency key for poll_requirement_emails.</a:t>
                      </a:r>
                    </a:p>
                  </a:txBody>
                  <a:tcPr marL="91440" marR="91440" marT="54864" marB="54864">
                    <a:solidFill>
                      <a:srgbClr val="F5F7FA"/>
                    </a:solidFill>
                  </a:tcPr>
                </a:tc>
              </a:tr>
              <a:tr h="384048">
                <a:tc>
                  <a:txBody>
                    <a:bodyPr wrap="square"/>
                    <a:lstStyle/>
                    <a:p>
                      <a:pPr algn="l"/>
                      <a:r>
                        <a:rPr sz="1100">
                          <a:solidFill>
                            <a:srgbClr val="222222"/>
                          </a:solidFill>
                          <a:latin typeface="Calibri"/>
                        </a:rPr>
                        <a:t>drive_processed</a:t>
                      </a:r>
                    </a:p>
                  </a:txBody>
                  <a:tcPr marL="91440" marR="91440" marT="54864" marB="54864">
                    <a:solidFill>
                      <a:srgbClr val="FFFFFF"/>
                    </a:solidFill>
                  </a:tcPr>
                </a:tc>
                <a:tc>
                  <a:txBody>
                    <a:bodyPr wrap="square"/>
                    <a:lstStyle/>
                    <a:p>
                      <a:pPr algn="l"/>
                      <a:r>
                        <a:rPr sz="1100">
                          <a:solidFill>
                            <a:srgbClr val="222222"/>
                          </a:solidFill>
                          <a:latin typeface="Calibri"/>
                        </a:rPr>
                        <a:t>Set of Drive file IDs already ingested. Idempotency key for ingest_drive_files.</a:t>
                      </a:r>
                    </a:p>
                  </a:txBody>
                  <a:tcPr marL="91440" marR="91440" marT="54864" marB="54864">
                    <a:solidFill>
                      <a:srgbClr val="FFFF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565392"/>
            <a:ext cx="11277295" cy="9000"/>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601968"/>
            <a:ext cx="7315200" cy="228600"/>
          </a:xfrm>
          <a:prstGeom prst="rect">
            <a:avLst/>
          </a:prstGeom>
          <a:noFill/>
        </p:spPr>
        <p:txBody>
          <a:bodyPr wrap="none">
            <a:spAutoFit/>
          </a:bodyPr>
          <a:lstStyle/>
          <a:p>
            <a:pPr algn="l"/>
            <a:r>
              <a:rPr sz="900" b="0">
                <a:solidFill>
                  <a:srgbClr val="6B7785"/>
                </a:solidFill>
                <a:latin typeface="Calibri"/>
              </a:rPr>
              <a:t>NAPCO Nucleus  |  Mohammad Kamrul Hasan  |  Adaptive Enterprise Limited</a:t>
            </a:r>
          </a:p>
        </p:txBody>
      </p:sp>
      <p:sp>
        <p:nvSpPr>
          <p:cNvPr id="5" name="TextBox 4"/>
          <p:cNvSpPr txBox="1"/>
          <p:nvPr/>
        </p:nvSpPr>
        <p:spPr>
          <a:xfrm>
            <a:off x="10515600" y="6601968"/>
            <a:ext cx="1280160" cy="228600"/>
          </a:xfrm>
          <a:prstGeom prst="rect">
            <a:avLst/>
          </a:prstGeom>
          <a:noFill/>
        </p:spPr>
        <p:txBody>
          <a:bodyPr wrap="none">
            <a:spAutoFit/>
          </a:bodyPr>
          <a:lstStyle/>
          <a:p>
            <a:pPr algn="r"/>
            <a:r>
              <a:rPr sz="900" b="0">
                <a:solidFill>
                  <a:srgbClr val="6B7785"/>
                </a:solidFill>
                <a:latin typeface="Calibri"/>
              </a:rPr>
              <a:t>19 / 31</a:t>
            </a:r>
          </a:p>
        </p:txBody>
      </p:sp>
      <p:sp>
        <p:nvSpPr>
          <p:cNvPr id="6" name="TextBox 5"/>
          <p:cNvSpPr txBox="1"/>
          <p:nvPr/>
        </p:nvSpPr>
        <p:spPr>
          <a:xfrm>
            <a:off x="457200" y="274320"/>
            <a:ext cx="11277295" cy="640080"/>
          </a:xfrm>
          <a:prstGeom prst="rect">
            <a:avLst/>
          </a:prstGeom>
          <a:noFill/>
        </p:spPr>
        <p:txBody>
          <a:bodyPr wrap="none">
            <a:spAutoFit/>
          </a:bodyPr>
          <a:lstStyle/>
          <a:p>
            <a:pPr algn="l"/>
            <a:r>
              <a:rPr sz="2800" b="1">
                <a:solidFill>
                  <a:srgbClr val="1F4E79"/>
                </a:solidFill>
                <a:latin typeface="Calibri"/>
              </a:rPr>
              <a:t>04 · Prompts as Algorithms</a:t>
            </a:r>
          </a:p>
        </p:txBody>
      </p:sp>
      <p:sp>
        <p:nvSpPr>
          <p:cNvPr id="7" name="TextBox 6"/>
          <p:cNvSpPr txBox="1"/>
          <p:nvPr/>
        </p:nvSpPr>
        <p:spPr>
          <a:xfrm>
            <a:off x="457200" y="868680"/>
            <a:ext cx="11277295" cy="365760"/>
          </a:xfrm>
          <a:prstGeom prst="rect">
            <a:avLst/>
          </a:prstGeom>
          <a:noFill/>
        </p:spPr>
        <p:txBody>
          <a:bodyPr wrap="none">
            <a:spAutoFit/>
          </a:bodyPr>
          <a:lstStyle/>
          <a:p>
            <a:pPr algn="l"/>
            <a:r>
              <a:rPr sz="1400" b="0">
                <a:solidFill>
                  <a:srgbClr val="6B7785"/>
                </a:solidFill>
                <a:latin typeface="Calibri"/>
              </a:rPr>
              <a:t>Behavior lives in markdown, not in Python</a:t>
            </a:r>
          </a:p>
        </p:txBody>
      </p:sp>
      <p:sp>
        <p:nvSpPr>
          <p:cNvPr id="8" name="Rectangle 7"/>
          <p:cNvSpPr/>
          <p:nvPr/>
        </p:nvSpPr>
        <p:spPr>
          <a:xfrm>
            <a:off x="548640" y="1554480"/>
            <a:ext cx="11091672" cy="329184"/>
          </a:xfrm>
          <a:prstGeom prst="rect">
            <a:avLst/>
          </a:prstGeom>
          <a:solidFill>
            <a:srgbClr val="4A7A4A"/>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200" b="1">
                <a:solidFill>
                  <a:srgbClr val="FFFFFF"/>
                </a:solidFill>
                <a:latin typeface="Calibri"/>
              </a:rPr>
              <a:t>STRUCTURE — TWO FILES PER WORKFLOW</a:t>
            </a:r>
          </a:p>
        </p:txBody>
      </p:sp>
      <p:sp>
        <p:nvSpPr>
          <p:cNvPr id="9" name="Rectangle 8"/>
          <p:cNvSpPr/>
          <p:nvPr/>
        </p:nvSpPr>
        <p:spPr>
          <a:xfrm>
            <a:off x="548640" y="1883664"/>
            <a:ext cx="11091672" cy="1956816"/>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rIns="164592" tIns="109728" bIns="109728" wrap="square"/>
          <a:lstStyle/>
          <a:p>
            <a:pPr algn="l"/>
            <a:r>
              <a:rPr sz="1400" b="1">
                <a:solidFill>
                  <a:srgbClr val="1F4E79"/>
                </a:solidFill>
                <a:latin typeface="Calibri"/>
              </a:rPr>
              <a:t>• </a:t>
            </a:r>
            <a:r>
              <a:rPr sz="1400" b="1">
                <a:solidFill>
                  <a:srgbClr val="1F4E79"/>
                </a:solidFill>
                <a:latin typeface="Calibri"/>
              </a:rPr>
              <a:t>system.md — </a:t>
            </a:r>
            <a:r>
              <a:rPr sz="1400">
                <a:solidFill>
                  <a:srgbClr val="222222"/>
                </a:solidFill>
                <a:latin typeface="Calibri"/>
              </a:rPr>
              <a:t>shared backbone. Defines who Claude is, project layout, the two operational dimensions, core principles, tone rules</a:t>
            </a:r>
          </a:p>
          <a:p>
            <a:pPr algn="l">
              <a:spcBef>
                <a:spcPts val="600"/>
              </a:spcBef>
            </a:pPr>
            <a:r>
              <a:rPr sz="1400" b="1">
                <a:solidFill>
                  <a:srgbClr val="1F4E79"/>
                </a:solidFill>
                <a:latin typeface="Calibri"/>
              </a:rPr>
              <a:t>• </a:t>
            </a:r>
            <a:r>
              <a:rPr sz="1400" b="1">
                <a:solidFill>
                  <a:srgbClr val="1F4E79"/>
                </a:solidFill>
                <a:latin typeface="Calibri"/>
              </a:rPr>
              <a:t>&lt;task&gt;.md — </a:t>
            </a:r>
            <a:r>
              <a:rPr sz="1400">
                <a:solidFill>
                  <a:srgbClr val="222222"/>
                </a:solidFill>
                <a:latin typeface="Calibri"/>
              </a:rPr>
              <a:t>the actual loop. Numbered steps, required tool calls, decision rules, output format</a:t>
            </a:r>
          </a:p>
          <a:p>
            <a:pPr algn="l">
              <a:spcBef>
                <a:spcPts val="600"/>
              </a:spcBef>
            </a:pPr>
            <a:r>
              <a:rPr sz="1400" b="1">
                <a:solidFill>
                  <a:srgbClr val="1F4E79"/>
                </a:solidFill>
                <a:latin typeface="Calibri"/>
              </a:rPr>
              <a:t>• </a:t>
            </a:r>
            <a:r>
              <a:rPr sz="1400" b="1">
                <a:solidFill>
                  <a:srgbClr val="1F4E79"/>
                </a:solidFill>
                <a:latin typeface="Calibri"/>
              </a:rPr>
              <a:t>Concatenated at runtime — </a:t>
            </a:r>
            <a:r>
              <a:rPr sz="1400">
                <a:solidFill>
                  <a:srgbClr val="222222"/>
                </a:solidFill>
                <a:latin typeface="Calibri"/>
              </a:rPr>
              <a:t>Claude receives one combined system prompt, then the kickoff message</a:t>
            </a:r>
          </a:p>
          <a:p>
            <a:pPr algn="l">
              <a:spcBef>
                <a:spcPts val="600"/>
              </a:spcBef>
            </a:pPr>
            <a:r>
              <a:rPr sz="1400" b="1">
                <a:solidFill>
                  <a:srgbClr val="1F4E79"/>
                </a:solidFill>
                <a:latin typeface="Calibri"/>
              </a:rPr>
              <a:t>• </a:t>
            </a:r>
            <a:r>
              <a:rPr sz="1400" b="1">
                <a:solidFill>
                  <a:srgbClr val="1F4E79"/>
                </a:solidFill>
                <a:latin typeface="Calibri"/>
              </a:rPr>
              <a:t>Code review for behavior changes — </a:t>
            </a:r>
            <a:r>
              <a:rPr sz="1400">
                <a:solidFill>
                  <a:srgbClr val="222222"/>
                </a:solidFill>
                <a:latin typeface="Calibri"/>
              </a:rPr>
              <a:t>is a markdown diff. PR-reviewable in plain English. No deploy needed.</a:t>
            </a:r>
          </a:p>
        </p:txBody>
      </p:sp>
      <p:sp>
        <p:nvSpPr>
          <p:cNvPr id="10" name="Rectangle 9"/>
          <p:cNvSpPr/>
          <p:nvPr/>
        </p:nvSpPr>
        <p:spPr>
          <a:xfrm>
            <a:off x="548640" y="3977639"/>
            <a:ext cx="11091672" cy="329184"/>
          </a:xfrm>
          <a:prstGeom prst="rect">
            <a:avLst/>
          </a:prstGeom>
          <a:solidFill>
            <a:srgbClr val="2E8A8A"/>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200" b="1">
                <a:solidFill>
                  <a:srgbClr val="FFFFFF"/>
                </a:solidFill>
                <a:latin typeface="Calibri"/>
              </a:rPr>
              <a:t>WHY THIS WORKS</a:t>
            </a:r>
          </a:p>
        </p:txBody>
      </p:sp>
      <p:sp>
        <p:nvSpPr>
          <p:cNvPr id="11" name="Rectangle 10"/>
          <p:cNvSpPr/>
          <p:nvPr/>
        </p:nvSpPr>
        <p:spPr>
          <a:xfrm>
            <a:off x="548640" y="4306823"/>
            <a:ext cx="11091672" cy="2002536"/>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rIns="164592" tIns="109728" bIns="109728" wrap="square"/>
          <a:lstStyle/>
          <a:p>
            <a:pPr algn="l"/>
            <a:r>
              <a:rPr sz="1300" b="1">
                <a:solidFill>
                  <a:srgbClr val="1F4E79"/>
                </a:solidFill>
                <a:latin typeface="Calibri"/>
              </a:rPr>
              <a:t>• </a:t>
            </a:r>
            <a:r>
              <a:rPr sz="1300" b="1">
                <a:solidFill>
                  <a:srgbClr val="1F4E79"/>
                </a:solidFill>
                <a:latin typeface="Calibri"/>
              </a:rPr>
              <a:t>Behavior changes are markdown PRs — </a:t>
            </a:r>
            <a:r>
              <a:rPr sz="1300">
                <a:solidFill>
                  <a:srgbClr val="222222"/>
                </a:solidFill>
                <a:latin typeface="Calibri"/>
              </a:rPr>
              <a:t>not refactors. Adjust how tasks split, how failures classify, what goes in the executive summary, all by editing one file.</a:t>
            </a:r>
          </a:p>
          <a:p>
            <a:pPr algn="l">
              <a:spcBef>
                <a:spcPts val="600"/>
              </a:spcBef>
            </a:pPr>
            <a:r>
              <a:rPr sz="1300" b="1">
                <a:solidFill>
                  <a:srgbClr val="1F4E79"/>
                </a:solidFill>
                <a:latin typeface="Calibri"/>
              </a:rPr>
              <a:t>• </a:t>
            </a:r>
            <a:r>
              <a:rPr sz="1300" b="1">
                <a:solidFill>
                  <a:srgbClr val="1F4E79"/>
                </a:solidFill>
                <a:latin typeface="Calibri"/>
              </a:rPr>
              <a:t>Constraints encoded in prompts — </a:t>
            </a:r>
            <a:r>
              <a:rPr sz="1300">
                <a:solidFill>
                  <a:srgbClr val="222222"/>
                </a:solidFill>
                <a:latin typeface="Calibri"/>
              </a:rPr>
              <a:t>'memory check-in mandatory', 'title under 70 chars', 'NO em-dashes'. Things that would be brittle validation code become natural-language rules.</a:t>
            </a:r>
          </a:p>
          <a:p>
            <a:pPr algn="l">
              <a:spcBef>
                <a:spcPts val="600"/>
              </a:spcBef>
            </a:pPr>
            <a:r>
              <a:rPr sz="1300" b="1">
                <a:solidFill>
                  <a:srgbClr val="1F4E79"/>
                </a:solidFill>
                <a:latin typeface="Calibri"/>
              </a:rPr>
              <a:t>• </a:t>
            </a:r>
            <a:r>
              <a:rPr sz="1300" b="1">
                <a:solidFill>
                  <a:srgbClr val="1F4E79"/>
                </a:solidFill>
                <a:latin typeface="Calibri"/>
              </a:rPr>
              <a:t>One ground truth per workflow — </a:t>
            </a:r>
            <a:r>
              <a:rPr sz="1300">
                <a:solidFill>
                  <a:srgbClr val="222222"/>
                </a:solidFill>
                <a:latin typeface="Calibri"/>
              </a:rPr>
              <a:t>to know what API Functional Test does, you read api_functional_test.md. The Python tools are leaf ops only.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565392"/>
            <a:ext cx="11277295" cy="9000"/>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601968"/>
            <a:ext cx="7315200" cy="228600"/>
          </a:xfrm>
          <a:prstGeom prst="rect">
            <a:avLst/>
          </a:prstGeom>
          <a:noFill/>
        </p:spPr>
        <p:txBody>
          <a:bodyPr wrap="none">
            <a:spAutoFit/>
          </a:bodyPr>
          <a:lstStyle/>
          <a:p>
            <a:pPr algn="l"/>
            <a:r>
              <a:rPr sz="900" b="0">
                <a:solidFill>
                  <a:srgbClr val="6B7785"/>
                </a:solidFill>
                <a:latin typeface="Calibri"/>
              </a:rPr>
              <a:t>NAPCO Nucleus  |  Mohammad Kamrul Hasan  |  Adaptive Enterprise Limited</a:t>
            </a:r>
          </a:p>
        </p:txBody>
      </p:sp>
      <p:sp>
        <p:nvSpPr>
          <p:cNvPr id="5" name="TextBox 4"/>
          <p:cNvSpPr txBox="1"/>
          <p:nvPr/>
        </p:nvSpPr>
        <p:spPr>
          <a:xfrm>
            <a:off x="10515600" y="6601968"/>
            <a:ext cx="1280160" cy="228600"/>
          </a:xfrm>
          <a:prstGeom prst="rect">
            <a:avLst/>
          </a:prstGeom>
          <a:noFill/>
        </p:spPr>
        <p:txBody>
          <a:bodyPr wrap="none">
            <a:spAutoFit/>
          </a:bodyPr>
          <a:lstStyle/>
          <a:p>
            <a:pPr algn="r"/>
            <a:r>
              <a:rPr sz="900" b="0">
                <a:solidFill>
                  <a:srgbClr val="6B7785"/>
                </a:solidFill>
                <a:latin typeface="Calibri"/>
              </a:rPr>
              <a:t>20 / 31</a:t>
            </a:r>
          </a:p>
        </p:txBody>
      </p:sp>
      <p:sp>
        <p:nvSpPr>
          <p:cNvPr id="6" name="TextBox 5"/>
          <p:cNvSpPr txBox="1"/>
          <p:nvPr/>
        </p:nvSpPr>
        <p:spPr>
          <a:xfrm>
            <a:off x="457200" y="274320"/>
            <a:ext cx="11277295" cy="640080"/>
          </a:xfrm>
          <a:prstGeom prst="rect">
            <a:avLst/>
          </a:prstGeom>
          <a:noFill/>
        </p:spPr>
        <p:txBody>
          <a:bodyPr wrap="none">
            <a:spAutoFit/>
          </a:bodyPr>
          <a:lstStyle/>
          <a:p>
            <a:pPr algn="l"/>
            <a:r>
              <a:rPr sz="2800" b="1">
                <a:solidFill>
                  <a:srgbClr val="1F4E79"/>
                </a:solidFill>
                <a:latin typeface="Calibri"/>
              </a:rPr>
              <a:t>04 · The 8 Prompt Files</a:t>
            </a:r>
          </a:p>
        </p:txBody>
      </p:sp>
      <p:sp>
        <p:nvSpPr>
          <p:cNvPr id="7" name="TextBox 6"/>
          <p:cNvSpPr txBox="1"/>
          <p:nvPr/>
        </p:nvSpPr>
        <p:spPr>
          <a:xfrm>
            <a:off x="457200" y="868680"/>
            <a:ext cx="11277295" cy="365760"/>
          </a:xfrm>
          <a:prstGeom prst="rect">
            <a:avLst/>
          </a:prstGeom>
          <a:noFill/>
        </p:spPr>
        <p:txBody>
          <a:bodyPr wrap="none">
            <a:spAutoFit/>
          </a:bodyPr>
          <a:lstStyle/>
          <a:p>
            <a:pPr algn="l"/>
            <a:r>
              <a:rPr sz="1400" b="0">
                <a:solidFill>
                  <a:srgbClr val="6B7785"/>
                </a:solidFill>
                <a:latin typeface="Calibri"/>
              </a:rPr>
              <a:t>One per workflow, plus the shared system backbone</a:t>
            </a:r>
          </a:p>
        </p:txBody>
      </p:sp>
      <p:graphicFrame>
        <p:nvGraphicFramePr>
          <p:cNvPr id="8" name="Table 7"/>
          <p:cNvGraphicFramePr>
            <a:graphicFrameLocks noGrp="1"/>
          </p:cNvGraphicFramePr>
          <p:nvPr/>
        </p:nvGraphicFramePr>
        <p:xfrm>
          <a:off x="548640" y="1554480"/>
          <a:ext cx="11091671" cy="3456432"/>
        </p:xfrm>
        <a:graphic>
          <a:graphicData uri="http://schemas.openxmlformats.org/drawingml/2006/table">
            <a:tbl>
              <a:tblPr firstRow="1" bandRow="1">
                <a:tableStyleId>{5C22544A-7EE6-4342-B048-85BDC9FD1C3A}</a:tableStyleId>
              </a:tblPr>
              <a:tblGrid>
                <a:gridCol w="2883834"/>
                <a:gridCol w="8207837"/>
              </a:tblGrid>
              <a:tr h="384048">
                <a:tc>
                  <a:txBody>
                    <a:bodyPr wrap="square"/>
                    <a:lstStyle/>
                    <a:p>
                      <a:pPr algn="l"/>
                      <a:r>
                        <a:rPr sz="1200" b="1">
                          <a:solidFill>
                            <a:srgbClr val="FFFFFF"/>
                          </a:solidFill>
                          <a:latin typeface="Calibri"/>
                        </a:rPr>
                        <a:t>File</a:t>
                      </a:r>
                    </a:p>
                  </a:txBody>
                  <a:tcPr marL="91440" marR="91440" marT="54864" marB="54864">
                    <a:solidFill>
                      <a:srgbClr val="4A7A4A"/>
                    </a:solidFill>
                  </a:tcPr>
                </a:tc>
                <a:tc>
                  <a:txBody>
                    <a:bodyPr wrap="square"/>
                    <a:lstStyle/>
                    <a:p>
                      <a:pPr algn="l"/>
                      <a:r>
                        <a:rPr sz="1200" b="1">
                          <a:solidFill>
                            <a:srgbClr val="FFFFFF"/>
                          </a:solidFill>
                          <a:latin typeface="Calibri"/>
                        </a:rPr>
                        <a:t>Workflow it drives</a:t>
                      </a:r>
                    </a:p>
                  </a:txBody>
                  <a:tcPr marL="91440" marR="91440" marT="54864" marB="54864">
                    <a:solidFill>
                      <a:srgbClr val="4A7A4A"/>
                    </a:solidFill>
                  </a:tcPr>
                </a:tc>
              </a:tr>
              <a:tr h="384048">
                <a:tc>
                  <a:txBody>
                    <a:bodyPr wrap="square"/>
                    <a:lstStyle/>
                    <a:p>
                      <a:pPr algn="l"/>
                      <a:r>
                        <a:rPr sz="1100">
                          <a:solidFill>
                            <a:srgbClr val="222222"/>
                          </a:solidFill>
                          <a:latin typeface="Calibri"/>
                        </a:rPr>
                        <a:t>system.md</a:t>
                      </a:r>
                    </a:p>
                  </a:txBody>
                  <a:tcPr marL="91440" marR="91440" marT="54864" marB="54864">
                    <a:solidFill>
                      <a:srgbClr val="FFFFFF"/>
                    </a:solidFill>
                  </a:tcPr>
                </a:tc>
                <a:tc>
                  <a:txBody>
                    <a:bodyPr wrap="square"/>
                    <a:lstStyle/>
                    <a:p>
                      <a:pPr algn="l"/>
                      <a:r>
                        <a:rPr sz="1100">
                          <a:solidFill>
                            <a:srgbClr val="222222"/>
                          </a:solidFill>
                          <a:latin typeface="Calibri"/>
                        </a:rPr>
                        <a:t>Concatenated to every task. The shared backbone.</a:t>
                      </a:r>
                    </a:p>
                  </a:txBody>
                  <a:tcPr marL="91440" marR="91440" marT="54864" marB="54864">
                    <a:solidFill>
                      <a:srgbClr val="FFFFFF"/>
                    </a:solidFill>
                  </a:tcPr>
                </a:tc>
              </a:tr>
              <a:tr h="384048">
                <a:tc>
                  <a:txBody>
                    <a:bodyPr wrap="square"/>
                    <a:lstStyle/>
                    <a:p>
                      <a:pPr algn="l"/>
                      <a:r>
                        <a:rPr sz="1100">
                          <a:solidFill>
                            <a:srgbClr val="222222"/>
                          </a:solidFill>
                          <a:latin typeface="Calibri"/>
                        </a:rPr>
                        <a:t>api_functional_test.md</a:t>
                      </a:r>
                    </a:p>
                  </a:txBody>
                  <a:tcPr marL="91440" marR="91440" marT="54864" marB="54864">
                    <a:solidFill>
                      <a:srgbClr val="F5F7FA"/>
                    </a:solidFill>
                  </a:tcPr>
                </a:tc>
                <a:tc>
                  <a:txBody>
                    <a:bodyPr wrap="square"/>
                    <a:lstStyle/>
                    <a:p>
                      <a:pPr algn="l"/>
                      <a:r>
                        <a:rPr sz="1100">
                          <a:solidFill>
                            <a:srgbClr val="222222"/>
                          </a:solidFill>
                          <a:latin typeface="Calibri"/>
                        </a:rPr>
                        <a:t>01:00 BDT — Newman + Postman collection, classify failures</a:t>
                      </a:r>
                    </a:p>
                  </a:txBody>
                  <a:tcPr marL="91440" marR="91440" marT="54864" marB="54864">
                    <a:solidFill>
                      <a:srgbClr val="F5F7FA"/>
                    </a:solidFill>
                  </a:tcPr>
                </a:tc>
              </a:tr>
              <a:tr h="384048">
                <a:tc>
                  <a:txBody>
                    <a:bodyPr wrap="square"/>
                    <a:lstStyle/>
                    <a:p>
                      <a:pPr algn="l"/>
                      <a:r>
                        <a:rPr sz="1100">
                          <a:solidFill>
                            <a:srgbClr val="222222"/>
                          </a:solidFill>
                          <a:latin typeface="Calibri"/>
                        </a:rPr>
                        <a:t>api_integration_test.md</a:t>
                      </a:r>
                    </a:p>
                  </a:txBody>
                  <a:tcPr marL="91440" marR="91440" marT="54864" marB="54864">
                    <a:solidFill>
                      <a:srgbClr val="FFFFFF"/>
                    </a:solidFill>
                  </a:tcPr>
                </a:tc>
                <a:tc>
                  <a:txBody>
                    <a:bodyPr wrap="square"/>
                    <a:lstStyle/>
                    <a:p>
                      <a:pPr algn="l"/>
                      <a:r>
                        <a:rPr sz="1100">
                          <a:solidFill>
                            <a:srgbClr val="222222"/>
                          </a:solidFill>
                          <a:latin typeface="Calibri"/>
                        </a:rPr>
                        <a:t>01:15 BDT — pytest integration suite with regression diff</a:t>
                      </a:r>
                    </a:p>
                  </a:txBody>
                  <a:tcPr marL="91440" marR="91440" marT="54864" marB="54864">
                    <a:solidFill>
                      <a:srgbClr val="FFFFFF"/>
                    </a:solidFill>
                  </a:tcPr>
                </a:tc>
              </a:tr>
              <a:tr h="384048">
                <a:tc>
                  <a:txBody>
                    <a:bodyPr wrap="square"/>
                    <a:lstStyle/>
                    <a:p>
                      <a:pPr algn="l"/>
                      <a:r>
                        <a:rPr sz="1100">
                          <a:solidFill>
                            <a:srgbClr val="222222"/>
                          </a:solidFill>
                          <a:latin typeface="Calibri"/>
                        </a:rPr>
                        <a:t>api_load_test.md</a:t>
                      </a:r>
                    </a:p>
                  </a:txBody>
                  <a:tcPr marL="91440" marR="91440" marT="54864" marB="54864">
                    <a:solidFill>
                      <a:srgbClr val="F5F7FA"/>
                    </a:solidFill>
                  </a:tcPr>
                </a:tc>
                <a:tc>
                  <a:txBody>
                    <a:bodyPr wrap="square"/>
                    <a:lstStyle/>
                    <a:p>
                      <a:pPr algn="l"/>
                      <a:r>
                        <a:rPr sz="1100">
                          <a:solidFill>
                            <a:srgbClr val="222222"/>
                          </a:solidFill>
                          <a:latin typeface="Calibri"/>
                        </a:rPr>
                        <a:t>01:30 BDT — Locust multi-tier 10–10,000 users</a:t>
                      </a:r>
                    </a:p>
                  </a:txBody>
                  <a:tcPr marL="91440" marR="91440" marT="54864" marB="54864">
                    <a:solidFill>
                      <a:srgbClr val="F5F7FA"/>
                    </a:solidFill>
                  </a:tcPr>
                </a:tc>
              </a:tr>
              <a:tr h="384048">
                <a:tc>
                  <a:txBody>
                    <a:bodyPr wrap="square"/>
                    <a:lstStyle/>
                    <a:p>
                      <a:pPr algn="l"/>
                      <a:r>
                        <a:rPr sz="1100">
                          <a:solidFill>
                            <a:srgbClr val="222222"/>
                          </a:solidFill>
                          <a:latin typeface="Calibri"/>
                        </a:rPr>
                        <a:t>e2e_test.md</a:t>
                      </a:r>
                    </a:p>
                  </a:txBody>
                  <a:tcPr marL="91440" marR="91440" marT="54864" marB="54864">
                    <a:solidFill>
                      <a:srgbClr val="FFFFFF"/>
                    </a:solidFill>
                  </a:tcPr>
                </a:tc>
                <a:tc>
                  <a:txBody>
                    <a:bodyPr wrap="square"/>
                    <a:lstStyle/>
                    <a:p>
                      <a:pPr algn="l"/>
                      <a:r>
                        <a:rPr sz="1100">
                          <a:solidFill>
                            <a:srgbClr val="222222"/>
                          </a:solidFill>
                          <a:latin typeface="Calibri"/>
                        </a:rPr>
                        <a:t>02:30 BDT — Playwright full suite + failure screenshots</a:t>
                      </a:r>
                    </a:p>
                  </a:txBody>
                  <a:tcPr marL="91440" marR="91440" marT="54864" marB="54864">
                    <a:solidFill>
                      <a:srgbClr val="FFFFFF"/>
                    </a:solidFill>
                  </a:tcPr>
                </a:tc>
              </a:tr>
              <a:tr h="384048">
                <a:tc>
                  <a:txBody>
                    <a:bodyPr wrap="square"/>
                    <a:lstStyle/>
                    <a:p>
                      <a:pPr algn="l"/>
                      <a:r>
                        <a:rPr sz="1100">
                          <a:solidFill>
                            <a:srgbClr val="222222"/>
                          </a:solidFill>
                          <a:latin typeface="Calibri"/>
                        </a:rPr>
                        <a:t>requirement_management.md</a:t>
                      </a:r>
                    </a:p>
                  </a:txBody>
                  <a:tcPr marL="91440" marR="91440" marT="54864" marB="54864">
                    <a:solidFill>
                      <a:srgbClr val="F5F7FA"/>
                    </a:solidFill>
                  </a:tcPr>
                </a:tc>
                <a:tc>
                  <a:txBody>
                    <a:bodyPr wrap="square"/>
                    <a:lstStyle/>
                    <a:p>
                      <a:pPr algn="l"/>
                      <a:r>
                        <a:rPr sz="1100">
                          <a:solidFill>
                            <a:srgbClr val="222222"/>
                          </a:solidFill>
                          <a:latin typeface="Calibri"/>
                        </a:rPr>
                        <a:t>13:00 + 01:00 BDT — Email + Drive PDFs + meeting audio (Whisper) + Teams forwards → 3-hour task split → OpenProject Work Packages with dedup + in-place update</a:t>
                      </a:r>
                    </a:p>
                  </a:txBody>
                  <a:tcPr marL="91440" marR="91440" marT="54864" marB="54864">
                    <a:solidFill>
                      <a:srgbClr val="F5F7FA"/>
                    </a:solidFill>
                  </a:tcPr>
                </a:tc>
              </a:tr>
              <a:tr h="384048">
                <a:tc>
                  <a:txBody>
                    <a:bodyPr wrap="square"/>
                    <a:lstStyle/>
                    <a:p>
                      <a:pPr algn="l"/>
                      <a:r>
                        <a:rPr sz="1100">
                          <a:solidFill>
                            <a:srgbClr val="222222"/>
                          </a:solidFill>
                          <a:latin typeface="Calibri"/>
                        </a:rPr>
                        <a:t>daily_report_detailed.md</a:t>
                      </a:r>
                    </a:p>
                  </a:txBody>
                  <a:tcPr marL="91440" marR="91440" marT="54864" marB="54864">
                    <a:solidFill>
                      <a:srgbClr val="FFFFFF"/>
                    </a:solidFill>
                  </a:tcPr>
                </a:tc>
                <a:tc>
                  <a:txBody>
                    <a:bodyPr wrap="square"/>
                    <a:lstStyle/>
                    <a:p>
                      <a:pPr algn="l"/>
                      <a:r>
                        <a:rPr sz="1100">
                          <a:solidFill>
                            <a:srgbClr val="222222"/>
                          </a:solidFill>
                          <a:latin typeface="Calibri"/>
                        </a:rPr>
                        <a:t>03:30 BDT — 6-section detailed PDF emailed to the full team</a:t>
                      </a:r>
                    </a:p>
                  </a:txBody>
                  <a:tcPr marL="91440" marR="91440" marT="54864" marB="54864">
                    <a:solidFill>
                      <a:srgbClr val="FFFFFF"/>
                    </a:solidFill>
                  </a:tcPr>
                </a:tc>
              </a:tr>
              <a:tr h="384048">
                <a:tc>
                  <a:txBody>
                    <a:bodyPr wrap="square"/>
                    <a:lstStyle/>
                    <a:p>
                      <a:pPr algn="l"/>
                      <a:r>
                        <a:rPr sz="1100">
                          <a:solidFill>
                            <a:srgbClr val="222222"/>
                          </a:solidFill>
                          <a:latin typeface="Calibri"/>
                        </a:rPr>
                        <a:t>daily_report_summary.md</a:t>
                      </a:r>
                    </a:p>
                  </a:txBody>
                  <a:tcPr marL="91440" marR="91440" marT="54864" marB="54864">
                    <a:solidFill>
                      <a:srgbClr val="F5F7FA"/>
                    </a:solidFill>
                  </a:tcPr>
                </a:tc>
                <a:tc>
                  <a:txBody>
                    <a:bodyPr wrap="square"/>
                    <a:lstStyle/>
                    <a:p>
                      <a:pPr algn="l"/>
                      <a:r>
                        <a:rPr sz="1100">
                          <a:solidFill>
                            <a:srgbClr val="222222"/>
                          </a:solidFill>
                          <a:latin typeface="Calibri"/>
                        </a:rPr>
                        <a:t>03:45 BDT — 7-block executive dashboard emailed to leadership</a:t>
                      </a:r>
                    </a:p>
                  </a:txBody>
                  <a:tcPr marL="91440" marR="91440" marT="54864" marB="54864">
                    <a:solidFill>
                      <a:srgbClr val="F5F7FA"/>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565392"/>
            <a:ext cx="11277295" cy="9000"/>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601968"/>
            <a:ext cx="7315200" cy="228600"/>
          </a:xfrm>
          <a:prstGeom prst="rect">
            <a:avLst/>
          </a:prstGeom>
          <a:noFill/>
        </p:spPr>
        <p:txBody>
          <a:bodyPr wrap="none">
            <a:spAutoFit/>
          </a:bodyPr>
          <a:lstStyle/>
          <a:p>
            <a:pPr algn="l"/>
            <a:r>
              <a:rPr sz="900" b="0">
                <a:solidFill>
                  <a:srgbClr val="6B7785"/>
                </a:solidFill>
                <a:latin typeface="Calibri"/>
              </a:rPr>
              <a:t>NAPCO Nucleus  |  Mohammad Kamrul Hasan  |  Adaptive Enterprise Limited</a:t>
            </a:r>
          </a:p>
        </p:txBody>
      </p:sp>
      <p:sp>
        <p:nvSpPr>
          <p:cNvPr id="5" name="TextBox 4"/>
          <p:cNvSpPr txBox="1"/>
          <p:nvPr/>
        </p:nvSpPr>
        <p:spPr>
          <a:xfrm>
            <a:off x="10515600" y="6601968"/>
            <a:ext cx="1280160" cy="228600"/>
          </a:xfrm>
          <a:prstGeom prst="rect">
            <a:avLst/>
          </a:prstGeom>
          <a:noFill/>
        </p:spPr>
        <p:txBody>
          <a:bodyPr wrap="none">
            <a:spAutoFit/>
          </a:bodyPr>
          <a:lstStyle/>
          <a:p>
            <a:pPr algn="r"/>
            <a:r>
              <a:rPr sz="900" b="0">
                <a:solidFill>
                  <a:srgbClr val="6B7785"/>
                </a:solidFill>
                <a:latin typeface="Calibri"/>
              </a:rPr>
              <a:t>21 / 31</a:t>
            </a:r>
          </a:p>
        </p:txBody>
      </p:sp>
      <p:sp>
        <p:nvSpPr>
          <p:cNvPr id="6" name="TextBox 5"/>
          <p:cNvSpPr txBox="1"/>
          <p:nvPr/>
        </p:nvSpPr>
        <p:spPr>
          <a:xfrm>
            <a:off x="457200" y="274320"/>
            <a:ext cx="11277295" cy="640080"/>
          </a:xfrm>
          <a:prstGeom prst="rect">
            <a:avLst/>
          </a:prstGeom>
          <a:noFill/>
        </p:spPr>
        <p:txBody>
          <a:bodyPr wrap="none">
            <a:spAutoFit/>
          </a:bodyPr>
          <a:lstStyle/>
          <a:p>
            <a:pPr algn="l"/>
            <a:r>
              <a:rPr sz="2800" b="1">
                <a:solidFill>
                  <a:srgbClr val="1F4E79"/>
                </a:solidFill>
                <a:latin typeface="Calibri"/>
              </a:rPr>
              <a:t>05 · Third-Party Integrations</a:t>
            </a:r>
          </a:p>
        </p:txBody>
      </p:sp>
      <p:sp>
        <p:nvSpPr>
          <p:cNvPr id="7" name="TextBox 6"/>
          <p:cNvSpPr txBox="1"/>
          <p:nvPr/>
        </p:nvSpPr>
        <p:spPr>
          <a:xfrm>
            <a:off x="457200" y="868680"/>
            <a:ext cx="11277295" cy="365760"/>
          </a:xfrm>
          <a:prstGeom prst="rect">
            <a:avLst/>
          </a:prstGeom>
          <a:noFill/>
        </p:spPr>
        <p:txBody>
          <a:bodyPr wrap="none">
            <a:spAutoFit/>
          </a:bodyPr>
          <a:lstStyle/>
          <a:p>
            <a:pPr algn="l"/>
            <a:r>
              <a:rPr sz="1400" b="0">
                <a:solidFill>
                  <a:srgbClr val="6B7785"/>
                </a:solidFill>
                <a:latin typeface="Calibri"/>
              </a:rPr>
              <a:t>Everything NN talks to, end to end</a:t>
            </a:r>
          </a:p>
        </p:txBody>
      </p:sp>
      <p:graphicFrame>
        <p:nvGraphicFramePr>
          <p:cNvPr id="8" name="Table 7"/>
          <p:cNvGraphicFramePr>
            <a:graphicFrameLocks noGrp="1"/>
          </p:cNvGraphicFramePr>
          <p:nvPr/>
        </p:nvGraphicFramePr>
        <p:xfrm>
          <a:off x="548640" y="1554480"/>
          <a:ext cx="11091670" cy="5760720"/>
        </p:xfrm>
        <a:graphic>
          <a:graphicData uri="http://schemas.openxmlformats.org/drawingml/2006/table">
            <a:tbl>
              <a:tblPr firstRow="1" bandRow="1">
                <a:tableStyleId>{5C22544A-7EE6-4342-B048-85BDC9FD1C3A}</a:tableStyleId>
              </a:tblPr>
              <a:tblGrid>
                <a:gridCol w="1996500"/>
                <a:gridCol w="2440167"/>
                <a:gridCol w="6655003"/>
              </a:tblGrid>
              <a:tr h="384048">
                <a:tc>
                  <a:txBody>
                    <a:bodyPr wrap="square"/>
                    <a:lstStyle/>
                    <a:p>
                      <a:pPr algn="l"/>
                      <a:r>
                        <a:rPr sz="1100" b="1">
                          <a:solidFill>
                            <a:srgbClr val="FFFFFF"/>
                          </a:solidFill>
                          <a:latin typeface="Calibri"/>
                        </a:rPr>
                        <a:t>Integration</a:t>
                      </a:r>
                    </a:p>
                  </a:txBody>
                  <a:tcPr marL="91440" marR="91440" marT="54864" marB="54864">
                    <a:solidFill>
                      <a:srgbClr val="1F4E79"/>
                    </a:solidFill>
                  </a:tcPr>
                </a:tc>
                <a:tc>
                  <a:txBody>
                    <a:bodyPr wrap="square"/>
                    <a:lstStyle/>
                    <a:p>
                      <a:pPr algn="l"/>
                      <a:r>
                        <a:rPr sz="1100" b="1">
                          <a:solidFill>
                            <a:srgbClr val="FFFFFF"/>
                          </a:solidFill>
                          <a:latin typeface="Calibri"/>
                        </a:rPr>
                        <a:t>Library</a:t>
                      </a:r>
                    </a:p>
                  </a:txBody>
                  <a:tcPr marL="91440" marR="91440" marT="54864" marB="54864">
                    <a:solidFill>
                      <a:srgbClr val="1F4E79"/>
                    </a:solidFill>
                  </a:tcPr>
                </a:tc>
                <a:tc>
                  <a:txBody>
                    <a:bodyPr wrap="square"/>
                    <a:lstStyle/>
                    <a:p>
                      <a:pPr algn="l"/>
                      <a:r>
                        <a:rPr sz="1100" b="1">
                          <a:solidFill>
                            <a:srgbClr val="FFFFFF"/>
                          </a:solidFill>
                          <a:latin typeface="Calibri"/>
                        </a:rPr>
                        <a:t>Used for</a:t>
                      </a:r>
                    </a:p>
                  </a:txBody>
                  <a:tcPr marL="91440" marR="91440" marT="54864" marB="54864">
                    <a:solidFill>
                      <a:srgbClr val="1F4E79"/>
                    </a:solidFill>
                  </a:tcPr>
                </a:tc>
              </a:tr>
              <a:tr h="384048">
                <a:tc>
                  <a:txBody>
                    <a:bodyPr wrap="square"/>
                    <a:lstStyle/>
                    <a:p>
                      <a:pPr algn="l"/>
                      <a:r>
                        <a:rPr sz="1000">
                          <a:solidFill>
                            <a:srgbClr val="222222"/>
                          </a:solidFill>
                          <a:latin typeface="Calibri"/>
                        </a:rPr>
                        <a:t>IMAP</a:t>
                      </a:r>
                    </a:p>
                  </a:txBody>
                  <a:tcPr marL="91440" marR="91440" marT="54864" marB="54864">
                    <a:solidFill>
                      <a:srgbClr val="FFFFFF"/>
                    </a:solidFill>
                  </a:tcPr>
                </a:tc>
                <a:tc>
                  <a:txBody>
                    <a:bodyPr wrap="square"/>
                    <a:lstStyle/>
                    <a:p>
                      <a:pPr algn="l"/>
                      <a:r>
                        <a:rPr sz="1000">
                          <a:solidFill>
                            <a:srgbClr val="222222"/>
                          </a:solidFill>
                          <a:latin typeface="Calibri"/>
                        </a:rPr>
                        <a:t>stdlib imaplib</a:t>
                      </a:r>
                    </a:p>
                  </a:txBody>
                  <a:tcPr marL="91440" marR="91440" marT="54864" marB="54864">
                    <a:solidFill>
                      <a:srgbClr val="FFFFFF"/>
                    </a:solidFill>
                  </a:tcPr>
                </a:tc>
                <a:tc>
                  <a:txBody>
                    <a:bodyPr wrap="square"/>
                    <a:lstStyle/>
                    <a:p>
                      <a:pPr algn="l"/>
                      <a:r>
                        <a:rPr sz="1000">
                          <a:solidFill>
                            <a:srgbClr val="222222"/>
                          </a:solidFill>
                          <a:latin typeface="Calibri"/>
                        </a:rPr>
                        <a:t>Pull allowlisted requirement emails. Idempotent via UIDVALIDITY + since-UID checkpoint.</a:t>
                      </a:r>
                    </a:p>
                  </a:txBody>
                  <a:tcPr marL="91440" marR="91440" marT="54864" marB="54864">
                    <a:solidFill>
                      <a:srgbClr val="FFFFFF"/>
                    </a:solidFill>
                  </a:tcPr>
                </a:tc>
              </a:tr>
              <a:tr h="384048">
                <a:tc>
                  <a:txBody>
                    <a:bodyPr wrap="square"/>
                    <a:lstStyle/>
                    <a:p>
                      <a:pPr algn="l"/>
                      <a:r>
                        <a:rPr sz="1000">
                          <a:solidFill>
                            <a:srgbClr val="222222"/>
                          </a:solidFill>
                          <a:latin typeface="Calibri"/>
                        </a:rPr>
                        <a:t>Google Drive</a:t>
                      </a:r>
                    </a:p>
                  </a:txBody>
                  <a:tcPr marL="91440" marR="91440" marT="54864" marB="54864">
                    <a:solidFill>
                      <a:srgbClr val="F5F7FA"/>
                    </a:solidFill>
                  </a:tcPr>
                </a:tc>
                <a:tc>
                  <a:txBody>
                    <a:bodyPr wrap="square"/>
                    <a:lstStyle/>
                    <a:p>
                      <a:pPr algn="l"/>
                      <a:r>
                        <a:rPr sz="1000">
                          <a:solidFill>
                            <a:srgbClr val="222222"/>
                          </a:solidFill>
                          <a:latin typeface="Calibri"/>
                        </a:rPr>
                        <a:t>google-api-python-client</a:t>
                      </a:r>
                    </a:p>
                  </a:txBody>
                  <a:tcPr marL="91440" marR="91440" marT="54864" marB="54864">
                    <a:solidFill>
                      <a:srgbClr val="F5F7FA"/>
                    </a:solidFill>
                  </a:tcPr>
                </a:tc>
                <a:tc>
                  <a:txBody>
                    <a:bodyPr wrap="square"/>
                    <a:lstStyle/>
                    <a:p>
                      <a:pPr algn="l"/>
                      <a:r>
                        <a:rPr sz="1000">
                          <a:solidFill>
                            <a:srgbClr val="222222"/>
                          </a:solidFill>
                          <a:latin typeface="Calibri"/>
                        </a:rPr>
                        <a:t>List + download new audio/video and PDFs. Service-account auth.</a:t>
                      </a:r>
                    </a:p>
                  </a:txBody>
                  <a:tcPr marL="91440" marR="91440" marT="54864" marB="54864">
                    <a:solidFill>
                      <a:srgbClr val="F5F7FA"/>
                    </a:solidFill>
                  </a:tcPr>
                </a:tc>
              </a:tr>
              <a:tr h="384048">
                <a:tc>
                  <a:txBody>
                    <a:bodyPr wrap="square"/>
                    <a:lstStyle/>
                    <a:p>
                      <a:pPr algn="l"/>
                      <a:r>
                        <a:rPr sz="1000">
                          <a:solidFill>
                            <a:srgbClr val="222222"/>
                          </a:solidFill>
                          <a:latin typeface="Calibri"/>
                        </a:rPr>
                        <a:t>Groq Whisper</a:t>
                      </a:r>
                    </a:p>
                  </a:txBody>
                  <a:tcPr marL="91440" marR="91440" marT="54864" marB="54864">
                    <a:solidFill>
                      <a:srgbClr val="FFFFFF"/>
                    </a:solidFill>
                  </a:tcPr>
                </a:tc>
                <a:tc>
                  <a:txBody>
                    <a:bodyPr wrap="square"/>
                    <a:lstStyle/>
                    <a:p>
                      <a:pPr algn="l"/>
                      <a:r>
                        <a:rPr sz="1000">
                          <a:solidFill>
                            <a:srgbClr val="222222"/>
                          </a:solidFill>
                          <a:latin typeface="Calibri"/>
                        </a:rPr>
                        <a:t>requests (REST)</a:t>
                      </a:r>
                    </a:p>
                  </a:txBody>
                  <a:tcPr marL="91440" marR="91440" marT="54864" marB="54864">
                    <a:solidFill>
                      <a:srgbClr val="FFFFFF"/>
                    </a:solidFill>
                  </a:tcPr>
                </a:tc>
                <a:tc>
                  <a:txBody>
                    <a:bodyPr wrap="square"/>
                    <a:lstStyle/>
                    <a:p>
                      <a:pPr algn="l"/>
                      <a:r>
                        <a:rPr sz="1000">
                          <a:solidFill>
                            <a:srgbClr val="222222"/>
                          </a:solidFill>
                          <a:latin typeface="Calibri"/>
                        </a:rPr>
                        <a:t>Audio + video transcription. Cheap, fast.</a:t>
                      </a:r>
                    </a:p>
                  </a:txBody>
                  <a:tcPr marL="91440" marR="91440" marT="54864" marB="54864">
                    <a:solidFill>
                      <a:srgbClr val="FFFFFF"/>
                    </a:solidFill>
                  </a:tcPr>
                </a:tc>
              </a:tr>
              <a:tr h="384048">
                <a:tc>
                  <a:txBody>
                    <a:bodyPr wrap="square"/>
                    <a:lstStyle/>
                    <a:p>
                      <a:pPr algn="l"/>
                      <a:r>
                        <a:rPr sz="1000">
                          <a:solidFill>
                            <a:srgbClr val="222222"/>
                          </a:solidFill>
                          <a:latin typeface="Calibri"/>
                        </a:rPr>
                        <a:t>pypdf</a:t>
                      </a:r>
                    </a:p>
                  </a:txBody>
                  <a:tcPr marL="91440" marR="91440" marT="54864" marB="54864">
                    <a:solidFill>
                      <a:srgbClr val="F5F7FA"/>
                    </a:solidFill>
                  </a:tcPr>
                </a:tc>
                <a:tc>
                  <a:txBody>
                    <a:bodyPr wrap="square"/>
                    <a:lstStyle/>
                    <a:p>
                      <a:pPr algn="l"/>
                      <a:r>
                        <a:rPr sz="1000">
                          <a:solidFill>
                            <a:srgbClr val="222222"/>
                          </a:solidFill>
                          <a:latin typeface="Calibri"/>
                        </a:rPr>
                        <a:t>pypdf</a:t>
                      </a:r>
                    </a:p>
                  </a:txBody>
                  <a:tcPr marL="91440" marR="91440" marT="54864" marB="54864">
                    <a:solidFill>
                      <a:srgbClr val="F5F7FA"/>
                    </a:solidFill>
                  </a:tcPr>
                </a:tc>
                <a:tc>
                  <a:txBody>
                    <a:bodyPr wrap="square"/>
                    <a:lstStyle/>
                    <a:p>
                      <a:pPr algn="l"/>
                      <a:r>
                        <a:rPr sz="1000">
                          <a:solidFill>
                            <a:srgbClr val="222222"/>
                          </a:solidFill>
                          <a:latin typeface="Calibri"/>
                        </a:rPr>
                        <a:t>Local PDF text extraction. No external call.</a:t>
                      </a:r>
                    </a:p>
                  </a:txBody>
                  <a:tcPr marL="91440" marR="91440" marT="54864" marB="54864">
                    <a:solidFill>
                      <a:srgbClr val="F5F7FA"/>
                    </a:solidFill>
                  </a:tcPr>
                </a:tc>
              </a:tr>
              <a:tr h="384048">
                <a:tc>
                  <a:txBody>
                    <a:bodyPr wrap="square"/>
                    <a:lstStyle/>
                    <a:p>
                      <a:pPr algn="l"/>
                      <a:r>
                        <a:rPr sz="1000">
                          <a:solidFill>
                            <a:srgbClr val="222222"/>
                          </a:solidFill>
                          <a:latin typeface="Calibri"/>
                        </a:rPr>
                        <a:t>OpenProject</a:t>
                      </a:r>
                    </a:p>
                  </a:txBody>
                  <a:tcPr marL="91440" marR="91440" marT="54864" marB="54864">
                    <a:solidFill>
                      <a:srgbClr val="FFFFFF"/>
                    </a:solidFill>
                  </a:tcPr>
                </a:tc>
                <a:tc>
                  <a:txBody>
                    <a:bodyPr wrap="square"/>
                    <a:lstStyle/>
                    <a:p>
                      <a:pPr algn="l"/>
                      <a:r>
                        <a:rPr sz="1000">
                          <a:solidFill>
                            <a:srgbClr val="222222"/>
                          </a:solidFill>
                          <a:latin typeface="Calibri"/>
                        </a:rPr>
                        <a:t>requests (REST v3 HAL+JSON)</a:t>
                      </a:r>
                    </a:p>
                  </a:txBody>
                  <a:tcPr marL="91440" marR="91440" marT="54864" marB="54864">
                    <a:solidFill>
                      <a:srgbClr val="FFFFFF"/>
                    </a:solidFill>
                  </a:tcPr>
                </a:tc>
                <a:tc>
                  <a:txBody>
                    <a:bodyPr wrap="square"/>
                    <a:lstStyle/>
                    <a:p>
                      <a:pPr algn="l"/>
                      <a:r>
                        <a:rPr sz="1000">
                          <a:solidFill>
                            <a:srgbClr val="222222"/>
                          </a:solidFill>
                          <a:latin typeface="Calibri"/>
                        </a:rPr>
                        <a:t>list/create/update Work Packages + comments. API token, HTTP Basic auth.</a:t>
                      </a:r>
                    </a:p>
                  </a:txBody>
                  <a:tcPr marL="91440" marR="91440" marT="54864" marB="54864">
                    <a:solidFill>
                      <a:srgbClr val="FFFFFF"/>
                    </a:solidFill>
                  </a:tcPr>
                </a:tc>
              </a:tr>
              <a:tr h="384048">
                <a:tc>
                  <a:txBody>
                    <a:bodyPr wrap="square"/>
                    <a:lstStyle/>
                    <a:p>
                      <a:pPr algn="l"/>
                      <a:r>
                        <a:rPr sz="1000">
                          <a:solidFill>
                            <a:srgbClr val="222222"/>
                          </a:solidFill>
                          <a:latin typeface="Calibri"/>
                        </a:rPr>
                        <a:t>Microsoft Teams</a:t>
                      </a:r>
                    </a:p>
                  </a:txBody>
                  <a:tcPr marL="91440" marR="91440" marT="54864" marB="54864">
                    <a:solidFill>
                      <a:srgbClr val="F5F7FA"/>
                    </a:solidFill>
                  </a:tcPr>
                </a:tc>
                <a:tc>
                  <a:txBody>
                    <a:bodyPr wrap="square"/>
                    <a:lstStyle/>
                    <a:p>
                      <a:pPr algn="l"/>
                      <a:r>
                        <a:rPr sz="1000">
                          <a:solidFill>
                            <a:srgbClr val="222222"/>
                          </a:solidFill>
                          <a:latin typeface="Calibri"/>
                        </a:rPr>
                        <a:t>requests</a:t>
                      </a:r>
                    </a:p>
                  </a:txBody>
                  <a:tcPr marL="91440" marR="91440" marT="54864" marB="54864">
                    <a:solidFill>
                      <a:srgbClr val="F5F7FA"/>
                    </a:solidFill>
                  </a:tcPr>
                </a:tc>
                <a:tc>
                  <a:txBody>
                    <a:bodyPr wrap="square"/>
                    <a:lstStyle/>
                    <a:p>
                      <a:pPr algn="l"/>
                      <a:r>
                        <a:rPr sz="1000">
                          <a:solidFill>
                            <a:srgbClr val="222222"/>
                          </a:solidFill>
                          <a:latin typeface="Calibri"/>
                        </a:rPr>
                        <a:t>Incoming webhook for the optional one-line digest.</a:t>
                      </a:r>
                    </a:p>
                  </a:txBody>
                  <a:tcPr marL="91440" marR="91440" marT="54864" marB="54864">
                    <a:solidFill>
                      <a:srgbClr val="F5F7FA"/>
                    </a:solidFill>
                  </a:tcPr>
                </a:tc>
              </a:tr>
              <a:tr h="384048">
                <a:tc>
                  <a:txBody>
                    <a:bodyPr wrap="square"/>
                    <a:lstStyle/>
                    <a:p>
                      <a:pPr algn="l"/>
                      <a:r>
                        <a:rPr sz="1000">
                          <a:solidFill>
                            <a:srgbClr val="222222"/>
                          </a:solidFill>
                          <a:latin typeface="Calibri"/>
                        </a:rPr>
                        <a:t>Gmail SMTP</a:t>
                      </a:r>
                    </a:p>
                  </a:txBody>
                  <a:tcPr marL="91440" marR="91440" marT="54864" marB="54864">
                    <a:solidFill>
                      <a:srgbClr val="FFFFFF"/>
                    </a:solidFill>
                  </a:tcPr>
                </a:tc>
                <a:tc>
                  <a:txBody>
                    <a:bodyPr wrap="square"/>
                    <a:lstStyle/>
                    <a:p>
                      <a:pPr algn="l"/>
                      <a:r>
                        <a:rPr sz="1000">
                          <a:solidFill>
                            <a:srgbClr val="222222"/>
                          </a:solidFill>
                          <a:latin typeface="Calibri"/>
                        </a:rPr>
                        <a:t>stdlib smtplib</a:t>
                      </a:r>
                    </a:p>
                  </a:txBody>
                  <a:tcPr marL="91440" marR="91440" marT="54864" marB="54864">
                    <a:solidFill>
                      <a:srgbClr val="FFFFFF"/>
                    </a:solidFill>
                  </a:tcPr>
                </a:tc>
                <a:tc>
                  <a:txBody>
                    <a:bodyPr wrap="square"/>
                    <a:lstStyle/>
                    <a:p>
                      <a:pPr algn="l"/>
                      <a:r>
                        <a:rPr sz="1000">
                          <a:solidFill>
                            <a:srgbClr val="222222"/>
                          </a:solidFill>
                          <a:latin typeface="Calibri"/>
                        </a:rPr>
                        <a:t>Outbound email of daily report PDFs. App-password auth.</a:t>
                      </a:r>
                    </a:p>
                  </a:txBody>
                  <a:tcPr marL="91440" marR="91440" marT="54864" marB="54864">
                    <a:solidFill>
                      <a:srgbClr val="FFFFFF"/>
                    </a:solidFill>
                  </a:tcPr>
                </a:tc>
              </a:tr>
              <a:tr h="384048">
                <a:tc>
                  <a:txBody>
                    <a:bodyPr wrap="square"/>
                    <a:lstStyle/>
                    <a:p>
                      <a:pPr algn="l"/>
                      <a:r>
                        <a:rPr sz="1000">
                          <a:solidFill>
                            <a:srgbClr val="222222"/>
                          </a:solidFill>
                          <a:latin typeface="Calibri"/>
                        </a:rPr>
                        <a:t>Newman</a:t>
                      </a:r>
                    </a:p>
                  </a:txBody>
                  <a:tcPr marL="91440" marR="91440" marT="54864" marB="54864">
                    <a:solidFill>
                      <a:srgbClr val="F5F7FA"/>
                    </a:solidFill>
                  </a:tcPr>
                </a:tc>
                <a:tc>
                  <a:txBody>
                    <a:bodyPr wrap="square"/>
                    <a:lstStyle/>
                    <a:p>
                      <a:pPr algn="l"/>
                      <a:r>
                        <a:rPr sz="1000">
                          <a:solidFill>
                            <a:srgbClr val="222222"/>
                          </a:solidFill>
                          <a:latin typeface="Calibri"/>
                        </a:rPr>
                        <a:t>subprocess</a:t>
                      </a:r>
                    </a:p>
                  </a:txBody>
                  <a:tcPr marL="91440" marR="91440" marT="54864" marB="54864">
                    <a:solidFill>
                      <a:srgbClr val="F5F7FA"/>
                    </a:solidFill>
                  </a:tcPr>
                </a:tc>
                <a:tc>
                  <a:txBody>
                    <a:bodyPr wrap="square"/>
                    <a:lstStyle/>
                    <a:p>
                      <a:pPr algn="l"/>
                      <a:r>
                        <a:rPr sz="1000">
                          <a:solidFill>
                            <a:srgbClr val="222222"/>
                          </a:solidFill>
                          <a:latin typeface="Calibri"/>
                        </a:rPr>
                        <a:t>API functional tests via Postman collection.</a:t>
                      </a:r>
                    </a:p>
                  </a:txBody>
                  <a:tcPr marL="91440" marR="91440" marT="54864" marB="54864">
                    <a:solidFill>
                      <a:srgbClr val="F5F7FA"/>
                    </a:solidFill>
                  </a:tcPr>
                </a:tc>
              </a:tr>
              <a:tr h="384048">
                <a:tc>
                  <a:txBody>
                    <a:bodyPr wrap="square"/>
                    <a:lstStyle/>
                    <a:p>
                      <a:pPr algn="l"/>
                      <a:r>
                        <a:rPr sz="1000">
                          <a:solidFill>
                            <a:srgbClr val="222222"/>
                          </a:solidFill>
                          <a:latin typeface="Calibri"/>
                        </a:rPr>
                        <a:t>pytest</a:t>
                      </a:r>
                    </a:p>
                  </a:txBody>
                  <a:tcPr marL="91440" marR="91440" marT="54864" marB="54864">
                    <a:solidFill>
                      <a:srgbClr val="FFFFFF"/>
                    </a:solidFill>
                  </a:tcPr>
                </a:tc>
                <a:tc>
                  <a:txBody>
                    <a:bodyPr wrap="square"/>
                    <a:lstStyle/>
                    <a:p>
                      <a:pPr algn="l"/>
                      <a:r>
                        <a:rPr sz="1000">
                          <a:solidFill>
                            <a:srgbClr val="222222"/>
                          </a:solidFill>
                          <a:latin typeface="Calibri"/>
                        </a:rPr>
                        <a:t>subprocess</a:t>
                      </a:r>
                    </a:p>
                  </a:txBody>
                  <a:tcPr marL="91440" marR="91440" marT="54864" marB="54864">
                    <a:solidFill>
                      <a:srgbClr val="FFFFFF"/>
                    </a:solidFill>
                  </a:tcPr>
                </a:tc>
                <a:tc>
                  <a:txBody>
                    <a:bodyPr wrap="square"/>
                    <a:lstStyle/>
                    <a:p>
                      <a:pPr algn="l"/>
                      <a:r>
                        <a:rPr sz="1000">
                          <a:solidFill>
                            <a:srgbClr val="222222"/>
                          </a:solidFill>
                          <a:latin typeface="Calibri"/>
                        </a:rPr>
                        <a:t>API integration tests.</a:t>
                      </a:r>
                    </a:p>
                  </a:txBody>
                  <a:tcPr marL="91440" marR="91440" marT="54864" marB="54864">
                    <a:solidFill>
                      <a:srgbClr val="FFFFFF"/>
                    </a:solidFill>
                  </a:tcPr>
                </a:tc>
              </a:tr>
              <a:tr h="384048">
                <a:tc>
                  <a:txBody>
                    <a:bodyPr wrap="square"/>
                    <a:lstStyle/>
                    <a:p>
                      <a:pPr algn="l"/>
                      <a:r>
                        <a:rPr sz="1000">
                          <a:solidFill>
                            <a:srgbClr val="222222"/>
                          </a:solidFill>
                          <a:latin typeface="Calibri"/>
                        </a:rPr>
                        <a:t>Locust</a:t>
                      </a:r>
                    </a:p>
                  </a:txBody>
                  <a:tcPr marL="91440" marR="91440" marT="54864" marB="54864">
                    <a:solidFill>
                      <a:srgbClr val="F5F7FA"/>
                    </a:solidFill>
                  </a:tcPr>
                </a:tc>
                <a:tc>
                  <a:txBody>
                    <a:bodyPr wrap="square"/>
                    <a:lstStyle/>
                    <a:p>
                      <a:pPr algn="l"/>
                      <a:r>
                        <a:rPr sz="1000">
                          <a:solidFill>
                            <a:srgbClr val="222222"/>
                          </a:solidFill>
                          <a:latin typeface="Calibri"/>
                        </a:rPr>
                        <a:t>subprocess</a:t>
                      </a:r>
                    </a:p>
                  </a:txBody>
                  <a:tcPr marL="91440" marR="91440" marT="54864" marB="54864">
                    <a:solidFill>
                      <a:srgbClr val="F5F7FA"/>
                    </a:solidFill>
                  </a:tcPr>
                </a:tc>
                <a:tc>
                  <a:txBody>
                    <a:bodyPr wrap="square"/>
                    <a:lstStyle/>
                    <a:p>
                      <a:pPr algn="l"/>
                      <a:r>
                        <a:rPr sz="1000">
                          <a:solidFill>
                            <a:srgbClr val="222222"/>
                          </a:solidFill>
                          <a:latin typeface="Calibri"/>
                        </a:rPr>
                        <a:t>Load testing 10 → 10,000 users in tiers.</a:t>
                      </a:r>
                    </a:p>
                  </a:txBody>
                  <a:tcPr marL="91440" marR="91440" marT="54864" marB="54864">
                    <a:solidFill>
                      <a:srgbClr val="F5F7FA"/>
                    </a:solidFill>
                  </a:tcPr>
                </a:tc>
              </a:tr>
              <a:tr h="384048">
                <a:tc>
                  <a:txBody>
                    <a:bodyPr wrap="square"/>
                    <a:lstStyle/>
                    <a:p>
                      <a:pPr algn="l"/>
                      <a:r>
                        <a:rPr sz="1000">
                          <a:solidFill>
                            <a:srgbClr val="222222"/>
                          </a:solidFill>
                          <a:latin typeface="Calibri"/>
                        </a:rPr>
                        <a:t>Playwright</a:t>
                      </a:r>
                    </a:p>
                  </a:txBody>
                  <a:tcPr marL="91440" marR="91440" marT="54864" marB="54864">
                    <a:solidFill>
                      <a:srgbClr val="FFFFFF"/>
                    </a:solidFill>
                  </a:tcPr>
                </a:tc>
                <a:tc>
                  <a:txBody>
                    <a:bodyPr wrap="square"/>
                    <a:lstStyle/>
                    <a:p>
                      <a:pPr algn="l"/>
                      <a:r>
                        <a:rPr sz="1000">
                          <a:solidFill>
                            <a:srgbClr val="222222"/>
                          </a:solidFill>
                          <a:latin typeface="Calibri"/>
                        </a:rPr>
                        <a:t>subprocess</a:t>
                      </a:r>
                    </a:p>
                  </a:txBody>
                  <a:tcPr marL="91440" marR="91440" marT="54864" marB="54864">
                    <a:solidFill>
                      <a:srgbClr val="FFFFFF"/>
                    </a:solidFill>
                  </a:tcPr>
                </a:tc>
                <a:tc>
                  <a:txBody>
                    <a:bodyPr wrap="square"/>
                    <a:lstStyle/>
                    <a:p>
                      <a:pPr algn="l"/>
                      <a:r>
                        <a:rPr sz="1000">
                          <a:solidFill>
                            <a:srgbClr val="222222"/>
                          </a:solidFill>
                          <a:latin typeface="Calibri"/>
                        </a:rPr>
                        <a:t>E2E tests + failure screenshots.</a:t>
                      </a:r>
                    </a:p>
                  </a:txBody>
                  <a:tcPr marL="91440" marR="91440" marT="54864" marB="54864">
                    <a:solidFill>
                      <a:srgbClr val="FFFFFF"/>
                    </a:solidFill>
                  </a:tcPr>
                </a:tc>
              </a:tr>
              <a:tr h="384048">
                <a:tc>
                  <a:txBody>
                    <a:bodyPr wrap="square"/>
                    <a:lstStyle/>
                    <a:p>
                      <a:pPr algn="l"/>
                      <a:r>
                        <a:rPr sz="1000">
                          <a:solidFill>
                            <a:srgbClr val="222222"/>
                          </a:solidFill>
                          <a:latin typeface="Calibri"/>
                        </a:rPr>
                        <a:t>TFS + MSBuild</a:t>
                      </a:r>
                    </a:p>
                  </a:txBody>
                  <a:tcPr marL="91440" marR="91440" marT="54864" marB="54864">
                    <a:solidFill>
                      <a:srgbClr val="F5F7FA"/>
                    </a:solidFill>
                  </a:tcPr>
                </a:tc>
                <a:tc>
                  <a:txBody>
                    <a:bodyPr wrap="square"/>
                    <a:lstStyle/>
                    <a:p>
                      <a:pPr algn="l"/>
                      <a:r>
                        <a:rPr sz="1000">
                          <a:solidFill>
                            <a:srgbClr val="222222"/>
                          </a:solidFill>
                          <a:latin typeface="Calibri"/>
                        </a:rPr>
                        <a:t>subprocess</a:t>
                      </a:r>
                    </a:p>
                  </a:txBody>
                  <a:tcPr marL="91440" marR="91440" marT="54864" marB="54864">
                    <a:solidFill>
                      <a:srgbClr val="F5F7FA"/>
                    </a:solidFill>
                  </a:tcPr>
                </a:tc>
                <a:tc>
                  <a:txBody>
                    <a:bodyPr wrap="square"/>
                    <a:lstStyle/>
                    <a:p>
                      <a:pPr algn="l"/>
                      <a:r>
                        <a:rPr sz="1000">
                          <a:solidFill>
                            <a:srgbClr val="222222"/>
                          </a:solidFill>
                          <a:latin typeface="Calibri"/>
                        </a:rPr>
                        <a:t>MVPAccess CICD: pull, build, deploy.</a:t>
                      </a:r>
                    </a:p>
                  </a:txBody>
                  <a:tcPr marL="91440" marR="91440" marT="54864" marB="54864">
                    <a:solidFill>
                      <a:srgbClr val="F5F7FA"/>
                    </a:solidFill>
                  </a:tcPr>
                </a:tc>
              </a:tr>
              <a:tr h="384048">
                <a:tc>
                  <a:txBody>
                    <a:bodyPr wrap="square"/>
                    <a:lstStyle/>
                    <a:p>
                      <a:pPr algn="l"/>
                      <a:r>
                        <a:rPr sz="1000">
                          <a:solidFill>
                            <a:srgbClr val="222222"/>
                          </a:solidFill>
                          <a:latin typeface="Calibri"/>
                        </a:rPr>
                        <a:t>GitHub Actions</a:t>
                      </a:r>
                    </a:p>
                  </a:txBody>
                  <a:tcPr marL="91440" marR="91440" marT="54864" marB="54864">
                    <a:solidFill>
                      <a:srgbClr val="FFFFFF"/>
                    </a:solidFill>
                  </a:tcPr>
                </a:tc>
                <a:tc>
                  <a:txBody>
                    <a:bodyPr wrap="square"/>
                    <a:lstStyle/>
                    <a:p>
                      <a:pPr algn="l"/>
                      <a:r>
                        <a:rPr sz="1000">
                          <a:solidFill>
                            <a:srgbClr val="222222"/>
                          </a:solidFill>
                          <a:latin typeface="Calibri"/>
                        </a:rPr>
                        <a:t>(scheduler)</a:t>
                      </a:r>
                    </a:p>
                  </a:txBody>
                  <a:tcPr marL="91440" marR="91440" marT="54864" marB="54864">
                    <a:solidFill>
                      <a:srgbClr val="FFFFFF"/>
                    </a:solidFill>
                  </a:tcPr>
                </a:tc>
                <a:tc>
                  <a:txBody>
                    <a:bodyPr wrap="square"/>
                    <a:lstStyle/>
                    <a:p>
                      <a:pPr algn="l"/>
                      <a:r>
                        <a:rPr sz="1000">
                          <a:solidFill>
                            <a:srgbClr val="222222"/>
                          </a:solidFill>
                          <a:latin typeface="Calibri"/>
                        </a:rPr>
                        <a:t>Cron + manual triggers, 9 workflows.</a:t>
                      </a:r>
                    </a:p>
                  </a:txBody>
                  <a:tcPr marL="91440" marR="91440" marT="54864" marB="54864">
                    <a:solidFill>
                      <a:srgbClr val="FFFFFF"/>
                    </a:solidFill>
                  </a:tcPr>
                </a:tc>
              </a:tr>
              <a:tr h="384048">
                <a:tc>
                  <a:txBody>
                    <a:bodyPr wrap="square"/>
                    <a:lstStyle/>
                    <a:p>
                      <a:pPr algn="l"/>
                      <a:r>
                        <a:rPr sz="1000">
                          <a:solidFill>
                            <a:srgbClr val="222222"/>
                          </a:solidFill>
                          <a:latin typeface="Calibri"/>
                        </a:rPr>
                        <a:t>Self-hosted runner</a:t>
                      </a:r>
                    </a:p>
                  </a:txBody>
                  <a:tcPr marL="91440" marR="91440" marT="54864" marB="54864">
                    <a:solidFill>
                      <a:srgbClr val="F5F7FA"/>
                    </a:solidFill>
                  </a:tcPr>
                </a:tc>
                <a:tc>
                  <a:txBody>
                    <a:bodyPr wrap="square"/>
                    <a:lstStyle/>
                    <a:p>
                      <a:pPr algn="l"/>
                      <a:r>
                        <a:rPr sz="1000">
                          <a:solidFill>
                            <a:srgbClr val="222222"/>
                          </a:solidFill>
                          <a:latin typeface="Calibri"/>
                        </a:rPr>
                        <a:t>(machine)</a:t>
                      </a:r>
                    </a:p>
                  </a:txBody>
                  <a:tcPr marL="91440" marR="91440" marT="54864" marB="54864">
                    <a:solidFill>
                      <a:srgbClr val="F5F7FA"/>
                    </a:solidFill>
                  </a:tcPr>
                </a:tc>
                <a:tc>
                  <a:txBody>
                    <a:bodyPr wrap="square"/>
                    <a:lstStyle/>
                    <a:p>
                      <a:pPr algn="l"/>
                      <a:r>
                        <a:rPr sz="1000">
                          <a:solidFill>
                            <a:srgbClr val="222222"/>
                          </a:solidFill>
                          <a:latin typeface="Calibri"/>
                        </a:rPr>
                        <a:t>Windows VM with Claude Code CLI 24/7.</a:t>
                      </a:r>
                    </a:p>
                  </a:txBody>
                  <a:tcPr marL="91440" marR="91440" marT="54864" marB="54864">
                    <a:solidFill>
                      <a:srgbClr val="F5F7FA"/>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565392"/>
            <a:ext cx="11277295" cy="9000"/>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601968"/>
            <a:ext cx="7315200" cy="228600"/>
          </a:xfrm>
          <a:prstGeom prst="rect">
            <a:avLst/>
          </a:prstGeom>
          <a:noFill/>
        </p:spPr>
        <p:txBody>
          <a:bodyPr wrap="none">
            <a:spAutoFit/>
          </a:bodyPr>
          <a:lstStyle/>
          <a:p>
            <a:pPr algn="l"/>
            <a:r>
              <a:rPr sz="900" b="0">
                <a:solidFill>
                  <a:srgbClr val="6B7785"/>
                </a:solidFill>
                <a:latin typeface="Calibri"/>
              </a:rPr>
              <a:t>NAPCO Nucleus  |  Mohammad Kamrul Hasan  |  Adaptive Enterprise Limited</a:t>
            </a:r>
          </a:p>
        </p:txBody>
      </p:sp>
      <p:sp>
        <p:nvSpPr>
          <p:cNvPr id="5" name="TextBox 4"/>
          <p:cNvSpPr txBox="1"/>
          <p:nvPr/>
        </p:nvSpPr>
        <p:spPr>
          <a:xfrm>
            <a:off x="10515600" y="6601968"/>
            <a:ext cx="1280160" cy="228600"/>
          </a:xfrm>
          <a:prstGeom prst="rect">
            <a:avLst/>
          </a:prstGeom>
          <a:noFill/>
        </p:spPr>
        <p:txBody>
          <a:bodyPr wrap="none">
            <a:spAutoFit/>
          </a:bodyPr>
          <a:lstStyle/>
          <a:p>
            <a:pPr algn="r"/>
            <a:r>
              <a:rPr sz="900" b="0">
                <a:solidFill>
                  <a:srgbClr val="6B7785"/>
                </a:solidFill>
                <a:latin typeface="Calibri"/>
              </a:rPr>
              <a:t>22 / 31</a:t>
            </a:r>
          </a:p>
        </p:txBody>
      </p:sp>
      <p:sp>
        <p:nvSpPr>
          <p:cNvPr id="6" name="TextBox 5"/>
          <p:cNvSpPr txBox="1"/>
          <p:nvPr/>
        </p:nvSpPr>
        <p:spPr>
          <a:xfrm>
            <a:off x="457200" y="274320"/>
            <a:ext cx="11277295" cy="640080"/>
          </a:xfrm>
          <a:prstGeom prst="rect">
            <a:avLst/>
          </a:prstGeom>
          <a:noFill/>
        </p:spPr>
        <p:txBody>
          <a:bodyPr wrap="none">
            <a:spAutoFit/>
          </a:bodyPr>
          <a:lstStyle/>
          <a:p>
            <a:pPr algn="l"/>
            <a:r>
              <a:rPr sz="2800" b="1">
                <a:solidFill>
                  <a:srgbClr val="1F4E79"/>
                </a:solidFill>
                <a:latin typeface="Calibri"/>
              </a:rPr>
              <a:t>05 · Tech Stack at a Glance</a:t>
            </a:r>
          </a:p>
        </p:txBody>
      </p:sp>
      <p:sp>
        <p:nvSpPr>
          <p:cNvPr id="7" name="TextBox 6"/>
          <p:cNvSpPr txBox="1"/>
          <p:nvPr/>
        </p:nvSpPr>
        <p:spPr>
          <a:xfrm>
            <a:off x="457200" y="868680"/>
            <a:ext cx="11277295" cy="365760"/>
          </a:xfrm>
          <a:prstGeom prst="rect">
            <a:avLst/>
          </a:prstGeom>
          <a:noFill/>
        </p:spPr>
        <p:txBody>
          <a:bodyPr wrap="none">
            <a:spAutoFit/>
          </a:bodyPr>
          <a:lstStyle/>
          <a:p>
            <a:pPr algn="l"/>
            <a:r>
              <a:rPr sz="1400" b="0">
                <a:solidFill>
                  <a:srgbClr val="6B7785"/>
                </a:solidFill>
                <a:latin typeface="Calibri"/>
              </a:rPr>
              <a:t>Everything NN depends on</a:t>
            </a:r>
          </a:p>
        </p:txBody>
      </p:sp>
      <p:sp>
        <p:nvSpPr>
          <p:cNvPr id="8" name="Rectangle 7"/>
          <p:cNvSpPr/>
          <p:nvPr/>
        </p:nvSpPr>
        <p:spPr>
          <a:xfrm>
            <a:off x="548640" y="1554480"/>
            <a:ext cx="2194560" cy="65836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alibri"/>
              </a:rPr>
              <a:t>REASONING</a:t>
            </a:r>
          </a:p>
        </p:txBody>
      </p:sp>
      <p:sp>
        <p:nvSpPr>
          <p:cNvPr id="9" name="Rectangle 8"/>
          <p:cNvSpPr/>
          <p:nvPr/>
        </p:nvSpPr>
        <p:spPr>
          <a:xfrm>
            <a:off x="2788920" y="1554480"/>
            <a:ext cx="8851392" cy="658368"/>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wrap="square"/>
          <a:lstStyle/>
          <a:p>
            <a:pPr algn="l"/>
            <a:r>
              <a:rPr sz="1200" b="0">
                <a:solidFill>
                  <a:srgbClr val="222222"/>
                </a:solidFill>
                <a:latin typeface="Calibri"/>
              </a:rPr>
              <a:t>Claude Agent SDK · Claude Code CLI · Claude Max subscription</a:t>
            </a:r>
          </a:p>
        </p:txBody>
      </p:sp>
      <p:sp>
        <p:nvSpPr>
          <p:cNvPr id="10" name="Rectangle 9"/>
          <p:cNvSpPr/>
          <p:nvPr/>
        </p:nvSpPr>
        <p:spPr>
          <a:xfrm>
            <a:off x="548640" y="2286000"/>
            <a:ext cx="2194560" cy="658368"/>
          </a:xfrm>
          <a:prstGeom prst="rect">
            <a:avLst/>
          </a:prstGeom>
          <a:solidFill>
            <a:srgbClr val="2E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alibri"/>
              </a:rPr>
              <a:t>RUNTIME</a:t>
            </a:r>
          </a:p>
        </p:txBody>
      </p:sp>
      <p:sp>
        <p:nvSpPr>
          <p:cNvPr id="11" name="Rectangle 10"/>
          <p:cNvSpPr/>
          <p:nvPr/>
        </p:nvSpPr>
        <p:spPr>
          <a:xfrm>
            <a:off x="2788920" y="2286000"/>
            <a:ext cx="8851392" cy="658368"/>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wrap="square"/>
          <a:lstStyle/>
          <a:p>
            <a:pPr algn="l"/>
            <a:r>
              <a:rPr sz="1200" b="0">
                <a:solidFill>
                  <a:srgbClr val="222222"/>
                </a:solidFill>
                <a:latin typeface="Calibri"/>
              </a:rPr>
              <a:t>Python 3.13 · GitHub Actions · Self-hosted Windows VM</a:t>
            </a:r>
          </a:p>
        </p:txBody>
      </p:sp>
      <p:sp>
        <p:nvSpPr>
          <p:cNvPr id="12" name="Rectangle 11"/>
          <p:cNvSpPr/>
          <p:nvPr/>
        </p:nvSpPr>
        <p:spPr>
          <a:xfrm>
            <a:off x="548640" y="3017520"/>
            <a:ext cx="2194560" cy="658368"/>
          </a:xfrm>
          <a:prstGeom prst="rect">
            <a:avLst/>
          </a:prstGeom>
          <a:solidFill>
            <a:srgbClr val="E078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alibri"/>
              </a:rPr>
              <a:t>MEMORY</a:t>
            </a:r>
          </a:p>
        </p:txBody>
      </p:sp>
      <p:sp>
        <p:nvSpPr>
          <p:cNvPr id="13" name="Rectangle 12"/>
          <p:cNvSpPr/>
          <p:nvPr/>
        </p:nvSpPr>
        <p:spPr>
          <a:xfrm>
            <a:off x="2788920" y="3017520"/>
            <a:ext cx="8851392" cy="658368"/>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wrap="square"/>
          <a:lstStyle/>
          <a:p>
            <a:pPr algn="l"/>
            <a:r>
              <a:rPr sz="1200" b="0">
                <a:solidFill>
                  <a:srgbClr val="222222"/>
                </a:solidFill>
                <a:latin typeface="Calibri"/>
              </a:rPr>
              <a:t>SQLite + FTS5 · committed to git</a:t>
            </a:r>
          </a:p>
        </p:txBody>
      </p:sp>
      <p:sp>
        <p:nvSpPr>
          <p:cNvPr id="14" name="Rectangle 13"/>
          <p:cNvSpPr/>
          <p:nvPr/>
        </p:nvSpPr>
        <p:spPr>
          <a:xfrm>
            <a:off x="548640" y="3749040"/>
            <a:ext cx="2194560" cy="658368"/>
          </a:xfrm>
          <a:prstGeom prst="rect">
            <a:avLst/>
          </a:prstGeom>
          <a:solidFill>
            <a:srgbClr val="4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alibri"/>
              </a:rPr>
              <a:t>REPORTING</a:t>
            </a:r>
          </a:p>
        </p:txBody>
      </p:sp>
      <p:sp>
        <p:nvSpPr>
          <p:cNvPr id="15" name="Rectangle 14"/>
          <p:cNvSpPr/>
          <p:nvPr/>
        </p:nvSpPr>
        <p:spPr>
          <a:xfrm>
            <a:off x="2788920" y="3749040"/>
            <a:ext cx="8851392" cy="658368"/>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wrap="square"/>
          <a:lstStyle/>
          <a:p>
            <a:pPr algn="l"/>
            <a:r>
              <a:rPr sz="1200" b="0">
                <a:solidFill>
                  <a:srgbClr val="222222"/>
                </a:solidFill>
                <a:latin typeface="Calibri"/>
              </a:rPr>
              <a:t>ReportLab (PDFs) · Gmail SMTP · MS Teams webhook</a:t>
            </a:r>
          </a:p>
        </p:txBody>
      </p:sp>
      <p:sp>
        <p:nvSpPr>
          <p:cNvPr id="16" name="Rectangle 15"/>
          <p:cNvSpPr/>
          <p:nvPr/>
        </p:nvSpPr>
        <p:spPr>
          <a:xfrm>
            <a:off x="548640" y="4480560"/>
            <a:ext cx="2194560" cy="658368"/>
          </a:xfrm>
          <a:prstGeom prst="rect">
            <a:avLst/>
          </a:prstGeom>
          <a:solidFill>
            <a:srgbClr val="C99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alibri"/>
              </a:rPr>
              <a:t>TESTS IT ORCHESTRATES</a:t>
            </a:r>
          </a:p>
        </p:txBody>
      </p:sp>
      <p:sp>
        <p:nvSpPr>
          <p:cNvPr id="17" name="Rectangle 16"/>
          <p:cNvSpPr/>
          <p:nvPr/>
        </p:nvSpPr>
        <p:spPr>
          <a:xfrm>
            <a:off x="2788920" y="4480560"/>
            <a:ext cx="8851392" cy="658368"/>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wrap="square"/>
          <a:lstStyle/>
          <a:p>
            <a:pPr algn="l"/>
            <a:r>
              <a:rPr sz="1200" b="0">
                <a:solidFill>
                  <a:srgbClr val="222222"/>
                </a:solidFill>
                <a:latin typeface="Calibri"/>
              </a:rPr>
              <a:t>Newman · pytest · Locust · Playwright</a:t>
            </a:r>
          </a:p>
        </p:txBody>
      </p:sp>
      <p:sp>
        <p:nvSpPr>
          <p:cNvPr id="18" name="Rectangle 17"/>
          <p:cNvSpPr/>
          <p:nvPr/>
        </p:nvSpPr>
        <p:spPr>
          <a:xfrm>
            <a:off x="548640" y="5212080"/>
            <a:ext cx="2194560" cy="658368"/>
          </a:xfrm>
          <a:prstGeom prst="rect">
            <a:avLst/>
          </a:prstGeom>
          <a:solidFill>
            <a:srgbClr val="6A4C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alibri"/>
              </a:rPr>
              <a:t>EXTERNAL APIs</a:t>
            </a:r>
          </a:p>
        </p:txBody>
      </p:sp>
      <p:sp>
        <p:nvSpPr>
          <p:cNvPr id="19" name="Rectangle 18"/>
          <p:cNvSpPr/>
          <p:nvPr/>
        </p:nvSpPr>
        <p:spPr>
          <a:xfrm>
            <a:off x="2788920" y="5212080"/>
            <a:ext cx="8851392" cy="658368"/>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wrap="square"/>
          <a:lstStyle/>
          <a:p>
            <a:pPr algn="l"/>
            <a:r>
              <a:rPr sz="1200" b="0">
                <a:solidFill>
                  <a:srgbClr val="222222"/>
                </a:solidFill>
                <a:latin typeface="Calibri"/>
              </a:rPr>
              <a:t>IMAP · Google Drive · Groq Whisper · OpenProject · TFS · MSBuild · IIS</a:t>
            </a:r>
          </a:p>
        </p:txBody>
      </p:sp>
      <p:sp>
        <p:nvSpPr>
          <p:cNvPr id="20" name="Rectangle 19"/>
          <p:cNvSpPr/>
          <p:nvPr/>
        </p:nvSpPr>
        <p:spPr>
          <a:xfrm>
            <a:off x="548640" y="5943600"/>
            <a:ext cx="2194560" cy="65836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Calibri"/>
              </a:rPr>
              <a:t>PYTHON DEPS</a:t>
            </a:r>
          </a:p>
        </p:txBody>
      </p:sp>
      <p:sp>
        <p:nvSpPr>
          <p:cNvPr id="21" name="Rectangle 20"/>
          <p:cNvSpPr/>
          <p:nvPr/>
        </p:nvSpPr>
        <p:spPr>
          <a:xfrm>
            <a:off x="2788920" y="5943600"/>
            <a:ext cx="8851392" cy="658368"/>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wrap="square"/>
          <a:lstStyle/>
          <a:p>
            <a:pPr algn="l"/>
            <a:r>
              <a:rPr sz="1200" b="0">
                <a:solidFill>
                  <a:srgbClr val="222222"/>
                </a:solidFill>
                <a:latin typeface="Calibri"/>
              </a:rPr>
              <a:t>claude-agent-sdk · python-dotenv · requests · google-api-python-client · pypdf</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565392"/>
            <a:ext cx="11277295" cy="9000"/>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601968"/>
            <a:ext cx="7315200" cy="228600"/>
          </a:xfrm>
          <a:prstGeom prst="rect">
            <a:avLst/>
          </a:prstGeom>
          <a:noFill/>
        </p:spPr>
        <p:txBody>
          <a:bodyPr wrap="none">
            <a:spAutoFit/>
          </a:bodyPr>
          <a:lstStyle/>
          <a:p>
            <a:pPr algn="l"/>
            <a:r>
              <a:rPr sz="900" b="0">
                <a:solidFill>
                  <a:srgbClr val="6B7785"/>
                </a:solidFill>
                <a:latin typeface="Calibri"/>
              </a:rPr>
              <a:t>NAPCO Nucleus  |  Mohammad Kamrul Hasan  |  Adaptive Enterprise Limited</a:t>
            </a:r>
          </a:p>
        </p:txBody>
      </p:sp>
      <p:sp>
        <p:nvSpPr>
          <p:cNvPr id="5" name="TextBox 4"/>
          <p:cNvSpPr txBox="1"/>
          <p:nvPr/>
        </p:nvSpPr>
        <p:spPr>
          <a:xfrm>
            <a:off x="10515600" y="6601968"/>
            <a:ext cx="1280160" cy="228600"/>
          </a:xfrm>
          <a:prstGeom prst="rect">
            <a:avLst/>
          </a:prstGeom>
          <a:noFill/>
        </p:spPr>
        <p:txBody>
          <a:bodyPr wrap="none">
            <a:spAutoFit/>
          </a:bodyPr>
          <a:lstStyle/>
          <a:p>
            <a:pPr algn="r"/>
            <a:r>
              <a:rPr sz="900" b="0">
                <a:solidFill>
                  <a:srgbClr val="6B7785"/>
                </a:solidFill>
                <a:latin typeface="Calibri"/>
              </a:rPr>
              <a:t>23 / 31</a:t>
            </a:r>
          </a:p>
        </p:txBody>
      </p:sp>
      <p:sp>
        <p:nvSpPr>
          <p:cNvPr id="6" name="TextBox 5"/>
          <p:cNvSpPr txBox="1"/>
          <p:nvPr/>
        </p:nvSpPr>
        <p:spPr>
          <a:xfrm>
            <a:off x="457200" y="274320"/>
            <a:ext cx="11277295" cy="640080"/>
          </a:xfrm>
          <a:prstGeom prst="rect">
            <a:avLst/>
          </a:prstGeom>
          <a:noFill/>
        </p:spPr>
        <p:txBody>
          <a:bodyPr wrap="none">
            <a:spAutoFit/>
          </a:bodyPr>
          <a:lstStyle/>
          <a:p>
            <a:pPr algn="l"/>
            <a:r>
              <a:rPr sz="2800" b="1">
                <a:solidFill>
                  <a:srgbClr val="1F4E79"/>
                </a:solidFill>
                <a:latin typeface="Calibri"/>
              </a:rPr>
              <a:t>06 · CI/CD Execution Model</a:t>
            </a:r>
          </a:p>
        </p:txBody>
      </p:sp>
      <p:sp>
        <p:nvSpPr>
          <p:cNvPr id="7" name="TextBox 6"/>
          <p:cNvSpPr txBox="1"/>
          <p:nvPr/>
        </p:nvSpPr>
        <p:spPr>
          <a:xfrm>
            <a:off x="457200" y="868680"/>
            <a:ext cx="11277295" cy="365760"/>
          </a:xfrm>
          <a:prstGeom prst="rect">
            <a:avLst/>
          </a:prstGeom>
          <a:noFill/>
        </p:spPr>
        <p:txBody>
          <a:bodyPr wrap="none">
            <a:spAutoFit/>
          </a:bodyPr>
          <a:lstStyle/>
          <a:p>
            <a:pPr algn="l"/>
            <a:r>
              <a:rPr sz="1400" b="0">
                <a:solidFill>
                  <a:srgbClr val="6B7785"/>
                </a:solidFill>
                <a:latin typeface="Calibri"/>
              </a:rPr>
              <a:t>Every workflow follows the same five-step YAML</a:t>
            </a:r>
          </a:p>
        </p:txBody>
      </p:sp>
      <p:sp>
        <p:nvSpPr>
          <p:cNvPr id="8" name="Rectangle 7"/>
          <p:cNvSpPr/>
          <p:nvPr/>
        </p:nvSpPr>
        <p:spPr>
          <a:xfrm>
            <a:off x="548640" y="1554480"/>
            <a:ext cx="6858000" cy="4754880"/>
          </a:xfrm>
          <a:prstGeom prst="rect">
            <a:avLst/>
          </a:prstGeom>
          <a:solidFill>
            <a:srgbClr val="1E2A38"/>
          </a:solidFill>
          <a:ln>
            <a:noFill/>
          </a:ln>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r>
              <a:rPr sz="1000">
                <a:solidFill>
                  <a:srgbClr val="FFFFFF"/>
                </a:solidFill>
                <a:latin typeface="Consolas"/>
              </a:rPr>
              <a:t>name: &lt;Display Name&gt;</a:t>
            </a:r>
          </a:p>
          <a:p>
            <a:r>
              <a:rPr sz="1000">
                <a:solidFill>
                  <a:srgbClr val="FFFFFF"/>
                </a:solidFill>
                <a:latin typeface="Consolas"/>
              </a:rPr>
              <a:t>on:</a:t>
            </a:r>
          </a:p>
          <a:p>
            <a:r>
              <a:rPr sz="1000">
                <a:solidFill>
                  <a:srgbClr val="FFFFFF"/>
                </a:solidFill>
                <a:latin typeface="Consolas"/>
              </a:rPr>
              <a:t>  schedule:</a:t>
            </a:r>
          </a:p>
          <a:p>
            <a:r>
              <a:rPr sz="1000">
                <a:solidFill>
                  <a:srgbClr val="FFFFFF"/>
                </a:solidFill>
                <a:latin typeface="Consolas"/>
              </a:rPr>
              <a:t>    - cron: '&lt;utc-cron&gt;'</a:t>
            </a:r>
          </a:p>
          <a:p>
            <a:r>
              <a:rPr sz="1000">
                <a:solidFill>
                  <a:srgbClr val="FFFFFF"/>
                </a:solidFill>
                <a:latin typeface="Consolas"/>
              </a:rPr>
              <a:t>  workflow_dispatch:</a:t>
            </a:r>
          </a:p>
          <a:p>
            <a:r>
              <a:rPr sz="1000">
                <a:solidFill>
                  <a:srgbClr val="FFFFFF"/>
                </a:solidFill>
                <a:latin typeface="Consolas"/>
              </a:rPr>
              <a:t>    inputs:</a:t>
            </a:r>
          </a:p>
          <a:p>
            <a:r>
              <a:rPr sz="1000">
                <a:solidFill>
                  <a:srgbClr val="FFFFFF"/>
                </a:solidFill>
                <a:latin typeface="Consolas"/>
              </a:rPr>
              <a:t>      dry_run: { type: choice, options: ['false','true'] }</a:t>
            </a:r>
          </a:p>
          <a:p>
            <a:r>
              <a:rPr sz="1000">
                <a:solidFill>
                  <a:srgbClr val="FFFFFF"/>
                </a:solidFill>
                <a:latin typeface="Consolas"/>
              </a:rPr>
              <a:t> </a:t>
            </a:r>
          </a:p>
          <a:p>
            <a:r>
              <a:rPr sz="1000">
                <a:solidFill>
                  <a:srgbClr val="FFFFFF"/>
                </a:solidFill>
                <a:latin typeface="Consolas"/>
              </a:rPr>
              <a:t>permissions: { contents: write }</a:t>
            </a:r>
          </a:p>
          <a:p>
            <a:r>
              <a:rPr sz="1000">
                <a:solidFill>
                  <a:srgbClr val="FFFFFF"/>
                </a:solidFill>
                <a:latin typeface="Consolas"/>
              </a:rPr>
              <a:t>concurrency: { group: &lt;task&gt;, cancel-in-progress: false }</a:t>
            </a:r>
          </a:p>
          <a:p>
            <a:r>
              <a:rPr sz="1000">
                <a:solidFill>
                  <a:srgbClr val="FFFFFF"/>
                </a:solidFill>
                <a:latin typeface="Consolas"/>
              </a:rPr>
              <a:t> </a:t>
            </a:r>
          </a:p>
          <a:p>
            <a:r>
              <a:rPr sz="1000">
                <a:solidFill>
                  <a:srgbClr val="FFFFFF"/>
                </a:solidFill>
                <a:latin typeface="Consolas"/>
              </a:rPr>
              <a:t>jobs:</a:t>
            </a:r>
          </a:p>
          <a:p>
            <a:r>
              <a:rPr sz="1000">
                <a:solidFill>
                  <a:srgbClr val="FFFFFF"/>
                </a:solidFill>
                <a:latin typeface="Consolas"/>
              </a:rPr>
              <a:t>  run:</a:t>
            </a:r>
          </a:p>
          <a:p>
            <a:r>
              <a:rPr sz="1000">
                <a:solidFill>
                  <a:srgbClr val="FFFFFF"/>
                </a:solidFill>
                <a:latin typeface="Consolas"/>
              </a:rPr>
              <a:t>    runs-on: [self-hosted, Windows]</a:t>
            </a:r>
          </a:p>
          <a:p>
            <a:r>
              <a:rPr sz="1000">
                <a:solidFill>
                  <a:srgbClr val="FFFFFF"/>
                </a:solidFill>
                <a:latin typeface="Consolas"/>
              </a:rPr>
              <a:t>    timeout-minutes: 25</a:t>
            </a:r>
          </a:p>
          <a:p>
            <a:r>
              <a:rPr sz="1000">
                <a:solidFill>
                  <a:srgbClr val="FFFFFF"/>
                </a:solidFill>
                <a:latin typeface="Consolas"/>
              </a:rPr>
              <a:t>    env: { ... only the secrets this task needs ... }</a:t>
            </a:r>
          </a:p>
          <a:p>
            <a:r>
              <a:rPr sz="1000">
                <a:solidFill>
                  <a:srgbClr val="FFFFFF"/>
                </a:solidFill>
                <a:latin typeface="Consolas"/>
              </a:rPr>
              <a:t>    steps:</a:t>
            </a:r>
          </a:p>
          <a:p>
            <a:r>
              <a:rPr sz="1000">
                <a:solidFill>
                  <a:srgbClr val="FFFFFF"/>
                </a:solidFill>
                <a:latin typeface="Consolas"/>
              </a:rPr>
              <a:t>      - uses: actions/checkout@v5</a:t>
            </a:r>
          </a:p>
          <a:p>
            <a:r>
              <a:rPr sz="1000">
                <a:solidFill>
                  <a:srgbClr val="FFFFFF"/>
                </a:solidFill>
                <a:latin typeface="Consolas"/>
              </a:rPr>
              <a:t>      - run: py -3 -m pip install -r requirements.txt</a:t>
            </a:r>
          </a:p>
          <a:p>
            <a:r>
              <a:rPr sz="1000">
                <a:solidFill>
                  <a:srgbClr val="FFFFFF"/>
                </a:solidFill>
                <a:latin typeface="Consolas"/>
              </a:rPr>
              <a:t>      - run: py -3 agent.py --task &lt;task-name&gt;</a:t>
            </a:r>
          </a:p>
          <a:p>
            <a:r>
              <a:rPr sz="1000">
                <a:solidFill>
                  <a:srgbClr val="FFFFFF"/>
                </a:solidFill>
                <a:latin typeface="Consolas"/>
              </a:rPr>
              <a:t>      - name: Commit state changes</a:t>
            </a:r>
          </a:p>
          <a:p>
            <a:r>
              <a:rPr sz="1000">
                <a:solidFill>
                  <a:srgbClr val="FFFFFF"/>
                </a:solidFill>
                <a:latin typeface="Consolas"/>
              </a:rPr>
              <a:t>        if: always()</a:t>
            </a:r>
          </a:p>
          <a:p>
            <a:r>
              <a:rPr sz="1000">
                <a:solidFill>
                  <a:srgbClr val="FFFFFF"/>
                </a:solidFill>
                <a:latin typeface="Consolas"/>
              </a:rPr>
              <a:t>        run: |</a:t>
            </a:r>
          </a:p>
          <a:p>
            <a:r>
              <a:rPr sz="1000">
                <a:solidFill>
                  <a:srgbClr val="FFFFFF"/>
                </a:solidFill>
                <a:latin typeface="Consolas"/>
              </a:rPr>
              <a:t>          git add nucleus_memory.db data/...</a:t>
            </a:r>
          </a:p>
          <a:p>
            <a:r>
              <a:rPr sz="1000">
                <a:solidFill>
                  <a:srgbClr val="FFFFFF"/>
                </a:solidFill>
                <a:latin typeface="Consolas"/>
              </a:rPr>
              <a:t>          git commit -m "&lt;task&gt;: $(Get-Date -Format ...)"</a:t>
            </a:r>
          </a:p>
          <a:p>
            <a:r>
              <a:rPr sz="1000">
                <a:solidFill>
                  <a:srgbClr val="FFFFFF"/>
                </a:solidFill>
                <a:latin typeface="Consolas"/>
              </a:rPr>
              <a:t>          git pull --rebase origin main &amp;&amp; git push</a:t>
            </a:r>
          </a:p>
        </p:txBody>
      </p:sp>
      <p:sp>
        <p:nvSpPr>
          <p:cNvPr id="9" name="Rectangle 8"/>
          <p:cNvSpPr/>
          <p:nvPr/>
        </p:nvSpPr>
        <p:spPr>
          <a:xfrm>
            <a:off x="7589520" y="1554480"/>
            <a:ext cx="4050791" cy="329184"/>
          </a:xfrm>
          <a:prstGeom prst="rect">
            <a:avLst/>
          </a:prstGeom>
          <a:solidFill>
            <a:srgbClr val="6A4C93"/>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200" b="1">
                <a:solidFill>
                  <a:srgbClr val="FFFFFF"/>
                </a:solidFill>
                <a:latin typeface="Calibri"/>
              </a:rPr>
              <a:t>OPERATIONAL GUARDRAILS</a:t>
            </a:r>
          </a:p>
        </p:txBody>
      </p:sp>
      <p:sp>
        <p:nvSpPr>
          <p:cNvPr id="10" name="Rectangle 9"/>
          <p:cNvSpPr/>
          <p:nvPr/>
        </p:nvSpPr>
        <p:spPr>
          <a:xfrm>
            <a:off x="7589520" y="1883664"/>
            <a:ext cx="4050791" cy="4425696"/>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rIns="164592" tIns="109728" bIns="109728" wrap="square"/>
          <a:lstStyle/>
          <a:p>
            <a:pPr algn="l"/>
            <a:r>
              <a:rPr sz="1200" b="1">
                <a:solidFill>
                  <a:srgbClr val="1F4E79"/>
                </a:solidFill>
                <a:latin typeface="Calibri"/>
              </a:rPr>
              <a:t>• </a:t>
            </a:r>
            <a:r>
              <a:rPr sz="1200" b="1">
                <a:solidFill>
                  <a:srgbClr val="1F4E79"/>
                </a:solidFill>
                <a:latin typeface="Calibri"/>
              </a:rPr>
              <a:t>concurrency groups — </a:t>
            </a:r>
            <a:r>
              <a:rPr sz="1200">
                <a:solidFill>
                  <a:srgbClr val="222222"/>
                </a:solidFill>
                <a:latin typeface="Calibri"/>
              </a:rPr>
              <a:t>runs queue, never overlap</a:t>
            </a:r>
          </a:p>
          <a:p>
            <a:pPr algn="l">
              <a:spcBef>
                <a:spcPts val="600"/>
              </a:spcBef>
            </a:pPr>
            <a:r>
              <a:rPr sz="1200" b="1">
                <a:solidFill>
                  <a:srgbClr val="1F4E79"/>
                </a:solidFill>
                <a:latin typeface="Calibri"/>
              </a:rPr>
              <a:t>• </a:t>
            </a:r>
            <a:r>
              <a:rPr sz="1200" b="1">
                <a:solidFill>
                  <a:srgbClr val="1F4E79"/>
                </a:solidFill>
                <a:latin typeface="Calibri"/>
              </a:rPr>
              <a:t>timeout-minutes — </a:t>
            </a:r>
            <a:r>
              <a:rPr sz="1200">
                <a:solidFill>
                  <a:srgbClr val="222222"/>
                </a:solidFill>
                <a:latin typeface="Calibri"/>
              </a:rPr>
              <a:t>25 min cap, longer for load test</a:t>
            </a:r>
          </a:p>
          <a:p>
            <a:pPr algn="l">
              <a:spcBef>
                <a:spcPts val="600"/>
              </a:spcBef>
            </a:pPr>
            <a:r>
              <a:rPr sz="1200" b="1">
                <a:solidFill>
                  <a:srgbClr val="1F4E79"/>
                </a:solidFill>
                <a:latin typeface="Calibri"/>
              </a:rPr>
              <a:t>• </a:t>
            </a:r>
            <a:r>
              <a:rPr sz="1200" b="1">
                <a:solidFill>
                  <a:srgbClr val="1F4E79"/>
                </a:solidFill>
                <a:latin typeface="Calibri"/>
              </a:rPr>
              <a:t>contents: write — </a:t>
            </a:r>
            <a:r>
              <a:rPr sz="1200">
                <a:solidFill>
                  <a:srgbClr val="222222"/>
                </a:solidFill>
                <a:latin typeface="Calibri"/>
              </a:rPr>
              <a:t>needed because we commit memory</a:t>
            </a:r>
          </a:p>
          <a:p>
            <a:pPr algn="l">
              <a:spcBef>
                <a:spcPts val="600"/>
              </a:spcBef>
            </a:pPr>
            <a:r>
              <a:rPr sz="1200" b="1">
                <a:solidFill>
                  <a:srgbClr val="1F4E79"/>
                </a:solidFill>
                <a:latin typeface="Calibri"/>
              </a:rPr>
              <a:t>• </a:t>
            </a:r>
            <a:r>
              <a:rPr sz="1200" b="1">
                <a:solidFill>
                  <a:srgbClr val="1F4E79"/>
                </a:solidFill>
                <a:latin typeface="Calibri"/>
              </a:rPr>
              <a:t>self-hosted only — </a:t>
            </a:r>
            <a:r>
              <a:rPr sz="1200">
                <a:solidFill>
                  <a:srgbClr val="222222"/>
                </a:solidFill>
                <a:latin typeface="Calibri"/>
              </a:rPr>
              <a:t>Cloud runners cannot run NN</a:t>
            </a:r>
          </a:p>
          <a:p>
            <a:pPr algn="l">
              <a:spcBef>
                <a:spcPts val="600"/>
              </a:spcBef>
            </a:pPr>
            <a:r>
              <a:rPr sz="1200" b="1">
                <a:solidFill>
                  <a:srgbClr val="1F4E79"/>
                </a:solidFill>
                <a:latin typeface="Calibri"/>
              </a:rPr>
              <a:t>• </a:t>
            </a:r>
            <a:r>
              <a:rPr sz="1200" b="1">
                <a:solidFill>
                  <a:srgbClr val="1F4E79"/>
                </a:solidFill>
                <a:latin typeface="Calibri"/>
              </a:rPr>
              <a:t>dry_run input — </a:t>
            </a:r>
            <a:r>
              <a:rPr sz="1200">
                <a:solidFill>
                  <a:srgbClr val="222222"/>
                </a:solidFill>
                <a:latin typeface="Calibri"/>
              </a:rPr>
              <a:t>manual testing without side effects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565392"/>
            <a:ext cx="11277295" cy="9000"/>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601968"/>
            <a:ext cx="7315200" cy="228600"/>
          </a:xfrm>
          <a:prstGeom prst="rect">
            <a:avLst/>
          </a:prstGeom>
          <a:noFill/>
        </p:spPr>
        <p:txBody>
          <a:bodyPr wrap="none">
            <a:spAutoFit/>
          </a:bodyPr>
          <a:lstStyle/>
          <a:p>
            <a:pPr algn="l"/>
            <a:r>
              <a:rPr sz="900" b="0">
                <a:solidFill>
                  <a:srgbClr val="6B7785"/>
                </a:solidFill>
                <a:latin typeface="Calibri"/>
              </a:rPr>
              <a:t>NAPCO Nucleus  |  Mohammad Kamrul Hasan  |  Adaptive Enterprise Limited</a:t>
            </a:r>
          </a:p>
        </p:txBody>
      </p:sp>
      <p:sp>
        <p:nvSpPr>
          <p:cNvPr id="5" name="TextBox 4"/>
          <p:cNvSpPr txBox="1"/>
          <p:nvPr/>
        </p:nvSpPr>
        <p:spPr>
          <a:xfrm>
            <a:off x="10515600" y="6601968"/>
            <a:ext cx="1280160" cy="228600"/>
          </a:xfrm>
          <a:prstGeom prst="rect">
            <a:avLst/>
          </a:prstGeom>
          <a:noFill/>
        </p:spPr>
        <p:txBody>
          <a:bodyPr wrap="none">
            <a:spAutoFit/>
          </a:bodyPr>
          <a:lstStyle/>
          <a:p>
            <a:pPr algn="r"/>
            <a:r>
              <a:rPr sz="900" b="0">
                <a:solidFill>
                  <a:srgbClr val="6B7785"/>
                </a:solidFill>
                <a:latin typeface="Calibri"/>
              </a:rPr>
              <a:t>24 / 31</a:t>
            </a:r>
          </a:p>
        </p:txBody>
      </p:sp>
      <p:sp>
        <p:nvSpPr>
          <p:cNvPr id="6" name="TextBox 5"/>
          <p:cNvSpPr txBox="1"/>
          <p:nvPr/>
        </p:nvSpPr>
        <p:spPr>
          <a:xfrm>
            <a:off x="457200" y="274320"/>
            <a:ext cx="11277295" cy="640080"/>
          </a:xfrm>
          <a:prstGeom prst="rect">
            <a:avLst/>
          </a:prstGeom>
          <a:noFill/>
        </p:spPr>
        <p:txBody>
          <a:bodyPr wrap="none">
            <a:spAutoFit/>
          </a:bodyPr>
          <a:lstStyle/>
          <a:p>
            <a:pPr algn="l"/>
            <a:r>
              <a:rPr sz="2800" b="1">
                <a:solidFill>
                  <a:srgbClr val="1F4E79"/>
                </a:solidFill>
                <a:latin typeface="Calibri"/>
              </a:rPr>
              <a:t>06 · The 9 Production Workflows</a:t>
            </a:r>
          </a:p>
        </p:txBody>
      </p:sp>
      <p:sp>
        <p:nvSpPr>
          <p:cNvPr id="7" name="TextBox 6"/>
          <p:cNvSpPr txBox="1"/>
          <p:nvPr/>
        </p:nvSpPr>
        <p:spPr>
          <a:xfrm>
            <a:off x="457200" y="868680"/>
            <a:ext cx="11277295" cy="365760"/>
          </a:xfrm>
          <a:prstGeom prst="rect">
            <a:avLst/>
          </a:prstGeom>
          <a:noFill/>
        </p:spPr>
        <p:txBody>
          <a:bodyPr wrap="none">
            <a:spAutoFit/>
          </a:bodyPr>
          <a:lstStyle/>
          <a:p>
            <a:pPr algn="l"/>
            <a:r>
              <a:rPr sz="1400" b="0">
                <a:solidFill>
                  <a:srgbClr val="6B7785"/>
                </a:solidFill>
                <a:latin typeface="Calibri"/>
              </a:rPr>
              <a:t>All 9 currently scheduled, running daily</a:t>
            </a:r>
          </a:p>
        </p:txBody>
      </p:sp>
      <p:graphicFrame>
        <p:nvGraphicFramePr>
          <p:cNvPr id="8" name="Table 7"/>
          <p:cNvGraphicFramePr>
            <a:graphicFrameLocks noGrp="1"/>
          </p:cNvGraphicFramePr>
          <p:nvPr/>
        </p:nvGraphicFramePr>
        <p:xfrm>
          <a:off x="548640" y="1554480"/>
          <a:ext cx="11091670" cy="3840480"/>
        </p:xfrm>
        <a:graphic>
          <a:graphicData uri="http://schemas.openxmlformats.org/drawingml/2006/table">
            <a:tbl>
              <a:tblPr firstRow="1" bandRow="1">
                <a:tableStyleId>{5C22544A-7EE6-4342-B048-85BDC9FD1C3A}</a:tableStyleId>
              </a:tblPr>
              <a:tblGrid>
                <a:gridCol w="554583"/>
                <a:gridCol w="2662001"/>
                <a:gridCol w="2440167"/>
                <a:gridCol w="5434919"/>
              </a:tblGrid>
              <a:tr h="384048">
                <a:tc>
                  <a:txBody>
                    <a:bodyPr wrap="square"/>
                    <a:lstStyle/>
                    <a:p>
                      <a:pPr algn="l"/>
                      <a:r>
                        <a:rPr sz="1100" b="1">
                          <a:solidFill>
                            <a:srgbClr val="FFFFFF"/>
                          </a:solidFill>
                          <a:latin typeface="Calibri"/>
                        </a:rPr>
                        <a:t>#</a:t>
                      </a:r>
                    </a:p>
                  </a:txBody>
                  <a:tcPr marL="91440" marR="91440" marT="54864" marB="54864">
                    <a:solidFill>
                      <a:srgbClr val="1F4E79"/>
                    </a:solidFill>
                  </a:tcPr>
                </a:tc>
                <a:tc>
                  <a:txBody>
                    <a:bodyPr wrap="square"/>
                    <a:lstStyle/>
                    <a:p>
                      <a:pPr algn="l"/>
                      <a:r>
                        <a:rPr sz="1100" b="1">
                          <a:solidFill>
                            <a:srgbClr val="FFFFFF"/>
                          </a:solidFill>
                          <a:latin typeface="Calibri"/>
                        </a:rPr>
                        <a:t>Workflow</a:t>
                      </a:r>
                    </a:p>
                  </a:txBody>
                  <a:tcPr marL="91440" marR="91440" marT="54864" marB="54864">
                    <a:solidFill>
                      <a:srgbClr val="1F4E79"/>
                    </a:solidFill>
                  </a:tcPr>
                </a:tc>
                <a:tc>
                  <a:txBody>
                    <a:bodyPr wrap="square"/>
                    <a:lstStyle/>
                    <a:p>
                      <a:pPr algn="l"/>
                      <a:r>
                        <a:rPr sz="1100" b="1">
                          <a:solidFill>
                            <a:srgbClr val="FFFFFF"/>
                          </a:solidFill>
                          <a:latin typeface="Calibri"/>
                        </a:rPr>
                        <a:t>Schedule (BDT)</a:t>
                      </a:r>
                    </a:p>
                  </a:txBody>
                  <a:tcPr marL="91440" marR="91440" marT="54864" marB="54864">
                    <a:solidFill>
                      <a:srgbClr val="1F4E79"/>
                    </a:solidFill>
                  </a:tcPr>
                </a:tc>
                <a:tc>
                  <a:txBody>
                    <a:bodyPr wrap="square"/>
                    <a:lstStyle/>
                    <a:p>
                      <a:pPr algn="l"/>
                      <a:r>
                        <a:rPr sz="1100" b="1">
                          <a:solidFill>
                            <a:srgbClr val="FFFFFF"/>
                          </a:solidFill>
                          <a:latin typeface="Calibri"/>
                        </a:rPr>
                        <a:t>What it does</a:t>
                      </a:r>
                    </a:p>
                  </a:txBody>
                  <a:tcPr marL="91440" marR="91440" marT="54864" marB="54864">
                    <a:solidFill>
                      <a:srgbClr val="1F4E79"/>
                    </a:solidFill>
                  </a:tcPr>
                </a:tc>
              </a:tr>
              <a:tr h="384048">
                <a:tc>
                  <a:txBody>
                    <a:bodyPr wrap="square"/>
                    <a:lstStyle/>
                    <a:p>
                      <a:pPr algn="l"/>
                      <a:r>
                        <a:rPr sz="1000">
                          <a:solidFill>
                            <a:srgbClr val="222222"/>
                          </a:solidFill>
                          <a:latin typeface="Calibri"/>
                        </a:rPr>
                        <a:t>1</a:t>
                      </a:r>
                    </a:p>
                  </a:txBody>
                  <a:tcPr marL="91440" marR="91440" marT="54864" marB="54864">
                    <a:solidFill>
                      <a:srgbClr val="FFFFFF"/>
                    </a:solidFill>
                  </a:tcPr>
                </a:tc>
                <a:tc>
                  <a:txBody>
                    <a:bodyPr wrap="square"/>
                    <a:lstStyle/>
                    <a:p>
                      <a:pPr algn="l"/>
                      <a:r>
                        <a:rPr sz="1000">
                          <a:solidFill>
                            <a:srgbClr val="222222"/>
                          </a:solidFill>
                          <a:latin typeface="Calibri"/>
                        </a:rPr>
                        <a:t>API Functional Test</a:t>
                      </a:r>
                    </a:p>
                  </a:txBody>
                  <a:tcPr marL="91440" marR="91440" marT="54864" marB="54864">
                    <a:solidFill>
                      <a:srgbClr val="FFFFFF"/>
                    </a:solidFill>
                  </a:tcPr>
                </a:tc>
                <a:tc>
                  <a:txBody>
                    <a:bodyPr wrap="square"/>
                    <a:lstStyle/>
                    <a:p>
                      <a:pPr algn="l"/>
                      <a:r>
                        <a:rPr sz="1000">
                          <a:solidFill>
                            <a:srgbClr val="222222"/>
                          </a:solidFill>
                          <a:latin typeface="Calibri"/>
                        </a:rPr>
                        <a:t>01:00</a:t>
                      </a:r>
                    </a:p>
                  </a:txBody>
                  <a:tcPr marL="91440" marR="91440" marT="54864" marB="54864">
                    <a:solidFill>
                      <a:srgbClr val="FFFFFF"/>
                    </a:solidFill>
                  </a:tcPr>
                </a:tc>
                <a:tc>
                  <a:txBody>
                    <a:bodyPr wrap="square"/>
                    <a:lstStyle/>
                    <a:p>
                      <a:pPr algn="l"/>
                      <a:r>
                        <a:rPr sz="1000">
                          <a:solidFill>
                            <a:srgbClr val="222222"/>
                          </a:solidFill>
                          <a:latin typeface="Calibri"/>
                        </a:rPr>
                        <a:t>Newman + Postman collection across the API surface</a:t>
                      </a:r>
                    </a:p>
                  </a:txBody>
                  <a:tcPr marL="91440" marR="91440" marT="54864" marB="54864">
                    <a:solidFill>
                      <a:srgbClr val="FFFFFF"/>
                    </a:solidFill>
                  </a:tcPr>
                </a:tc>
              </a:tr>
              <a:tr h="384048">
                <a:tc>
                  <a:txBody>
                    <a:bodyPr wrap="square"/>
                    <a:lstStyle/>
                    <a:p>
                      <a:pPr algn="l"/>
                      <a:r>
                        <a:rPr sz="1000">
                          <a:solidFill>
                            <a:srgbClr val="222222"/>
                          </a:solidFill>
                          <a:latin typeface="Calibri"/>
                        </a:rPr>
                        <a:t>2</a:t>
                      </a:r>
                    </a:p>
                  </a:txBody>
                  <a:tcPr marL="91440" marR="91440" marT="54864" marB="54864">
                    <a:solidFill>
                      <a:srgbClr val="F5F7FA"/>
                    </a:solidFill>
                  </a:tcPr>
                </a:tc>
                <a:tc>
                  <a:txBody>
                    <a:bodyPr wrap="square"/>
                    <a:lstStyle/>
                    <a:p>
                      <a:pPr algn="l"/>
                      <a:r>
                        <a:rPr sz="1000">
                          <a:solidFill>
                            <a:srgbClr val="222222"/>
                          </a:solidFill>
                          <a:latin typeface="Calibri"/>
                        </a:rPr>
                        <a:t>API Integration Test</a:t>
                      </a:r>
                    </a:p>
                  </a:txBody>
                  <a:tcPr marL="91440" marR="91440" marT="54864" marB="54864">
                    <a:solidFill>
                      <a:srgbClr val="F5F7FA"/>
                    </a:solidFill>
                  </a:tcPr>
                </a:tc>
                <a:tc>
                  <a:txBody>
                    <a:bodyPr wrap="square"/>
                    <a:lstStyle/>
                    <a:p>
                      <a:pPr algn="l"/>
                      <a:r>
                        <a:rPr sz="1000">
                          <a:solidFill>
                            <a:srgbClr val="222222"/>
                          </a:solidFill>
                          <a:latin typeface="Calibri"/>
                        </a:rPr>
                        <a:t>01:15</a:t>
                      </a:r>
                    </a:p>
                  </a:txBody>
                  <a:tcPr marL="91440" marR="91440" marT="54864" marB="54864">
                    <a:solidFill>
                      <a:srgbClr val="F5F7FA"/>
                    </a:solidFill>
                  </a:tcPr>
                </a:tc>
                <a:tc>
                  <a:txBody>
                    <a:bodyPr wrap="square"/>
                    <a:lstStyle/>
                    <a:p>
                      <a:pPr algn="l"/>
                      <a:r>
                        <a:rPr sz="1000">
                          <a:solidFill>
                            <a:srgbClr val="222222"/>
                          </a:solidFill>
                          <a:latin typeface="Calibri"/>
                        </a:rPr>
                        <a:t>pytest integration suite with regression diff vs. prior runs</a:t>
                      </a:r>
                    </a:p>
                  </a:txBody>
                  <a:tcPr marL="91440" marR="91440" marT="54864" marB="54864">
                    <a:solidFill>
                      <a:srgbClr val="F5F7FA"/>
                    </a:solidFill>
                  </a:tcPr>
                </a:tc>
              </a:tr>
              <a:tr h="384048">
                <a:tc>
                  <a:txBody>
                    <a:bodyPr wrap="square"/>
                    <a:lstStyle/>
                    <a:p>
                      <a:pPr algn="l"/>
                      <a:r>
                        <a:rPr sz="1000">
                          <a:solidFill>
                            <a:srgbClr val="222222"/>
                          </a:solidFill>
                          <a:latin typeface="Calibri"/>
                        </a:rPr>
                        <a:t>3</a:t>
                      </a:r>
                    </a:p>
                  </a:txBody>
                  <a:tcPr marL="91440" marR="91440" marT="54864" marB="54864">
                    <a:solidFill>
                      <a:srgbClr val="FFFFFF"/>
                    </a:solidFill>
                  </a:tcPr>
                </a:tc>
                <a:tc>
                  <a:txBody>
                    <a:bodyPr wrap="square"/>
                    <a:lstStyle/>
                    <a:p>
                      <a:pPr algn="l"/>
                      <a:r>
                        <a:rPr sz="1000">
                          <a:solidFill>
                            <a:srgbClr val="222222"/>
                          </a:solidFill>
                          <a:latin typeface="Calibri"/>
                        </a:rPr>
                        <a:t>API Load Test</a:t>
                      </a:r>
                    </a:p>
                  </a:txBody>
                  <a:tcPr marL="91440" marR="91440" marT="54864" marB="54864">
                    <a:solidFill>
                      <a:srgbClr val="FFFFFF"/>
                    </a:solidFill>
                  </a:tcPr>
                </a:tc>
                <a:tc>
                  <a:txBody>
                    <a:bodyPr wrap="square"/>
                    <a:lstStyle/>
                    <a:p>
                      <a:pPr algn="l"/>
                      <a:r>
                        <a:rPr sz="1000">
                          <a:solidFill>
                            <a:srgbClr val="222222"/>
                          </a:solidFill>
                          <a:latin typeface="Calibri"/>
                        </a:rPr>
                        <a:t>01:30</a:t>
                      </a:r>
                    </a:p>
                  </a:txBody>
                  <a:tcPr marL="91440" marR="91440" marT="54864" marB="54864">
                    <a:solidFill>
                      <a:srgbClr val="FFFFFF"/>
                    </a:solidFill>
                  </a:tcPr>
                </a:tc>
                <a:tc>
                  <a:txBody>
                    <a:bodyPr wrap="square"/>
                    <a:lstStyle/>
                    <a:p>
                      <a:pPr algn="l"/>
                      <a:r>
                        <a:rPr sz="1000">
                          <a:solidFill>
                            <a:srgbClr val="222222"/>
                          </a:solidFill>
                          <a:latin typeface="Calibri"/>
                        </a:rPr>
                        <a:t>Locust multi-tier 10 → 10,000 users with cooldowns</a:t>
                      </a:r>
                    </a:p>
                  </a:txBody>
                  <a:tcPr marL="91440" marR="91440" marT="54864" marB="54864">
                    <a:solidFill>
                      <a:srgbClr val="FFFFFF"/>
                    </a:solidFill>
                  </a:tcPr>
                </a:tc>
              </a:tr>
              <a:tr h="384048">
                <a:tc>
                  <a:txBody>
                    <a:bodyPr wrap="square"/>
                    <a:lstStyle/>
                    <a:p>
                      <a:pPr algn="l"/>
                      <a:r>
                        <a:rPr sz="1000">
                          <a:solidFill>
                            <a:srgbClr val="222222"/>
                          </a:solidFill>
                          <a:latin typeface="Calibri"/>
                        </a:rPr>
                        <a:t>4</a:t>
                      </a:r>
                    </a:p>
                  </a:txBody>
                  <a:tcPr marL="91440" marR="91440" marT="54864" marB="54864">
                    <a:solidFill>
                      <a:srgbClr val="F5F7FA"/>
                    </a:solidFill>
                  </a:tcPr>
                </a:tc>
                <a:tc>
                  <a:txBody>
                    <a:bodyPr wrap="square"/>
                    <a:lstStyle/>
                    <a:p>
                      <a:pPr algn="l"/>
                      <a:r>
                        <a:rPr sz="1000">
                          <a:solidFill>
                            <a:srgbClr val="222222"/>
                          </a:solidFill>
                          <a:latin typeface="Calibri"/>
                        </a:rPr>
                        <a:t>MVP Access E2E Test</a:t>
                      </a:r>
                    </a:p>
                  </a:txBody>
                  <a:tcPr marL="91440" marR="91440" marT="54864" marB="54864">
                    <a:solidFill>
                      <a:srgbClr val="F5F7FA"/>
                    </a:solidFill>
                  </a:tcPr>
                </a:tc>
                <a:tc>
                  <a:txBody>
                    <a:bodyPr wrap="square"/>
                    <a:lstStyle/>
                    <a:p>
                      <a:pPr algn="l"/>
                      <a:r>
                        <a:rPr sz="1000">
                          <a:solidFill>
                            <a:srgbClr val="222222"/>
                          </a:solidFill>
                          <a:latin typeface="Calibri"/>
                        </a:rPr>
                        <a:t>02:30</a:t>
                      </a:r>
                    </a:p>
                  </a:txBody>
                  <a:tcPr marL="91440" marR="91440" marT="54864" marB="54864">
                    <a:solidFill>
                      <a:srgbClr val="F5F7FA"/>
                    </a:solidFill>
                  </a:tcPr>
                </a:tc>
                <a:tc>
                  <a:txBody>
                    <a:bodyPr wrap="square"/>
                    <a:lstStyle/>
                    <a:p>
                      <a:pPr algn="l"/>
                      <a:r>
                        <a:rPr sz="1000">
                          <a:solidFill>
                            <a:srgbClr val="222222"/>
                          </a:solidFill>
                          <a:latin typeface="Calibri"/>
                        </a:rPr>
                        <a:t>Playwright full suite. Failure screenshots embedded in PDF</a:t>
                      </a:r>
                    </a:p>
                  </a:txBody>
                  <a:tcPr marL="91440" marR="91440" marT="54864" marB="54864">
                    <a:solidFill>
                      <a:srgbClr val="F5F7FA"/>
                    </a:solidFill>
                  </a:tcPr>
                </a:tc>
              </a:tr>
              <a:tr h="384048">
                <a:tc>
                  <a:txBody>
                    <a:bodyPr wrap="square"/>
                    <a:lstStyle/>
                    <a:p>
                      <a:pPr algn="l"/>
                      <a:r>
                        <a:rPr sz="1000">
                          <a:solidFill>
                            <a:srgbClr val="222222"/>
                          </a:solidFill>
                          <a:latin typeface="Calibri"/>
                        </a:rPr>
                        <a:t>5</a:t>
                      </a:r>
                    </a:p>
                  </a:txBody>
                  <a:tcPr marL="91440" marR="91440" marT="54864" marB="54864">
                    <a:solidFill>
                      <a:srgbClr val="FFFFFF"/>
                    </a:solidFill>
                  </a:tcPr>
                </a:tc>
                <a:tc>
                  <a:txBody>
                    <a:bodyPr wrap="square"/>
                    <a:lstStyle/>
                    <a:p>
                      <a:pPr algn="l"/>
                      <a:r>
                        <a:rPr sz="1000">
                          <a:solidFill>
                            <a:srgbClr val="222222"/>
                          </a:solidFill>
                          <a:latin typeface="Calibri"/>
                        </a:rPr>
                        <a:t>MVPAccess CICD</a:t>
                      </a:r>
                    </a:p>
                  </a:txBody>
                  <a:tcPr marL="91440" marR="91440" marT="54864" marB="54864">
                    <a:solidFill>
                      <a:srgbClr val="FFFFFF"/>
                    </a:solidFill>
                  </a:tcPr>
                </a:tc>
                <a:tc>
                  <a:txBody>
                    <a:bodyPr wrap="square"/>
                    <a:lstStyle/>
                    <a:p>
                      <a:pPr algn="l"/>
                      <a:r>
                        <a:rPr sz="1000">
                          <a:solidFill>
                            <a:srgbClr val="222222"/>
                          </a:solidFill>
                          <a:latin typeface="Calibri"/>
                        </a:rPr>
                        <a:t>03:00</a:t>
                      </a:r>
                    </a:p>
                  </a:txBody>
                  <a:tcPr marL="91440" marR="91440" marT="54864" marB="54864">
                    <a:solidFill>
                      <a:srgbClr val="FFFFFF"/>
                    </a:solidFill>
                  </a:tcPr>
                </a:tc>
                <a:tc>
                  <a:txBody>
                    <a:bodyPr wrap="square"/>
                    <a:lstStyle/>
                    <a:p>
                      <a:pPr algn="l"/>
                      <a:r>
                        <a:rPr sz="1000">
                          <a:solidFill>
                            <a:srgbClr val="222222"/>
                          </a:solidFill>
                          <a:latin typeface="Calibri"/>
                        </a:rPr>
                        <a:t>TFS pull, MSBuild Release, IIS deploy via UNC, health check</a:t>
                      </a:r>
                    </a:p>
                  </a:txBody>
                  <a:tcPr marL="91440" marR="91440" marT="54864" marB="54864">
                    <a:solidFill>
                      <a:srgbClr val="FFFFFF"/>
                    </a:solidFill>
                  </a:tcPr>
                </a:tc>
              </a:tr>
              <a:tr h="384048">
                <a:tc>
                  <a:txBody>
                    <a:bodyPr wrap="square"/>
                    <a:lstStyle/>
                    <a:p>
                      <a:pPr algn="l"/>
                      <a:r>
                        <a:rPr sz="1000">
                          <a:solidFill>
                            <a:srgbClr val="222222"/>
                          </a:solidFill>
                          <a:latin typeface="Calibri"/>
                        </a:rPr>
                        <a:t>6</a:t>
                      </a:r>
                    </a:p>
                  </a:txBody>
                  <a:tcPr marL="91440" marR="91440" marT="54864" marB="54864">
                    <a:solidFill>
                      <a:srgbClr val="F5F7FA"/>
                    </a:solidFill>
                  </a:tcPr>
                </a:tc>
                <a:tc>
                  <a:txBody>
                    <a:bodyPr wrap="square"/>
                    <a:lstStyle/>
                    <a:p>
                      <a:pPr algn="l"/>
                      <a:r>
                        <a:rPr sz="1000">
                          <a:solidFill>
                            <a:srgbClr val="222222"/>
                          </a:solidFill>
                          <a:latin typeface="Calibri"/>
                        </a:rPr>
                        <a:t>Requirement Management</a:t>
                      </a:r>
                    </a:p>
                  </a:txBody>
                  <a:tcPr marL="91440" marR="91440" marT="54864" marB="54864">
                    <a:solidFill>
                      <a:srgbClr val="F5F7FA"/>
                    </a:solidFill>
                  </a:tcPr>
                </a:tc>
                <a:tc>
                  <a:txBody>
                    <a:bodyPr wrap="square"/>
                    <a:lstStyle/>
                    <a:p>
                      <a:pPr algn="l"/>
                      <a:r>
                        <a:rPr sz="1000">
                          <a:solidFill>
                            <a:srgbClr val="222222"/>
                          </a:solidFill>
                          <a:latin typeface="Calibri"/>
                        </a:rPr>
                        <a:t>13:00 + 01:00</a:t>
                      </a:r>
                    </a:p>
                  </a:txBody>
                  <a:tcPr marL="91440" marR="91440" marT="54864" marB="54864">
                    <a:solidFill>
                      <a:srgbClr val="F5F7FA"/>
                    </a:solidFill>
                  </a:tcPr>
                </a:tc>
                <a:tc>
                  <a:txBody>
                    <a:bodyPr wrap="square"/>
                    <a:lstStyle/>
                    <a:p>
                      <a:pPr algn="l"/>
                      <a:r>
                        <a:rPr sz="1000">
                          <a:solidFill>
                            <a:srgbClr val="222222"/>
                          </a:solidFill>
                          <a:latin typeface="Calibri"/>
                        </a:rPr>
                        <a:t>IMAP. 3-hour task split. OpenProject Work Packages, dedup + in-place update</a:t>
                      </a:r>
                    </a:p>
                  </a:txBody>
                  <a:tcPr marL="91440" marR="91440" marT="54864" marB="54864">
                    <a:solidFill>
                      <a:srgbClr val="F5F7FA"/>
                    </a:solidFill>
                  </a:tcPr>
                </a:tc>
              </a:tr>
              <a:tr h="384048">
                <a:tc>
                  <a:txBody>
                    <a:bodyPr wrap="square"/>
                    <a:lstStyle/>
                    <a:p>
                      <a:pPr algn="l"/>
                      <a:r>
                        <a:rPr sz="1000">
                          <a:solidFill>
                            <a:srgbClr val="222222"/>
                          </a:solidFill>
                          <a:latin typeface="Calibri"/>
                        </a:rPr>
                        <a:t>7</a:t>
                      </a:r>
                    </a:p>
                  </a:txBody>
                  <a:tcPr marL="91440" marR="91440" marT="54864" marB="54864">
                    <a:solidFill>
                      <a:srgbClr val="FFFFFF"/>
                    </a:solidFill>
                  </a:tcPr>
                </a:tc>
                <a:tc>
                  <a:txBody>
                    <a:bodyPr wrap="square"/>
                    <a:lstStyle/>
                    <a:p>
                      <a:pPr algn="l"/>
                      <a:r>
                        <a:rPr sz="1000">
                          <a:solidFill>
                            <a:srgbClr val="222222"/>
                          </a:solidFill>
                          <a:latin typeface="Calibri"/>
                        </a:rPr>
                        <a:t>Daily Report (Detailed)</a:t>
                      </a:r>
                    </a:p>
                  </a:txBody>
                  <a:tcPr marL="91440" marR="91440" marT="54864" marB="54864">
                    <a:solidFill>
                      <a:srgbClr val="FFFFFF"/>
                    </a:solidFill>
                  </a:tcPr>
                </a:tc>
                <a:tc>
                  <a:txBody>
                    <a:bodyPr wrap="square"/>
                    <a:lstStyle/>
                    <a:p>
                      <a:pPr algn="l"/>
                      <a:r>
                        <a:rPr sz="1000">
                          <a:solidFill>
                            <a:srgbClr val="222222"/>
                          </a:solidFill>
                          <a:latin typeface="Calibri"/>
                        </a:rPr>
                        <a:t>03:30</a:t>
                      </a:r>
                    </a:p>
                  </a:txBody>
                  <a:tcPr marL="91440" marR="91440" marT="54864" marB="54864">
                    <a:solidFill>
                      <a:srgbClr val="FFFFFF"/>
                    </a:solidFill>
                  </a:tcPr>
                </a:tc>
                <a:tc>
                  <a:txBody>
                    <a:bodyPr wrap="square"/>
                    <a:lstStyle/>
                    <a:p>
                      <a:pPr algn="l"/>
                      <a:r>
                        <a:rPr sz="1000">
                          <a:solidFill>
                            <a:srgbClr val="222222"/>
                          </a:solidFill>
                          <a:latin typeface="Calibri"/>
                        </a:rPr>
                        <a:t>Reads memory + 4 test PDFs. 6-section PDF to full team</a:t>
                      </a:r>
                    </a:p>
                  </a:txBody>
                  <a:tcPr marL="91440" marR="91440" marT="54864" marB="54864">
                    <a:solidFill>
                      <a:srgbClr val="FFFFFF"/>
                    </a:solidFill>
                  </a:tcPr>
                </a:tc>
              </a:tr>
              <a:tr h="384048">
                <a:tc>
                  <a:txBody>
                    <a:bodyPr wrap="square"/>
                    <a:lstStyle/>
                    <a:p>
                      <a:pPr algn="l"/>
                      <a:r>
                        <a:rPr sz="1000">
                          <a:solidFill>
                            <a:srgbClr val="222222"/>
                          </a:solidFill>
                          <a:latin typeface="Calibri"/>
                        </a:rPr>
                        <a:t>8</a:t>
                      </a:r>
                    </a:p>
                  </a:txBody>
                  <a:tcPr marL="91440" marR="91440" marT="54864" marB="54864">
                    <a:solidFill>
                      <a:srgbClr val="F5F7FA"/>
                    </a:solidFill>
                  </a:tcPr>
                </a:tc>
                <a:tc>
                  <a:txBody>
                    <a:bodyPr wrap="square"/>
                    <a:lstStyle/>
                    <a:p>
                      <a:pPr algn="l"/>
                      <a:r>
                        <a:rPr sz="1000">
                          <a:solidFill>
                            <a:srgbClr val="222222"/>
                          </a:solidFill>
                          <a:latin typeface="Calibri"/>
                        </a:rPr>
                        <a:t>Daily Report (Summary)</a:t>
                      </a:r>
                    </a:p>
                  </a:txBody>
                  <a:tcPr marL="91440" marR="91440" marT="54864" marB="54864">
                    <a:solidFill>
                      <a:srgbClr val="F5F7FA"/>
                    </a:solidFill>
                  </a:tcPr>
                </a:tc>
                <a:tc>
                  <a:txBody>
                    <a:bodyPr wrap="square"/>
                    <a:lstStyle/>
                    <a:p>
                      <a:pPr algn="l"/>
                      <a:r>
                        <a:rPr sz="1000">
                          <a:solidFill>
                            <a:srgbClr val="222222"/>
                          </a:solidFill>
                          <a:latin typeface="Calibri"/>
                        </a:rPr>
                        <a:t>03:45</a:t>
                      </a:r>
                    </a:p>
                  </a:txBody>
                  <a:tcPr marL="91440" marR="91440" marT="54864" marB="54864">
                    <a:solidFill>
                      <a:srgbClr val="F5F7FA"/>
                    </a:solidFill>
                  </a:tcPr>
                </a:tc>
                <a:tc>
                  <a:txBody>
                    <a:bodyPr wrap="square"/>
                    <a:lstStyle/>
                    <a:p>
                      <a:pPr algn="l"/>
                      <a:r>
                        <a:rPr sz="1000">
                          <a:solidFill>
                            <a:srgbClr val="222222"/>
                          </a:solidFill>
                          <a:latin typeface="Calibri"/>
                        </a:rPr>
                        <a:t>7-block executive dashboard to leadership</a:t>
                      </a:r>
                    </a:p>
                  </a:txBody>
                  <a:tcPr marL="91440" marR="91440" marT="54864" marB="54864">
                    <a:solidFill>
                      <a:srgbClr val="F5F7FA"/>
                    </a:solidFill>
                  </a:tcPr>
                </a:tc>
              </a:tr>
              <a:tr h="384048">
                <a:tc>
                  <a:txBody>
                    <a:bodyPr wrap="square"/>
                    <a:lstStyle/>
                    <a:p>
                      <a:pPr algn="l"/>
                      <a:r>
                        <a:rPr sz="1000">
                          <a:solidFill>
                            <a:srgbClr val="222222"/>
                          </a:solidFill>
                          <a:latin typeface="Calibri"/>
                        </a:rPr>
                        <a:t>9</a:t>
                      </a:r>
                    </a:p>
                  </a:txBody>
                  <a:tcPr marL="91440" marR="91440" marT="54864" marB="54864">
                    <a:solidFill>
                      <a:srgbClr val="FFFFFF"/>
                    </a:solidFill>
                  </a:tcPr>
                </a:tc>
                <a:tc>
                  <a:txBody>
                    <a:bodyPr wrap="square"/>
                    <a:lstStyle/>
                    <a:p>
                      <a:pPr algn="l"/>
                      <a:r>
                        <a:rPr sz="1000">
                          <a:solidFill>
                            <a:srgbClr val="222222"/>
                          </a:solidFill>
                          <a:latin typeface="Calibri"/>
                        </a:rPr>
                        <a:t>Probe Runner Filesystem</a:t>
                      </a:r>
                    </a:p>
                  </a:txBody>
                  <a:tcPr marL="91440" marR="91440" marT="54864" marB="54864">
                    <a:solidFill>
                      <a:srgbClr val="FFFFFF"/>
                    </a:solidFill>
                  </a:tcPr>
                </a:tc>
                <a:tc>
                  <a:txBody>
                    <a:bodyPr wrap="square"/>
                    <a:lstStyle/>
                    <a:p>
                      <a:pPr algn="l"/>
                      <a:r>
                        <a:rPr sz="1000">
                          <a:solidFill>
                            <a:srgbClr val="222222"/>
                          </a:solidFill>
                          <a:latin typeface="Calibri"/>
                        </a:rPr>
                        <a:t>Manual</a:t>
                      </a:r>
                    </a:p>
                  </a:txBody>
                  <a:tcPr marL="91440" marR="91440" marT="54864" marB="54864">
                    <a:solidFill>
                      <a:srgbClr val="FFFFFF"/>
                    </a:solidFill>
                  </a:tcPr>
                </a:tc>
                <a:tc>
                  <a:txBody>
                    <a:bodyPr wrap="square"/>
                    <a:lstStyle/>
                    <a:p>
                      <a:pPr algn="l"/>
                      <a:r>
                        <a:rPr sz="1000">
                          <a:solidFill>
                            <a:srgbClr val="222222"/>
                          </a:solidFill>
                          <a:latin typeface="Calibri"/>
                        </a:rPr>
                        <a:t>Diagnostic — inspects runner state during triage</a:t>
                      </a:r>
                    </a:p>
                  </a:txBody>
                  <a:tcPr marL="91440" marR="91440" marT="54864" marB="54864">
                    <a:solidFill>
                      <a:srgbClr val="FFFFFF"/>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565392"/>
            <a:ext cx="11277295" cy="9000"/>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601968"/>
            <a:ext cx="7315200" cy="228600"/>
          </a:xfrm>
          <a:prstGeom prst="rect">
            <a:avLst/>
          </a:prstGeom>
          <a:noFill/>
        </p:spPr>
        <p:txBody>
          <a:bodyPr wrap="none">
            <a:spAutoFit/>
          </a:bodyPr>
          <a:lstStyle/>
          <a:p>
            <a:pPr algn="l"/>
            <a:r>
              <a:rPr sz="900" b="0">
                <a:solidFill>
                  <a:srgbClr val="6B7785"/>
                </a:solidFill>
                <a:latin typeface="Calibri"/>
              </a:rPr>
              <a:t>NAPCO Nucleus  |  Mohammad Kamrul Hasan  |  Adaptive Enterprise Limited</a:t>
            </a:r>
          </a:p>
        </p:txBody>
      </p:sp>
      <p:sp>
        <p:nvSpPr>
          <p:cNvPr id="5" name="TextBox 4"/>
          <p:cNvSpPr txBox="1"/>
          <p:nvPr/>
        </p:nvSpPr>
        <p:spPr>
          <a:xfrm>
            <a:off x="10515600" y="6601968"/>
            <a:ext cx="1280160" cy="228600"/>
          </a:xfrm>
          <a:prstGeom prst="rect">
            <a:avLst/>
          </a:prstGeom>
          <a:noFill/>
        </p:spPr>
        <p:txBody>
          <a:bodyPr wrap="none">
            <a:spAutoFit/>
          </a:bodyPr>
          <a:lstStyle/>
          <a:p>
            <a:pPr algn="r"/>
            <a:r>
              <a:rPr sz="900" b="0">
                <a:solidFill>
                  <a:srgbClr val="6B7785"/>
                </a:solidFill>
                <a:latin typeface="Calibri"/>
              </a:rPr>
              <a:t>25 / 31</a:t>
            </a:r>
          </a:p>
        </p:txBody>
      </p:sp>
      <p:sp>
        <p:nvSpPr>
          <p:cNvPr id="6" name="TextBox 5"/>
          <p:cNvSpPr txBox="1"/>
          <p:nvPr/>
        </p:nvSpPr>
        <p:spPr>
          <a:xfrm>
            <a:off x="457200" y="274320"/>
            <a:ext cx="11277295" cy="640080"/>
          </a:xfrm>
          <a:prstGeom prst="rect">
            <a:avLst/>
          </a:prstGeom>
          <a:noFill/>
        </p:spPr>
        <p:txBody>
          <a:bodyPr wrap="none">
            <a:spAutoFit/>
          </a:bodyPr>
          <a:lstStyle/>
          <a:p>
            <a:pPr algn="l"/>
            <a:r>
              <a:rPr sz="2800" b="1">
                <a:solidFill>
                  <a:srgbClr val="1F4E79"/>
                </a:solidFill>
                <a:latin typeface="Calibri"/>
              </a:rPr>
              <a:t>06 · The Self-Hosted Runner</a:t>
            </a:r>
          </a:p>
        </p:txBody>
      </p:sp>
      <p:sp>
        <p:nvSpPr>
          <p:cNvPr id="7" name="TextBox 6"/>
          <p:cNvSpPr txBox="1"/>
          <p:nvPr/>
        </p:nvSpPr>
        <p:spPr>
          <a:xfrm>
            <a:off x="457200" y="868680"/>
            <a:ext cx="11277295" cy="365760"/>
          </a:xfrm>
          <a:prstGeom prst="rect">
            <a:avLst/>
          </a:prstGeom>
          <a:noFill/>
        </p:spPr>
        <p:txBody>
          <a:bodyPr wrap="none">
            <a:spAutoFit/>
          </a:bodyPr>
          <a:lstStyle/>
          <a:p>
            <a:pPr algn="l"/>
            <a:r>
              <a:rPr sz="1400" b="0">
                <a:solidFill>
                  <a:srgbClr val="6B7785"/>
                </a:solidFill>
                <a:latin typeface="Calibri"/>
              </a:rPr>
              <a:t>One Windows VM, 24/7, the whole platform</a:t>
            </a:r>
          </a:p>
        </p:txBody>
      </p:sp>
      <p:sp>
        <p:nvSpPr>
          <p:cNvPr id="8" name="Rectangle 7"/>
          <p:cNvSpPr/>
          <p:nvPr/>
        </p:nvSpPr>
        <p:spPr>
          <a:xfrm>
            <a:off x="548640" y="1554480"/>
            <a:ext cx="5532120" cy="32918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200" b="1">
                <a:solidFill>
                  <a:srgbClr val="FFFFFF"/>
                </a:solidFill>
                <a:latin typeface="Calibri"/>
              </a:rPr>
              <a:t>WHAT'S ON THE RUNNER</a:t>
            </a:r>
          </a:p>
        </p:txBody>
      </p:sp>
      <p:sp>
        <p:nvSpPr>
          <p:cNvPr id="9" name="Rectangle 8"/>
          <p:cNvSpPr/>
          <p:nvPr/>
        </p:nvSpPr>
        <p:spPr>
          <a:xfrm>
            <a:off x="548640" y="1883664"/>
            <a:ext cx="5532120" cy="4425696"/>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rIns="164592" tIns="109728" bIns="109728" wrap="square"/>
          <a:lstStyle/>
          <a:p>
            <a:pPr algn="l"/>
            <a:r>
              <a:rPr sz="1300" b="1">
                <a:solidFill>
                  <a:srgbClr val="1F4E79"/>
                </a:solidFill>
                <a:latin typeface="Calibri"/>
              </a:rPr>
              <a:t>• </a:t>
            </a:r>
            <a:r>
              <a:rPr sz="1300" b="1">
                <a:solidFill>
                  <a:srgbClr val="1F4E79"/>
                </a:solidFill>
                <a:latin typeface="Calibri"/>
              </a:rPr>
              <a:t>Windows Server VM </a:t>
            </a:r>
            <a:r>
              <a:rPr sz="1300">
                <a:solidFill>
                  <a:srgbClr val="222222"/>
                </a:solidFill>
                <a:latin typeface="Calibri"/>
              </a:rPr>
              <a:t>172.16.205.209</a:t>
            </a:r>
          </a:p>
          <a:p>
            <a:pPr algn="l">
              <a:spcBef>
                <a:spcPts val="600"/>
              </a:spcBef>
            </a:pPr>
            <a:r>
              <a:rPr sz="1300" b="1">
                <a:solidFill>
                  <a:srgbClr val="1F4E79"/>
                </a:solidFill>
                <a:latin typeface="Calibri"/>
              </a:rPr>
              <a:t>• </a:t>
            </a:r>
            <a:r>
              <a:rPr sz="1300" b="1">
                <a:solidFill>
                  <a:srgbClr val="1F4E79"/>
                </a:solidFill>
                <a:latin typeface="Calibri"/>
              </a:rPr>
              <a:t>Python 3.13 </a:t>
            </a:r>
            <a:r>
              <a:rPr sz="1300">
                <a:solidFill>
                  <a:srgbClr val="222222"/>
                </a:solidFill>
                <a:latin typeface="Calibri"/>
              </a:rPr>
              <a:t>+ all NN deps installed</a:t>
            </a:r>
          </a:p>
          <a:p>
            <a:pPr algn="l">
              <a:spcBef>
                <a:spcPts val="600"/>
              </a:spcBef>
            </a:pPr>
            <a:r>
              <a:rPr sz="1300" b="1">
                <a:solidFill>
                  <a:srgbClr val="1F4E79"/>
                </a:solidFill>
                <a:latin typeface="Calibri"/>
              </a:rPr>
              <a:t>• </a:t>
            </a:r>
            <a:r>
              <a:rPr sz="1300" b="1">
                <a:solidFill>
                  <a:srgbClr val="1F4E79"/>
                </a:solidFill>
                <a:latin typeface="Calibri"/>
              </a:rPr>
              <a:t>Claude Code CLI </a:t>
            </a:r>
            <a:r>
              <a:rPr sz="1300">
                <a:solidFill>
                  <a:srgbClr val="222222"/>
                </a:solidFill>
                <a:latin typeface="Calibri"/>
              </a:rPr>
              <a:t>logged into Claude Max 24/7</a:t>
            </a:r>
          </a:p>
          <a:p>
            <a:pPr algn="l">
              <a:spcBef>
                <a:spcPts val="600"/>
              </a:spcBef>
            </a:pPr>
            <a:r>
              <a:rPr sz="1300" b="1">
                <a:solidFill>
                  <a:srgbClr val="1F4E79"/>
                </a:solidFill>
                <a:latin typeface="Calibri"/>
              </a:rPr>
              <a:t>• </a:t>
            </a:r>
            <a:r>
              <a:rPr sz="1300" b="1">
                <a:solidFill>
                  <a:srgbClr val="1F4E79"/>
                </a:solidFill>
                <a:latin typeface="Calibri"/>
              </a:rPr>
              <a:t>Newman / pytest / Locust </a:t>
            </a:r>
            <a:r>
              <a:rPr sz="1300">
                <a:solidFill>
                  <a:srgbClr val="222222"/>
                </a:solidFill>
                <a:latin typeface="Calibri"/>
              </a:rPr>
              <a:t>test runners pre-installed</a:t>
            </a:r>
          </a:p>
          <a:p>
            <a:pPr algn="l">
              <a:spcBef>
                <a:spcPts val="600"/>
              </a:spcBef>
            </a:pPr>
            <a:r>
              <a:rPr sz="1300" b="1">
                <a:solidFill>
                  <a:srgbClr val="1F4E79"/>
                </a:solidFill>
                <a:latin typeface="Calibri"/>
              </a:rPr>
              <a:t>• </a:t>
            </a:r>
            <a:r>
              <a:rPr sz="1300" b="1">
                <a:solidFill>
                  <a:srgbClr val="1F4E79"/>
                </a:solidFill>
                <a:latin typeface="Calibri"/>
              </a:rPr>
              <a:t>Playwright + Chromium </a:t>
            </a:r>
            <a:r>
              <a:rPr sz="1300">
                <a:solidFill>
                  <a:srgbClr val="222222"/>
                </a:solidFill>
                <a:latin typeface="Calibri"/>
              </a:rPr>
              <a:t>for E2E</a:t>
            </a:r>
          </a:p>
          <a:p>
            <a:pPr algn="l">
              <a:spcBef>
                <a:spcPts val="600"/>
              </a:spcBef>
            </a:pPr>
            <a:r>
              <a:rPr sz="1300" b="1">
                <a:solidFill>
                  <a:srgbClr val="1F4E79"/>
                </a:solidFill>
                <a:latin typeface="Calibri"/>
              </a:rPr>
              <a:t>• </a:t>
            </a:r>
            <a:r>
              <a:rPr sz="1300" b="1">
                <a:solidFill>
                  <a:srgbClr val="1F4E79"/>
                </a:solidFill>
                <a:latin typeface="Calibri"/>
              </a:rPr>
              <a:t>MSBuild + TFS client </a:t>
            </a:r>
            <a:r>
              <a:rPr sz="1300">
                <a:solidFill>
                  <a:srgbClr val="222222"/>
                </a:solidFill>
                <a:latin typeface="Calibri"/>
              </a:rPr>
              <a:t>for CICD workflow</a:t>
            </a:r>
          </a:p>
          <a:p>
            <a:pPr algn="l">
              <a:spcBef>
                <a:spcPts val="600"/>
              </a:spcBef>
            </a:pPr>
            <a:r>
              <a:rPr sz="1300" b="1">
                <a:solidFill>
                  <a:srgbClr val="1F4E79"/>
                </a:solidFill>
                <a:latin typeface="Calibri"/>
              </a:rPr>
              <a:t>• </a:t>
            </a:r>
            <a:r>
              <a:rPr sz="1300" b="1">
                <a:solidFill>
                  <a:srgbClr val="1F4E79"/>
                </a:solidFill>
                <a:latin typeface="Calibri"/>
              </a:rPr>
              <a:t>GitHub Actions runner </a:t>
            </a:r>
            <a:r>
              <a:rPr sz="1300">
                <a:solidFill>
                  <a:srgbClr val="222222"/>
                </a:solidFill>
                <a:latin typeface="Calibri"/>
              </a:rPr>
              <a:t>registered as 'test-runner'</a:t>
            </a:r>
          </a:p>
          <a:p>
            <a:pPr algn="l">
              <a:spcBef>
                <a:spcPts val="600"/>
              </a:spcBef>
            </a:pPr>
            <a:r>
              <a:rPr sz="1300" b="1">
                <a:solidFill>
                  <a:srgbClr val="1F4E79"/>
                </a:solidFill>
                <a:latin typeface="Calibri"/>
              </a:rPr>
              <a:t>• </a:t>
            </a:r>
            <a:r>
              <a:rPr sz="1300" b="1">
                <a:solidFill>
                  <a:srgbClr val="1F4E79"/>
                </a:solidFill>
                <a:latin typeface="Calibri"/>
              </a:rPr>
              <a:t>UNC network access </a:t>
            </a:r>
            <a:r>
              <a:rPr sz="1300">
                <a:solidFill>
                  <a:srgbClr val="222222"/>
                </a:solidFill>
                <a:latin typeface="Calibri"/>
              </a:rPr>
              <a:t>for IIS deploy</a:t>
            </a:r>
          </a:p>
        </p:txBody>
      </p:sp>
      <p:sp>
        <p:nvSpPr>
          <p:cNvPr id="10" name="Rectangle 9"/>
          <p:cNvSpPr/>
          <p:nvPr/>
        </p:nvSpPr>
        <p:spPr>
          <a:xfrm>
            <a:off x="6263640" y="1554480"/>
            <a:ext cx="5532120" cy="329184"/>
          </a:xfrm>
          <a:prstGeom prst="rect">
            <a:avLst/>
          </a:prstGeom>
          <a:solidFill>
            <a:srgbClr val="6A4C93"/>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200" b="1">
                <a:solidFill>
                  <a:srgbClr val="FFFFFF"/>
                </a:solidFill>
                <a:latin typeface="Calibri"/>
              </a:rPr>
              <a:t>WHY ONE MACHINE?</a:t>
            </a:r>
          </a:p>
        </p:txBody>
      </p:sp>
      <p:sp>
        <p:nvSpPr>
          <p:cNvPr id="11" name="Rectangle 10"/>
          <p:cNvSpPr/>
          <p:nvPr/>
        </p:nvSpPr>
        <p:spPr>
          <a:xfrm>
            <a:off x="6263640" y="1883664"/>
            <a:ext cx="5532120" cy="4425696"/>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rIns="164592" tIns="109728" bIns="109728" wrap="square"/>
          <a:lstStyle/>
          <a:p>
            <a:pPr algn="l"/>
            <a:r>
              <a:rPr sz="1300" b="1">
                <a:solidFill>
                  <a:srgbClr val="1F4E79"/>
                </a:solidFill>
                <a:latin typeface="Calibri"/>
              </a:rPr>
              <a:t>• </a:t>
            </a:r>
            <a:r>
              <a:rPr sz="1300" b="1">
                <a:solidFill>
                  <a:srgbClr val="1F4E79"/>
                </a:solidFill>
                <a:latin typeface="Calibri"/>
              </a:rPr>
              <a:t>Single Claude Max session — </a:t>
            </a:r>
            <a:r>
              <a:rPr sz="1300">
                <a:solidFill>
                  <a:srgbClr val="222222"/>
                </a:solidFill>
                <a:latin typeface="Calibri"/>
              </a:rPr>
              <a:t>can only live in one place</a:t>
            </a:r>
          </a:p>
          <a:p>
            <a:pPr algn="l">
              <a:spcBef>
                <a:spcPts val="600"/>
              </a:spcBef>
            </a:pPr>
            <a:r>
              <a:rPr sz="1300" b="1">
                <a:solidFill>
                  <a:srgbClr val="1F4E79"/>
                </a:solidFill>
                <a:latin typeface="Calibri"/>
              </a:rPr>
              <a:t>• </a:t>
            </a:r>
            <a:r>
              <a:rPr sz="1300" b="1">
                <a:solidFill>
                  <a:srgbClr val="1F4E79"/>
                </a:solidFill>
                <a:latin typeface="Calibri"/>
              </a:rPr>
              <a:t>Windows-specific test runners — </a:t>
            </a:r>
            <a:r>
              <a:rPr sz="1300">
                <a:solidFill>
                  <a:srgbClr val="222222"/>
                </a:solidFill>
                <a:latin typeface="Calibri"/>
              </a:rPr>
              <a:t>MSBuild, TFS, Newman all native</a:t>
            </a:r>
          </a:p>
          <a:p>
            <a:pPr algn="l">
              <a:spcBef>
                <a:spcPts val="600"/>
              </a:spcBef>
            </a:pPr>
            <a:r>
              <a:rPr sz="1300" b="1">
                <a:solidFill>
                  <a:srgbClr val="1F4E79"/>
                </a:solidFill>
                <a:latin typeface="Calibri"/>
              </a:rPr>
              <a:t>• </a:t>
            </a:r>
            <a:r>
              <a:rPr sz="1300" b="1">
                <a:solidFill>
                  <a:srgbClr val="1F4E79"/>
                </a:solidFill>
                <a:latin typeface="Calibri"/>
              </a:rPr>
              <a:t>Network proximity to TFS / IIS — </a:t>
            </a:r>
            <a:r>
              <a:rPr sz="1300">
                <a:solidFill>
                  <a:srgbClr val="222222"/>
                </a:solidFill>
                <a:latin typeface="Calibri"/>
              </a:rPr>
              <a:t>for CICD</a:t>
            </a:r>
          </a:p>
          <a:p>
            <a:pPr algn="l">
              <a:spcBef>
                <a:spcPts val="600"/>
              </a:spcBef>
            </a:pPr>
            <a:r>
              <a:rPr sz="1300" b="1">
                <a:solidFill>
                  <a:srgbClr val="1F4E79"/>
                </a:solidFill>
                <a:latin typeface="Calibri"/>
              </a:rPr>
              <a:t>• </a:t>
            </a:r>
            <a:r>
              <a:rPr sz="1300" b="1">
                <a:solidFill>
                  <a:srgbClr val="1F4E79"/>
                </a:solidFill>
                <a:latin typeface="Calibri"/>
              </a:rPr>
              <a:t>Cost —  </a:t>
            </a:r>
            <a:r>
              <a:rPr sz="1300">
                <a:solidFill>
                  <a:srgbClr val="222222"/>
                </a:solidFill>
                <a:latin typeface="Calibri"/>
              </a:rPr>
              <a:t>one VM is cheaper than scaling out</a:t>
            </a:r>
          </a:p>
          <a:p>
            <a:pPr algn="l">
              <a:spcBef>
                <a:spcPts val="600"/>
              </a:spcBef>
            </a:pPr>
            <a:r>
              <a:rPr sz="1300" b="1">
                <a:solidFill>
                  <a:srgbClr val="1F4E79"/>
                </a:solidFill>
                <a:latin typeface="Calibri"/>
              </a:rPr>
              <a:t>• </a:t>
            </a:r>
            <a:r>
              <a:rPr sz="1300" b="1">
                <a:solidFill>
                  <a:srgbClr val="1F4E79"/>
                </a:solidFill>
                <a:latin typeface="Calibri"/>
              </a:rPr>
              <a:t> </a:t>
            </a:r>
            <a:r>
              <a:rPr sz="1300">
                <a:solidFill>
                  <a:srgbClr val="222222"/>
                </a:solidFill>
                <a:latin typeface="Calibri"/>
              </a:rPr>
              <a:t/>
            </a:r>
          </a:p>
          <a:p>
            <a:pPr algn="l">
              <a:spcBef>
                <a:spcPts val="600"/>
              </a:spcBef>
            </a:pPr>
            <a:r>
              <a:rPr sz="1300" b="1">
                <a:solidFill>
                  <a:srgbClr val="1F4E79"/>
                </a:solidFill>
                <a:latin typeface="Calibri"/>
              </a:rPr>
              <a:t>• </a:t>
            </a:r>
            <a:r>
              <a:rPr sz="1300" b="1">
                <a:solidFill>
                  <a:srgbClr val="1F4E79"/>
                </a:solidFill>
                <a:latin typeface="Calibri"/>
              </a:rPr>
              <a:t>Honest tradeoff —  </a:t>
            </a:r>
            <a:r>
              <a:rPr sz="1300">
                <a:solidFill>
                  <a:srgbClr val="222222"/>
                </a:solidFill>
                <a:latin typeface="Calibri"/>
              </a:rPr>
              <a:t>single machine = single point of failure. We accept this for the cost ceiling.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565392"/>
            <a:ext cx="11277295" cy="9000"/>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601968"/>
            <a:ext cx="7315200" cy="228600"/>
          </a:xfrm>
          <a:prstGeom prst="rect">
            <a:avLst/>
          </a:prstGeom>
          <a:noFill/>
        </p:spPr>
        <p:txBody>
          <a:bodyPr wrap="none">
            <a:spAutoFit/>
          </a:bodyPr>
          <a:lstStyle/>
          <a:p>
            <a:pPr algn="l"/>
            <a:r>
              <a:rPr sz="900" b="0">
                <a:solidFill>
                  <a:srgbClr val="6B7785"/>
                </a:solidFill>
                <a:latin typeface="Calibri"/>
              </a:rPr>
              <a:t>NAPCO Nucleus  |  Mohammad Kamrul Hasan  |  Adaptive Enterprise Limited</a:t>
            </a:r>
          </a:p>
        </p:txBody>
      </p:sp>
      <p:sp>
        <p:nvSpPr>
          <p:cNvPr id="5" name="TextBox 4"/>
          <p:cNvSpPr txBox="1"/>
          <p:nvPr/>
        </p:nvSpPr>
        <p:spPr>
          <a:xfrm>
            <a:off x="10515600" y="6601968"/>
            <a:ext cx="1280160" cy="228600"/>
          </a:xfrm>
          <a:prstGeom prst="rect">
            <a:avLst/>
          </a:prstGeom>
          <a:noFill/>
        </p:spPr>
        <p:txBody>
          <a:bodyPr wrap="none">
            <a:spAutoFit/>
          </a:bodyPr>
          <a:lstStyle/>
          <a:p>
            <a:pPr algn="r"/>
            <a:r>
              <a:rPr sz="900" b="0">
                <a:solidFill>
                  <a:srgbClr val="6B7785"/>
                </a:solidFill>
                <a:latin typeface="Calibri"/>
              </a:rPr>
              <a:t>26 / 31</a:t>
            </a:r>
          </a:p>
        </p:txBody>
      </p:sp>
      <p:sp>
        <p:nvSpPr>
          <p:cNvPr id="6" name="TextBox 5"/>
          <p:cNvSpPr txBox="1"/>
          <p:nvPr/>
        </p:nvSpPr>
        <p:spPr>
          <a:xfrm>
            <a:off x="457200" y="274320"/>
            <a:ext cx="11277295" cy="640080"/>
          </a:xfrm>
          <a:prstGeom prst="rect">
            <a:avLst/>
          </a:prstGeom>
          <a:noFill/>
        </p:spPr>
        <p:txBody>
          <a:bodyPr wrap="none">
            <a:spAutoFit/>
          </a:bodyPr>
          <a:lstStyle/>
          <a:p>
            <a:pPr algn="l"/>
            <a:r>
              <a:rPr sz="2800" b="1">
                <a:solidFill>
                  <a:srgbClr val="1F4E79"/>
                </a:solidFill>
                <a:latin typeface="Calibri"/>
              </a:rPr>
              <a:t>07 · Adding a New Workflow</a:t>
            </a:r>
          </a:p>
        </p:txBody>
      </p:sp>
      <p:sp>
        <p:nvSpPr>
          <p:cNvPr id="7" name="TextBox 6"/>
          <p:cNvSpPr txBox="1"/>
          <p:nvPr/>
        </p:nvSpPr>
        <p:spPr>
          <a:xfrm>
            <a:off x="457200" y="868680"/>
            <a:ext cx="11277295" cy="365760"/>
          </a:xfrm>
          <a:prstGeom prst="rect">
            <a:avLst/>
          </a:prstGeom>
          <a:noFill/>
        </p:spPr>
        <p:txBody>
          <a:bodyPr wrap="none">
            <a:spAutoFit/>
          </a:bodyPr>
          <a:lstStyle/>
          <a:p>
            <a:pPr algn="l"/>
            <a:r>
              <a:rPr sz="1400" b="0">
                <a:solidFill>
                  <a:srgbClr val="6B7785"/>
                </a:solidFill>
                <a:latin typeface="Calibri"/>
              </a:rPr>
              <a:t>Seven-step recipe — usually under an hour</a:t>
            </a:r>
          </a:p>
        </p:txBody>
      </p:sp>
      <p:sp>
        <p:nvSpPr>
          <p:cNvPr id="8" name="Oval 7"/>
          <p:cNvSpPr/>
          <p:nvPr/>
        </p:nvSpPr>
        <p:spPr>
          <a:xfrm>
            <a:off x="548640" y="1554480"/>
            <a:ext cx="658368" cy="658368"/>
          </a:xfrm>
          <a:prstGeom prst="ellipse">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Calibri"/>
              </a:rPr>
              <a:t>1</a:t>
            </a:r>
          </a:p>
        </p:txBody>
      </p:sp>
      <p:sp>
        <p:nvSpPr>
          <p:cNvPr id="9" name="Rectangle 8"/>
          <p:cNvSpPr/>
          <p:nvPr/>
        </p:nvSpPr>
        <p:spPr>
          <a:xfrm>
            <a:off x="1280160" y="1554480"/>
            <a:ext cx="10360152" cy="658368"/>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tIns="54864" wrap="square"/>
          <a:lstStyle/>
          <a:p>
            <a:pPr algn="l"/>
            <a:r>
              <a:rPr sz="1200" b="1">
                <a:solidFill>
                  <a:srgbClr val="1F4E79"/>
                </a:solidFill>
                <a:latin typeface="Calibri"/>
              </a:rPr>
              <a:t>WRITE THE PROMPT</a:t>
            </a:r>
          </a:p>
          <a:p>
            <a:pPr algn="l">
              <a:spcBef>
                <a:spcPts val="200"/>
              </a:spcBef>
            </a:pPr>
            <a:r>
              <a:rPr sz="1050" b="0">
                <a:solidFill>
                  <a:srgbClr val="222222"/>
                </a:solidFill>
                <a:latin typeface="Calibri"/>
              </a:rPr>
              <a:t>Create prompts/&lt;new_task&gt;.md. Define the loop: memory check-in (mandatory), the steps, the dedup rule, the output contract.</a:t>
            </a:r>
          </a:p>
        </p:txBody>
      </p:sp>
      <p:sp>
        <p:nvSpPr>
          <p:cNvPr id="10" name="Oval 9"/>
          <p:cNvSpPr/>
          <p:nvPr/>
        </p:nvSpPr>
        <p:spPr>
          <a:xfrm>
            <a:off x="548640" y="2267712"/>
            <a:ext cx="658368" cy="658368"/>
          </a:xfrm>
          <a:prstGeom prst="ellipse">
            <a:avLst/>
          </a:prstGeom>
          <a:solidFill>
            <a:srgbClr val="2E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Calibri"/>
              </a:rPr>
              <a:t>2</a:t>
            </a:r>
          </a:p>
        </p:txBody>
      </p:sp>
      <p:sp>
        <p:nvSpPr>
          <p:cNvPr id="11" name="Rectangle 10"/>
          <p:cNvSpPr/>
          <p:nvPr/>
        </p:nvSpPr>
        <p:spPr>
          <a:xfrm>
            <a:off x="1280160" y="2267712"/>
            <a:ext cx="10360152" cy="658368"/>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tIns="54864" wrap="square"/>
          <a:lstStyle/>
          <a:p>
            <a:pPr algn="l"/>
            <a:r>
              <a:rPr sz="1200" b="1">
                <a:solidFill>
                  <a:srgbClr val="2E8A8A"/>
                </a:solidFill>
                <a:latin typeface="Calibri"/>
              </a:rPr>
              <a:t>WIRE agent.py</a:t>
            </a:r>
          </a:p>
          <a:p>
            <a:pPr algn="l">
              <a:spcBef>
                <a:spcPts val="200"/>
              </a:spcBef>
            </a:pPr>
            <a:r>
              <a:rPr sz="1050" b="0">
                <a:solidFill>
                  <a:srgbClr val="222222"/>
                </a:solidFill>
                <a:latin typeface="Calibri"/>
              </a:rPr>
              <a:t>Add task name to TASKS set. Add one-line kickoff message to TASK_KICKOFF dict. No other Python changes if existing tools cover the I/O.</a:t>
            </a:r>
          </a:p>
        </p:txBody>
      </p:sp>
      <p:sp>
        <p:nvSpPr>
          <p:cNvPr id="12" name="Oval 11"/>
          <p:cNvSpPr/>
          <p:nvPr/>
        </p:nvSpPr>
        <p:spPr>
          <a:xfrm>
            <a:off x="548640" y="2980944"/>
            <a:ext cx="658368" cy="658368"/>
          </a:xfrm>
          <a:prstGeom prst="ellipse">
            <a:avLst/>
          </a:prstGeom>
          <a:solidFill>
            <a:srgbClr val="E078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Calibri"/>
              </a:rPr>
              <a:t>3</a:t>
            </a:r>
          </a:p>
        </p:txBody>
      </p:sp>
      <p:sp>
        <p:nvSpPr>
          <p:cNvPr id="13" name="Rectangle 12"/>
          <p:cNvSpPr/>
          <p:nvPr/>
        </p:nvSpPr>
        <p:spPr>
          <a:xfrm>
            <a:off x="1280160" y="2980944"/>
            <a:ext cx="10360152" cy="658368"/>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tIns="54864" wrap="square"/>
          <a:lstStyle/>
          <a:p>
            <a:pPr algn="l"/>
            <a:r>
              <a:rPr sz="1200" b="1">
                <a:solidFill>
                  <a:srgbClr val="E07856"/>
                </a:solidFill>
                <a:latin typeface="Calibri"/>
              </a:rPr>
              <a:t>ADD A TOOL IF NEEDED</a:t>
            </a:r>
          </a:p>
          <a:p>
            <a:pPr algn="l">
              <a:spcBef>
                <a:spcPts val="200"/>
              </a:spcBef>
            </a:pPr>
            <a:r>
              <a:rPr sz="1050" b="0">
                <a:solidFill>
                  <a:srgbClr val="222222"/>
                </a:solidFill>
                <a:latin typeface="Calibri"/>
              </a:rPr>
              <a:t>If the task needs new I/O — add a tool (see slide 25). Otherwise skip.</a:t>
            </a:r>
          </a:p>
        </p:txBody>
      </p:sp>
      <p:sp>
        <p:nvSpPr>
          <p:cNvPr id="14" name="Oval 13"/>
          <p:cNvSpPr/>
          <p:nvPr/>
        </p:nvSpPr>
        <p:spPr>
          <a:xfrm>
            <a:off x="548640" y="3694176"/>
            <a:ext cx="658368" cy="658368"/>
          </a:xfrm>
          <a:prstGeom prst="ellipse">
            <a:avLst/>
          </a:prstGeom>
          <a:solidFill>
            <a:srgbClr val="4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Calibri"/>
              </a:rPr>
              <a:t>4</a:t>
            </a:r>
          </a:p>
        </p:txBody>
      </p:sp>
      <p:sp>
        <p:nvSpPr>
          <p:cNvPr id="15" name="Rectangle 14"/>
          <p:cNvSpPr/>
          <p:nvPr/>
        </p:nvSpPr>
        <p:spPr>
          <a:xfrm>
            <a:off x="1280160" y="3694176"/>
            <a:ext cx="10360152" cy="658368"/>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tIns="54864" wrap="square"/>
          <a:lstStyle/>
          <a:p>
            <a:pPr algn="l"/>
            <a:r>
              <a:rPr sz="1200" b="1">
                <a:solidFill>
                  <a:srgbClr val="4A7A4A"/>
                </a:solidFill>
                <a:latin typeface="Calibri"/>
              </a:rPr>
              <a:t>AUTHOR THE WORKFLOW YAML</a:t>
            </a:r>
          </a:p>
          <a:p>
            <a:pPr algn="l">
              <a:spcBef>
                <a:spcPts val="200"/>
              </a:spcBef>
            </a:pPr>
            <a:r>
              <a:rPr sz="1050" b="0">
                <a:solidFill>
                  <a:srgbClr val="222222"/>
                </a:solidFill>
                <a:latin typeface="Calibri"/>
              </a:rPr>
              <a:t>Copy an existing file in .github/workflows/. Update name, cron, env: secrets, --task flag, post-run commit pattern.</a:t>
            </a:r>
          </a:p>
        </p:txBody>
      </p:sp>
      <p:sp>
        <p:nvSpPr>
          <p:cNvPr id="16" name="Oval 15"/>
          <p:cNvSpPr/>
          <p:nvPr/>
        </p:nvSpPr>
        <p:spPr>
          <a:xfrm>
            <a:off x="548640" y="4407408"/>
            <a:ext cx="658368" cy="658368"/>
          </a:xfrm>
          <a:prstGeom prst="ellipse">
            <a:avLst/>
          </a:prstGeom>
          <a:solidFill>
            <a:srgbClr val="C99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Calibri"/>
              </a:rPr>
              <a:t>5</a:t>
            </a:r>
          </a:p>
        </p:txBody>
      </p:sp>
      <p:sp>
        <p:nvSpPr>
          <p:cNvPr id="17" name="Rectangle 16"/>
          <p:cNvSpPr/>
          <p:nvPr/>
        </p:nvSpPr>
        <p:spPr>
          <a:xfrm>
            <a:off x="1280160" y="4407408"/>
            <a:ext cx="10360152" cy="658368"/>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tIns="54864" wrap="square"/>
          <a:lstStyle/>
          <a:p>
            <a:pPr algn="l"/>
            <a:r>
              <a:rPr sz="1200" b="1">
                <a:solidFill>
                  <a:srgbClr val="C9962B"/>
                </a:solidFill>
                <a:latin typeface="Calibri"/>
              </a:rPr>
              <a:t>ADD SECRETS</a:t>
            </a:r>
          </a:p>
          <a:p>
            <a:pPr algn="l">
              <a:spcBef>
                <a:spcPts val="200"/>
              </a:spcBef>
            </a:pPr>
            <a:r>
              <a:rPr sz="1050" b="0">
                <a:solidFill>
                  <a:srgbClr val="222222"/>
                </a:solidFill>
                <a:latin typeface="Calibri"/>
              </a:rPr>
              <a:t>If the task needs new env vars, add them to GitHub Actions secrets AND to the runner's local .env.</a:t>
            </a:r>
          </a:p>
        </p:txBody>
      </p:sp>
      <p:sp>
        <p:nvSpPr>
          <p:cNvPr id="18" name="Oval 17"/>
          <p:cNvSpPr/>
          <p:nvPr/>
        </p:nvSpPr>
        <p:spPr>
          <a:xfrm>
            <a:off x="548640" y="5120640"/>
            <a:ext cx="658368" cy="658368"/>
          </a:xfrm>
          <a:prstGeom prst="ellipse">
            <a:avLst/>
          </a:prstGeom>
          <a:solidFill>
            <a:srgbClr val="6A4C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Calibri"/>
              </a:rPr>
              <a:t>6</a:t>
            </a:r>
          </a:p>
        </p:txBody>
      </p:sp>
      <p:sp>
        <p:nvSpPr>
          <p:cNvPr id="19" name="Rectangle 18"/>
          <p:cNvSpPr/>
          <p:nvPr/>
        </p:nvSpPr>
        <p:spPr>
          <a:xfrm>
            <a:off x="1280160" y="5120640"/>
            <a:ext cx="10360152" cy="658368"/>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tIns="54864" wrap="square"/>
          <a:lstStyle/>
          <a:p>
            <a:pPr algn="l"/>
            <a:r>
              <a:rPr sz="1200" b="1">
                <a:solidFill>
                  <a:srgbClr val="6A4C93"/>
                </a:solidFill>
                <a:latin typeface="Calibri"/>
              </a:rPr>
              <a:t>DRY-RUN FIRST</a:t>
            </a:r>
          </a:p>
          <a:p>
            <a:pPr algn="l">
              <a:spcBef>
                <a:spcPts val="200"/>
              </a:spcBef>
            </a:pPr>
            <a:r>
              <a:rPr sz="1050" b="0">
                <a:solidFill>
                  <a:srgbClr val="222222"/>
                </a:solidFill>
                <a:latin typeface="Calibri"/>
              </a:rPr>
              <a:t>Trigger via workflow_dispatch with dry_run=true. Verify the loop logs to memory but does not mutate. Inspect activity_logs.</a:t>
            </a:r>
          </a:p>
        </p:txBody>
      </p:sp>
      <p:sp>
        <p:nvSpPr>
          <p:cNvPr id="20" name="Oval 19"/>
          <p:cNvSpPr/>
          <p:nvPr/>
        </p:nvSpPr>
        <p:spPr>
          <a:xfrm>
            <a:off x="548640" y="5833872"/>
            <a:ext cx="658368" cy="658368"/>
          </a:xfrm>
          <a:prstGeom prst="ellipse">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Calibri"/>
              </a:rPr>
              <a:t>7</a:t>
            </a:r>
          </a:p>
        </p:txBody>
      </p:sp>
      <p:sp>
        <p:nvSpPr>
          <p:cNvPr id="21" name="Rectangle 20"/>
          <p:cNvSpPr/>
          <p:nvPr/>
        </p:nvSpPr>
        <p:spPr>
          <a:xfrm>
            <a:off x="1280160" y="5833872"/>
            <a:ext cx="10360152" cy="658368"/>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tIns="54864" wrap="square"/>
          <a:lstStyle/>
          <a:p>
            <a:pPr algn="l"/>
            <a:r>
              <a:rPr sz="1200" b="1">
                <a:solidFill>
                  <a:srgbClr val="1F4E79"/>
                </a:solidFill>
                <a:latin typeface="Calibri"/>
              </a:rPr>
              <a:t>GO LIVE + MONITOR</a:t>
            </a:r>
          </a:p>
          <a:p>
            <a:pPr algn="l">
              <a:spcBef>
                <a:spcPts val="200"/>
              </a:spcBef>
            </a:pPr>
            <a:r>
              <a:rPr sz="1050" b="0">
                <a:solidFill>
                  <a:srgbClr val="222222"/>
                </a:solidFill>
                <a:latin typeface="Calibri"/>
              </a:rPr>
              <a:t>Switch to live. Tail logs from the runner. Confirm the post-run commit landed on main with the new state.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565392"/>
            <a:ext cx="11277295" cy="9000"/>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601968"/>
            <a:ext cx="7315200" cy="228600"/>
          </a:xfrm>
          <a:prstGeom prst="rect">
            <a:avLst/>
          </a:prstGeom>
          <a:noFill/>
        </p:spPr>
        <p:txBody>
          <a:bodyPr wrap="none">
            <a:spAutoFit/>
          </a:bodyPr>
          <a:lstStyle/>
          <a:p>
            <a:pPr algn="l"/>
            <a:r>
              <a:rPr sz="900" b="0">
                <a:solidFill>
                  <a:srgbClr val="6B7785"/>
                </a:solidFill>
                <a:latin typeface="Calibri"/>
              </a:rPr>
              <a:t>NAPCO Nucleus  |  Mohammad Kamrul Hasan  |  Adaptive Enterprise Limited</a:t>
            </a:r>
          </a:p>
        </p:txBody>
      </p:sp>
      <p:sp>
        <p:nvSpPr>
          <p:cNvPr id="5" name="TextBox 4"/>
          <p:cNvSpPr txBox="1"/>
          <p:nvPr/>
        </p:nvSpPr>
        <p:spPr>
          <a:xfrm>
            <a:off x="10515600" y="6601968"/>
            <a:ext cx="1280160" cy="228600"/>
          </a:xfrm>
          <a:prstGeom prst="rect">
            <a:avLst/>
          </a:prstGeom>
          <a:noFill/>
        </p:spPr>
        <p:txBody>
          <a:bodyPr wrap="none">
            <a:spAutoFit/>
          </a:bodyPr>
          <a:lstStyle/>
          <a:p>
            <a:pPr algn="r"/>
            <a:r>
              <a:rPr sz="900" b="0">
                <a:solidFill>
                  <a:srgbClr val="6B7785"/>
                </a:solidFill>
                <a:latin typeface="Calibri"/>
              </a:rPr>
              <a:t>27 / 31</a:t>
            </a:r>
          </a:p>
        </p:txBody>
      </p:sp>
      <p:sp>
        <p:nvSpPr>
          <p:cNvPr id="6" name="TextBox 5"/>
          <p:cNvSpPr txBox="1"/>
          <p:nvPr/>
        </p:nvSpPr>
        <p:spPr>
          <a:xfrm>
            <a:off x="457200" y="274320"/>
            <a:ext cx="11277295" cy="640080"/>
          </a:xfrm>
          <a:prstGeom prst="rect">
            <a:avLst/>
          </a:prstGeom>
          <a:noFill/>
        </p:spPr>
        <p:txBody>
          <a:bodyPr wrap="none">
            <a:spAutoFit/>
          </a:bodyPr>
          <a:lstStyle/>
          <a:p>
            <a:pPr algn="l"/>
            <a:r>
              <a:rPr sz="2800" b="1">
                <a:solidFill>
                  <a:srgbClr val="1F4E79"/>
                </a:solidFill>
                <a:latin typeface="Calibri"/>
              </a:rPr>
              <a:t>07 · Adding a New MCP Tool</a:t>
            </a:r>
          </a:p>
        </p:txBody>
      </p:sp>
      <p:sp>
        <p:nvSpPr>
          <p:cNvPr id="7" name="TextBox 6"/>
          <p:cNvSpPr txBox="1"/>
          <p:nvPr/>
        </p:nvSpPr>
        <p:spPr>
          <a:xfrm>
            <a:off x="457200" y="868680"/>
            <a:ext cx="11277295" cy="365760"/>
          </a:xfrm>
          <a:prstGeom prst="rect">
            <a:avLst/>
          </a:prstGeom>
          <a:noFill/>
        </p:spPr>
        <p:txBody>
          <a:bodyPr wrap="none">
            <a:spAutoFit/>
          </a:bodyPr>
          <a:lstStyle/>
          <a:p>
            <a:pPr algn="l"/>
            <a:r>
              <a:rPr sz="1400" b="0">
                <a:solidFill>
                  <a:srgbClr val="6B7785"/>
                </a:solidFill>
                <a:latin typeface="Calibri"/>
              </a:rPr>
              <a:t>Six-step recipe — usually under 30 minutes</a:t>
            </a:r>
          </a:p>
        </p:txBody>
      </p:sp>
      <p:sp>
        <p:nvSpPr>
          <p:cNvPr id="8" name="Rectangle 7"/>
          <p:cNvSpPr/>
          <p:nvPr/>
        </p:nvSpPr>
        <p:spPr>
          <a:xfrm>
            <a:off x="548640" y="1554480"/>
            <a:ext cx="5349240" cy="329184"/>
          </a:xfrm>
          <a:prstGeom prst="rect">
            <a:avLst/>
          </a:prstGeom>
          <a:solidFill>
            <a:srgbClr val="6A4C93"/>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200" b="1">
                <a:solidFill>
                  <a:srgbClr val="FFFFFF"/>
                </a:solidFill>
                <a:latin typeface="Calibri"/>
              </a:rPr>
              <a:t>STEPS</a:t>
            </a:r>
          </a:p>
        </p:txBody>
      </p:sp>
      <p:sp>
        <p:nvSpPr>
          <p:cNvPr id="9" name="Rectangle 8"/>
          <p:cNvSpPr/>
          <p:nvPr/>
        </p:nvSpPr>
        <p:spPr>
          <a:xfrm>
            <a:off x="548640" y="1883664"/>
            <a:ext cx="5349240" cy="4425696"/>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rIns="164592" tIns="109728" bIns="109728" wrap="square"/>
          <a:lstStyle/>
          <a:p>
            <a:pPr algn="l"/>
            <a:r>
              <a:rPr sz="1300" b="1">
                <a:solidFill>
                  <a:srgbClr val="1F4E79"/>
                </a:solidFill>
                <a:latin typeface="Calibri"/>
              </a:rPr>
              <a:t>• </a:t>
            </a:r>
            <a:r>
              <a:rPr sz="1300" b="1">
                <a:solidFill>
                  <a:srgbClr val="1F4E79"/>
                </a:solidFill>
                <a:latin typeface="Calibri"/>
              </a:rPr>
              <a:t>1. </a:t>
            </a:r>
            <a:r>
              <a:rPr sz="1300">
                <a:solidFill>
                  <a:srgbClr val="222222"/>
                </a:solidFill>
                <a:latin typeface="Calibri"/>
              </a:rPr>
              <a:t>Pick the right module (memory / requirements / tests / files / git / report)</a:t>
            </a:r>
          </a:p>
          <a:p>
            <a:pPr algn="l">
              <a:spcBef>
                <a:spcPts val="600"/>
              </a:spcBef>
            </a:pPr>
            <a:r>
              <a:rPr sz="1300" b="1">
                <a:solidFill>
                  <a:srgbClr val="1F4E79"/>
                </a:solidFill>
                <a:latin typeface="Calibri"/>
              </a:rPr>
              <a:t>• </a:t>
            </a:r>
            <a:r>
              <a:rPr sz="1300" b="1">
                <a:solidFill>
                  <a:srgbClr val="1F4E79"/>
                </a:solidFill>
                <a:latin typeface="Calibri"/>
              </a:rPr>
              <a:t>2. </a:t>
            </a:r>
            <a:r>
              <a:rPr sz="1300">
                <a:solidFill>
                  <a:srgbClr val="222222"/>
                </a:solidFill>
                <a:latin typeface="Calibri"/>
              </a:rPr>
              <a:t>Write the function — @tool decorator, lazy imports, try/except, log_activity</a:t>
            </a:r>
          </a:p>
          <a:p>
            <a:pPr algn="l">
              <a:spcBef>
                <a:spcPts val="600"/>
              </a:spcBef>
            </a:pPr>
            <a:r>
              <a:rPr sz="1300" b="1">
                <a:solidFill>
                  <a:srgbClr val="1F4E79"/>
                </a:solidFill>
                <a:latin typeface="Calibri"/>
              </a:rPr>
              <a:t>• </a:t>
            </a:r>
            <a:r>
              <a:rPr sz="1300" b="1">
                <a:solidFill>
                  <a:srgbClr val="1F4E79"/>
                </a:solidFill>
                <a:latin typeface="Calibri"/>
              </a:rPr>
              <a:t>3. </a:t>
            </a:r>
            <a:r>
              <a:rPr sz="1300">
                <a:solidFill>
                  <a:srgbClr val="222222"/>
                </a:solidFill>
                <a:latin typeface="Calibri"/>
              </a:rPr>
              <a:t>Return the SDK envelope via _text() helper from tools/_shared.py</a:t>
            </a:r>
          </a:p>
          <a:p>
            <a:pPr algn="l">
              <a:spcBef>
                <a:spcPts val="600"/>
              </a:spcBef>
            </a:pPr>
            <a:r>
              <a:rPr sz="1300" b="1">
                <a:solidFill>
                  <a:srgbClr val="1F4E79"/>
                </a:solidFill>
                <a:latin typeface="Calibri"/>
              </a:rPr>
              <a:t>• </a:t>
            </a:r>
            <a:r>
              <a:rPr sz="1300" b="1">
                <a:solidFill>
                  <a:srgbClr val="1F4E79"/>
                </a:solidFill>
                <a:latin typeface="Calibri"/>
              </a:rPr>
              <a:t>4. </a:t>
            </a:r>
            <a:r>
              <a:rPr sz="1300">
                <a:solidFill>
                  <a:srgbClr val="222222"/>
                </a:solidFill>
                <a:latin typeface="Calibri"/>
              </a:rPr>
              <a:t>Append to TOOLS + TOOL_NAMES at the bottom of the module</a:t>
            </a:r>
          </a:p>
          <a:p>
            <a:pPr algn="l">
              <a:spcBef>
                <a:spcPts val="600"/>
              </a:spcBef>
            </a:pPr>
            <a:r>
              <a:rPr sz="1300" b="1">
                <a:solidFill>
                  <a:srgbClr val="1F4E79"/>
                </a:solidFill>
                <a:latin typeface="Calibri"/>
              </a:rPr>
              <a:t>• </a:t>
            </a:r>
            <a:r>
              <a:rPr sz="1300" b="1">
                <a:solidFill>
                  <a:srgbClr val="1F4E79"/>
                </a:solidFill>
                <a:latin typeface="Calibri"/>
              </a:rPr>
              <a:t>5. </a:t>
            </a:r>
            <a:r>
              <a:rPr sz="1300">
                <a:solidFill>
                  <a:srgbClr val="222222"/>
                </a:solidFill>
                <a:latin typeface="Calibri"/>
              </a:rPr>
              <a:t>Update the prompt that calls the tool — Claude needs to know it exists</a:t>
            </a:r>
          </a:p>
          <a:p>
            <a:pPr algn="l">
              <a:spcBef>
                <a:spcPts val="600"/>
              </a:spcBef>
            </a:pPr>
            <a:r>
              <a:rPr sz="1300" b="1">
                <a:solidFill>
                  <a:srgbClr val="1F4E79"/>
                </a:solidFill>
                <a:latin typeface="Calibri"/>
              </a:rPr>
              <a:t>• </a:t>
            </a:r>
            <a:r>
              <a:rPr sz="1300" b="1">
                <a:solidFill>
                  <a:srgbClr val="1F4E79"/>
                </a:solidFill>
                <a:latin typeface="Calibri"/>
              </a:rPr>
              <a:t>6. </a:t>
            </a:r>
            <a:r>
              <a:rPr sz="1300">
                <a:solidFill>
                  <a:srgbClr val="222222"/>
                </a:solidFill>
                <a:latin typeface="Calibri"/>
              </a:rPr>
              <a:t>Smoke-test locally with --dry-run, watch the streamed text</a:t>
            </a:r>
          </a:p>
        </p:txBody>
      </p:sp>
      <p:sp>
        <p:nvSpPr>
          <p:cNvPr id="10" name="Rectangle 9"/>
          <p:cNvSpPr/>
          <p:nvPr/>
        </p:nvSpPr>
        <p:spPr>
          <a:xfrm>
            <a:off x="6080760" y="1554480"/>
            <a:ext cx="5559552" cy="4754880"/>
          </a:xfrm>
          <a:prstGeom prst="rect">
            <a:avLst/>
          </a:prstGeom>
          <a:solidFill>
            <a:srgbClr val="1E2A38"/>
          </a:solidFill>
          <a:ln>
            <a:noFill/>
          </a:ln>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r>
              <a:rPr sz="1000">
                <a:solidFill>
                  <a:srgbClr val="FFFFFF"/>
                </a:solidFill>
                <a:latin typeface="Consolas"/>
              </a:rPr>
              <a:t>from claude_agent_sdk import tool</a:t>
            </a:r>
          </a:p>
          <a:p>
            <a:r>
              <a:rPr sz="1000">
                <a:solidFill>
                  <a:srgbClr val="FFFFFF"/>
                </a:solidFill>
                <a:latin typeface="Consolas"/>
              </a:rPr>
              <a:t>import memory</a:t>
            </a:r>
          </a:p>
          <a:p>
            <a:r>
              <a:rPr sz="1000">
                <a:solidFill>
                  <a:srgbClr val="FFFFFF"/>
                </a:solidFill>
                <a:latin typeface="Consolas"/>
              </a:rPr>
              <a:t>from tools._shared import _text</a:t>
            </a:r>
          </a:p>
          <a:p>
            <a:r>
              <a:rPr sz="1000">
                <a:solidFill>
                  <a:srgbClr val="FFFFFF"/>
                </a:solidFill>
                <a:latin typeface="Consolas"/>
              </a:rPr>
              <a:t> </a:t>
            </a:r>
          </a:p>
          <a:p>
            <a:r>
              <a:rPr sz="1000">
                <a:solidFill>
                  <a:srgbClr val="FFFFFF"/>
                </a:solidFill>
                <a:latin typeface="Consolas"/>
              </a:rPr>
              <a:t>@tool(</a:t>
            </a:r>
          </a:p>
          <a:p>
            <a:r>
              <a:rPr sz="1000">
                <a:solidFill>
                  <a:srgbClr val="FFFFFF"/>
                </a:solidFill>
                <a:latin typeface="Consolas"/>
              </a:rPr>
              <a:t>    "do_thing",</a:t>
            </a:r>
          </a:p>
          <a:p>
            <a:r>
              <a:rPr sz="1000">
                <a:solidFill>
                  <a:srgbClr val="FFFFFF"/>
                </a:solidFill>
                <a:latin typeface="Consolas"/>
              </a:rPr>
              <a:t>    "What it does, one sentence Claude can act on.",</a:t>
            </a:r>
          </a:p>
          <a:p>
            <a:r>
              <a:rPr sz="1000">
                <a:solidFill>
                  <a:srgbClr val="FFFFFF"/>
                </a:solidFill>
                <a:latin typeface="Consolas"/>
              </a:rPr>
              <a:t>    {"arg1": str, "arg2": int},</a:t>
            </a:r>
          </a:p>
          <a:p>
            <a:r>
              <a:rPr sz="1000">
                <a:solidFill>
                  <a:srgbClr val="FFFFFF"/>
                </a:solidFill>
                <a:latin typeface="Consolas"/>
              </a:rPr>
              <a:t>)</a:t>
            </a:r>
          </a:p>
          <a:p>
            <a:r>
              <a:rPr sz="1000">
                <a:solidFill>
                  <a:srgbClr val="FFFFFF"/>
                </a:solidFill>
                <a:latin typeface="Consolas"/>
              </a:rPr>
              <a:t>async def do_thing_tool(args):</a:t>
            </a:r>
          </a:p>
          <a:p>
            <a:r>
              <a:rPr sz="1000">
                <a:solidFill>
                  <a:srgbClr val="FFFFFF"/>
                </a:solidFill>
                <a:latin typeface="Consolas"/>
              </a:rPr>
              <a:t>    if os.environ.get("NAPCO_NUCLEUS_DRY_RUN") == "1":</a:t>
            </a:r>
          </a:p>
          <a:p>
            <a:r>
              <a:rPr sz="1000">
                <a:solidFill>
                  <a:srgbClr val="FFFFFF"/>
                </a:solidFill>
                <a:latin typeface="Consolas"/>
              </a:rPr>
              <a:t>        return _text({"dry_run": True})</a:t>
            </a:r>
          </a:p>
          <a:p>
            <a:r>
              <a:rPr sz="1000">
                <a:solidFill>
                  <a:srgbClr val="FFFFFF"/>
                </a:solidFill>
                <a:latin typeface="Consolas"/>
              </a:rPr>
              <a:t>    try:</a:t>
            </a:r>
          </a:p>
          <a:p>
            <a:r>
              <a:rPr sz="1000">
                <a:solidFill>
                  <a:srgbClr val="FFFFFF"/>
                </a:solidFill>
                <a:latin typeface="Consolas"/>
              </a:rPr>
              <a:t>        result = backend.run(</a:t>
            </a:r>
          </a:p>
          <a:p>
            <a:r>
              <a:rPr sz="1000">
                <a:solidFill>
                  <a:srgbClr val="FFFFFF"/>
                </a:solidFill>
                <a:latin typeface="Consolas"/>
              </a:rPr>
              <a:t>            args["arg1"], args["arg2"])</a:t>
            </a:r>
          </a:p>
          <a:p>
            <a:r>
              <a:rPr sz="1000">
                <a:solidFill>
                  <a:srgbClr val="FFFFFF"/>
                </a:solidFill>
                <a:latin typeface="Consolas"/>
              </a:rPr>
              <a:t>    except Exception as e:</a:t>
            </a:r>
          </a:p>
          <a:p>
            <a:r>
              <a:rPr sz="1000">
                <a:solidFill>
                  <a:srgbClr val="FFFFFF"/>
                </a:solidFill>
                <a:latin typeface="Consolas"/>
              </a:rPr>
              <a:t>        memory.log_activity(</a:t>
            </a:r>
          </a:p>
          <a:p>
            <a:r>
              <a:rPr sz="1000">
                <a:solidFill>
                  <a:srgbClr val="FFFFFF"/>
                </a:solidFill>
                <a:latin typeface="Consolas"/>
              </a:rPr>
              <a:t>            task_name="do_thing",</a:t>
            </a:r>
          </a:p>
          <a:p>
            <a:r>
              <a:rPr sz="1000">
                <a:solidFill>
                  <a:srgbClr val="FFFFFF"/>
                </a:solidFill>
                <a:latin typeface="Consolas"/>
              </a:rPr>
              <a:t>            result=f"error:{type(e).__name__}")</a:t>
            </a:r>
          </a:p>
          <a:p>
            <a:r>
              <a:rPr sz="1000">
                <a:solidFill>
                  <a:srgbClr val="FFFFFF"/>
                </a:solidFill>
                <a:latin typeface="Consolas"/>
              </a:rPr>
              <a:t>        return _text({"error": str(e)})</a:t>
            </a:r>
          </a:p>
          <a:p>
            <a:r>
              <a:rPr sz="1000">
                <a:solidFill>
                  <a:srgbClr val="FFFFFF"/>
                </a:solidFill>
                <a:latin typeface="Consolas"/>
              </a:rPr>
              <a:t>    memory.log_activity(</a:t>
            </a:r>
          </a:p>
          <a:p>
            <a:r>
              <a:rPr sz="1000">
                <a:solidFill>
                  <a:srgbClr val="FFFFFF"/>
                </a:solidFill>
                <a:latin typeface="Consolas"/>
              </a:rPr>
              <a:t>        task_name="do_thing",</a:t>
            </a:r>
          </a:p>
          <a:p>
            <a:r>
              <a:rPr sz="1000">
                <a:solidFill>
                  <a:srgbClr val="FFFFFF"/>
                </a:solidFill>
                <a:latin typeface="Consolas"/>
              </a:rPr>
              <a:t>        result=f"ok:{result.summary}")</a:t>
            </a:r>
          </a:p>
          <a:p>
            <a:r>
              <a:rPr sz="1000">
                <a:solidFill>
                  <a:srgbClr val="FFFFFF"/>
                </a:solidFill>
                <a:latin typeface="Consolas"/>
              </a:rPr>
              <a:t>    return _text(result.to_dict())</a:t>
            </a:r>
          </a:p>
          <a:p>
            <a:r>
              <a:rPr sz="1000">
                <a:solidFill>
                  <a:srgbClr val="FFFFFF"/>
                </a:solidFill>
                <a:latin typeface="Consolas"/>
              </a:rPr>
              <a:t> </a:t>
            </a:r>
          </a:p>
          <a:p>
            <a:r>
              <a:rPr sz="1000">
                <a:solidFill>
                  <a:srgbClr val="FFFFFF"/>
                </a:solidFill>
                <a:latin typeface="Consolas"/>
              </a:rPr>
              <a:t>TOOLS = [do_thing_tool]</a:t>
            </a:r>
          </a:p>
          <a:p>
            <a:r>
              <a:rPr sz="1000">
                <a:solidFill>
                  <a:srgbClr val="FFFFFF"/>
                </a:solidFill>
                <a:latin typeface="Consolas"/>
              </a:rPr>
              <a:t>TOOL_NAMES = ["do_thing"]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565392"/>
            <a:ext cx="11277295" cy="9000"/>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601968"/>
            <a:ext cx="7315200" cy="228600"/>
          </a:xfrm>
          <a:prstGeom prst="rect">
            <a:avLst/>
          </a:prstGeom>
          <a:noFill/>
        </p:spPr>
        <p:txBody>
          <a:bodyPr wrap="none">
            <a:spAutoFit/>
          </a:bodyPr>
          <a:lstStyle/>
          <a:p>
            <a:pPr algn="l"/>
            <a:r>
              <a:rPr sz="900" b="0">
                <a:solidFill>
                  <a:srgbClr val="6B7785"/>
                </a:solidFill>
                <a:latin typeface="Calibri"/>
              </a:rPr>
              <a:t>NAPCO Nucleus  |  Mohammad Kamrul Hasan  |  Adaptive Enterprise Limited</a:t>
            </a:r>
          </a:p>
        </p:txBody>
      </p:sp>
      <p:sp>
        <p:nvSpPr>
          <p:cNvPr id="5" name="TextBox 4"/>
          <p:cNvSpPr txBox="1"/>
          <p:nvPr/>
        </p:nvSpPr>
        <p:spPr>
          <a:xfrm>
            <a:off x="10515600" y="6601968"/>
            <a:ext cx="1280160" cy="228600"/>
          </a:xfrm>
          <a:prstGeom prst="rect">
            <a:avLst/>
          </a:prstGeom>
          <a:noFill/>
        </p:spPr>
        <p:txBody>
          <a:bodyPr wrap="none">
            <a:spAutoFit/>
          </a:bodyPr>
          <a:lstStyle/>
          <a:p>
            <a:pPr algn="r"/>
            <a:r>
              <a:rPr sz="900" b="0">
                <a:solidFill>
                  <a:srgbClr val="6B7785"/>
                </a:solidFill>
                <a:latin typeface="Calibri"/>
              </a:rPr>
              <a:t>28 / 31</a:t>
            </a:r>
          </a:p>
        </p:txBody>
      </p:sp>
      <p:sp>
        <p:nvSpPr>
          <p:cNvPr id="6" name="TextBox 5"/>
          <p:cNvSpPr txBox="1"/>
          <p:nvPr/>
        </p:nvSpPr>
        <p:spPr>
          <a:xfrm>
            <a:off x="457200" y="274320"/>
            <a:ext cx="11277295" cy="640080"/>
          </a:xfrm>
          <a:prstGeom prst="rect">
            <a:avLst/>
          </a:prstGeom>
          <a:noFill/>
        </p:spPr>
        <p:txBody>
          <a:bodyPr wrap="none">
            <a:spAutoFit/>
          </a:bodyPr>
          <a:lstStyle/>
          <a:p>
            <a:pPr algn="l"/>
            <a:r>
              <a:rPr sz="2800" b="1">
                <a:solidFill>
                  <a:srgbClr val="1F4E79"/>
                </a:solidFill>
                <a:latin typeface="Calibri"/>
              </a:rPr>
              <a:t>08 · Benefits</a:t>
            </a:r>
          </a:p>
        </p:txBody>
      </p:sp>
      <p:sp>
        <p:nvSpPr>
          <p:cNvPr id="7" name="TextBox 6"/>
          <p:cNvSpPr txBox="1"/>
          <p:nvPr/>
        </p:nvSpPr>
        <p:spPr>
          <a:xfrm>
            <a:off x="457200" y="868680"/>
            <a:ext cx="11277295" cy="365760"/>
          </a:xfrm>
          <a:prstGeom prst="rect">
            <a:avLst/>
          </a:prstGeom>
          <a:noFill/>
        </p:spPr>
        <p:txBody>
          <a:bodyPr wrap="none">
            <a:spAutoFit/>
          </a:bodyPr>
          <a:lstStyle/>
          <a:p>
            <a:pPr algn="l"/>
            <a:r>
              <a:rPr sz="1400" b="0">
                <a:solidFill>
                  <a:srgbClr val="6B7785"/>
                </a:solidFill>
                <a:latin typeface="Calibri"/>
              </a:rPr>
              <a:t>What this architecture buys</a:t>
            </a:r>
          </a:p>
        </p:txBody>
      </p:sp>
      <p:sp>
        <p:nvSpPr>
          <p:cNvPr id="8" name="Rectangle 7"/>
          <p:cNvSpPr/>
          <p:nvPr/>
        </p:nvSpPr>
        <p:spPr>
          <a:xfrm>
            <a:off x="548640" y="1554480"/>
            <a:ext cx="182880"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554480"/>
            <a:ext cx="5303520" cy="914400"/>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37160" tIns="91440" rIns="137160" wrap="square"/>
          <a:lstStyle/>
          <a:p>
            <a:pPr algn="l"/>
            <a:r>
              <a:rPr sz="1200" b="1">
                <a:solidFill>
                  <a:srgbClr val="1F4E79"/>
                </a:solidFill>
                <a:latin typeface="Calibri"/>
              </a:rPr>
              <a:t>Behavior-via-prompt</a:t>
            </a:r>
          </a:p>
          <a:p>
            <a:pPr algn="l">
              <a:spcBef>
                <a:spcPts val="200"/>
              </a:spcBef>
            </a:pPr>
            <a:r>
              <a:rPr sz="1000" b="0">
                <a:solidFill>
                  <a:srgbClr val="222222"/>
                </a:solidFill>
                <a:latin typeface="Calibri"/>
              </a:rPr>
              <a:t>Adjust split rules, classification, summary content — all in markdown PRs</a:t>
            </a:r>
          </a:p>
        </p:txBody>
      </p:sp>
      <p:sp>
        <p:nvSpPr>
          <p:cNvPr id="10" name="Rectangle 9"/>
          <p:cNvSpPr/>
          <p:nvPr/>
        </p:nvSpPr>
        <p:spPr>
          <a:xfrm>
            <a:off x="6172200" y="1554480"/>
            <a:ext cx="182880" cy="914400"/>
          </a:xfrm>
          <a:prstGeom prst="rect">
            <a:avLst/>
          </a:prstGeom>
          <a:solidFill>
            <a:srgbClr val="2E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0" y="1554480"/>
            <a:ext cx="5303520" cy="914400"/>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37160" tIns="91440" rIns="137160" wrap="square"/>
          <a:lstStyle/>
          <a:p>
            <a:pPr algn="l"/>
            <a:r>
              <a:rPr sz="1200" b="1">
                <a:solidFill>
                  <a:srgbClr val="2E8A8A"/>
                </a:solidFill>
                <a:latin typeface="Calibri"/>
              </a:rPr>
              <a:t>Cost-bounded</a:t>
            </a:r>
          </a:p>
          <a:p>
            <a:pPr algn="l">
              <a:spcBef>
                <a:spcPts val="200"/>
              </a:spcBef>
            </a:pPr>
            <a:r>
              <a:rPr sz="1000" b="0">
                <a:solidFill>
                  <a:srgbClr val="222222"/>
                </a:solidFill>
                <a:latin typeface="Calibri"/>
              </a:rPr>
              <a:t>Claude Max subscription is fixed monthly. No per-token surprises.</a:t>
            </a:r>
          </a:p>
        </p:txBody>
      </p:sp>
      <p:sp>
        <p:nvSpPr>
          <p:cNvPr id="12" name="Rectangle 11"/>
          <p:cNvSpPr/>
          <p:nvPr/>
        </p:nvSpPr>
        <p:spPr>
          <a:xfrm>
            <a:off x="548640" y="2542032"/>
            <a:ext cx="182880" cy="914400"/>
          </a:xfrm>
          <a:prstGeom prst="rect">
            <a:avLst/>
          </a:prstGeom>
          <a:solidFill>
            <a:srgbClr val="E078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42032"/>
            <a:ext cx="5303520" cy="914400"/>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37160" tIns="91440" rIns="137160" wrap="square"/>
          <a:lstStyle/>
          <a:p>
            <a:pPr algn="l"/>
            <a:r>
              <a:rPr sz="1200" b="1">
                <a:solidFill>
                  <a:srgbClr val="E07856"/>
                </a:solidFill>
                <a:latin typeface="Calibri"/>
              </a:rPr>
              <a:t>Single-machine deploy</a:t>
            </a:r>
          </a:p>
          <a:p>
            <a:pPr algn="l">
              <a:spcBef>
                <a:spcPts val="200"/>
              </a:spcBef>
            </a:pPr>
            <a:r>
              <a:rPr sz="1000" b="0">
                <a:solidFill>
                  <a:srgbClr val="222222"/>
                </a:solidFill>
                <a:latin typeface="Calibri"/>
              </a:rPr>
              <a:t>One VM, one repo, one .env. No K8s, no message queue.</a:t>
            </a:r>
          </a:p>
        </p:txBody>
      </p:sp>
      <p:sp>
        <p:nvSpPr>
          <p:cNvPr id="14" name="Rectangle 13"/>
          <p:cNvSpPr/>
          <p:nvPr/>
        </p:nvSpPr>
        <p:spPr>
          <a:xfrm>
            <a:off x="6172200" y="2542032"/>
            <a:ext cx="182880" cy="914400"/>
          </a:xfrm>
          <a:prstGeom prst="rect">
            <a:avLst/>
          </a:prstGeom>
          <a:solidFill>
            <a:srgbClr val="4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0" y="2542032"/>
            <a:ext cx="5303520" cy="914400"/>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37160" tIns="91440" rIns="137160" wrap="square"/>
          <a:lstStyle/>
          <a:p>
            <a:pPr algn="l"/>
            <a:r>
              <a:rPr sz="1200" b="1">
                <a:solidFill>
                  <a:srgbClr val="4A7A4A"/>
                </a:solidFill>
                <a:latin typeface="Calibri"/>
              </a:rPr>
              <a:t>Memory in git</a:t>
            </a:r>
          </a:p>
          <a:p>
            <a:pPr algn="l">
              <a:spcBef>
                <a:spcPts val="200"/>
              </a:spcBef>
            </a:pPr>
            <a:r>
              <a:rPr sz="1000" b="0">
                <a:solidFill>
                  <a:srgbClr val="222222"/>
                </a:solidFill>
                <a:latin typeface="Calibri"/>
              </a:rPr>
              <a:t>Audit trail, dedup history, run history all version-controlled.</a:t>
            </a:r>
          </a:p>
        </p:txBody>
      </p:sp>
      <p:sp>
        <p:nvSpPr>
          <p:cNvPr id="16" name="Rectangle 15"/>
          <p:cNvSpPr/>
          <p:nvPr/>
        </p:nvSpPr>
        <p:spPr>
          <a:xfrm>
            <a:off x="548640" y="3529584"/>
            <a:ext cx="182880" cy="914400"/>
          </a:xfrm>
          <a:prstGeom prst="rect">
            <a:avLst/>
          </a:prstGeom>
          <a:solidFill>
            <a:srgbClr val="C99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529584"/>
            <a:ext cx="5303520" cy="914400"/>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37160" tIns="91440" rIns="137160" wrap="square"/>
          <a:lstStyle/>
          <a:p>
            <a:pPr algn="l"/>
            <a:r>
              <a:rPr sz="1200" b="1">
                <a:solidFill>
                  <a:srgbClr val="C9962B"/>
                </a:solidFill>
                <a:latin typeface="Calibri"/>
              </a:rPr>
              <a:t>Idempotent by construction</a:t>
            </a:r>
          </a:p>
          <a:p>
            <a:pPr algn="l">
              <a:spcBef>
                <a:spcPts val="200"/>
              </a:spcBef>
            </a:pPr>
            <a:r>
              <a:rPr sz="1000" b="0">
                <a:solidFill>
                  <a:srgbClr val="222222"/>
                </a:solidFill>
                <a:latin typeface="Calibri"/>
              </a:rPr>
              <a:t>Every ingest path has a checkpoint. Every publish has dedup.</a:t>
            </a:r>
          </a:p>
        </p:txBody>
      </p:sp>
      <p:sp>
        <p:nvSpPr>
          <p:cNvPr id="18" name="Rectangle 17"/>
          <p:cNvSpPr/>
          <p:nvPr/>
        </p:nvSpPr>
        <p:spPr>
          <a:xfrm>
            <a:off x="6172200" y="3529584"/>
            <a:ext cx="182880" cy="914400"/>
          </a:xfrm>
          <a:prstGeom prst="rect">
            <a:avLst/>
          </a:prstGeom>
          <a:solidFill>
            <a:srgbClr val="6A4C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0" y="3529584"/>
            <a:ext cx="5303520" cy="914400"/>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37160" tIns="91440" rIns="137160" wrap="square"/>
          <a:lstStyle/>
          <a:p>
            <a:pPr algn="l"/>
            <a:r>
              <a:rPr sz="1200" b="1">
                <a:solidFill>
                  <a:srgbClr val="6A4C93"/>
                </a:solidFill>
                <a:latin typeface="Calibri"/>
              </a:rPr>
              <a:t>Tool surface stays small</a:t>
            </a:r>
          </a:p>
          <a:p>
            <a:pPr algn="l">
              <a:spcBef>
                <a:spcPts val="200"/>
              </a:spcBef>
            </a:pPr>
            <a:r>
              <a:rPr sz="1000" b="0">
                <a:solidFill>
                  <a:srgbClr val="222222"/>
                </a:solidFill>
                <a:latin typeface="Calibri"/>
              </a:rPr>
              <a:t>31 tools across 6 modules — reasoning lives in markdown.</a:t>
            </a:r>
          </a:p>
        </p:txBody>
      </p:sp>
      <p:sp>
        <p:nvSpPr>
          <p:cNvPr id="20" name="Rectangle 19"/>
          <p:cNvSpPr/>
          <p:nvPr/>
        </p:nvSpPr>
        <p:spPr>
          <a:xfrm>
            <a:off x="548640" y="4517136"/>
            <a:ext cx="182880"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517136"/>
            <a:ext cx="5303520" cy="914400"/>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37160" tIns="91440" rIns="137160" wrap="square"/>
          <a:lstStyle/>
          <a:p>
            <a:pPr algn="l"/>
            <a:r>
              <a:rPr sz="1200" b="1">
                <a:solidFill>
                  <a:srgbClr val="1F4E79"/>
                </a:solidFill>
                <a:latin typeface="Calibri"/>
              </a:rPr>
              <a:t>One Claude turn per process</a:t>
            </a:r>
          </a:p>
          <a:p>
            <a:pPr algn="l">
              <a:spcBef>
                <a:spcPts val="200"/>
              </a:spcBef>
            </a:pPr>
            <a:r>
              <a:rPr sz="1000" b="0">
                <a:solidFill>
                  <a:srgbClr val="222222"/>
                </a:solidFill>
                <a:latin typeface="Calibri"/>
              </a:rPr>
              <a:t>No session leak, no context bleed. Process = state boundary.</a:t>
            </a:r>
          </a:p>
        </p:txBody>
      </p:sp>
      <p:sp>
        <p:nvSpPr>
          <p:cNvPr id="22" name="Rectangle 21"/>
          <p:cNvSpPr/>
          <p:nvPr/>
        </p:nvSpPr>
        <p:spPr>
          <a:xfrm>
            <a:off x="6172200" y="4517136"/>
            <a:ext cx="182880" cy="914400"/>
          </a:xfrm>
          <a:prstGeom prst="rect">
            <a:avLst/>
          </a:prstGeom>
          <a:solidFill>
            <a:srgbClr val="2E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00800" y="4517136"/>
            <a:ext cx="5303520" cy="914400"/>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37160" tIns="91440" rIns="137160" wrap="square"/>
          <a:lstStyle/>
          <a:p>
            <a:pPr algn="l"/>
            <a:r>
              <a:rPr sz="1200" b="1">
                <a:solidFill>
                  <a:srgbClr val="2E8A8A"/>
                </a:solidFill>
                <a:latin typeface="Calibri"/>
              </a:rPr>
              <a:t>Standard CI/CD</a:t>
            </a:r>
          </a:p>
          <a:p>
            <a:pPr algn="l">
              <a:spcBef>
                <a:spcPts val="200"/>
              </a:spcBef>
            </a:pPr>
            <a:r>
              <a:rPr sz="1000" b="0">
                <a:solidFill>
                  <a:srgbClr val="222222"/>
                </a:solidFill>
                <a:latin typeface="Calibri"/>
              </a:rPr>
              <a:t>Vanilla GitHub Actions YAML. No new orchestrator to learn.</a:t>
            </a:r>
          </a:p>
        </p:txBody>
      </p:sp>
      <p:sp>
        <p:nvSpPr>
          <p:cNvPr id="24" name="Rectangle 23"/>
          <p:cNvSpPr/>
          <p:nvPr/>
        </p:nvSpPr>
        <p:spPr>
          <a:xfrm>
            <a:off x="548640" y="5504688"/>
            <a:ext cx="182880" cy="914400"/>
          </a:xfrm>
          <a:prstGeom prst="rect">
            <a:avLst/>
          </a:prstGeom>
          <a:solidFill>
            <a:srgbClr val="E078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5504688"/>
            <a:ext cx="5303520" cy="914400"/>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37160" tIns="91440" rIns="137160" wrap="square"/>
          <a:lstStyle/>
          <a:p>
            <a:pPr algn="l"/>
            <a:r>
              <a:rPr sz="1200" b="1">
                <a:solidFill>
                  <a:srgbClr val="E07856"/>
                </a:solidFill>
                <a:latin typeface="Calibri"/>
              </a:rPr>
              <a:t>Multi-language input</a:t>
            </a:r>
          </a:p>
          <a:p>
            <a:pPr algn="l">
              <a:spcBef>
                <a:spcPts val="200"/>
              </a:spcBef>
            </a:pPr>
            <a:r>
              <a:rPr sz="1000" b="0">
                <a:solidFill>
                  <a:srgbClr val="222222"/>
                </a:solidFill>
                <a:latin typeface="Calibri"/>
              </a:rPr>
              <a:t>Bangla, Malay, mixed-script — Claude reads it. Output always English.</a:t>
            </a:r>
          </a:p>
        </p:txBody>
      </p:sp>
      <p:sp>
        <p:nvSpPr>
          <p:cNvPr id="26" name="Rectangle 25"/>
          <p:cNvSpPr/>
          <p:nvPr/>
        </p:nvSpPr>
        <p:spPr>
          <a:xfrm>
            <a:off x="6172200" y="5504688"/>
            <a:ext cx="182880" cy="914400"/>
          </a:xfrm>
          <a:prstGeom prst="rect">
            <a:avLst/>
          </a:prstGeom>
          <a:solidFill>
            <a:srgbClr val="4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00800" y="5504688"/>
            <a:ext cx="5303520" cy="914400"/>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37160" tIns="91440" rIns="137160" wrap="square"/>
          <a:lstStyle/>
          <a:p>
            <a:pPr algn="l"/>
            <a:r>
              <a:rPr sz="1200" b="1">
                <a:solidFill>
                  <a:srgbClr val="4A7A4A"/>
                </a:solidFill>
                <a:latin typeface="Calibri"/>
              </a:rPr>
              <a:t>Two consolidated emails per day</a:t>
            </a:r>
          </a:p>
          <a:p>
            <a:pPr algn="l">
              <a:spcBef>
                <a:spcPts val="200"/>
              </a:spcBef>
            </a:pPr>
            <a:r>
              <a:rPr sz="1000" b="0">
                <a:solidFill>
                  <a:srgbClr val="222222"/>
                </a:solidFill>
                <a:latin typeface="Calibri"/>
              </a:rPr>
              <a:t>09:00 detail, 09:30 executive. Replaces 6+ overnight fragments.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565392"/>
            <a:ext cx="11277295" cy="9000"/>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601968"/>
            <a:ext cx="7315200" cy="228600"/>
          </a:xfrm>
          <a:prstGeom prst="rect">
            <a:avLst/>
          </a:prstGeom>
          <a:noFill/>
        </p:spPr>
        <p:txBody>
          <a:bodyPr wrap="none">
            <a:spAutoFit/>
          </a:bodyPr>
          <a:lstStyle/>
          <a:p>
            <a:pPr algn="l"/>
            <a:r>
              <a:rPr sz="900" b="0">
                <a:solidFill>
                  <a:srgbClr val="6B7785"/>
                </a:solidFill>
                <a:latin typeface="Calibri"/>
              </a:rPr>
              <a:t>NAPCO Nucleus  |  Mohammad Kamrul Hasan  |  Adaptive Enterprise Limited</a:t>
            </a:r>
          </a:p>
        </p:txBody>
      </p:sp>
      <p:sp>
        <p:nvSpPr>
          <p:cNvPr id="5" name="TextBox 4"/>
          <p:cNvSpPr txBox="1"/>
          <p:nvPr/>
        </p:nvSpPr>
        <p:spPr>
          <a:xfrm>
            <a:off x="10515600" y="6601968"/>
            <a:ext cx="1280160" cy="228600"/>
          </a:xfrm>
          <a:prstGeom prst="rect">
            <a:avLst/>
          </a:prstGeom>
          <a:noFill/>
        </p:spPr>
        <p:txBody>
          <a:bodyPr wrap="none">
            <a:spAutoFit/>
          </a:bodyPr>
          <a:lstStyle/>
          <a:p>
            <a:pPr algn="r"/>
            <a:r>
              <a:rPr sz="900" b="0">
                <a:solidFill>
                  <a:srgbClr val="6B7785"/>
                </a:solidFill>
                <a:latin typeface="Calibri"/>
              </a:rPr>
              <a:t>29 / 31</a:t>
            </a:r>
          </a:p>
        </p:txBody>
      </p:sp>
      <p:sp>
        <p:nvSpPr>
          <p:cNvPr id="6" name="TextBox 5"/>
          <p:cNvSpPr txBox="1"/>
          <p:nvPr/>
        </p:nvSpPr>
        <p:spPr>
          <a:xfrm>
            <a:off x="457200" y="274320"/>
            <a:ext cx="11277295" cy="640080"/>
          </a:xfrm>
          <a:prstGeom prst="rect">
            <a:avLst/>
          </a:prstGeom>
          <a:noFill/>
        </p:spPr>
        <p:txBody>
          <a:bodyPr wrap="none">
            <a:spAutoFit/>
          </a:bodyPr>
          <a:lstStyle/>
          <a:p>
            <a:pPr algn="l"/>
            <a:r>
              <a:rPr sz="2800" b="1">
                <a:solidFill>
                  <a:srgbClr val="1F4E79"/>
                </a:solidFill>
                <a:latin typeface="Calibri"/>
              </a:rPr>
              <a:t>08 · Honest Limitations</a:t>
            </a:r>
          </a:p>
        </p:txBody>
      </p:sp>
      <p:sp>
        <p:nvSpPr>
          <p:cNvPr id="7" name="TextBox 6"/>
          <p:cNvSpPr txBox="1"/>
          <p:nvPr/>
        </p:nvSpPr>
        <p:spPr>
          <a:xfrm>
            <a:off x="457200" y="868680"/>
            <a:ext cx="11277295" cy="365760"/>
          </a:xfrm>
          <a:prstGeom prst="rect">
            <a:avLst/>
          </a:prstGeom>
          <a:noFill/>
        </p:spPr>
        <p:txBody>
          <a:bodyPr wrap="none">
            <a:spAutoFit/>
          </a:bodyPr>
          <a:lstStyle/>
          <a:p>
            <a:pPr algn="l"/>
            <a:r>
              <a:rPr sz="1400" b="0">
                <a:solidFill>
                  <a:srgbClr val="6B7785"/>
                </a:solidFill>
                <a:latin typeface="Calibri"/>
              </a:rPr>
              <a:t>What this architecture costs</a:t>
            </a:r>
          </a:p>
        </p:txBody>
      </p:sp>
      <p:sp>
        <p:nvSpPr>
          <p:cNvPr id="8" name="Rectangle 7"/>
          <p:cNvSpPr/>
          <p:nvPr/>
        </p:nvSpPr>
        <p:spPr>
          <a:xfrm>
            <a:off x="548640" y="1554480"/>
            <a:ext cx="182880" cy="914400"/>
          </a:xfrm>
          <a:prstGeom prst="rect">
            <a:avLst/>
          </a:prstGeom>
          <a:solidFill>
            <a:srgbClr val="E078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554480"/>
            <a:ext cx="5303520" cy="914400"/>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37160" tIns="91440" rIns="137160" wrap="square"/>
          <a:lstStyle/>
          <a:p>
            <a:pPr algn="l"/>
            <a:r>
              <a:rPr sz="1200" b="1">
                <a:solidFill>
                  <a:srgbClr val="E07856"/>
                </a:solidFill>
                <a:latin typeface="Calibri"/>
              </a:rPr>
              <a:t>Single-machine bottleneck</a:t>
            </a:r>
          </a:p>
          <a:p>
            <a:pPr algn="l">
              <a:spcBef>
                <a:spcPts val="200"/>
              </a:spcBef>
            </a:pPr>
            <a:r>
              <a:rPr sz="1000" b="0">
                <a:solidFill>
                  <a:srgbClr val="222222"/>
                </a:solidFill>
                <a:latin typeface="Calibri"/>
              </a:rPr>
              <a:t>If the runner goes down, every workflow stops. No automatic failover.</a:t>
            </a:r>
          </a:p>
        </p:txBody>
      </p:sp>
      <p:sp>
        <p:nvSpPr>
          <p:cNvPr id="10" name="Rectangle 9"/>
          <p:cNvSpPr/>
          <p:nvPr/>
        </p:nvSpPr>
        <p:spPr>
          <a:xfrm>
            <a:off x="6172200" y="1554480"/>
            <a:ext cx="182880" cy="914400"/>
          </a:xfrm>
          <a:prstGeom prst="rect">
            <a:avLst/>
          </a:prstGeom>
          <a:solidFill>
            <a:srgbClr val="E078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0" y="1554480"/>
            <a:ext cx="5303520" cy="914400"/>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37160" tIns="91440" rIns="137160" wrap="square"/>
          <a:lstStyle/>
          <a:p>
            <a:pPr algn="l"/>
            <a:r>
              <a:rPr sz="1200" b="1">
                <a:solidFill>
                  <a:srgbClr val="E07856"/>
                </a:solidFill>
                <a:latin typeface="Calibri"/>
              </a:rPr>
              <a:t>Claude Max session is hidden dep</a:t>
            </a:r>
          </a:p>
          <a:p>
            <a:pPr algn="l">
              <a:spcBef>
                <a:spcPts val="200"/>
              </a:spcBef>
            </a:pPr>
            <a:r>
              <a:rPr sz="1000" b="0">
                <a:solidFill>
                  <a:srgbClr val="222222"/>
                </a:solidFill>
                <a:latin typeface="Calibri"/>
              </a:rPr>
              <a:t>If the CLI logs out, every workflow fails until somebody re-authenticates.</a:t>
            </a:r>
          </a:p>
        </p:txBody>
      </p:sp>
      <p:sp>
        <p:nvSpPr>
          <p:cNvPr id="12" name="Rectangle 11"/>
          <p:cNvSpPr/>
          <p:nvPr/>
        </p:nvSpPr>
        <p:spPr>
          <a:xfrm>
            <a:off x="548640" y="2542032"/>
            <a:ext cx="182880" cy="914400"/>
          </a:xfrm>
          <a:prstGeom prst="rect">
            <a:avLst/>
          </a:prstGeom>
          <a:solidFill>
            <a:srgbClr val="C99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42032"/>
            <a:ext cx="5303520" cy="914400"/>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37160" tIns="91440" rIns="137160" wrap="square"/>
          <a:lstStyle/>
          <a:p>
            <a:pPr algn="l"/>
            <a:r>
              <a:rPr sz="1200" b="1">
                <a:solidFill>
                  <a:srgbClr val="C9962B"/>
                </a:solidFill>
                <a:latin typeface="Calibri"/>
              </a:rPr>
              <a:t>Non-determinism</a:t>
            </a:r>
          </a:p>
          <a:p>
            <a:pPr algn="l">
              <a:spcBef>
                <a:spcPts val="200"/>
              </a:spcBef>
            </a:pPr>
            <a:r>
              <a:rPr sz="1000" b="0">
                <a:solidFill>
                  <a:srgbClr val="222222"/>
                </a:solidFill>
                <a:latin typeface="Calibri"/>
              </a:rPr>
              <a:t>Same input, slightly different output. Acceptable for reports, problematic for invariants.</a:t>
            </a:r>
          </a:p>
        </p:txBody>
      </p:sp>
      <p:sp>
        <p:nvSpPr>
          <p:cNvPr id="14" name="Rectangle 13"/>
          <p:cNvSpPr/>
          <p:nvPr/>
        </p:nvSpPr>
        <p:spPr>
          <a:xfrm>
            <a:off x="6172200" y="2542032"/>
            <a:ext cx="182880" cy="914400"/>
          </a:xfrm>
          <a:prstGeom prst="rect">
            <a:avLst/>
          </a:prstGeom>
          <a:solidFill>
            <a:srgbClr val="C99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0" y="2542032"/>
            <a:ext cx="5303520" cy="914400"/>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37160" tIns="91440" rIns="137160" wrap="square"/>
          <a:lstStyle/>
          <a:p>
            <a:pPr algn="l"/>
            <a:r>
              <a:rPr sz="1200" b="1">
                <a:solidFill>
                  <a:srgbClr val="C9962B"/>
                </a:solidFill>
                <a:latin typeface="Calibri"/>
              </a:rPr>
              <a:t>Prompt drift</a:t>
            </a:r>
          </a:p>
          <a:p>
            <a:pPr algn="l">
              <a:spcBef>
                <a:spcPts val="200"/>
              </a:spcBef>
            </a:pPr>
            <a:r>
              <a:rPr sz="1000" b="0">
                <a:solidFill>
                  <a:srgbClr val="222222"/>
                </a:solidFill>
                <a:latin typeface="Calibri"/>
              </a:rPr>
              <a:t>A small markdown edit can change behavior subtly across consumers. No automated regression suite.</a:t>
            </a:r>
          </a:p>
        </p:txBody>
      </p:sp>
      <p:sp>
        <p:nvSpPr>
          <p:cNvPr id="16" name="Rectangle 15"/>
          <p:cNvSpPr/>
          <p:nvPr/>
        </p:nvSpPr>
        <p:spPr>
          <a:xfrm>
            <a:off x="548640" y="3529584"/>
            <a:ext cx="182880" cy="914400"/>
          </a:xfrm>
          <a:prstGeom prst="rect">
            <a:avLst/>
          </a:prstGeom>
          <a:solidFill>
            <a:srgbClr val="6A4C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529584"/>
            <a:ext cx="5303520" cy="914400"/>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37160" tIns="91440" rIns="137160" wrap="square"/>
          <a:lstStyle/>
          <a:p>
            <a:pPr algn="l"/>
            <a:r>
              <a:rPr sz="1200" b="1">
                <a:solidFill>
                  <a:srgbClr val="6A4C93"/>
                </a:solidFill>
                <a:latin typeface="Calibri"/>
              </a:rPr>
              <a:t>Memory growth</a:t>
            </a:r>
          </a:p>
          <a:p>
            <a:pPr algn="l">
              <a:spcBef>
                <a:spcPts val="200"/>
              </a:spcBef>
            </a:pPr>
            <a:r>
              <a:rPr sz="1000" b="0">
                <a:solidFill>
                  <a:srgbClr val="222222"/>
                </a:solidFill>
                <a:latin typeface="Calibri"/>
              </a:rPr>
              <a:t>nucleus_memory.db grows monotonically. No retention policy yet.</a:t>
            </a:r>
          </a:p>
        </p:txBody>
      </p:sp>
      <p:sp>
        <p:nvSpPr>
          <p:cNvPr id="18" name="Rectangle 17"/>
          <p:cNvSpPr/>
          <p:nvPr/>
        </p:nvSpPr>
        <p:spPr>
          <a:xfrm>
            <a:off x="6172200" y="3529584"/>
            <a:ext cx="182880" cy="914400"/>
          </a:xfrm>
          <a:prstGeom prst="rect">
            <a:avLst/>
          </a:prstGeom>
          <a:solidFill>
            <a:srgbClr val="6A4C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0" y="3529584"/>
            <a:ext cx="5303520" cy="914400"/>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37160" tIns="91440" rIns="137160" wrap="square"/>
          <a:lstStyle/>
          <a:p>
            <a:pPr algn="l"/>
            <a:r>
              <a:rPr sz="1200" b="1">
                <a:solidFill>
                  <a:srgbClr val="6A4C93"/>
                </a:solidFill>
                <a:latin typeface="Calibri"/>
              </a:rPr>
              <a:t>Cross-language coupling</a:t>
            </a:r>
          </a:p>
          <a:p>
            <a:pPr algn="l">
              <a:spcBef>
                <a:spcPts val="200"/>
              </a:spcBef>
            </a:pPr>
            <a:r>
              <a:rPr sz="1000" b="0">
                <a:solidFill>
                  <a:srgbClr val="222222"/>
                </a:solidFill>
                <a:latin typeface="Calibri"/>
              </a:rPr>
              <a:t>Tools in Python, tests in TypeScript/JS. Subprocess boundary = log-driven debugging.</a:t>
            </a:r>
          </a:p>
        </p:txBody>
      </p:sp>
      <p:sp>
        <p:nvSpPr>
          <p:cNvPr id="20" name="Rectangle 19"/>
          <p:cNvSpPr/>
          <p:nvPr/>
        </p:nvSpPr>
        <p:spPr>
          <a:xfrm>
            <a:off x="548640" y="4517136"/>
            <a:ext cx="182880"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517136"/>
            <a:ext cx="5303520" cy="914400"/>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37160" tIns="91440" rIns="137160" wrap="square"/>
          <a:lstStyle/>
          <a:p>
            <a:pPr algn="l"/>
            <a:r>
              <a:rPr sz="1200" b="1">
                <a:solidFill>
                  <a:srgbClr val="1F4E79"/>
                </a:solidFill>
                <a:latin typeface="Calibri"/>
              </a:rPr>
              <a:t>Secrets fan-out</a:t>
            </a:r>
          </a:p>
          <a:p>
            <a:pPr algn="l">
              <a:spcBef>
                <a:spcPts val="200"/>
              </a:spcBef>
            </a:pPr>
            <a:r>
              <a:rPr sz="1000" b="0">
                <a:solidFill>
                  <a:srgbClr val="222222"/>
                </a:solidFill>
                <a:latin typeface="Calibri"/>
              </a:rPr>
              <a:t>Every secret in two places: GitHub Actions secrets + runner .env. Manual rotation.</a:t>
            </a:r>
          </a:p>
        </p:txBody>
      </p:sp>
      <p:sp>
        <p:nvSpPr>
          <p:cNvPr id="22" name="Rectangle 21"/>
          <p:cNvSpPr/>
          <p:nvPr/>
        </p:nvSpPr>
        <p:spPr>
          <a:xfrm>
            <a:off x="6172200" y="4517136"/>
            <a:ext cx="182880"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00800" y="4517136"/>
            <a:ext cx="5303520" cy="914400"/>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37160" tIns="91440" rIns="137160" wrap="square"/>
          <a:lstStyle/>
          <a:p>
            <a:pPr algn="l"/>
            <a:r>
              <a:rPr sz="1200" b="1">
                <a:solidFill>
                  <a:srgbClr val="1F4E79"/>
                </a:solidFill>
                <a:latin typeface="Calibri"/>
              </a:rPr>
              <a:t>Limited concurrency</a:t>
            </a:r>
          </a:p>
          <a:p>
            <a:pPr algn="l">
              <a:spcBef>
                <a:spcPts val="200"/>
              </a:spcBef>
            </a:pPr>
            <a:r>
              <a:rPr sz="1000" b="0">
                <a:solidFill>
                  <a:srgbClr val="222222"/>
                </a:solidFill>
                <a:latin typeface="Calibri"/>
              </a:rPr>
              <a:t>One job at a time per workflow group. Single runner can't parallelize.</a:t>
            </a:r>
          </a:p>
        </p:txBody>
      </p:sp>
      <p:sp>
        <p:nvSpPr>
          <p:cNvPr id="24" name="Rectangle 23"/>
          <p:cNvSpPr/>
          <p:nvPr/>
        </p:nvSpPr>
        <p:spPr>
          <a:xfrm>
            <a:off x="548640" y="5504688"/>
            <a:ext cx="182880" cy="914400"/>
          </a:xfrm>
          <a:prstGeom prst="rect">
            <a:avLst/>
          </a:prstGeom>
          <a:solidFill>
            <a:srgbClr val="2E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5504688"/>
            <a:ext cx="5303520" cy="914400"/>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37160" tIns="91440" rIns="137160" wrap="square"/>
          <a:lstStyle/>
          <a:p>
            <a:pPr algn="l"/>
            <a:r>
              <a:rPr sz="1200" b="1">
                <a:solidFill>
                  <a:srgbClr val="2E8A8A"/>
                </a:solidFill>
                <a:latin typeface="Calibri"/>
              </a:rPr>
              <a:t>No multi-tenant story</a:t>
            </a:r>
          </a:p>
          <a:p>
            <a:pPr algn="l">
              <a:spcBef>
                <a:spcPts val="200"/>
              </a:spcBef>
            </a:pPr>
            <a:r>
              <a:rPr sz="1000" b="0">
                <a:solidFill>
                  <a:srgbClr val="222222"/>
                </a:solidFill>
                <a:latin typeface="Calibri"/>
              </a:rPr>
              <a:t>Allowlists, paths, OpenProject project ID hard-coded for MVP Access.</a:t>
            </a:r>
          </a:p>
        </p:txBody>
      </p:sp>
      <p:sp>
        <p:nvSpPr>
          <p:cNvPr id="26" name="Rectangle 25"/>
          <p:cNvSpPr/>
          <p:nvPr/>
        </p:nvSpPr>
        <p:spPr>
          <a:xfrm>
            <a:off x="6172200" y="5504688"/>
            <a:ext cx="182880" cy="914400"/>
          </a:xfrm>
          <a:prstGeom prst="rect">
            <a:avLst/>
          </a:prstGeom>
          <a:solidFill>
            <a:srgbClr val="2E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00800" y="5504688"/>
            <a:ext cx="5303520" cy="914400"/>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37160" tIns="91440" rIns="137160" wrap="square"/>
          <a:lstStyle/>
          <a:p>
            <a:pPr algn="l"/>
            <a:r>
              <a:rPr sz="1200" b="1">
                <a:solidFill>
                  <a:srgbClr val="2E8A8A"/>
                </a:solidFill>
                <a:latin typeface="Calibri"/>
              </a:rPr>
              <a:t>Hard-to-test reasoning</a:t>
            </a:r>
          </a:p>
          <a:p>
            <a:pPr algn="l">
              <a:spcBef>
                <a:spcPts val="200"/>
              </a:spcBef>
            </a:pPr>
            <a:r>
              <a:rPr sz="1000" b="0">
                <a:solidFill>
                  <a:srgbClr val="222222"/>
                </a:solidFill>
                <a:latin typeface="Calibri"/>
              </a:rPr>
              <a:t>Reasoning lives in prompts. Validating a prompt change is observational.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565392"/>
            <a:ext cx="11277295" cy="9000"/>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601968"/>
            <a:ext cx="7315200" cy="228600"/>
          </a:xfrm>
          <a:prstGeom prst="rect">
            <a:avLst/>
          </a:prstGeom>
          <a:noFill/>
        </p:spPr>
        <p:txBody>
          <a:bodyPr wrap="none">
            <a:spAutoFit/>
          </a:bodyPr>
          <a:lstStyle/>
          <a:p>
            <a:pPr algn="l"/>
            <a:r>
              <a:rPr sz="900" b="0">
                <a:solidFill>
                  <a:srgbClr val="6B7785"/>
                </a:solidFill>
                <a:latin typeface="Calibri"/>
              </a:rPr>
              <a:t>NAPCO Nucleus  |  Mohammad Kamrul Hasan  |  Adaptive Enterprise Limited</a:t>
            </a:r>
          </a:p>
        </p:txBody>
      </p:sp>
      <p:sp>
        <p:nvSpPr>
          <p:cNvPr id="5" name="TextBox 4"/>
          <p:cNvSpPr txBox="1"/>
          <p:nvPr/>
        </p:nvSpPr>
        <p:spPr>
          <a:xfrm>
            <a:off x="10515600" y="6601968"/>
            <a:ext cx="1280160" cy="228600"/>
          </a:xfrm>
          <a:prstGeom prst="rect">
            <a:avLst/>
          </a:prstGeom>
          <a:noFill/>
        </p:spPr>
        <p:txBody>
          <a:bodyPr wrap="none">
            <a:spAutoFit/>
          </a:bodyPr>
          <a:lstStyle/>
          <a:p>
            <a:pPr algn="r"/>
            <a:r>
              <a:rPr sz="900" b="0">
                <a:solidFill>
                  <a:srgbClr val="6B7785"/>
                </a:solidFill>
                <a:latin typeface="Calibri"/>
              </a:rPr>
              <a:t>30 / 31</a:t>
            </a:r>
          </a:p>
        </p:txBody>
      </p:sp>
      <p:sp>
        <p:nvSpPr>
          <p:cNvPr id="6" name="TextBox 5"/>
          <p:cNvSpPr txBox="1"/>
          <p:nvPr/>
        </p:nvSpPr>
        <p:spPr>
          <a:xfrm>
            <a:off x="457200" y="274320"/>
            <a:ext cx="11277295" cy="640080"/>
          </a:xfrm>
          <a:prstGeom prst="rect">
            <a:avLst/>
          </a:prstGeom>
          <a:noFill/>
        </p:spPr>
        <p:txBody>
          <a:bodyPr wrap="none">
            <a:spAutoFit/>
          </a:bodyPr>
          <a:lstStyle/>
          <a:p>
            <a:pPr algn="l"/>
            <a:r>
              <a:rPr sz="2800" b="1">
                <a:solidFill>
                  <a:srgbClr val="1F4E79"/>
                </a:solidFill>
                <a:latin typeface="Calibri"/>
              </a:rPr>
              <a:t>08 · Roadmap</a:t>
            </a:r>
          </a:p>
        </p:txBody>
      </p:sp>
      <p:sp>
        <p:nvSpPr>
          <p:cNvPr id="7" name="TextBox 6"/>
          <p:cNvSpPr txBox="1"/>
          <p:nvPr/>
        </p:nvSpPr>
        <p:spPr>
          <a:xfrm>
            <a:off x="457200" y="868680"/>
            <a:ext cx="11277295" cy="365760"/>
          </a:xfrm>
          <a:prstGeom prst="rect">
            <a:avLst/>
          </a:prstGeom>
          <a:noFill/>
        </p:spPr>
        <p:txBody>
          <a:bodyPr wrap="none">
            <a:spAutoFit/>
          </a:bodyPr>
          <a:lstStyle/>
          <a:p>
            <a:pPr algn="l"/>
            <a:r>
              <a:rPr sz="1400" b="0">
                <a:solidFill>
                  <a:srgbClr val="6B7785"/>
                </a:solidFill>
                <a:latin typeface="Calibri"/>
              </a:rPr>
              <a:t>What's coming next, in order of value</a:t>
            </a:r>
          </a:p>
        </p:txBody>
      </p:sp>
      <p:sp>
        <p:nvSpPr>
          <p:cNvPr id="8" name="Rectangle 7"/>
          <p:cNvSpPr/>
          <p:nvPr/>
        </p:nvSpPr>
        <p:spPr>
          <a:xfrm>
            <a:off x="548640" y="1554480"/>
            <a:ext cx="3703320" cy="329184"/>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200" b="1">
                <a:solidFill>
                  <a:srgbClr val="FFFFFF"/>
                </a:solidFill>
                <a:latin typeface="Calibri"/>
              </a:rPr>
              <a:t>NEAR TERM (Q2 2026)</a:t>
            </a:r>
          </a:p>
        </p:txBody>
      </p:sp>
      <p:sp>
        <p:nvSpPr>
          <p:cNvPr id="9" name="Rectangle 8"/>
          <p:cNvSpPr/>
          <p:nvPr/>
        </p:nvSpPr>
        <p:spPr>
          <a:xfrm>
            <a:off x="548640" y="1883664"/>
            <a:ext cx="3703320" cy="4425696"/>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rIns="164592" tIns="109728" bIns="109728" wrap="square"/>
          <a:lstStyle/>
          <a:p>
            <a:pPr algn="l"/>
            <a:r>
              <a:rPr sz="1200" b="1">
                <a:solidFill>
                  <a:srgbClr val="1F4E79"/>
                </a:solidFill>
                <a:latin typeface="Calibri"/>
              </a:rPr>
              <a:t>• </a:t>
            </a:r>
            <a:r>
              <a:rPr sz="1200" b="1">
                <a:solidFill>
                  <a:srgbClr val="1F4E79"/>
                </a:solidFill>
                <a:latin typeface="Calibri"/>
              </a:rPr>
              <a:t>• </a:t>
            </a:r>
            <a:r>
              <a:rPr sz="1200">
                <a:solidFill>
                  <a:srgbClr val="222222"/>
                </a:solidFill>
                <a:latin typeface="Calibri"/>
              </a:rPr>
              <a:t>Cold-standby pre-imaged runner — disaster recovery in &lt;1h</a:t>
            </a:r>
          </a:p>
          <a:p>
            <a:pPr algn="l">
              <a:spcBef>
                <a:spcPts val="600"/>
              </a:spcBef>
            </a:pPr>
            <a:r>
              <a:rPr sz="1200" b="1">
                <a:solidFill>
                  <a:srgbClr val="1F4E79"/>
                </a:solidFill>
                <a:latin typeface="Calibri"/>
              </a:rPr>
              <a:t>• </a:t>
            </a:r>
            <a:r>
              <a:rPr sz="1200" b="1">
                <a:solidFill>
                  <a:srgbClr val="1F4E79"/>
                </a:solidFill>
                <a:latin typeface="Calibri"/>
              </a:rPr>
              <a:t>• </a:t>
            </a:r>
            <a:r>
              <a:rPr sz="1200">
                <a:solidFill>
                  <a:srgbClr val="222222"/>
                </a:solidFill>
                <a:latin typeface="Calibri"/>
              </a:rPr>
              <a:t>Memory retention policy + nightly vacuum</a:t>
            </a:r>
          </a:p>
          <a:p>
            <a:pPr algn="l">
              <a:spcBef>
                <a:spcPts val="600"/>
              </a:spcBef>
            </a:pPr>
            <a:r>
              <a:rPr sz="1200" b="1">
                <a:solidFill>
                  <a:srgbClr val="1F4E79"/>
                </a:solidFill>
                <a:latin typeface="Calibri"/>
              </a:rPr>
              <a:t>• </a:t>
            </a:r>
            <a:r>
              <a:rPr sz="1200" b="1">
                <a:solidFill>
                  <a:srgbClr val="1F4E79"/>
                </a:solidFill>
                <a:latin typeface="Calibri"/>
              </a:rPr>
              <a:t>• </a:t>
            </a:r>
            <a:r>
              <a:rPr sz="1200">
                <a:solidFill>
                  <a:srgbClr val="222222"/>
                </a:solidFill>
                <a:latin typeface="Calibri"/>
              </a:rPr>
              <a:t>Prompt regression harness — golden-output diffs</a:t>
            </a:r>
          </a:p>
          <a:p>
            <a:pPr algn="l">
              <a:spcBef>
                <a:spcPts val="600"/>
              </a:spcBef>
            </a:pPr>
            <a:r>
              <a:rPr sz="1200" b="1">
                <a:solidFill>
                  <a:srgbClr val="1F4E79"/>
                </a:solidFill>
                <a:latin typeface="Calibri"/>
              </a:rPr>
              <a:t>• </a:t>
            </a:r>
            <a:r>
              <a:rPr sz="1200" b="1">
                <a:solidFill>
                  <a:srgbClr val="1F4E79"/>
                </a:solidFill>
                <a:latin typeface="Calibri"/>
              </a:rPr>
              <a:t>• </a:t>
            </a:r>
            <a:r>
              <a:rPr sz="1200">
                <a:solidFill>
                  <a:srgbClr val="222222"/>
                </a:solidFill>
                <a:latin typeface="Calibri"/>
              </a:rPr>
              <a:t>Slack tool — extend Teams digest pattern</a:t>
            </a:r>
          </a:p>
        </p:txBody>
      </p:sp>
      <p:sp>
        <p:nvSpPr>
          <p:cNvPr id="10" name="Rectangle 9"/>
          <p:cNvSpPr/>
          <p:nvPr/>
        </p:nvSpPr>
        <p:spPr>
          <a:xfrm>
            <a:off x="4343400" y="1554480"/>
            <a:ext cx="3703320" cy="329184"/>
          </a:xfrm>
          <a:prstGeom prst="rect">
            <a:avLst/>
          </a:prstGeom>
          <a:solidFill>
            <a:srgbClr val="2E8A8A"/>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200" b="1">
                <a:solidFill>
                  <a:srgbClr val="FFFFFF"/>
                </a:solidFill>
                <a:latin typeface="Calibri"/>
              </a:rPr>
              <a:t>MID TERM (Q3 2026)</a:t>
            </a:r>
          </a:p>
        </p:txBody>
      </p:sp>
      <p:sp>
        <p:nvSpPr>
          <p:cNvPr id="11" name="Rectangle 10"/>
          <p:cNvSpPr/>
          <p:nvPr/>
        </p:nvSpPr>
        <p:spPr>
          <a:xfrm>
            <a:off x="4343400" y="1883664"/>
            <a:ext cx="3703320" cy="4425696"/>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rIns="164592" tIns="109728" bIns="109728" wrap="square"/>
          <a:lstStyle/>
          <a:p>
            <a:pPr algn="l"/>
            <a:r>
              <a:rPr sz="1200" b="1">
                <a:solidFill>
                  <a:srgbClr val="1F4E79"/>
                </a:solidFill>
                <a:latin typeface="Calibri"/>
              </a:rPr>
              <a:t>• </a:t>
            </a:r>
            <a:r>
              <a:rPr sz="1200" b="1">
                <a:solidFill>
                  <a:srgbClr val="1F4E79"/>
                </a:solidFill>
                <a:latin typeface="Calibri"/>
              </a:rPr>
              <a:t>• </a:t>
            </a:r>
            <a:r>
              <a:rPr sz="1200">
                <a:solidFill>
                  <a:srgbClr val="222222"/>
                </a:solidFill>
                <a:latin typeface="Calibri"/>
              </a:rPr>
              <a:t>Second-product onboarding — externalize project config</a:t>
            </a:r>
          </a:p>
          <a:p>
            <a:pPr algn="l">
              <a:spcBef>
                <a:spcPts val="600"/>
              </a:spcBef>
            </a:pPr>
            <a:r>
              <a:rPr sz="1200" b="1">
                <a:solidFill>
                  <a:srgbClr val="1F4E79"/>
                </a:solidFill>
                <a:latin typeface="Calibri"/>
              </a:rPr>
              <a:t>• </a:t>
            </a:r>
            <a:r>
              <a:rPr sz="1200" b="1">
                <a:solidFill>
                  <a:srgbClr val="1F4E79"/>
                </a:solidFill>
                <a:latin typeface="Calibri"/>
              </a:rPr>
              <a:t>• </a:t>
            </a:r>
            <a:r>
              <a:rPr sz="1200">
                <a:solidFill>
                  <a:srgbClr val="222222"/>
                </a:solidFill>
                <a:latin typeface="Calibri"/>
              </a:rPr>
              <a:t>Web dashboard — live workflow status, memory browser</a:t>
            </a:r>
          </a:p>
          <a:p>
            <a:pPr algn="l">
              <a:spcBef>
                <a:spcPts val="600"/>
              </a:spcBef>
            </a:pPr>
            <a:r>
              <a:rPr sz="1200" b="1">
                <a:solidFill>
                  <a:srgbClr val="1F4E79"/>
                </a:solidFill>
                <a:latin typeface="Calibri"/>
              </a:rPr>
              <a:t>• </a:t>
            </a:r>
            <a:r>
              <a:rPr sz="1200" b="1">
                <a:solidFill>
                  <a:srgbClr val="1F4E79"/>
                </a:solidFill>
                <a:latin typeface="Calibri"/>
              </a:rPr>
              <a:t>• </a:t>
            </a:r>
            <a:r>
              <a:rPr sz="1200">
                <a:solidFill>
                  <a:srgbClr val="222222"/>
                </a:solidFill>
                <a:latin typeface="Calibri"/>
              </a:rPr>
              <a:t>Prompt linter — catch banned patterns pre-merge</a:t>
            </a:r>
          </a:p>
          <a:p>
            <a:pPr algn="l">
              <a:spcBef>
                <a:spcPts val="600"/>
              </a:spcBef>
            </a:pPr>
            <a:r>
              <a:rPr sz="1200" b="1">
                <a:solidFill>
                  <a:srgbClr val="1F4E79"/>
                </a:solidFill>
                <a:latin typeface="Calibri"/>
              </a:rPr>
              <a:t>• </a:t>
            </a:r>
            <a:r>
              <a:rPr sz="1200" b="1">
                <a:solidFill>
                  <a:srgbClr val="1F4E79"/>
                </a:solidFill>
                <a:latin typeface="Calibri"/>
              </a:rPr>
              <a:t>• </a:t>
            </a:r>
            <a:r>
              <a:rPr sz="1200">
                <a:solidFill>
                  <a:srgbClr val="222222"/>
                </a:solidFill>
                <a:latin typeface="Calibri"/>
              </a:rPr>
              <a:t>Per-workflow latency budgets + alerts</a:t>
            </a:r>
          </a:p>
        </p:txBody>
      </p:sp>
      <p:sp>
        <p:nvSpPr>
          <p:cNvPr id="12" name="Rectangle 11"/>
          <p:cNvSpPr/>
          <p:nvPr/>
        </p:nvSpPr>
        <p:spPr>
          <a:xfrm>
            <a:off x="8138160" y="1554480"/>
            <a:ext cx="3703320" cy="329184"/>
          </a:xfrm>
          <a:prstGeom prst="rect">
            <a:avLst/>
          </a:prstGeom>
          <a:solidFill>
            <a:srgbClr val="E07856"/>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200" b="1">
                <a:solidFill>
                  <a:srgbClr val="FFFFFF"/>
                </a:solidFill>
                <a:latin typeface="Calibri"/>
              </a:rPr>
              <a:t>LONG TERM (Q4 2026+)</a:t>
            </a:r>
          </a:p>
        </p:txBody>
      </p:sp>
      <p:sp>
        <p:nvSpPr>
          <p:cNvPr id="13" name="Rectangle 12"/>
          <p:cNvSpPr/>
          <p:nvPr/>
        </p:nvSpPr>
        <p:spPr>
          <a:xfrm>
            <a:off x="8138160" y="1883664"/>
            <a:ext cx="3703320" cy="4425696"/>
          </a:xfrm>
          <a:prstGeom prst="rect">
            <a:avLst/>
          </a:prstGeom>
          <a:solidFill>
            <a:srgbClr val="FFFFFF"/>
          </a:solidFill>
          <a:ln w="635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64592" rIns="164592" tIns="109728" bIns="109728" wrap="square"/>
          <a:lstStyle/>
          <a:p>
            <a:pPr algn="l"/>
            <a:r>
              <a:rPr sz="1200" b="1">
                <a:solidFill>
                  <a:srgbClr val="1F4E79"/>
                </a:solidFill>
                <a:latin typeface="Calibri"/>
              </a:rPr>
              <a:t>• </a:t>
            </a:r>
            <a:r>
              <a:rPr sz="1200" b="1">
                <a:solidFill>
                  <a:srgbClr val="1F4E79"/>
                </a:solidFill>
                <a:latin typeface="Calibri"/>
              </a:rPr>
              <a:t>• </a:t>
            </a:r>
            <a:r>
              <a:rPr sz="1200">
                <a:solidFill>
                  <a:srgbClr val="222222"/>
                </a:solidFill>
                <a:latin typeface="Calibri"/>
              </a:rPr>
              <a:t>Multi-runner failover — geographic redundancy</a:t>
            </a:r>
          </a:p>
          <a:p>
            <a:pPr algn="l">
              <a:spcBef>
                <a:spcPts val="600"/>
              </a:spcBef>
            </a:pPr>
            <a:r>
              <a:rPr sz="1200" b="1">
                <a:solidFill>
                  <a:srgbClr val="1F4E79"/>
                </a:solidFill>
                <a:latin typeface="Calibri"/>
              </a:rPr>
              <a:t>• </a:t>
            </a:r>
            <a:r>
              <a:rPr sz="1200" b="1">
                <a:solidFill>
                  <a:srgbClr val="1F4E79"/>
                </a:solidFill>
                <a:latin typeface="Calibri"/>
              </a:rPr>
              <a:t>• </a:t>
            </a:r>
            <a:r>
              <a:rPr sz="1200">
                <a:solidFill>
                  <a:srgbClr val="222222"/>
                </a:solidFill>
                <a:latin typeface="Calibri"/>
              </a:rPr>
              <a:t>Cross-product memory — share dedup across products</a:t>
            </a:r>
          </a:p>
          <a:p>
            <a:pPr algn="l">
              <a:spcBef>
                <a:spcPts val="600"/>
              </a:spcBef>
            </a:pPr>
            <a:r>
              <a:rPr sz="1200" b="1">
                <a:solidFill>
                  <a:srgbClr val="1F4E79"/>
                </a:solidFill>
                <a:latin typeface="Calibri"/>
              </a:rPr>
              <a:t>• </a:t>
            </a:r>
            <a:r>
              <a:rPr sz="1200" b="1">
                <a:solidFill>
                  <a:srgbClr val="1F4E79"/>
                </a:solidFill>
                <a:latin typeface="Calibri"/>
              </a:rPr>
              <a:t>• </a:t>
            </a:r>
            <a:r>
              <a:rPr sz="1200">
                <a:solidFill>
                  <a:srgbClr val="222222"/>
                </a:solidFill>
                <a:latin typeface="Calibri"/>
              </a:rPr>
              <a:t>Voice intake — meeting recordings → requirements directly</a:t>
            </a:r>
          </a:p>
          <a:p>
            <a:pPr algn="l">
              <a:spcBef>
                <a:spcPts val="600"/>
              </a:spcBef>
            </a:pPr>
            <a:r>
              <a:rPr sz="1200" b="1">
                <a:solidFill>
                  <a:srgbClr val="1F4E79"/>
                </a:solidFill>
                <a:latin typeface="Calibri"/>
              </a:rPr>
              <a:t>• </a:t>
            </a:r>
            <a:r>
              <a:rPr sz="1200" b="1">
                <a:solidFill>
                  <a:srgbClr val="1F4E79"/>
                </a:solidFill>
                <a:latin typeface="Calibri"/>
              </a:rPr>
              <a:t>• </a:t>
            </a:r>
            <a:r>
              <a:rPr sz="1200">
                <a:solidFill>
                  <a:srgbClr val="222222"/>
                </a:solidFill>
                <a:latin typeface="Calibri"/>
              </a:rPr>
              <a:t>Agentic refactor for tasks where multi-agent helps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565392"/>
            <a:ext cx="11277295" cy="9000"/>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601968"/>
            <a:ext cx="7315200" cy="228600"/>
          </a:xfrm>
          <a:prstGeom prst="rect">
            <a:avLst/>
          </a:prstGeom>
          <a:noFill/>
        </p:spPr>
        <p:txBody>
          <a:bodyPr wrap="none">
            <a:spAutoFit/>
          </a:bodyPr>
          <a:lstStyle/>
          <a:p>
            <a:pPr algn="l"/>
            <a:r>
              <a:rPr sz="900" b="0">
                <a:solidFill>
                  <a:srgbClr val="6B7785"/>
                </a:solidFill>
                <a:latin typeface="Calibri"/>
              </a:rPr>
              <a:t>NAPCO Nucleus  |  Mohammad Kamrul Hasan  |  Adaptive Enterprise Limited</a:t>
            </a:r>
          </a:p>
        </p:txBody>
      </p:sp>
      <p:sp>
        <p:nvSpPr>
          <p:cNvPr id="5" name="TextBox 4"/>
          <p:cNvSpPr txBox="1"/>
          <p:nvPr/>
        </p:nvSpPr>
        <p:spPr>
          <a:xfrm>
            <a:off x="10515600" y="6601968"/>
            <a:ext cx="1280160" cy="228600"/>
          </a:xfrm>
          <a:prstGeom prst="rect">
            <a:avLst/>
          </a:prstGeom>
          <a:noFill/>
        </p:spPr>
        <p:txBody>
          <a:bodyPr wrap="none">
            <a:spAutoFit/>
          </a:bodyPr>
          <a:lstStyle/>
          <a:p>
            <a:pPr algn="r"/>
            <a:r>
              <a:rPr sz="900" b="0">
                <a:solidFill>
                  <a:srgbClr val="6B7785"/>
                </a:solidFill>
                <a:latin typeface="Calibri"/>
              </a:rPr>
              <a:t>31 / 31</a:t>
            </a:r>
          </a:p>
        </p:txBody>
      </p:sp>
      <p:sp>
        <p:nvSpPr>
          <p:cNvPr id="6" name="TextBox 5"/>
          <p:cNvSpPr txBox="1"/>
          <p:nvPr/>
        </p:nvSpPr>
        <p:spPr>
          <a:xfrm>
            <a:off x="457200" y="274320"/>
            <a:ext cx="11277295" cy="640080"/>
          </a:xfrm>
          <a:prstGeom prst="rect">
            <a:avLst/>
          </a:prstGeom>
          <a:noFill/>
        </p:spPr>
        <p:txBody>
          <a:bodyPr wrap="none">
            <a:spAutoFit/>
          </a:bodyPr>
          <a:lstStyle/>
          <a:p>
            <a:pPr algn="l"/>
            <a:r>
              <a:rPr sz="2800" b="1">
                <a:solidFill>
                  <a:srgbClr val="1F4E79"/>
                </a:solidFill>
                <a:latin typeface="Calibri"/>
              </a:rPr>
              <a:t>Closing</a:t>
            </a:r>
          </a:p>
        </p:txBody>
      </p:sp>
      <p:sp>
        <p:nvSpPr>
          <p:cNvPr id="7" name="TextBox 6"/>
          <p:cNvSpPr txBox="1"/>
          <p:nvPr/>
        </p:nvSpPr>
        <p:spPr>
          <a:xfrm>
            <a:off x="457200" y="868680"/>
            <a:ext cx="11277295" cy="365760"/>
          </a:xfrm>
          <a:prstGeom prst="rect">
            <a:avLst/>
          </a:prstGeom>
          <a:noFill/>
        </p:spPr>
        <p:txBody>
          <a:bodyPr wrap="none">
            <a:spAutoFit/>
          </a:bodyPr>
          <a:lstStyle/>
          <a:p>
            <a:pPr algn="l"/>
            <a:r>
              <a:rPr sz="1400" b="0">
                <a:solidFill>
                  <a:srgbClr val="6B7785"/>
                </a:solidFill>
                <a:latin typeface="Calibri"/>
              </a:rPr>
              <a:t>The thesis, restated — then your questions</a:t>
            </a:r>
          </a:p>
        </p:txBody>
      </p:sp>
      <p:sp>
        <p:nvSpPr>
          <p:cNvPr id="8" name="Rectangle 7"/>
          <p:cNvSpPr/>
          <p:nvPr/>
        </p:nvSpPr>
        <p:spPr>
          <a:xfrm>
            <a:off x="548640" y="1554480"/>
            <a:ext cx="11091672" cy="21945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lIns="457200" rIns="457200" wrap="square"/>
          <a:lstStyle/>
          <a:p>
            <a:pPr algn="ctr"/>
            <a:r>
              <a:rPr sz="2800" b="1">
                <a:solidFill>
                  <a:srgbClr val="FFFFFF"/>
                </a:solidFill>
                <a:latin typeface="Calibri"/>
              </a:rPr>
              <a:t>QA architect plus AI equals senior developer team output.</a:t>
            </a:r>
          </a:p>
          <a:p>
            <a:pPr algn="ctr">
              <a:spcBef>
                <a:spcPts val="1000"/>
              </a:spcBef>
            </a:pPr>
            <a:r>
              <a:rPr sz="1400" b="0">
                <a:solidFill>
                  <a:srgbClr val="C9962B"/>
                </a:solidFill>
                <a:latin typeface="Calibri"/>
              </a:rPr>
              <a:t>9 production workflows. 31 tools. ~3.6k Python LOC. Two consolidated emails per day. Every client requirement filed in OpenProject within two hours of being spoken on a call. Built and operated by one person — because the reasoning lives in prompts, not in code that needs a team to maintain.</a:t>
            </a:r>
          </a:p>
        </p:txBody>
      </p:sp>
      <p:sp>
        <p:nvSpPr>
          <p:cNvPr id="9" name="Rectangle 8"/>
          <p:cNvSpPr/>
          <p:nvPr/>
        </p:nvSpPr>
        <p:spPr>
          <a:xfrm>
            <a:off x="548640" y="4206240"/>
            <a:ext cx="11091672" cy="210312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lIns="457200" rIns="457200"/>
          <a:lstStyle/>
          <a:p>
            <a:pPr algn="ctr"/>
            <a:r>
              <a:rPr sz="4400" b="1">
                <a:solidFill>
                  <a:srgbClr val="1F4E79"/>
                </a:solidFill>
                <a:latin typeface="Calibri"/>
              </a:rPr>
              <a:t>Q &amp; A</a:t>
            </a:r>
          </a:p>
          <a:p>
            <a:pPr algn="ctr">
              <a:spcBef>
                <a:spcPts val="800"/>
              </a:spcBef>
            </a:pPr>
            <a:r>
              <a:rPr sz="1400" b="0">
                <a:solidFill>
                  <a:srgbClr val="222222"/>
                </a:solidFill>
                <a:latin typeface="Calibri"/>
              </a:rPr>
              <a:t>Mohammad Kamrul Hasan</a:t>
            </a:r>
          </a:p>
          <a:p>
            <a:pPr algn="ctr">
              <a:spcBef>
                <a:spcPts val="200"/>
              </a:spcBef>
            </a:pPr>
            <a:r>
              <a:rPr sz="1200" b="0">
                <a:solidFill>
                  <a:srgbClr val="6B7785"/>
                </a:solidFill>
                <a:latin typeface="Calibri"/>
              </a:rPr>
              <a:t>AI-Augmented QA Architect  ·  Adaptive Enterprise Limited</a:t>
            </a:r>
          </a:p>
          <a:p>
            <a:pPr algn="ctr">
              <a:spcBef>
                <a:spcPts val="200"/>
              </a:spcBef>
            </a:pPr>
            <a:r>
              <a:rPr sz="1100" b="0">
                <a:solidFill>
                  <a:srgbClr val="2E8A8A"/>
                </a:solidFill>
                <a:latin typeface="Calibri"/>
              </a:rPr>
              <a:t>khasan@ael-bd.com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