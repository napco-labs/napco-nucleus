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Nucleus is the system that takes everything the team says, types, mails or shares with a client over the course of a day, and -- with one human review step -- produces a verification email back to the client confirming what we heard. It runs hands-off; the developers don't change their workflow. Today is 2026-05-14 -- the day the central host moved from the Windows MVPACCESS box to a Linux docker stack on .123. The deck explains the whole pipeline end-to-end.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active roster is Salman as the client and seven developers on our side -- Assad, Rocky, Ferdows, Titu, Atik, Isruk, and Amin. Each developer has their own conversations with Salman across Teams calls, Teams chats, email threads, and the shared Google Drive folder. None of those developers hears the whole picture; we used to lose requirements in the gaps. Nucleus is the answer to that fragmentation: every channel from every dev flows into one central pipeline, and the daily run reconciles them into a single artefact.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capture channels, all feeding the same identification pass. Teams chat is pushed by a per-dev cron in three BD-local windows across the day. Teams calls come in via the voice daemon on each dev PC. Email is pulled by IMAP on the central host every 15 minutes. Drive is pulled by a Drive watcher on the central host every 15 minutes. Once captured, IDENTIFY happens ONCE per day -- not five times, not seven times -- because cross-developer fragments only resolve when the model can see them all together. VERIFY is the human-in-the-loop gate: the boss reviews the Gmail draft and clicks send. DELIVER is the round trip -- when Salman replies, the reply gets parsed back into the pipeline so the next day's identification knows what's already confirmed.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developer runs the voice daemon at the start of the day from start-daemon.bat. The daemon's auto mode -- which is the default since the 2026-05-13 change -- watches Teams' audio session via pycaw. The instant Teams starts producing audio (call ringing counts), recording begins; the instant Teams' session ends, recording stops. The developers don't have to say anything special. Post-processing strips mains hum at 50 Hz and its harmonics, normalizes the mic track so Whisper sees consistent levels, and drops anything under 20 seconds as almost certainly an accidental ring-and-drop. The hard 1-hour cap prevents one stuck audio session from filling the share with junk. The IndexedDB resolver was the trick we shipped in April -- it auto-tags every recording with the client name so the central pipeline can scope per client without anyone labeling manually.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Samba container on .123 serves the same UNC path that the old MVPACCESS share served. Every dev PC has it mapped at boot. After a call ends and the post-record steps complete, the daemon copies the mic, speaker, and metadata files into the dev's day folder over SMB. The transcript .md gets written later by the transcribe worker on .123 once Groq finishes processing the WAVs. The layout is the load-bearing convention for the whole pipeline -- everything downstream is just a walk of this tree filtered by date and client name.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biggest change of the week: the agent host moved off Windows MVPACCESS onto the existing Linux box at .123 that already hosts the OpenProject stack. The whole thing is a docker-compose file, six services, one shared image (`nucleus-worker:latest`) plus the third-party Samba and GitHub runner containers. The repo itself is bind-mounted read-only -- `git pull` on the host updates every worker without an image rebuild. Bind mounts are designed so we can `docker compose down` and `up` without losing state: the sqlite memory database lives in a named volume, the central share lives on the host filesystem, and the Claude auth tree is mounted in from the ubuntu user's home directory.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Transcription is where the daily pipeline used to bottleneck on the Windows host -- a 3-minute Bangla call took about 10 minutes to transcribe on CPU with faster-whisper. Groq is the same whisper-large-v3 model running on their LPU hardware; we hit their translation endpoint, which folds Bangla speech -&gt; English text into one round trip. A typical call comes back in about 30 seconds. The free tier gives us 8 hours of audio per day, which comfortably covers the team's actual call volume. If Groq fails for ANY reason -- missing key, network blip, rate limit, file over 25 MB -- the worker falls back to the local faster-whisper on CPU. The fallback is correct but slow; on bursty days that's fine because we have hours before the 23:45 daily draft fires.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capture channels that are independent of the voice daemon. Teams chat is the only channel still pushed from dev PCs (the chat database lives in each user's Teams app data, so we have to walk it on their machine); three BD-local windows per day balance freshness against API rate limits. Email is pulled by the stage-email container on .123 every 15 minutes via Gmail IMAP -- threads are saved as structured .docx with attachments fanned out and PDFs inlined so the downstream model actually sees the content. Drive is similar but for Google Drive; the wrinkle is that voice notes uploaded to the shared folder get sent through Groq too, so an audio file in the Drive folder ends up with a transcript next to it just like a Teams call recording would.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daily run is the heartbeat of the system. Container TZ is Asia/Dhaka so the wall clock IS BD; a simple sleep-until-target loop replaces the old Windows Task Scheduler entry. At 23:45 it shells out to collect_central.py with --client all and --last-minutes 1440 -- the workhorse script that walks the central tree, groups everything that touched each client in the last 24 hours, and writes a single Pull Session .docx. That doc is what gets handed to the verify_session task on the Claude Agent SDK. The whole run targets about six cents on Anthropic's pricing because we're scoping tightly and using prompt caching.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the verify_session task, Claude is doing one job: read the day's collated source material and pick out the things that are actually client requirements -- as distinct from noise like system notifications, recorder-test snippets, peer-to-peer dev chatter, or already-confirmed items from prior days. The output is two artefacts per client per day. The .docx is the curated list with source pointers so the client can cross-check. The .eml is the verification email itself, with both the curated .docx and the raw Pull Session attached -- the raw source is deliberately included so the client can audit anything that looks off. State written to the sqlite memory db lives in the named docker volume; it survives container restarts.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only manual step in the whole pipeline. The deliberate design choice is that the system never sends mail to a client without a human pressing send. You open Gmail Drafts -- the .eml is already there -- skim the curated .docx, cross-check anything that looks weird against the Pull Session source doc, edit if needed, and send. Once Salman replies, tools.poll_replies (which runs on the central host) matches the reply by thread id, parses line-by-line accept/reject/clarify, and writes the deltas into the sqlite memory. Tomorrow's daily run reads that memory before drafting the next verification email, so confirmed items don't get re-asked.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exotic in the stack. The whole system is one Python codebase running in docker containers on Linux, with a small Windows footprint on each dev PC for the parts that have to live next to Teams. Anthropic + Groq are the only paid external services -- and Groq is currently free-tier. Gmail and Drive use ordinary OAuth refresh tokens against a single Google Cloud project. Self-hosted GitHub Actions on .123 means CI runs in the same network neighborhood as the containers, which keeps deploys simple.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check, fact-by-fact, for the boss. Everything that was supposed to be running on the Linux host today IS running on the Linux host today. The cost target is around six cents per daily run on Anthropic pricing -- well inside the budget we discussed. Groq is doing roughly 30 seconds per call, which is the speed-up that let us move off the Windows host: the old CPU faster-whisper run was the slowest stage of the day by a wide margin. The healthcheck CLI gives a live version of the right-hand snapshot any time we want to spot-check the host without SSHing in for `docker 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tracks for the next phase, ordered roughly by what unblocks what. First two are pure rollout work -- adding a second client and onboarding the remaining devs onto the voice daemon. Then retiring the old Windows agent host once .123 has a full week of clean runs. The big policy question is automating verify -&gt; send: we want to keep the human gate for now, but once we have a track record of human-edit deltas being trivial for routine confirmations, we can flip a feature flag and let the system auto-send those while keeping human review for new asks. Future integrations + operational hardening are the long tail -- OpenProject auto-publishing of confirmed reqs is the highest-value of those.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03120"/>
            <a:ext cx="10698480" cy="1371600"/>
          </a:xfrm>
          <a:prstGeom prst="rect">
            <a:avLst/>
          </a:prstGeom>
          <a:noFill/>
        </p:spPr>
        <p:txBody>
          <a:bodyPr wrap="square" lIns="0" rIns="0" tIns="0" bIns="0" anchor="t">
            <a:spAutoFit/>
          </a:bodyPr>
          <a:lstStyle/>
          <a:p>
            <a:pPr algn="l"/>
            <a:r>
              <a:rPr sz="5800" b="1">
                <a:solidFill>
                  <a:srgbClr val="FFFFFF"/>
                </a:solidFill>
                <a:latin typeface="Calibri"/>
              </a:rPr>
              <a:t>NAPCO Nucleus</a:t>
            </a:r>
          </a:p>
          <a:p>
            <a:pPr algn="l"/>
            <a:r>
              <a:rPr sz="3400" b="0">
                <a:solidFill>
                  <a:srgbClr val="FFFFFF"/>
                </a:solidFill>
                <a:latin typeface="Calibri"/>
              </a:rPr>
              <a:t>How It Works</a:t>
            </a:r>
          </a:p>
        </p:txBody>
      </p:sp>
      <p:sp>
        <p:nvSpPr>
          <p:cNvPr id="4" name="TextBox 3"/>
          <p:cNvSpPr txBox="1"/>
          <p:nvPr/>
        </p:nvSpPr>
        <p:spPr>
          <a:xfrm>
            <a:off x="731520" y="4023360"/>
            <a:ext cx="10698480" cy="1280160"/>
          </a:xfrm>
          <a:prstGeom prst="rect">
            <a:avLst/>
          </a:prstGeom>
          <a:noFill/>
        </p:spPr>
        <p:txBody>
          <a:bodyPr wrap="square" lIns="0" rIns="0" tIns="0" bIns="0" anchor="t">
            <a:spAutoFit/>
          </a:bodyPr>
          <a:lstStyle/>
          <a:p>
            <a:pPr algn="l"/>
            <a:r>
              <a:rPr sz="2000" b="0">
                <a:solidFill>
                  <a:srgbClr val="C8D2E0"/>
                </a:solidFill>
                <a:latin typeface="Calibri"/>
              </a:rPr>
              <a:t>From Teams call to client requirement, hands-off.</a:t>
            </a:r>
          </a:p>
        </p:txBody>
      </p:sp>
      <p:sp>
        <p:nvSpPr>
          <p:cNvPr id="5" name="TextBox 4"/>
          <p:cNvSpPr txBox="1"/>
          <p:nvPr/>
        </p:nvSpPr>
        <p:spPr>
          <a:xfrm>
            <a:off x="731520" y="6126480"/>
            <a:ext cx="10698480" cy="457200"/>
          </a:xfrm>
          <a:prstGeom prst="rect">
            <a:avLst/>
          </a:prstGeom>
          <a:noFill/>
        </p:spPr>
        <p:txBody>
          <a:bodyPr wrap="square" lIns="0" rIns="0" tIns="0" bIns="0" anchor="t">
            <a:spAutoFit/>
          </a:bodyPr>
          <a:lstStyle/>
          <a:p>
            <a:pPr algn="l"/>
            <a:r>
              <a:rPr sz="1200" b="0">
                <a:solidFill>
                  <a:srgbClr val="9CABBE"/>
                </a:solidFill>
                <a:latin typeface="Calibri"/>
              </a:rPr>
              <a:t>2026-05-14   |   Adaptive Enterprise / NAPCO labs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The cast</a:t>
            </a:r>
          </a:p>
          <a:p>
            <a:pPr algn="l">
              <a:spcBef>
                <a:spcPts val="200"/>
              </a:spcBef>
            </a:pPr>
            <a:r>
              <a:rPr sz="1400" b="0">
                <a:solidFill>
                  <a:srgbClr val="6B7785"/>
                </a:solidFill>
                <a:latin typeface="Calibri"/>
              </a:rPr>
              <a:t>One client. Seven developers. One central pipeline.</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3657600" cy="457200"/>
          </a:xfrm>
          <a:prstGeom prst="rect">
            <a:avLst/>
          </a:prstGeom>
          <a:noFill/>
        </p:spPr>
        <p:txBody>
          <a:bodyPr wrap="square" lIns="0" rIns="0" tIns="0" bIns="0" anchor="t">
            <a:spAutoFit/>
          </a:bodyPr>
          <a:lstStyle/>
          <a:p>
            <a:pPr algn="l"/>
            <a:r>
              <a:rPr sz="1400" b="1">
                <a:solidFill>
                  <a:srgbClr val="6B7785"/>
                </a:solidFill>
                <a:latin typeface="Calibri"/>
              </a:rPr>
              <a:t>Client</a:t>
            </a:r>
          </a:p>
        </p:txBody>
      </p:sp>
      <p:sp>
        <p:nvSpPr>
          <p:cNvPr id="6" name="Rounded Rectangle 5"/>
          <p:cNvSpPr/>
          <p:nvPr/>
        </p:nvSpPr>
        <p:spPr>
          <a:xfrm>
            <a:off x="731520" y="2103120"/>
            <a:ext cx="3474720" cy="822960"/>
          </a:xfrm>
          <a:prstGeom prst="round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Salman</a:t>
            </a:r>
          </a:p>
        </p:txBody>
      </p:sp>
      <p:sp>
        <p:nvSpPr>
          <p:cNvPr id="7" name="Rounded Rectangle 6"/>
          <p:cNvSpPr/>
          <p:nvPr/>
        </p:nvSpPr>
        <p:spPr>
          <a:xfrm>
            <a:off x="4937760" y="3383280"/>
            <a:ext cx="228600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Nucleus</a:t>
            </a:r>
          </a:p>
        </p:txBody>
      </p:sp>
      <p:sp>
        <p:nvSpPr>
          <p:cNvPr id="8" name="TextBox 7"/>
          <p:cNvSpPr txBox="1"/>
          <p:nvPr/>
        </p:nvSpPr>
        <p:spPr>
          <a:xfrm>
            <a:off x="7955279" y="1554480"/>
            <a:ext cx="3657600" cy="457200"/>
          </a:xfrm>
          <a:prstGeom prst="rect">
            <a:avLst/>
          </a:prstGeom>
          <a:noFill/>
        </p:spPr>
        <p:txBody>
          <a:bodyPr wrap="square" lIns="0" rIns="0" tIns="0" bIns="0" anchor="t">
            <a:spAutoFit/>
          </a:bodyPr>
          <a:lstStyle/>
          <a:p>
            <a:pPr algn="l"/>
            <a:r>
              <a:rPr sz="1400" b="1">
                <a:solidFill>
                  <a:srgbClr val="6B7785"/>
                </a:solidFill>
                <a:latin typeface="Calibri"/>
              </a:rPr>
              <a:t>Developers (7)</a:t>
            </a:r>
          </a:p>
        </p:txBody>
      </p:sp>
      <p:sp>
        <p:nvSpPr>
          <p:cNvPr id="9" name="Rounded Rectangle 8"/>
          <p:cNvSpPr/>
          <p:nvPr/>
        </p:nvSpPr>
        <p:spPr>
          <a:xfrm>
            <a:off x="7955279" y="2103120"/>
            <a:ext cx="164592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Assad</a:t>
            </a:r>
          </a:p>
        </p:txBody>
      </p:sp>
      <p:sp>
        <p:nvSpPr>
          <p:cNvPr id="10" name="Rounded Rectangle 9"/>
          <p:cNvSpPr/>
          <p:nvPr/>
        </p:nvSpPr>
        <p:spPr>
          <a:xfrm>
            <a:off x="9784080" y="2103120"/>
            <a:ext cx="164592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Rocky</a:t>
            </a:r>
          </a:p>
        </p:txBody>
      </p:sp>
      <p:sp>
        <p:nvSpPr>
          <p:cNvPr id="11" name="Rounded Rectangle 10"/>
          <p:cNvSpPr/>
          <p:nvPr/>
        </p:nvSpPr>
        <p:spPr>
          <a:xfrm>
            <a:off x="7955279" y="2788920"/>
            <a:ext cx="164592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Ferdows</a:t>
            </a:r>
          </a:p>
        </p:txBody>
      </p:sp>
      <p:sp>
        <p:nvSpPr>
          <p:cNvPr id="12" name="Rounded Rectangle 11"/>
          <p:cNvSpPr/>
          <p:nvPr/>
        </p:nvSpPr>
        <p:spPr>
          <a:xfrm>
            <a:off x="9784080" y="2788920"/>
            <a:ext cx="164592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Titu</a:t>
            </a:r>
          </a:p>
        </p:txBody>
      </p:sp>
      <p:sp>
        <p:nvSpPr>
          <p:cNvPr id="13" name="Rounded Rectangle 12"/>
          <p:cNvSpPr/>
          <p:nvPr/>
        </p:nvSpPr>
        <p:spPr>
          <a:xfrm>
            <a:off x="7955279" y="3474720"/>
            <a:ext cx="164592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Atik</a:t>
            </a:r>
          </a:p>
        </p:txBody>
      </p:sp>
      <p:sp>
        <p:nvSpPr>
          <p:cNvPr id="14" name="Rounded Rectangle 13"/>
          <p:cNvSpPr/>
          <p:nvPr/>
        </p:nvSpPr>
        <p:spPr>
          <a:xfrm>
            <a:off x="9784080" y="3474720"/>
            <a:ext cx="164592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Isruk</a:t>
            </a:r>
          </a:p>
        </p:txBody>
      </p:sp>
      <p:sp>
        <p:nvSpPr>
          <p:cNvPr id="15" name="Rounded Rectangle 14"/>
          <p:cNvSpPr/>
          <p:nvPr/>
        </p:nvSpPr>
        <p:spPr>
          <a:xfrm>
            <a:off x="7955279" y="4160520"/>
            <a:ext cx="164592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Amin</a:t>
            </a:r>
          </a:p>
        </p:txBody>
      </p:sp>
      <p:cxnSp>
        <p:nvCxnSpPr>
          <p:cNvPr id="16" name="Connector 15"/>
          <p:cNvCxnSpPr/>
          <p:nvPr/>
        </p:nvCxnSpPr>
        <p:spPr>
          <a:xfrm>
            <a:off x="4206240" y="2514600"/>
            <a:ext cx="731520" cy="1143000"/>
          </a:xfrm>
          <a:prstGeom prst="bentConnector3">
            <a:avLst/>
          </a:prstGeom>
          <a:ln w="25400">
            <a:solidFill>
              <a:srgbClr val="E0785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7223760" y="2377440"/>
            <a:ext cx="731519" cy="1280160"/>
          </a:xfrm>
          <a:prstGeom prst="bentConnector3">
            <a:avLst/>
          </a:prstGeom>
          <a:ln w="12700">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7223760" y="2377440"/>
            <a:ext cx="2560320" cy="1280160"/>
          </a:xfrm>
          <a:prstGeom prst="bentConnector3">
            <a:avLst/>
          </a:prstGeom>
          <a:ln w="12700">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7223760" y="3063240"/>
            <a:ext cx="731519" cy="594360"/>
          </a:xfrm>
          <a:prstGeom prst="bentConnector3">
            <a:avLst/>
          </a:prstGeom>
          <a:ln w="12700">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7223760" y="3063240"/>
            <a:ext cx="2560320" cy="594360"/>
          </a:xfrm>
          <a:prstGeom prst="bentConnector3">
            <a:avLst/>
          </a:prstGeom>
          <a:ln w="12700">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7223760" y="3657600"/>
            <a:ext cx="731519" cy="91439"/>
          </a:xfrm>
          <a:prstGeom prst="bentConnector3">
            <a:avLst/>
          </a:prstGeom>
          <a:ln w="12700">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7223760" y="3657600"/>
            <a:ext cx="2560320" cy="91439"/>
          </a:xfrm>
          <a:prstGeom prst="bentConnector3">
            <a:avLst/>
          </a:prstGeom>
          <a:ln w="12700">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7223760" y="3657600"/>
            <a:ext cx="731519" cy="777240"/>
          </a:xfrm>
          <a:prstGeom prst="bentConnector3">
            <a:avLst/>
          </a:prstGeom>
          <a:ln w="12700">
            <a:solidFill>
              <a:srgbClr val="1F4E7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31520" y="5120640"/>
            <a:ext cx="10698480" cy="1280160"/>
          </a:xfrm>
          <a:prstGeom prst="rect">
            <a:avLst/>
          </a:prstGeom>
          <a:noFill/>
        </p:spPr>
        <p:txBody>
          <a:bodyPr wrap="square" lIns="0" rIns="0" tIns="0" bIns="0" anchor="t">
            <a:spAutoFit/>
          </a:bodyPr>
          <a:lstStyle/>
          <a:p>
            <a:pPr algn="l"/>
            <a:r>
              <a:rPr sz="1400" b="0">
                <a:solidFill>
                  <a:srgbClr val="6B7785"/>
                </a:solidFill>
                <a:latin typeface="Calibri"/>
              </a:rPr>
              <a:t>Every dev's Teams calls, chats, emails and shared files feed the same place. One pass per day stitches them back into one verification email.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The four-channel flow</a:t>
            </a:r>
          </a:p>
          <a:p>
            <a:pPr algn="l">
              <a:spcBef>
                <a:spcPts val="200"/>
              </a:spcBef>
            </a:pPr>
            <a:r>
              <a:rPr sz="1400" b="0">
                <a:solidFill>
                  <a:srgbClr val="6B7785"/>
                </a:solidFill>
                <a:latin typeface="Calibri"/>
              </a:rPr>
              <a:t>CAPTURE everywhere. IDENTIFY once. VERIFY by hand. DELIVER.</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29487" y="1463040"/>
            <a:ext cx="2377440" cy="64008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Teams chat</a:t>
            </a:r>
          </a:p>
        </p:txBody>
      </p:sp>
      <p:sp>
        <p:nvSpPr>
          <p:cNvPr id="6" name="Rounded Rectangle 5"/>
          <p:cNvSpPr/>
          <p:nvPr/>
        </p:nvSpPr>
        <p:spPr>
          <a:xfrm>
            <a:off x="3581247" y="1463040"/>
            <a:ext cx="2377440" cy="640080"/>
          </a:xfrm>
          <a:prstGeom prst="round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Teams calls</a:t>
            </a:r>
          </a:p>
        </p:txBody>
      </p:sp>
      <p:sp>
        <p:nvSpPr>
          <p:cNvPr id="7" name="Rounded Rectangle 6"/>
          <p:cNvSpPr/>
          <p:nvPr/>
        </p:nvSpPr>
        <p:spPr>
          <a:xfrm>
            <a:off x="6233007" y="1463040"/>
            <a:ext cx="2377440" cy="640080"/>
          </a:xfrm>
          <a:prstGeom prst="round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Email</a:t>
            </a:r>
          </a:p>
        </p:txBody>
      </p:sp>
      <p:sp>
        <p:nvSpPr>
          <p:cNvPr id="8" name="Rounded Rectangle 7"/>
          <p:cNvSpPr/>
          <p:nvPr/>
        </p:nvSpPr>
        <p:spPr>
          <a:xfrm>
            <a:off x="8884767" y="1463040"/>
            <a:ext cx="2377440" cy="640080"/>
          </a:xfrm>
          <a:prstGeom prst="round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Drive</a:t>
            </a:r>
          </a:p>
        </p:txBody>
      </p:sp>
      <p:cxnSp>
        <p:nvCxnSpPr>
          <p:cNvPr id="9" name="Connector 8"/>
          <p:cNvCxnSpPr/>
          <p:nvPr/>
        </p:nvCxnSpPr>
        <p:spPr>
          <a:xfrm>
            <a:off x="2118207" y="2194560"/>
            <a:ext cx="0" cy="457200"/>
          </a:xfrm>
          <a:prstGeom prst="bentConnector3">
            <a:avLst/>
          </a:prstGeom>
          <a:ln w="1905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769967" y="2194560"/>
            <a:ext cx="0" cy="457200"/>
          </a:xfrm>
          <a:prstGeom prst="bentConnector3">
            <a:avLst/>
          </a:prstGeom>
          <a:ln w="1905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421727" y="2194560"/>
            <a:ext cx="0" cy="457200"/>
          </a:xfrm>
          <a:prstGeom prst="bentConnector3">
            <a:avLst/>
          </a:prstGeom>
          <a:ln w="1905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0073487" y="2194560"/>
            <a:ext cx="0" cy="457200"/>
          </a:xfrm>
          <a:prstGeom prst="bentConnector3">
            <a:avLst/>
          </a:prstGeom>
          <a:ln w="19050">
            <a:solidFill>
              <a:srgbClr val="6B7785"/>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9447" y="2697480"/>
            <a:ext cx="2606040" cy="12801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09447" y="2697480"/>
            <a:ext cx="73152" cy="128016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4039" y="2788920"/>
            <a:ext cx="2377440" cy="1097280"/>
          </a:xfrm>
          <a:prstGeom prst="rect">
            <a:avLst/>
          </a:prstGeom>
          <a:noFill/>
        </p:spPr>
        <p:txBody>
          <a:bodyPr wrap="square" lIns="0" rIns="0" tIns="0" bIns="0" anchor="t">
            <a:spAutoFit/>
          </a:bodyPr>
          <a:lstStyle/>
          <a:p>
            <a:pPr algn="l"/>
            <a:r>
              <a:rPr sz="1800" b="1">
                <a:solidFill>
                  <a:srgbClr val="2E8A8A"/>
                </a:solidFill>
                <a:latin typeface="Calibri"/>
              </a:rPr>
              <a:t>CAPTURE</a:t>
            </a:r>
          </a:p>
          <a:p>
            <a:pPr algn="l">
              <a:spcBef>
                <a:spcPts val="200"/>
              </a:spcBef>
            </a:pPr>
            <a:r>
              <a:rPr sz="1100" b="0">
                <a:solidFill>
                  <a:srgbClr val="222222"/>
                </a:solidFill>
                <a:latin typeface="Calibri"/>
              </a:rPr>
              <a:t>Voice daemon, chat-push, Gmail IMAP, Drive watcher.</a:t>
            </a:r>
          </a:p>
        </p:txBody>
      </p:sp>
      <p:cxnSp>
        <p:nvCxnSpPr>
          <p:cNvPr id="16" name="Connector 15"/>
          <p:cNvCxnSpPr/>
          <p:nvPr/>
        </p:nvCxnSpPr>
        <p:spPr>
          <a:xfrm>
            <a:off x="3215487" y="3337560"/>
            <a:ext cx="182880" cy="0"/>
          </a:xfrm>
          <a:prstGeom prst="bentConnector3">
            <a:avLst/>
          </a:prstGeom>
          <a:ln w="31750">
            <a:solidFill>
              <a:srgbClr val="1F4E79"/>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3398367" y="2697480"/>
            <a:ext cx="2606040" cy="12801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98367" y="2697480"/>
            <a:ext cx="73152" cy="128016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62959" y="2788920"/>
            <a:ext cx="2377440" cy="1097280"/>
          </a:xfrm>
          <a:prstGeom prst="rect">
            <a:avLst/>
          </a:prstGeom>
          <a:noFill/>
        </p:spPr>
        <p:txBody>
          <a:bodyPr wrap="square" lIns="0" rIns="0" tIns="0" bIns="0" anchor="t">
            <a:spAutoFit/>
          </a:bodyPr>
          <a:lstStyle/>
          <a:p>
            <a:pPr algn="l"/>
            <a:r>
              <a:rPr sz="1800" b="1">
                <a:solidFill>
                  <a:srgbClr val="6A4C93"/>
                </a:solidFill>
                <a:latin typeface="Calibri"/>
              </a:rPr>
              <a:t>IDENTIFY</a:t>
            </a:r>
          </a:p>
          <a:p>
            <a:pPr algn="l">
              <a:spcBef>
                <a:spcPts val="200"/>
              </a:spcBef>
            </a:pPr>
            <a:r>
              <a:rPr sz="1100" b="0">
                <a:solidFill>
                  <a:srgbClr val="222222"/>
                </a:solidFill>
                <a:latin typeface="Calibri"/>
              </a:rPr>
              <a:t>verify_session reads the whole day, scopes per client.</a:t>
            </a:r>
          </a:p>
        </p:txBody>
      </p:sp>
      <p:cxnSp>
        <p:nvCxnSpPr>
          <p:cNvPr id="20" name="Connector 19"/>
          <p:cNvCxnSpPr/>
          <p:nvPr/>
        </p:nvCxnSpPr>
        <p:spPr>
          <a:xfrm>
            <a:off x="6004407" y="3337560"/>
            <a:ext cx="182880" cy="0"/>
          </a:xfrm>
          <a:prstGeom prst="bentConnector3">
            <a:avLst/>
          </a:prstGeom>
          <a:ln w="31750">
            <a:solidFill>
              <a:srgbClr val="1F4E79"/>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6187287" y="2697480"/>
            <a:ext cx="2606040" cy="12801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87287" y="2697480"/>
            <a:ext cx="73152" cy="128016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1879" y="2788920"/>
            <a:ext cx="2377440" cy="1097280"/>
          </a:xfrm>
          <a:prstGeom prst="rect">
            <a:avLst/>
          </a:prstGeom>
          <a:noFill/>
        </p:spPr>
        <p:txBody>
          <a:bodyPr wrap="square" lIns="0" rIns="0" tIns="0" bIns="0" anchor="t">
            <a:spAutoFit/>
          </a:bodyPr>
          <a:lstStyle/>
          <a:p>
            <a:pPr algn="l"/>
            <a:r>
              <a:rPr sz="1800" b="1">
                <a:solidFill>
                  <a:srgbClr val="C9962B"/>
                </a:solidFill>
                <a:latin typeface="Calibri"/>
              </a:rPr>
              <a:t>VERIFY</a:t>
            </a:r>
          </a:p>
          <a:p>
            <a:pPr algn="l">
              <a:spcBef>
                <a:spcPts val="200"/>
              </a:spcBef>
            </a:pPr>
            <a:r>
              <a:rPr sz="1100" b="0">
                <a:solidFill>
                  <a:srgbClr val="222222"/>
                </a:solidFill>
                <a:latin typeface="Calibri"/>
              </a:rPr>
              <a:t>Human reviews the Gmail draft, edits if needed.</a:t>
            </a:r>
          </a:p>
        </p:txBody>
      </p:sp>
      <p:cxnSp>
        <p:nvCxnSpPr>
          <p:cNvPr id="24" name="Connector 23"/>
          <p:cNvCxnSpPr/>
          <p:nvPr/>
        </p:nvCxnSpPr>
        <p:spPr>
          <a:xfrm>
            <a:off x="8793327" y="3337560"/>
            <a:ext cx="182880" cy="0"/>
          </a:xfrm>
          <a:prstGeom prst="bentConnector3">
            <a:avLst/>
          </a:prstGeom>
          <a:ln w="31750">
            <a:solidFill>
              <a:srgbClr val="1F4E79"/>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8976207" y="2697480"/>
            <a:ext cx="2606040" cy="12801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6207" y="2697480"/>
            <a:ext cx="73152" cy="128016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0799" y="2788920"/>
            <a:ext cx="2377440" cy="1097280"/>
          </a:xfrm>
          <a:prstGeom prst="rect">
            <a:avLst/>
          </a:prstGeom>
          <a:noFill/>
        </p:spPr>
        <p:txBody>
          <a:bodyPr wrap="square" lIns="0" rIns="0" tIns="0" bIns="0" anchor="t">
            <a:spAutoFit/>
          </a:bodyPr>
          <a:lstStyle/>
          <a:p>
            <a:pPr algn="l"/>
            <a:r>
              <a:rPr sz="1800" b="1">
                <a:solidFill>
                  <a:srgbClr val="4A7A4A"/>
                </a:solidFill>
                <a:latin typeface="Calibri"/>
              </a:rPr>
              <a:t>DELIVER</a:t>
            </a:r>
          </a:p>
          <a:p>
            <a:pPr algn="l">
              <a:spcBef>
                <a:spcPts val="200"/>
              </a:spcBef>
            </a:pPr>
            <a:r>
              <a:rPr sz="1100" b="0">
                <a:solidFill>
                  <a:srgbClr val="222222"/>
                </a:solidFill>
                <a:latin typeface="Calibri"/>
              </a:rPr>
              <a:t>Send. Reply gets parsed back through tools.poll_replies.</a:t>
            </a:r>
          </a:p>
        </p:txBody>
      </p:sp>
      <p:sp>
        <p:nvSpPr>
          <p:cNvPr id="28" name="TextBox 27"/>
          <p:cNvSpPr txBox="1"/>
          <p:nvPr/>
        </p:nvSpPr>
        <p:spPr>
          <a:xfrm>
            <a:off x="731520" y="4937760"/>
            <a:ext cx="10698480" cy="1463040"/>
          </a:xfrm>
          <a:prstGeom prst="rect">
            <a:avLst/>
          </a:prstGeom>
          <a:noFill/>
        </p:spPr>
        <p:txBody>
          <a:bodyPr wrap="square" lIns="0" rIns="0" tIns="0" bIns="0" anchor="t">
            <a:spAutoFit/>
          </a:bodyPr>
          <a:lstStyle/>
          <a:p>
            <a:pPr algn="l"/>
            <a:r>
              <a:rPr sz="1500" b="1">
                <a:solidFill>
                  <a:srgbClr val="1F4E79"/>
                </a:solidFill>
                <a:latin typeface="Calibri"/>
              </a:rPr>
              <a:t>One client requirement can span multiple developers and multiple channels.</a:t>
            </a:r>
          </a:p>
          <a:p>
            <a:pPr algn="l">
              <a:spcBef>
                <a:spcPts val="600"/>
              </a:spcBef>
            </a:pPr>
            <a:r>
              <a:rPr sz="1300" b="0">
                <a:solidFill>
                  <a:srgbClr val="6B7785"/>
                </a:solidFill>
                <a:latin typeface="Calibri"/>
              </a:rPr>
              <a:t>Half a feature mentioned on a Teams call with Rocky, the rest typed into an email reply to Atik. Without a single reconciliation pass, no one ever sees the whole 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Voice capture on each dev PC</a:t>
            </a:r>
          </a:p>
          <a:p>
            <a:pPr algn="l">
              <a:spcBef>
                <a:spcPts val="200"/>
              </a:spcBef>
            </a:pPr>
            <a:r>
              <a:rPr sz="1400" b="0">
                <a:solidFill>
                  <a:srgbClr val="6B7785"/>
                </a:solidFill>
                <a:latin typeface="Calibri"/>
              </a:rPr>
              <a:t>Auto-trigger on Teams audio. No wake word needed.</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5303520" cy="48463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0"/>
            <a:ext cx="73152" cy="484632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63040"/>
            <a:ext cx="5074920" cy="4663440"/>
          </a:xfrm>
          <a:prstGeom prst="rect">
            <a:avLst/>
          </a:prstGeom>
          <a:noFill/>
        </p:spPr>
        <p:txBody>
          <a:bodyPr wrap="square" lIns="0" rIns="0" tIns="0" bIns="0" anchor="t">
            <a:spAutoFit/>
          </a:bodyPr>
          <a:lstStyle/>
          <a:p>
            <a:pPr algn="l"/>
            <a:r>
              <a:rPr sz="1500" b="1">
                <a:solidFill>
                  <a:srgbClr val="2E8A8A"/>
                </a:solidFill>
                <a:latin typeface="Calibri"/>
              </a:rPr>
              <a:t>voice_daemon.py (per dev PC)</a:t>
            </a:r>
          </a:p>
          <a:p>
            <a:pPr algn="l">
              <a:spcBef>
                <a:spcPts val="200"/>
              </a:spcBef>
            </a:pPr>
            <a:r>
              <a:rPr sz="1200" b="0">
                <a:solidFill>
                  <a:srgbClr val="222222"/>
                </a:solidFill>
                <a:latin typeface="Calibri"/>
              </a:rPr>
              <a:t>Watches MS Teams audio-session state via pycaw.</a:t>
            </a:r>
          </a:p>
          <a:p>
            <a:pPr algn="l">
              <a:spcBef>
                <a:spcPts val="200"/>
              </a:spcBef>
            </a:pPr>
            <a:r>
              <a:rPr sz="1200" b="0">
                <a:solidFill>
                  <a:srgbClr val="222222"/>
                </a:solidFill>
                <a:latin typeface="Calibri"/>
              </a:rPr>
              <a:t>  -&gt; session becomes Active  =&gt;  start recording</a:t>
            </a:r>
          </a:p>
          <a:p>
            <a:pPr algn="l">
              <a:spcBef>
                <a:spcPts val="200"/>
              </a:spcBef>
            </a:pPr>
            <a:r>
              <a:rPr sz="1200" b="0">
                <a:solidFill>
                  <a:srgbClr val="222222"/>
                </a:solidFill>
                <a:latin typeface="Calibri"/>
              </a:rPr>
              <a:t>  -&gt; session ends            =&gt;  stop recording</a:t>
            </a:r>
          </a:p>
          <a:p>
            <a:pPr algn="l">
              <a:spcBef>
                <a:spcPts val="200"/>
              </a:spcBef>
            </a:pPr>
            <a:r>
              <a:rPr sz="1200" b="0">
                <a:solidFill>
                  <a:srgbClr val="222222"/>
                </a:solidFill>
                <a:latin typeface="Calibri"/>
              </a:rPr>
              <a:t/>
            </a:r>
          </a:p>
          <a:p>
            <a:pPr algn="l">
              <a:spcBef>
                <a:spcPts val="200"/>
              </a:spcBef>
            </a:pPr>
            <a:r>
              <a:rPr sz="1200" b="0">
                <a:solidFill>
                  <a:srgbClr val="222222"/>
                </a:solidFill>
                <a:latin typeface="Calibri"/>
              </a:rPr>
              <a:t>No verbal phrase needed in `auto` mode.</a:t>
            </a:r>
          </a:p>
          <a:p>
            <a:pPr algn="l">
              <a:spcBef>
                <a:spcPts val="200"/>
              </a:spcBef>
            </a:pPr>
            <a:r>
              <a:rPr sz="1200" b="0">
                <a:solidFill>
                  <a:srgbClr val="222222"/>
                </a:solidFill>
                <a:latin typeface="Calibri"/>
              </a:rPr>
              <a:t>Wake words still accepted as an early-stop shortcut</a:t>
            </a:r>
          </a:p>
          <a:p>
            <a:pPr algn="l">
              <a:spcBef>
                <a:spcPts val="200"/>
              </a:spcBef>
            </a:pPr>
            <a:r>
              <a:rPr sz="1200" b="0">
                <a:solidFill>
                  <a:srgbClr val="222222"/>
                </a:solidFill>
                <a:latin typeface="Calibri"/>
              </a:rPr>
              <a:t>  ("nucleus stop", "Allah Hafez", ...).</a:t>
            </a:r>
          </a:p>
          <a:p>
            <a:pPr algn="l">
              <a:spcBef>
                <a:spcPts val="200"/>
              </a:spcBef>
            </a:pPr>
            <a:r>
              <a:rPr sz="1200" b="0">
                <a:solidFill>
                  <a:srgbClr val="222222"/>
                </a:solidFill>
                <a:latin typeface="Calibri"/>
              </a:rPr>
              <a:t/>
            </a:r>
          </a:p>
          <a:p>
            <a:pPr algn="l">
              <a:spcBef>
                <a:spcPts val="200"/>
              </a:spcBef>
            </a:pPr>
            <a:r>
              <a:rPr sz="1200" b="0">
                <a:solidFill>
                  <a:srgbClr val="222222"/>
                </a:solidFill>
                <a:latin typeface="Calibri"/>
              </a:rPr>
              <a:t>Records two WAV tracks:</a:t>
            </a:r>
          </a:p>
          <a:p>
            <a:pPr algn="l">
              <a:spcBef>
                <a:spcPts val="200"/>
              </a:spcBef>
            </a:pPr>
            <a:r>
              <a:rPr sz="1200" b="0">
                <a:solidFill>
                  <a:srgbClr val="222222"/>
                </a:solidFill>
                <a:latin typeface="Calibri"/>
              </a:rPr>
              <a:t>  - mic.wav      (your voice)</a:t>
            </a:r>
          </a:p>
          <a:p>
            <a:pPr algn="l">
              <a:spcBef>
                <a:spcPts val="200"/>
              </a:spcBef>
            </a:pPr>
            <a:r>
              <a:rPr sz="1200" b="0">
                <a:solidFill>
                  <a:srgbClr val="222222"/>
                </a:solidFill>
                <a:latin typeface="Calibri"/>
              </a:rPr>
              <a:t>  - speaker.wav  (their voice via WASAPI loopback)</a:t>
            </a:r>
          </a:p>
        </p:txBody>
      </p:sp>
      <p:sp>
        <p:nvSpPr>
          <p:cNvPr id="8" name="Rectangle 7"/>
          <p:cNvSpPr/>
          <p:nvPr/>
        </p:nvSpPr>
        <p:spPr>
          <a:xfrm>
            <a:off x="6035040" y="1371600"/>
            <a:ext cx="5669280" cy="48463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40" y="1371600"/>
            <a:ext cx="73152" cy="484632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99632" y="1463040"/>
            <a:ext cx="5440680" cy="4663440"/>
          </a:xfrm>
          <a:prstGeom prst="rect">
            <a:avLst/>
          </a:prstGeom>
          <a:noFill/>
        </p:spPr>
        <p:txBody>
          <a:bodyPr wrap="square" lIns="0" rIns="0" tIns="0" bIns="0" anchor="t">
            <a:spAutoFit/>
          </a:bodyPr>
          <a:lstStyle/>
          <a:p>
            <a:pPr algn="l"/>
            <a:r>
              <a:rPr sz="1500" b="1">
                <a:solidFill>
                  <a:srgbClr val="4A7A4A"/>
                </a:solidFill>
                <a:latin typeface="Calibri"/>
              </a:rPr>
              <a:t>Post-record pipeline (on stop)</a:t>
            </a:r>
          </a:p>
          <a:p>
            <a:pPr algn="l">
              <a:spcBef>
                <a:spcPts val="200"/>
              </a:spcBef>
            </a:pPr>
            <a:r>
              <a:rPr sz="1200" b="0">
                <a:solidFill>
                  <a:srgbClr val="222222"/>
                </a:solidFill>
                <a:latin typeface="Calibri"/>
              </a:rPr>
              <a:t>1. Comb-notch denoise at 50 Hz + harmonics.</a:t>
            </a:r>
          </a:p>
          <a:p>
            <a:pPr algn="l">
              <a:spcBef>
                <a:spcPts val="200"/>
              </a:spcBef>
            </a:pPr>
            <a:r>
              <a:rPr sz="1200" b="0">
                <a:solidFill>
                  <a:srgbClr val="222222"/>
                </a:solidFill>
                <a:latin typeface="Calibri"/>
              </a:rPr>
              <a:t>      removes mains hum from cheap USB cards.</a:t>
            </a:r>
          </a:p>
          <a:p>
            <a:pPr algn="l">
              <a:spcBef>
                <a:spcPts val="200"/>
              </a:spcBef>
            </a:pPr>
            <a:r>
              <a:rPr sz="1200" b="0">
                <a:solidFill>
                  <a:srgbClr val="222222"/>
                </a:solidFill>
                <a:latin typeface="Calibri"/>
              </a:rPr>
              <a:t/>
            </a:r>
          </a:p>
          <a:p>
            <a:pPr algn="l">
              <a:spcBef>
                <a:spcPts val="200"/>
              </a:spcBef>
            </a:pPr>
            <a:r>
              <a:rPr sz="1200" b="0">
                <a:solidFill>
                  <a:srgbClr val="222222"/>
                </a:solidFill>
                <a:latin typeface="Calibri"/>
              </a:rPr>
              <a:t>2. Peak normalize mic.wav to -1 dBFS.</a:t>
            </a:r>
          </a:p>
          <a:p>
            <a:pPr algn="l">
              <a:spcBef>
                <a:spcPts val="200"/>
              </a:spcBef>
            </a:pPr>
            <a:r>
              <a:rPr sz="1200" b="0">
                <a:solidFill>
                  <a:srgbClr val="222222"/>
                </a:solidFill>
                <a:latin typeface="Calibri"/>
              </a:rPr>
              <a:t>      consistent loudness for Whisper.</a:t>
            </a:r>
          </a:p>
          <a:p>
            <a:pPr algn="l">
              <a:spcBef>
                <a:spcPts val="200"/>
              </a:spcBef>
            </a:pPr>
            <a:r>
              <a:rPr sz="1200" b="0">
                <a:solidFill>
                  <a:srgbClr val="222222"/>
                </a:solidFill>
                <a:latin typeface="Calibri"/>
              </a:rPr>
              <a:t/>
            </a:r>
          </a:p>
          <a:p>
            <a:pPr algn="l">
              <a:spcBef>
                <a:spcPts val="200"/>
              </a:spcBef>
            </a:pPr>
            <a:r>
              <a:rPr sz="1200" b="0">
                <a:solidFill>
                  <a:srgbClr val="222222"/>
                </a:solidFill>
                <a:latin typeface="Calibri"/>
              </a:rPr>
              <a:t>3. Drop calls under 20 seconds.</a:t>
            </a:r>
          </a:p>
          <a:p>
            <a:pPr algn="l">
              <a:spcBef>
                <a:spcPts val="200"/>
              </a:spcBef>
            </a:pPr>
            <a:r>
              <a:rPr sz="1200" b="0">
                <a:solidFill>
                  <a:srgbClr val="222222"/>
                </a:solidFill>
                <a:latin typeface="Calibri"/>
              </a:rPr>
              <a:t>      ringtone-only / accidental triggers.</a:t>
            </a:r>
          </a:p>
          <a:p>
            <a:pPr algn="l">
              <a:spcBef>
                <a:spcPts val="200"/>
              </a:spcBef>
            </a:pPr>
            <a:r>
              <a:rPr sz="1200" b="0">
                <a:solidFill>
                  <a:srgbClr val="222222"/>
                </a:solidFill>
                <a:latin typeface="Calibri"/>
              </a:rPr>
              <a:t/>
            </a:r>
          </a:p>
          <a:p>
            <a:pPr algn="l">
              <a:spcBef>
                <a:spcPts val="200"/>
              </a:spcBef>
            </a:pPr>
            <a:r>
              <a:rPr sz="1200" b="0">
                <a:solidFill>
                  <a:srgbClr val="222222"/>
                </a:solidFill>
                <a:latin typeface="Calibri"/>
              </a:rPr>
              <a:t>4. Hard cap at 1 hour per recording.</a:t>
            </a:r>
          </a:p>
          <a:p>
            <a:pPr algn="l">
              <a:spcBef>
                <a:spcPts val="200"/>
              </a:spcBef>
            </a:pPr>
            <a:r>
              <a:rPr sz="1200" b="0">
                <a:solidFill>
                  <a:srgbClr val="222222"/>
                </a:solidFill>
                <a:latin typeface="Calibri"/>
              </a:rPr>
              <a:t>      guards against a stuck audio-session state.</a:t>
            </a:r>
          </a:p>
          <a:p>
            <a:pPr algn="l">
              <a:spcBef>
                <a:spcPts val="200"/>
              </a:spcBef>
            </a:pPr>
            <a:r>
              <a:rPr sz="1200" b="0">
                <a:solidFill>
                  <a:srgbClr val="222222"/>
                </a:solidFill>
                <a:latin typeface="Calibri"/>
              </a:rPr>
              <a:t/>
            </a:r>
          </a:p>
          <a:p>
            <a:pPr algn="l">
              <a:spcBef>
                <a:spcPts val="200"/>
              </a:spcBef>
            </a:pPr>
            <a:r>
              <a:rPr sz="1200" b="0">
                <a:solidFill>
                  <a:srgbClr val="222222"/>
                </a:solidFill>
                <a:latin typeface="Calibri"/>
              </a:rPr>
              <a:t>5. Resolve client via Teams IndexedDB.</a:t>
            </a:r>
          </a:p>
          <a:p>
            <a:pPr algn="l">
              <a:spcBef>
                <a:spcPts val="200"/>
              </a:spcBef>
            </a:pPr>
            <a:r>
              <a:rPr sz="1200" b="0">
                <a:solidFill>
                  <a:srgbClr val="222222"/>
                </a:solidFill>
                <a:latin typeface="Calibri"/>
              </a:rPr>
              <a:t>      every WAV lands self-labeled.</a:t>
            </a:r>
          </a:p>
          <a:p>
            <a:pPr algn="l">
              <a:spcBef>
                <a:spcPts val="200"/>
              </a:spcBef>
            </a:pPr>
            <a:r>
              <a:rPr sz="1200" b="0">
                <a:solidFill>
                  <a:srgbClr val="222222"/>
                </a:solidFill>
                <a:latin typeface="Calibri"/>
              </a:rPr>
              <a:t/>
            </a:r>
          </a:p>
          <a:p>
            <a:pPr algn="l">
              <a:spcBef>
                <a:spcPts val="200"/>
              </a:spcBef>
            </a:pPr>
            <a:r>
              <a:rPr sz="1200" b="0">
                <a:solidFill>
                  <a:srgbClr val="222222"/>
                </a:solidFill>
                <a:latin typeface="Calibri"/>
              </a:rPr>
              <a:t>6. Copy to central share with metadata sidecar.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Where the call lands</a:t>
            </a:r>
          </a:p>
          <a:p>
            <a:pPr algn="l">
              <a:spcBef>
                <a:spcPts val="200"/>
              </a:spcBef>
            </a:pPr>
            <a:r>
              <a:rPr sz="1400" b="0">
                <a:solidFill>
                  <a:srgbClr val="6B7785"/>
                </a:solidFill>
                <a:latin typeface="Calibri"/>
              </a:rPr>
              <a:t>Samba share on .123. One folder per dev, per day.</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377440"/>
            <a:ext cx="2377440" cy="91440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Dev PC
(voice_daemon)</a:t>
            </a:r>
          </a:p>
        </p:txBody>
      </p:sp>
      <p:cxnSp>
        <p:nvCxnSpPr>
          <p:cNvPr id="6" name="Connector 5"/>
          <p:cNvCxnSpPr/>
          <p:nvPr/>
        </p:nvCxnSpPr>
        <p:spPr>
          <a:xfrm>
            <a:off x="3017520" y="2834640"/>
            <a:ext cx="1828800" cy="0"/>
          </a:xfrm>
          <a:prstGeom prst="bentConnector3">
            <a:avLst/>
          </a:prstGeom>
          <a:ln w="38100">
            <a:solidFill>
              <a:srgbClr val="1F4E7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3017520" y="2286000"/>
            <a:ext cx="1828800" cy="457200"/>
          </a:xfrm>
          <a:prstGeom prst="rect">
            <a:avLst/>
          </a:prstGeom>
          <a:noFill/>
        </p:spPr>
        <p:txBody>
          <a:bodyPr wrap="square" lIns="0" rIns="0" tIns="0" bIns="0" anchor="t">
            <a:spAutoFit/>
          </a:bodyPr>
          <a:lstStyle/>
          <a:p>
            <a:pPr algn="ctr"/>
            <a:r>
              <a:rPr sz="1200" b="1">
                <a:solidFill>
                  <a:srgbClr val="1F4E79"/>
                </a:solidFill>
                <a:latin typeface="Calibri"/>
              </a:rPr>
              <a:t>SMB / Samba</a:t>
            </a:r>
          </a:p>
        </p:txBody>
      </p:sp>
      <p:sp>
        <p:nvSpPr>
          <p:cNvPr id="8" name="TextBox 7"/>
          <p:cNvSpPr txBox="1"/>
          <p:nvPr/>
        </p:nvSpPr>
        <p:spPr>
          <a:xfrm>
            <a:off x="3017520" y="3017520"/>
            <a:ext cx="1828800" cy="457200"/>
          </a:xfrm>
          <a:prstGeom prst="rect">
            <a:avLst/>
          </a:prstGeom>
          <a:noFill/>
        </p:spPr>
        <p:txBody>
          <a:bodyPr wrap="square" lIns="0" rIns="0" tIns="0" bIns="0" anchor="t">
            <a:spAutoFit/>
          </a:bodyPr>
          <a:lstStyle/>
          <a:p>
            <a:pPr algn="ctr"/>
            <a:r>
              <a:rPr sz="1000" b="0">
                <a:solidFill>
                  <a:srgbClr val="6B7785"/>
                </a:solidFill>
                <a:latin typeface="Calibri"/>
              </a:rPr>
              <a:t>(port 445)</a:t>
            </a:r>
          </a:p>
        </p:txBody>
      </p:sp>
      <p:sp>
        <p:nvSpPr>
          <p:cNvPr id="9" name="Rectangle 8"/>
          <p:cNvSpPr/>
          <p:nvPr/>
        </p:nvSpPr>
        <p:spPr>
          <a:xfrm>
            <a:off x="4937760" y="1371600"/>
            <a:ext cx="6766560" cy="48463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937760" y="1371600"/>
            <a:ext cx="73152" cy="484632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2352" y="1463040"/>
            <a:ext cx="6537960" cy="4663440"/>
          </a:xfrm>
          <a:prstGeom prst="rect">
            <a:avLst/>
          </a:prstGeom>
          <a:noFill/>
        </p:spPr>
        <p:txBody>
          <a:bodyPr wrap="square" lIns="0" rIns="0" tIns="0" bIns="0" anchor="t">
            <a:spAutoFit/>
          </a:bodyPr>
          <a:lstStyle/>
          <a:p>
            <a:pPr algn="l"/>
            <a:r>
              <a:rPr sz="1300" b="1">
                <a:solidFill>
                  <a:srgbClr val="6A4C93"/>
                </a:solidFill>
                <a:latin typeface="Calibri"/>
              </a:rPr>
              <a:t>\\172.16.205.123\nucleus-central\\</a:t>
            </a:r>
          </a:p>
          <a:p>
            <a:pPr algn="l">
              <a:spcBef>
                <a:spcPts val="200"/>
              </a:spcBef>
            </a:pPr>
            <a:r>
              <a:rPr sz="1100" b="0">
                <a:solidFill>
                  <a:srgbClr val="222222"/>
                </a:solidFill>
                <a:latin typeface="Calibri"/>
              </a:rPr>
              <a:t>    salman\\2026-05-14\\</a:t>
            </a:r>
          </a:p>
          <a:p>
            <a:pPr algn="l">
              <a:spcBef>
                <a:spcPts val="200"/>
              </a:spcBef>
            </a:pPr>
            <a:r>
              <a:rPr sz="1100" b="0">
                <a:solidFill>
                  <a:srgbClr val="222222"/>
                </a:solidFill>
                <a:latin typeface="Calibri"/>
              </a:rPr>
              <a:t>        calls\</a:t>
            </a:r>
          </a:p>
          <a:p>
            <a:pPr algn="l">
              <a:spcBef>
                <a:spcPts val="200"/>
              </a:spcBef>
            </a:pPr>
            <a:r>
              <a:rPr sz="1100" b="0">
                <a:solidFill>
                  <a:srgbClr val="222222"/>
                </a:solidFill>
                <a:latin typeface="Calibri"/>
              </a:rPr>
              <a:t>            20260514-100432_mic.wav</a:t>
            </a:r>
          </a:p>
          <a:p>
            <a:pPr algn="l">
              <a:spcBef>
                <a:spcPts val="200"/>
              </a:spcBef>
            </a:pPr>
            <a:r>
              <a:rPr sz="1100" b="0">
                <a:solidFill>
                  <a:srgbClr val="222222"/>
                </a:solidFill>
                <a:latin typeface="Calibri"/>
              </a:rPr>
              <a:t>            20260514-100432_speaker.wav</a:t>
            </a:r>
          </a:p>
          <a:p>
            <a:pPr algn="l">
              <a:spcBef>
                <a:spcPts val="200"/>
              </a:spcBef>
            </a:pPr>
            <a:r>
              <a:rPr sz="1100" b="0">
                <a:solidFill>
                  <a:srgbClr val="222222"/>
                </a:solidFill>
                <a:latin typeface="Calibri"/>
              </a:rPr>
              <a:t>            20260514-100432_transcript.md</a:t>
            </a:r>
          </a:p>
          <a:p>
            <a:pPr algn="l">
              <a:spcBef>
                <a:spcPts val="200"/>
              </a:spcBef>
            </a:pPr>
            <a:r>
              <a:rPr sz="1100" b="0">
                <a:solidFill>
                  <a:srgbClr val="222222"/>
                </a:solidFill>
                <a:latin typeface="Calibri"/>
              </a:rPr>
              <a:t>            20260514-100432.json     (metadata)</a:t>
            </a:r>
          </a:p>
          <a:p>
            <a:pPr algn="l">
              <a:spcBef>
                <a:spcPts val="200"/>
              </a:spcBef>
            </a:pPr>
            <a:r>
              <a:rPr sz="1100" b="0">
                <a:solidFill>
                  <a:srgbClr val="222222"/>
                </a:solidFill>
                <a:latin typeface="Calibri"/>
              </a:rPr>
              <a:t>        chat\</a:t>
            </a:r>
          </a:p>
          <a:p>
            <a:pPr algn="l">
              <a:spcBef>
                <a:spcPts val="200"/>
              </a:spcBef>
            </a:pPr>
            <a:r>
              <a:rPr sz="1100" b="0">
                <a:solidFill>
                  <a:srgbClr val="222222"/>
                </a:solidFill>
                <a:latin typeface="Calibri"/>
              </a:rPr>
              <a:t>            chat_2026-05-14_1000-1015.docx</a:t>
            </a:r>
          </a:p>
          <a:p>
            <a:pPr algn="l">
              <a:spcBef>
                <a:spcPts val="200"/>
              </a:spcBef>
            </a:pPr>
            <a:r>
              <a:rPr sz="1100" b="0">
                <a:solidFill>
                  <a:srgbClr val="222222"/>
                </a:solidFill>
                <a:latin typeface="Calibri"/>
              </a:rPr>
              <a:t>        email\        (staged on .123)</a:t>
            </a:r>
          </a:p>
          <a:p>
            <a:pPr algn="l">
              <a:spcBef>
                <a:spcPts val="200"/>
              </a:spcBef>
            </a:pPr>
            <a:r>
              <a:rPr sz="1100" b="0">
                <a:solidFill>
                  <a:srgbClr val="222222"/>
                </a:solidFill>
                <a:latin typeface="Calibri"/>
              </a:rPr>
              <a:t>        drive\        (staged on .123)</a:t>
            </a:r>
          </a:p>
          <a:p>
            <a:pPr algn="l">
              <a:spcBef>
                <a:spcPts val="200"/>
              </a:spcBef>
            </a:pPr>
            <a:r>
              <a:rPr sz="1100" b="0">
                <a:solidFill>
                  <a:srgbClr val="222222"/>
                </a:solidFill>
                <a:latin typeface="Calibri"/>
              </a:rPr>
              <a:t>    rocky\2026-05-14\</a:t>
            </a:r>
          </a:p>
          <a:p>
            <a:pPr algn="l">
              <a:spcBef>
                <a:spcPts val="200"/>
              </a:spcBef>
            </a:pPr>
            <a:r>
              <a:rPr sz="1100" b="0">
                <a:solidFill>
                  <a:srgbClr val="222222"/>
                </a:solidFill>
                <a:latin typeface="Calibri"/>
              </a:rPr>
              <a:t>        calls\ ...</a:t>
            </a:r>
          </a:p>
          <a:p>
            <a:pPr algn="l">
              <a:spcBef>
                <a:spcPts val="200"/>
              </a:spcBef>
            </a:pPr>
            <a:r>
              <a:rPr sz="1100" b="0">
                <a:solidFill>
                  <a:srgbClr val="222222"/>
                </a:solidFill>
                <a:latin typeface="Calibri"/>
              </a:rPr>
              <a:t>    isruk\2026-05-14\</a:t>
            </a:r>
          </a:p>
          <a:p>
            <a:pPr algn="l">
              <a:spcBef>
                <a:spcPts val="200"/>
              </a:spcBef>
            </a:pPr>
            <a:r>
              <a:rPr sz="1100" b="0">
                <a:solidFill>
                  <a:srgbClr val="222222"/>
                </a:solidFill>
                <a:latin typeface="Calibri"/>
              </a:rPr>
              <a:t>        ...</a:t>
            </a:r>
          </a:p>
          <a:p>
            <a:pPr algn="l">
              <a:spcBef>
                <a:spcPts val="200"/>
              </a:spcBef>
            </a:pPr>
            <a:r>
              <a:rPr sz="1100" b="0">
                <a:solidFill>
                  <a:srgbClr val="222222"/>
                </a:solidFill>
                <a:latin typeface="Calibri"/>
              </a:rPr>
              <a:t/>
            </a:r>
          </a:p>
          <a:p>
            <a:pPr algn="l">
              <a:spcBef>
                <a:spcPts val="200"/>
              </a:spcBef>
            </a:pPr>
            <a:r>
              <a:rPr sz="1100" b="0">
                <a:solidFill>
                  <a:srgbClr val="222222"/>
                </a:solidFill>
                <a:latin typeface="Calibri"/>
              </a:rPr>
              <a:t>metadata.client_name comes from the IndexedDB resolver.</a:t>
            </a:r>
          </a:p>
          <a:p>
            <a:pPr algn="l">
              <a:spcBef>
                <a:spcPts val="200"/>
              </a:spcBef>
            </a:pPr>
            <a:r>
              <a:rPr sz="1100" b="0">
                <a:solidFill>
                  <a:srgbClr val="222222"/>
                </a:solidFill>
                <a:latin typeface="Calibri"/>
              </a:rPr>
              <a:t>collect_central uses substring match on this field</a:t>
            </a:r>
          </a:p>
          <a:p>
            <a:pPr algn="l">
              <a:spcBef>
                <a:spcPts val="200"/>
              </a:spcBef>
            </a:pPr>
            <a:r>
              <a:rPr sz="1100" b="0">
                <a:solidFill>
                  <a:srgbClr val="222222"/>
                </a:solidFill>
                <a:latin typeface="Calibri"/>
              </a:rPr>
              <a:t>to scope by client.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The .123 Linux central host</a:t>
            </a:r>
          </a:p>
          <a:p>
            <a:pPr algn="l">
              <a:spcBef>
                <a:spcPts val="200"/>
              </a:spcBef>
            </a:pPr>
            <a:r>
              <a:rPr sz="1400" b="0">
                <a:solidFill>
                  <a:srgbClr val="6B7785"/>
                </a:solidFill>
                <a:latin typeface="Calibri"/>
              </a:rPr>
              <a:t>Ubuntu 24.04. Six containers. One docker-compose stack.</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1155680" cy="457200"/>
          </a:xfrm>
          <a:prstGeom prst="rect">
            <a:avLst/>
          </a:prstGeom>
          <a:noFill/>
        </p:spPr>
        <p:txBody>
          <a:bodyPr wrap="square" lIns="0" rIns="0" tIns="0" bIns="0" anchor="t">
            <a:spAutoFit/>
          </a:bodyPr>
          <a:lstStyle/>
          <a:p>
            <a:pPr algn="l"/>
            <a:r>
              <a:rPr sz="1300" b="0">
                <a:solidFill>
                  <a:srgbClr val="6B7785"/>
                </a:solidFill>
                <a:latin typeface="Consolas"/>
              </a:rPr>
              <a:t>/home/ubuntu/napco-nucleus/deploy/linux-central/</a:t>
            </a:r>
          </a:p>
        </p:txBody>
      </p:sp>
      <p:sp>
        <p:nvSpPr>
          <p:cNvPr id="6" name="Rectangle 5"/>
          <p:cNvSpPr/>
          <p:nvPr/>
        </p:nvSpPr>
        <p:spPr>
          <a:xfrm>
            <a:off x="457200" y="1828800"/>
            <a:ext cx="3703320" cy="18288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828800"/>
            <a:ext cx="73152" cy="182880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920240"/>
            <a:ext cx="3474720" cy="1645920"/>
          </a:xfrm>
          <a:prstGeom prst="rect">
            <a:avLst/>
          </a:prstGeom>
          <a:noFill/>
        </p:spPr>
        <p:txBody>
          <a:bodyPr wrap="square" lIns="0" rIns="0" tIns="0" bIns="0" anchor="t">
            <a:spAutoFit/>
          </a:bodyPr>
          <a:lstStyle/>
          <a:p>
            <a:pPr algn="l"/>
            <a:r>
              <a:rPr sz="1400" b="1">
                <a:solidFill>
                  <a:srgbClr val="2E8A8A"/>
                </a:solidFill>
                <a:latin typeface="Calibri"/>
              </a:rPr>
              <a:t>nucleus-samba</a:t>
            </a:r>
          </a:p>
          <a:p>
            <a:pPr algn="l">
              <a:spcBef>
                <a:spcPts val="200"/>
              </a:spcBef>
            </a:pPr>
            <a:r>
              <a:rPr sz="1100" b="0">
                <a:solidFill>
                  <a:srgbClr val="222222"/>
                </a:solidFill>
                <a:latin typeface="Calibri"/>
              </a:rPr>
              <a:t>Serves SMB share to dev PCs.</a:t>
            </a:r>
          </a:p>
          <a:p>
            <a:pPr algn="l">
              <a:spcBef>
                <a:spcPts val="200"/>
              </a:spcBef>
            </a:pPr>
            <a:r>
              <a:rPr sz="1100" b="0">
                <a:solidFill>
                  <a:srgbClr val="222222"/>
                </a:solidFill>
                <a:latin typeface="Calibri"/>
              </a:rPr>
              <a:t>Host network mode (port 445).</a:t>
            </a:r>
          </a:p>
        </p:txBody>
      </p:sp>
      <p:sp>
        <p:nvSpPr>
          <p:cNvPr id="9" name="Rectangle 8"/>
          <p:cNvSpPr/>
          <p:nvPr/>
        </p:nvSpPr>
        <p:spPr>
          <a:xfrm>
            <a:off x="4297680" y="1828800"/>
            <a:ext cx="3703320" cy="18288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97680" y="1828800"/>
            <a:ext cx="73152" cy="182880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62272" y="1920240"/>
            <a:ext cx="3474720" cy="1645920"/>
          </a:xfrm>
          <a:prstGeom prst="rect">
            <a:avLst/>
          </a:prstGeom>
          <a:noFill/>
        </p:spPr>
        <p:txBody>
          <a:bodyPr wrap="square" lIns="0" rIns="0" tIns="0" bIns="0" anchor="t">
            <a:spAutoFit/>
          </a:bodyPr>
          <a:lstStyle/>
          <a:p>
            <a:pPr algn="l"/>
            <a:r>
              <a:rPr sz="1400" b="1">
                <a:solidFill>
                  <a:srgbClr val="6A4C93"/>
                </a:solidFill>
                <a:latin typeface="Calibri"/>
              </a:rPr>
              <a:t>nucleus-transcribe</a:t>
            </a:r>
          </a:p>
          <a:p>
            <a:pPr algn="l">
              <a:spcBef>
                <a:spcPts val="200"/>
              </a:spcBef>
            </a:pPr>
            <a:r>
              <a:rPr sz="1100" b="0">
                <a:solidFill>
                  <a:srgbClr val="222222"/>
                </a:solidFill>
                <a:latin typeface="Calibri"/>
              </a:rPr>
              <a:t>Loop: walks /data for new calls.</a:t>
            </a:r>
          </a:p>
          <a:p>
            <a:pPr algn="l">
              <a:spcBef>
                <a:spcPts val="200"/>
              </a:spcBef>
            </a:pPr>
            <a:r>
              <a:rPr sz="1100" b="0">
                <a:solidFill>
                  <a:srgbClr val="222222"/>
                </a:solidFill>
                <a:latin typeface="Calibri"/>
              </a:rPr>
              <a:t>Groq first, faster-whisper fallback.</a:t>
            </a:r>
          </a:p>
        </p:txBody>
      </p:sp>
      <p:sp>
        <p:nvSpPr>
          <p:cNvPr id="12" name="Rectangle 11"/>
          <p:cNvSpPr/>
          <p:nvPr/>
        </p:nvSpPr>
        <p:spPr>
          <a:xfrm>
            <a:off x="8138160" y="1828800"/>
            <a:ext cx="3703320" cy="18288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38160" y="1828800"/>
            <a:ext cx="73152" cy="182880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02752" y="1920240"/>
            <a:ext cx="3474720" cy="1645920"/>
          </a:xfrm>
          <a:prstGeom prst="rect">
            <a:avLst/>
          </a:prstGeom>
          <a:noFill/>
        </p:spPr>
        <p:txBody>
          <a:bodyPr wrap="square" lIns="0" rIns="0" tIns="0" bIns="0" anchor="t">
            <a:spAutoFit/>
          </a:bodyPr>
          <a:lstStyle/>
          <a:p>
            <a:pPr algn="l"/>
            <a:r>
              <a:rPr sz="1400" b="1">
                <a:solidFill>
                  <a:srgbClr val="E07856"/>
                </a:solidFill>
                <a:latin typeface="Calibri"/>
              </a:rPr>
              <a:t>nucleus-stage-email</a:t>
            </a:r>
          </a:p>
          <a:p>
            <a:pPr algn="l">
              <a:spcBef>
                <a:spcPts val="200"/>
              </a:spcBef>
            </a:pPr>
            <a:r>
              <a:rPr sz="1100" b="0">
                <a:solidFill>
                  <a:srgbClr val="222222"/>
                </a:solidFill>
                <a:latin typeface="Calibri"/>
              </a:rPr>
              <a:t>15-min cadence.</a:t>
            </a:r>
          </a:p>
          <a:p>
            <a:pPr algn="l">
              <a:spcBef>
                <a:spcPts val="200"/>
              </a:spcBef>
            </a:pPr>
            <a:r>
              <a:rPr sz="1100" b="0">
                <a:solidFill>
                  <a:srgbClr val="222222"/>
                </a:solidFill>
                <a:latin typeface="Calibri"/>
              </a:rPr>
              <a:t>Gmail IMAP -&gt; per-dev /email/ folders.</a:t>
            </a:r>
          </a:p>
        </p:txBody>
      </p:sp>
      <p:sp>
        <p:nvSpPr>
          <p:cNvPr id="15" name="Rectangle 14"/>
          <p:cNvSpPr/>
          <p:nvPr/>
        </p:nvSpPr>
        <p:spPr>
          <a:xfrm>
            <a:off x="457200" y="3794760"/>
            <a:ext cx="3703320" cy="18288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794760"/>
            <a:ext cx="73152" cy="182880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 y="3886200"/>
            <a:ext cx="3474720" cy="1645920"/>
          </a:xfrm>
          <a:prstGeom prst="rect">
            <a:avLst/>
          </a:prstGeom>
          <a:noFill/>
        </p:spPr>
        <p:txBody>
          <a:bodyPr wrap="square" lIns="0" rIns="0" tIns="0" bIns="0" anchor="t">
            <a:spAutoFit/>
          </a:bodyPr>
          <a:lstStyle/>
          <a:p>
            <a:pPr algn="l"/>
            <a:r>
              <a:rPr sz="1400" b="1">
                <a:solidFill>
                  <a:srgbClr val="C9962B"/>
                </a:solidFill>
                <a:latin typeface="Calibri"/>
              </a:rPr>
              <a:t>nucleus-stage-drive</a:t>
            </a:r>
          </a:p>
          <a:p>
            <a:pPr algn="l">
              <a:spcBef>
                <a:spcPts val="200"/>
              </a:spcBef>
            </a:pPr>
            <a:r>
              <a:rPr sz="1100" b="0">
                <a:solidFill>
                  <a:srgbClr val="222222"/>
                </a:solidFill>
                <a:latin typeface="Calibri"/>
              </a:rPr>
              <a:t>15-min cadence.</a:t>
            </a:r>
          </a:p>
          <a:p>
            <a:pPr algn="l">
              <a:spcBef>
                <a:spcPts val="200"/>
              </a:spcBef>
            </a:pPr>
            <a:r>
              <a:rPr sz="1100" b="0">
                <a:solidFill>
                  <a:srgbClr val="222222"/>
                </a:solidFill>
                <a:latin typeface="Calibri"/>
              </a:rPr>
              <a:t>Drive folder -&gt; per-dev /drive/ folders.</a:t>
            </a:r>
          </a:p>
        </p:txBody>
      </p:sp>
      <p:sp>
        <p:nvSpPr>
          <p:cNvPr id="18" name="Rectangle 17"/>
          <p:cNvSpPr/>
          <p:nvPr/>
        </p:nvSpPr>
        <p:spPr>
          <a:xfrm>
            <a:off x="4297680" y="3794760"/>
            <a:ext cx="3703320" cy="18288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3794760"/>
            <a:ext cx="73152" cy="182880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62272" y="3886200"/>
            <a:ext cx="3474720" cy="1645920"/>
          </a:xfrm>
          <a:prstGeom prst="rect">
            <a:avLst/>
          </a:prstGeom>
          <a:noFill/>
        </p:spPr>
        <p:txBody>
          <a:bodyPr wrap="square" lIns="0" rIns="0" tIns="0" bIns="0" anchor="t">
            <a:spAutoFit/>
          </a:bodyPr>
          <a:lstStyle/>
          <a:p>
            <a:pPr algn="l"/>
            <a:r>
              <a:rPr sz="1400" b="1">
                <a:solidFill>
                  <a:srgbClr val="4A7A4A"/>
                </a:solidFill>
                <a:latin typeface="Calibri"/>
              </a:rPr>
              <a:t>nucleus-daily-draft</a:t>
            </a:r>
          </a:p>
          <a:p>
            <a:pPr algn="l">
              <a:spcBef>
                <a:spcPts val="200"/>
              </a:spcBef>
            </a:pPr>
            <a:r>
              <a:rPr sz="1100" b="0">
                <a:solidFill>
                  <a:srgbClr val="222222"/>
                </a:solidFill>
                <a:latin typeface="Calibri"/>
              </a:rPr>
              <a:t>Fires at BD 23:45.</a:t>
            </a:r>
          </a:p>
          <a:p>
            <a:pPr algn="l">
              <a:spcBef>
                <a:spcPts val="200"/>
              </a:spcBef>
            </a:pPr>
            <a:r>
              <a:rPr sz="1100" b="0">
                <a:solidFill>
                  <a:srgbClr val="222222"/>
                </a:solidFill>
                <a:latin typeface="Calibri"/>
              </a:rPr>
              <a:t>Runs collect_central.py --client all.</a:t>
            </a:r>
          </a:p>
        </p:txBody>
      </p:sp>
      <p:sp>
        <p:nvSpPr>
          <p:cNvPr id="21" name="Rectangle 20"/>
          <p:cNvSpPr/>
          <p:nvPr/>
        </p:nvSpPr>
        <p:spPr>
          <a:xfrm>
            <a:off x="8138160" y="3794760"/>
            <a:ext cx="3703320" cy="18288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38160" y="3794760"/>
            <a:ext cx="73152" cy="18288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02752" y="3886200"/>
            <a:ext cx="3474720" cy="1645920"/>
          </a:xfrm>
          <a:prstGeom prst="rect">
            <a:avLst/>
          </a:prstGeom>
          <a:noFill/>
        </p:spPr>
        <p:txBody>
          <a:bodyPr wrap="square" lIns="0" rIns="0" tIns="0" bIns="0" anchor="t">
            <a:spAutoFit/>
          </a:bodyPr>
          <a:lstStyle/>
          <a:p>
            <a:pPr algn="l"/>
            <a:r>
              <a:rPr sz="1400" b="1">
                <a:solidFill>
                  <a:srgbClr val="1F4E79"/>
                </a:solidFill>
                <a:latin typeface="Calibri"/>
              </a:rPr>
              <a:t>nucleus-gha-runner</a:t>
            </a:r>
          </a:p>
          <a:p>
            <a:pPr algn="l">
              <a:spcBef>
                <a:spcPts val="200"/>
              </a:spcBef>
            </a:pPr>
            <a:r>
              <a:rPr sz="1100" b="0">
                <a:solidFill>
                  <a:srgbClr val="222222"/>
                </a:solidFill>
                <a:latin typeface="Calibri"/>
              </a:rPr>
              <a:t>Org-scoped self-hosted runner.</a:t>
            </a:r>
          </a:p>
          <a:p>
            <a:pPr algn="l">
              <a:spcBef>
                <a:spcPts val="200"/>
              </a:spcBef>
            </a:pPr>
            <a:r>
              <a:rPr sz="1100" b="0">
                <a:solidFill>
                  <a:srgbClr val="222222"/>
                </a:solidFill>
                <a:latin typeface="Calibri"/>
              </a:rPr>
              <a:t>Labels: linux, nucleus-central.</a:t>
            </a:r>
          </a:p>
        </p:txBody>
      </p:sp>
      <p:sp>
        <p:nvSpPr>
          <p:cNvPr id="24" name="TextBox 23"/>
          <p:cNvSpPr txBox="1"/>
          <p:nvPr/>
        </p:nvSpPr>
        <p:spPr>
          <a:xfrm>
            <a:off x="548640" y="5806440"/>
            <a:ext cx="11155680" cy="640080"/>
          </a:xfrm>
          <a:prstGeom prst="rect">
            <a:avLst/>
          </a:prstGeom>
          <a:noFill/>
        </p:spPr>
        <p:txBody>
          <a:bodyPr wrap="square" lIns="0" rIns="0" tIns="0" bIns="0" anchor="t">
            <a:spAutoFit/>
          </a:bodyPr>
          <a:lstStyle/>
          <a:p>
            <a:pPr algn="l"/>
            <a:r>
              <a:rPr sz="1200" b="1">
                <a:solidFill>
                  <a:srgbClr val="1F4E79"/>
                </a:solidFill>
                <a:latin typeface="Calibri"/>
              </a:rPr>
              <a:t>Bind mounts:</a:t>
            </a:r>
          </a:p>
          <a:p>
            <a:pPr algn="l">
              <a:spcBef>
                <a:spcPts val="100"/>
              </a:spcBef>
            </a:pPr>
            <a:r>
              <a:rPr sz="1100" b="0">
                <a:solidFill>
                  <a:srgbClr val="222222"/>
                </a:solidFill>
                <a:latin typeface="Consolas"/>
              </a:rPr>
              <a:t>/srv/nucleus-central  -&gt; /data/nucleus-central     (everyone shares this dir, Samba serves it)</a:t>
            </a:r>
          </a:p>
          <a:p>
            <a:pPr algn="l">
              <a:spcBef>
                <a:spcPts val="100"/>
              </a:spcBef>
            </a:pPr>
            <a:r>
              <a:rPr sz="1100" b="0">
                <a:solidFill>
                  <a:srgbClr val="222222"/>
                </a:solidFill>
                <a:latin typeface="Consolas"/>
              </a:rPr>
              <a:t>/srv/nucleus-data     -&gt; /app/data                 (writable overlay of repo's data/, holds session docs + locks)</a:t>
            </a:r>
          </a:p>
          <a:p>
            <a:pPr algn="l">
              <a:spcBef>
                <a:spcPts val="100"/>
              </a:spcBef>
            </a:pPr>
            <a:r>
              <a:rPr sz="1100" b="0">
                <a:solidFill>
                  <a:srgbClr val="222222"/>
                </a:solidFill>
                <a:latin typeface="Consolas"/>
              </a:rPr>
              <a:t>nucleus-state (vol)   -&gt; /state                    (sqlite memory db; survives `compose down`)</a:t>
            </a:r>
          </a:p>
          <a:p>
            <a:pPr algn="l">
              <a:spcBef>
                <a:spcPts val="100"/>
              </a:spcBef>
            </a:pPr>
            <a:r>
              <a:rPr sz="1100" b="0">
                <a:solidFill>
                  <a:srgbClr val="222222"/>
                </a:solidFill>
                <a:latin typeface="Consolas"/>
              </a:rPr>
              <a:t>/home/ubuntu/.claude  -&gt; /root/.claude  (read-only) (Claude Max-tier auth, every worker inherits)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Transcription pipeline</a:t>
            </a:r>
          </a:p>
          <a:p>
            <a:pPr algn="l">
              <a:spcBef>
                <a:spcPts val="200"/>
              </a:spcBef>
            </a:pPr>
            <a:r>
              <a:rPr sz="1400" b="0">
                <a:solidFill>
                  <a:srgbClr val="6B7785"/>
                </a:solidFill>
                <a:latin typeface="Calibri"/>
              </a:rPr>
              <a:t>Groq primary. faster-whisper fallback. Same model on both.</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5577840" cy="48463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0"/>
            <a:ext cx="73152" cy="484632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63040"/>
            <a:ext cx="5349240" cy="4663440"/>
          </a:xfrm>
          <a:prstGeom prst="rect">
            <a:avLst/>
          </a:prstGeom>
          <a:noFill/>
        </p:spPr>
        <p:txBody>
          <a:bodyPr wrap="square" lIns="0" rIns="0" tIns="0" bIns="0" anchor="t">
            <a:spAutoFit/>
          </a:bodyPr>
          <a:lstStyle/>
          <a:p>
            <a:pPr algn="l"/>
            <a:r>
              <a:rPr sz="1500" b="1">
                <a:solidFill>
                  <a:srgbClr val="4A7A4A"/>
                </a:solidFill>
                <a:latin typeface="Calibri"/>
              </a:rPr>
              <a:t>Primary: Groq Whisper (cloud)</a:t>
            </a:r>
          </a:p>
          <a:p>
            <a:pPr algn="l">
              <a:spcBef>
                <a:spcPts val="200"/>
              </a:spcBef>
            </a:pPr>
            <a:r>
              <a:rPr sz="1200" b="0">
                <a:solidFill>
                  <a:srgbClr val="222222"/>
                </a:solidFill>
                <a:latin typeface="Calibri"/>
              </a:rPr>
              <a:t>Model:       whisper-large-v3</a:t>
            </a:r>
          </a:p>
          <a:p>
            <a:pPr algn="l">
              <a:spcBef>
                <a:spcPts val="200"/>
              </a:spcBef>
            </a:pPr>
            <a:r>
              <a:rPr sz="1200" b="0">
                <a:solidFill>
                  <a:srgbClr val="222222"/>
                </a:solidFill>
                <a:latin typeface="Calibri"/>
              </a:rPr>
              <a:t>Endpoint:    api.groq.com/openai/v1/audio/translations</a:t>
            </a:r>
          </a:p>
          <a:p>
            <a:pPr algn="l">
              <a:spcBef>
                <a:spcPts val="200"/>
              </a:spcBef>
            </a:pPr>
            <a:r>
              <a:rPr sz="1200" b="0">
                <a:solidFill>
                  <a:srgbClr val="222222"/>
                </a:solidFill>
                <a:latin typeface="Calibri"/>
              </a:rPr>
              <a:t>Hardware:    Groq LPU (GPU class)</a:t>
            </a:r>
          </a:p>
          <a:p>
            <a:pPr algn="l">
              <a:spcBef>
                <a:spcPts val="200"/>
              </a:spcBef>
            </a:pPr>
            <a:r>
              <a:rPr sz="1200" b="0">
                <a:solidFill>
                  <a:srgbClr val="222222"/>
                </a:solidFill>
                <a:latin typeface="Calibri"/>
              </a:rPr>
              <a:t>Throughput:  ~30 s per call (typical 3-min call)</a:t>
            </a:r>
          </a:p>
          <a:p>
            <a:pPr algn="l">
              <a:spcBef>
                <a:spcPts val="200"/>
              </a:spcBef>
            </a:pPr>
            <a:r>
              <a:rPr sz="1200" b="0">
                <a:solidFill>
                  <a:srgbClr val="222222"/>
                </a:solidFill>
                <a:latin typeface="Calibri"/>
              </a:rPr>
              <a:t>Cost:        free tier, 8 hours of audio/day</a:t>
            </a:r>
          </a:p>
          <a:p>
            <a:pPr algn="l">
              <a:spcBef>
                <a:spcPts val="200"/>
              </a:spcBef>
            </a:pPr>
            <a:r>
              <a:rPr sz="1200" b="0">
                <a:solidFill>
                  <a:srgbClr val="222222"/>
                </a:solidFill>
                <a:latin typeface="Calibri"/>
              </a:rPr>
              <a:t>Limit:       file size capped at 25 MB</a:t>
            </a:r>
          </a:p>
          <a:p>
            <a:pPr algn="l">
              <a:spcBef>
                <a:spcPts val="200"/>
              </a:spcBef>
            </a:pPr>
            <a:r>
              <a:rPr sz="1200" b="0">
                <a:solidFill>
                  <a:srgbClr val="222222"/>
                </a:solidFill>
                <a:latin typeface="Calibri"/>
              </a:rPr>
              <a:t/>
            </a:r>
          </a:p>
          <a:p>
            <a:pPr algn="l">
              <a:spcBef>
                <a:spcPts val="200"/>
              </a:spcBef>
            </a:pPr>
            <a:r>
              <a:rPr sz="1200" b="0">
                <a:solidFill>
                  <a:srgbClr val="222222"/>
                </a:solidFill>
                <a:latin typeface="Calibri"/>
              </a:rPr>
              <a:t>Calls translation endpoint (Bangla speech -&gt; English text)</a:t>
            </a:r>
          </a:p>
          <a:p>
            <a:pPr algn="l">
              <a:spcBef>
                <a:spcPts val="200"/>
              </a:spcBef>
            </a:pPr>
            <a:r>
              <a:rPr sz="1200" b="0">
                <a:solidFill>
                  <a:srgbClr val="222222"/>
                </a:solidFill>
                <a:latin typeface="Calibri"/>
              </a:rPr>
              <a:t>in one round trip; no separate transcribe + translate step.</a:t>
            </a:r>
          </a:p>
          <a:p>
            <a:pPr algn="l">
              <a:spcBef>
                <a:spcPts val="200"/>
              </a:spcBef>
            </a:pPr>
            <a:r>
              <a:rPr sz="1200" b="0">
                <a:solidFill>
                  <a:srgbClr val="222222"/>
                </a:solidFill>
                <a:latin typeface="Calibri"/>
              </a:rPr>
              <a:t/>
            </a:r>
          </a:p>
          <a:p>
            <a:pPr algn="l">
              <a:spcBef>
                <a:spcPts val="200"/>
              </a:spcBef>
            </a:pPr>
            <a:r>
              <a:rPr sz="1200" b="0">
                <a:solidFill>
                  <a:srgbClr val="222222"/>
                </a:solidFill>
                <a:latin typeface="Calibri"/>
              </a:rPr>
              <a:t>If GROQ_API_KEY missing, rate-limited, network error, or</a:t>
            </a:r>
          </a:p>
          <a:p>
            <a:pPr algn="l">
              <a:spcBef>
                <a:spcPts val="200"/>
              </a:spcBef>
            </a:pPr>
            <a:r>
              <a:rPr sz="1200" b="0">
                <a:solidFill>
                  <a:srgbClr val="222222"/>
                </a:solidFill>
                <a:latin typeface="Calibri"/>
              </a:rPr>
              <a:t>file &gt; 25 MB: silent fallback to faster-whisper.</a:t>
            </a:r>
          </a:p>
        </p:txBody>
      </p:sp>
      <p:sp>
        <p:nvSpPr>
          <p:cNvPr id="8" name="Rectangle 7"/>
          <p:cNvSpPr/>
          <p:nvPr/>
        </p:nvSpPr>
        <p:spPr>
          <a:xfrm>
            <a:off x="6217920" y="1371600"/>
            <a:ext cx="5486400" cy="48463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0" y="1371600"/>
            <a:ext cx="73152" cy="484632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1463040"/>
            <a:ext cx="5257800" cy="4663440"/>
          </a:xfrm>
          <a:prstGeom prst="rect">
            <a:avLst/>
          </a:prstGeom>
          <a:noFill/>
        </p:spPr>
        <p:txBody>
          <a:bodyPr wrap="square" lIns="0" rIns="0" tIns="0" bIns="0" anchor="t">
            <a:spAutoFit/>
          </a:bodyPr>
          <a:lstStyle/>
          <a:p>
            <a:pPr algn="l"/>
            <a:r>
              <a:rPr sz="1500" b="1">
                <a:solidFill>
                  <a:srgbClr val="C9962B"/>
                </a:solidFill>
                <a:latin typeface="Calibri"/>
              </a:rPr>
              <a:t>Fallback: faster-whisper (local CPU)</a:t>
            </a:r>
          </a:p>
          <a:p>
            <a:pPr algn="l">
              <a:spcBef>
                <a:spcPts val="200"/>
              </a:spcBef>
            </a:pPr>
            <a:r>
              <a:rPr sz="1200" b="0">
                <a:solidFill>
                  <a:srgbClr val="222222"/>
                </a:solidFill>
                <a:latin typeface="Calibri"/>
              </a:rPr>
              <a:t>Model:       whisper-large-v3 (int8 quantized)</a:t>
            </a:r>
          </a:p>
          <a:p>
            <a:pPr algn="l">
              <a:spcBef>
                <a:spcPts val="200"/>
              </a:spcBef>
            </a:pPr>
            <a:r>
              <a:rPr sz="1200" b="0">
                <a:solidFill>
                  <a:srgbClr val="222222"/>
                </a:solidFill>
                <a:latin typeface="Calibri"/>
              </a:rPr>
              <a:t>Hardware:    CPU on .123 (no GPU on this host)</a:t>
            </a:r>
          </a:p>
          <a:p>
            <a:pPr algn="l">
              <a:spcBef>
                <a:spcPts val="200"/>
              </a:spcBef>
            </a:pPr>
            <a:r>
              <a:rPr sz="1200" b="0">
                <a:solidFill>
                  <a:srgbClr val="222222"/>
                </a:solidFill>
                <a:latin typeface="Calibri"/>
              </a:rPr>
              <a:t>Throughput:  ~10 min per call</a:t>
            </a:r>
          </a:p>
          <a:p>
            <a:pPr algn="l">
              <a:spcBef>
                <a:spcPts val="200"/>
              </a:spcBef>
            </a:pPr>
            <a:r>
              <a:rPr sz="1200" b="0">
                <a:solidFill>
                  <a:srgbClr val="222222"/>
                </a:solidFill>
                <a:latin typeface="Calibri"/>
              </a:rPr>
              <a:t>Cost:        free, no external dependency</a:t>
            </a:r>
          </a:p>
          <a:p>
            <a:pPr algn="l">
              <a:spcBef>
                <a:spcPts val="200"/>
              </a:spcBef>
            </a:pPr>
            <a:r>
              <a:rPr sz="1200" b="0">
                <a:solidFill>
                  <a:srgbClr val="222222"/>
                </a:solidFill>
                <a:latin typeface="Calibri"/>
              </a:rPr>
              <a:t>Load:        ~3 GB model, loaded LAZILY</a:t>
            </a:r>
          </a:p>
          <a:p>
            <a:pPr algn="l">
              <a:spcBef>
                <a:spcPts val="200"/>
              </a:spcBef>
            </a:pPr>
            <a:r>
              <a:rPr sz="1200" b="0">
                <a:solidFill>
                  <a:srgbClr val="222222"/>
                </a:solidFill>
                <a:latin typeface="Calibri"/>
              </a:rPr>
              <a:t/>
            </a:r>
          </a:p>
          <a:p>
            <a:pPr algn="l">
              <a:spcBef>
                <a:spcPts val="200"/>
              </a:spcBef>
            </a:pPr>
            <a:r>
              <a:rPr sz="1200" b="0">
                <a:solidFill>
                  <a:srgbClr val="222222"/>
                </a:solidFill>
                <a:latin typeface="Calibri"/>
              </a:rPr>
              <a:t>Only fires when Groq fails. On normal days the int8 model</a:t>
            </a:r>
          </a:p>
          <a:p>
            <a:pPr algn="l">
              <a:spcBef>
                <a:spcPts val="200"/>
              </a:spcBef>
            </a:pPr>
            <a:r>
              <a:rPr sz="1200" b="0">
                <a:solidFill>
                  <a:srgbClr val="222222"/>
                </a:solidFill>
                <a:latin typeface="Calibri"/>
              </a:rPr>
              <a:t>is never loaded -- we save the ~3 GB allocation entirely.</a:t>
            </a:r>
          </a:p>
          <a:p>
            <a:pPr algn="l">
              <a:spcBef>
                <a:spcPts val="200"/>
              </a:spcBef>
            </a:pPr>
            <a:r>
              <a:rPr sz="1200" b="0">
                <a:solidFill>
                  <a:srgbClr val="222222"/>
                </a:solidFill>
                <a:latin typeface="Calibri"/>
              </a:rPr>
              <a:t/>
            </a:r>
          </a:p>
          <a:p>
            <a:pPr algn="l">
              <a:spcBef>
                <a:spcPts val="200"/>
              </a:spcBef>
            </a:pPr>
            <a:r>
              <a:rPr sz="1200" b="0">
                <a:solidFill>
                  <a:srgbClr val="222222"/>
                </a:solidFill>
                <a:latin typeface="Calibri"/>
              </a:rPr>
              <a:t>Same model lineage as Groq's, so transcript quality is</a:t>
            </a:r>
          </a:p>
          <a:p>
            <a:pPr algn="l">
              <a:spcBef>
                <a:spcPts val="200"/>
              </a:spcBef>
            </a:pPr>
            <a:r>
              <a:rPr sz="1200" b="0">
                <a:solidFill>
                  <a:srgbClr val="222222"/>
                </a:solidFill>
                <a:latin typeface="Calibri"/>
              </a:rPr>
              <a:t>consistent across the boundary -- only the latency</a:t>
            </a:r>
          </a:p>
          <a:p>
            <a:pPr algn="l">
              <a:spcBef>
                <a:spcPts val="200"/>
              </a:spcBef>
            </a:pPr>
            <a:r>
              <a:rPr sz="1200" b="0">
                <a:solidFill>
                  <a:srgbClr val="222222"/>
                </a:solidFill>
                <a:latin typeface="Calibri"/>
              </a:rPr>
              <a:t>differs.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Email, Drive, and chat capture</a:t>
            </a:r>
          </a:p>
          <a:p>
            <a:pPr algn="l">
              <a:spcBef>
                <a:spcPts val="200"/>
              </a:spcBef>
            </a:pPr>
            <a:r>
              <a:rPr sz="1400" b="0">
                <a:solidFill>
                  <a:srgbClr val="6B7785"/>
                </a:solidFill>
                <a:latin typeface="Calibri"/>
              </a:rPr>
              <a:t>Periodic pulls on .123. Chat push on dev PCs.</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3703320" cy="48463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0"/>
            <a:ext cx="73152" cy="484632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63040"/>
            <a:ext cx="3474720" cy="4663440"/>
          </a:xfrm>
          <a:prstGeom prst="rect">
            <a:avLst/>
          </a:prstGeom>
          <a:noFill/>
        </p:spPr>
        <p:txBody>
          <a:bodyPr wrap="square" lIns="0" rIns="0" tIns="0" bIns="0" anchor="t">
            <a:spAutoFit/>
          </a:bodyPr>
          <a:lstStyle/>
          <a:p>
            <a:pPr algn="l"/>
            <a:r>
              <a:rPr sz="1400" b="1">
                <a:solidFill>
                  <a:srgbClr val="2E8A8A"/>
                </a:solidFill>
                <a:latin typeface="Calibri"/>
              </a:rPr>
              <a:t>Teams chat (per-dev push)</a:t>
            </a:r>
          </a:p>
          <a:p>
            <a:pPr algn="l">
              <a:spcBef>
                <a:spcPts val="200"/>
              </a:spcBef>
            </a:pPr>
            <a:r>
              <a:rPr sz="1100" b="0">
                <a:solidFill>
                  <a:srgbClr val="222222"/>
                </a:solidFill>
                <a:latin typeface="Calibri"/>
              </a:rPr>
              <a:t>Where:    each dev PC</a:t>
            </a:r>
          </a:p>
          <a:p>
            <a:pPr algn="l">
              <a:spcBef>
                <a:spcPts val="200"/>
              </a:spcBef>
            </a:pPr>
            <a:r>
              <a:rPr sz="1100" b="0">
                <a:solidFill>
                  <a:srgbClr val="222222"/>
                </a:solidFill>
                <a:latin typeface="Calibri"/>
              </a:rPr>
              <a:t>Trigger:  Windows Task Scheduler</a:t>
            </a:r>
          </a:p>
          <a:p>
            <a:pPr algn="l">
              <a:spcBef>
                <a:spcPts val="200"/>
              </a:spcBef>
            </a:pPr>
            <a:r>
              <a:rPr sz="1100" b="0">
                <a:solidFill>
                  <a:srgbClr val="222222"/>
                </a:solidFill>
                <a:latin typeface="Calibri"/>
              </a:rPr>
              <a:t>Windows:  3 BD-local windows/day</a:t>
            </a:r>
          </a:p>
          <a:p>
            <a:pPr algn="l">
              <a:spcBef>
                <a:spcPts val="200"/>
              </a:spcBef>
            </a:pPr>
            <a:r>
              <a:rPr sz="1100" b="0">
                <a:solidFill>
                  <a:srgbClr val="222222"/>
                </a:solidFill>
                <a:latin typeface="Calibri"/>
              </a:rPr>
              <a:t>    - Day       (~10:00 BD)</a:t>
            </a:r>
          </a:p>
          <a:p>
            <a:pPr algn="l">
              <a:spcBef>
                <a:spcPts val="200"/>
              </a:spcBef>
            </a:pPr>
            <a:r>
              <a:rPr sz="1100" b="0">
                <a:solidFill>
                  <a:srgbClr val="222222"/>
                </a:solidFill>
                <a:latin typeface="Calibri"/>
              </a:rPr>
              <a:t>    - Transition(~14:00 BD)</a:t>
            </a:r>
          </a:p>
          <a:p>
            <a:pPr algn="l">
              <a:spcBef>
                <a:spcPts val="200"/>
              </a:spcBef>
            </a:pPr>
            <a:r>
              <a:rPr sz="1100" b="0">
                <a:solidFill>
                  <a:srgbClr val="222222"/>
                </a:solidFill>
                <a:latin typeface="Calibri"/>
              </a:rPr>
              <a:t>    - Evening   (~20:00 BD)</a:t>
            </a:r>
          </a:p>
          <a:p>
            <a:pPr algn="l">
              <a:spcBef>
                <a:spcPts val="200"/>
              </a:spcBef>
            </a:pPr>
            <a:r>
              <a:rPr sz="1100" b="0">
                <a:solidFill>
                  <a:srgbClr val="222222"/>
                </a:solidFill>
                <a:latin typeface="Calibri"/>
              </a:rPr>
              <a:t/>
            </a:r>
          </a:p>
          <a:p>
            <a:pPr algn="l">
              <a:spcBef>
                <a:spcPts val="200"/>
              </a:spcBef>
            </a:pPr>
            <a:r>
              <a:rPr sz="1100" b="0">
                <a:solidFill>
                  <a:srgbClr val="222222"/>
                </a:solidFill>
                <a:latin typeface="Calibri"/>
              </a:rPr>
              <a:t>Each push bundles every Teams chat</a:t>
            </a:r>
          </a:p>
          <a:p>
            <a:pPr algn="l">
              <a:spcBef>
                <a:spcPts val="200"/>
              </a:spcBef>
            </a:pPr>
            <a:r>
              <a:rPr sz="1100" b="0">
                <a:solidFill>
                  <a:srgbClr val="222222"/>
                </a:solidFill>
                <a:latin typeface="Calibri"/>
              </a:rPr>
              <a:t>the dev exchanged since the last</a:t>
            </a:r>
          </a:p>
          <a:p>
            <a:pPr algn="l">
              <a:spcBef>
                <a:spcPts val="200"/>
              </a:spcBef>
            </a:pPr>
            <a:r>
              <a:rPr sz="1100" b="0">
                <a:solidFill>
                  <a:srgbClr val="222222"/>
                </a:solidFill>
                <a:latin typeface="Calibri"/>
              </a:rPr>
              <a:t>push, writes a .docx per window, and</a:t>
            </a:r>
          </a:p>
          <a:p>
            <a:pPr algn="l">
              <a:spcBef>
                <a:spcPts val="200"/>
              </a:spcBef>
            </a:pPr>
            <a:r>
              <a:rPr sz="1100" b="0">
                <a:solidFill>
                  <a:srgbClr val="222222"/>
                </a:solidFill>
                <a:latin typeface="Calibri"/>
              </a:rPr>
              <a:t>copies to central:</a:t>
            </a:r>
          </a:p>
          <a:p>
            <a:pPr algn="l">
              <a:spcBef>
                <a:spcPts val="200"/>
              </a:spcBef>
            </a:pPr>
            <a:r>
              <a:rPr sz="1100" b="0">
                <a:solidFill>
                  <a:srgbClr val="222222"/>
                </a:solidFill>
                <a:latin typeface="Calibri"/>
              </a:rPr>
              <a:t>  /&lt;dev&gt;/&lt;date&gt;/chat/</a:t>
            </a:r>
          </a:p>
        </p:txBody>
      </p:sp>
      <p:sp>
        <p:nvSpPr>
          <p:cNvPr id="8" name="Rectangle 7"/>
          <p:cNvSpPr/>
          <p:nvPr/>
        </p:nvSpPr>
        <p:spPr>
          <a:xfrm>
            <a:off x="4251960" y="1371600"/>
            <a:ext cx="3703320" cy="48463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51960" y="1371600"/>
            <a:ext cx="73152" cy="484632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1463040"/>
            <a:ext cx="3474720" cy="4663440"/>
          </a:xfrm>
          <a:prstGeom prst="rect">
            <a:avLst/>
          </a:prstGeom>
          <a:noFill/>
        </p:spPr>
        <p:txBody>
          <a:bodyPr wrap="square" lIns="0" rIns="0" tIns="0" bIns="0" anchor="t">
            <a:spAutoFit/>
          </a:bodyPr>
          <a:lstStyle/>
          <a:p>
            <a:pPr algn="l"/>
            <a:r>
              <a:rPr sz="1400" b="1">
                <a:solidFill>
                  <a:srgbClr val="E07856"/>
                </a:solidFill>
                <a:latin typeface="Calibri"/>
              </a:rPr>
              <a:t>Email (Gmail IMAP)</a:t>
            </a:r>
          </a:p>
          <a:p>
            <a:pPr algn="l">
              <a:spcBef>
                <a:spcPts val="200"/>
              </a:spcBef>
            </a:pPr>
            <a:r>
              <a:rPr sz="1100" b="0">
                <a:solidFill>
                  <a:srgbClr val="222222"/>
                </a:solidFill>
                <a:latin typeface="Calibri"/>
              </a:rPr>
              <a:t>Where:    nucleus-stage-email on .123</a:t>
            </a:r>
          </a:p>
          <a:p>
            <a:pPr algn="l">
              <a:spcBef>
                <a:spcPts val="200"/>
              </a:spcBef>
            </a:pPr>
            <a:r>
              <a:rPr sz="1100" b="0">
                <a:solidFill>
                  <a:srgbClr val="222222"/>
                </a:solidFill>
                <a:latin typeface="Calibri"/>
              </a:rPr>
              <a:t>Trigger:  loop, 15-min cadence</a:t>
            </a:r>
          </a:p>
          <a:p>
            <a:pPr algn="l">
              <a:spcBef>
                <a:spcPts val="200"/>
              </a:spcBef>
            </a:pPr>
            <a:r>
              <a:rPr sz="1100" b="0">
                <a:solidFill>
                  <a:srgbClr val="222222"/>
                </a:solidFill>
                <a:latin typeface="Calibri"/>
              </a:rPr>
              <a:t/>
            </a:r>
          </a:p>
          <a:p>
            <a:pPr algn="l">
              <a:spcBef>
                <a:spcPts val="200"/>
              </a:spcBef>
            </a:pPr>
            <a:r>
              <a:rPr sz="1100" b="0">
                <a:solidFill>
                  <a:srgbClr val="222222"/>
                </a:solidFill>
                <a:latin typeface="Calibri"/>
              </a:rPr>
              <a:t>Pulls every new mail thread the team</a:t>
            </a:r>
          </a:p>
          <a:p>
            <a:pPr algn="l">
              <a:spcBef>
                <a:spcPts val="200"/>
              </a:spcBef>
            </a:pPr>
            <a:r>
              <a:rPr sz="1100" b="0">
                <a:solidFill>
                  <a:srgbClr val="222222"/>
                </a:solidFill>
                <a:latin typeface="Calibri"/>
              </a:rPr>
              <a:t>had with the client. Each thread is</a:t>
            </a:r>
          </a:p>
          <a:p>
            <a:pPr algn="l">
              <a:spcBef>
                <a:spcPts val="200"/>
              </a:spcBef>
            </a:pPr>
            <a:r>
              <a:rPr sz="1100" b="0">
                <a:solidFill>
                  <a:srgbClr val="222222"/>
                </a:solidFill>
                <a:latin typeface="Calibri"/>
              </a:rPr>
              <a:t>saved as a structured .docx with</a:t>
            </a:r>
          </a:p>
          <a:p>
            <a:pPr algn="l">
              <a:spcBef>
                <a:spcPts val="200"/>
              </a:spcBef>
            </a:pPr>
            <a:r>
              <a:rPr sz="1100" b="0">
                <a:solidFill>
                  <a:srgbClr val="222222"/>
                </a:solidFill>
                <a:latin typeface="Calibri"/>
              </a:rPr>
              <a:t>attachments fanned out:</a:t>
            </a:r>
          </a:p>
          <a:p>
            <a:pPr algn="l">
              <a:spcBef>
                <a:spcPts val="200"/>
              </a:spcBef>
            </a:pPr>
            <a:r>
              <a:rPr sz="1100" b="0">
                <a:solidFill>
                  <a:srgbClr val="222222"/>
                </a:solidFill>
                <a:latin typeface="Calibri"/>
              </a:rPr>
              <a:t>  /&lt;dev&gt;/&lt;date&gt;/email/</a:t>
            </a:r>
          </a:p>
          <a:p>
            <a:pPr algn="l">
              <a:spcBef>
                <a:spcPts val="200"/>
              </a:spcBef>
            </a:pPr>
            <a:r>
              <a:rPr sz="1100" b="0">
                <a:solidFill>
                  <a:srgbClr val="222222"/>
                </a:solidFill>
                <a:latin typeface="Calibri"/>
              </a:rPr>
              <a:t>      thread_&lt;id&gt;.docx</a:t>
            </a:r>
          </a:p>
          <a:p>
            <a:pPr algn="l">
              <a:spcBef>
                <a:spcPts val="200"/>
              </a:spcBef>
            </a:pPr>
            <a:r>
              <a:rPr sz="1100" b="0">
                <a:solidFill>
                  <a:srgbClr val="222222"/>
                </a:solidFill>
                <a:latin typeface="Calibri"/>
              </a:rPr>
              <a:t>      thread_&lt;id&gt;__att1.pdf</a:t>
            </a:r>
          </a:p>
          <a:p>
            <a:pPr algn="l">
              <a:spcBef>
                <a:spcPts val="200"/>
              </a:spcBef>
            </a:pPr>
            <a:r>
              <a:rPr sz="1100" b="0">
                <a:solidFill>
                  <a:srgbClr val="222222"/>
                </a:solidFill>
                <a:latin typeface="Calibri"/>
              </a:rPr>
              <a:t>      ...</a:t>
            </a:r>
          </a:p>
          <a:p>
            <a:pPr algn="l">
              <a:spcBef>
                <a:spcPts val="200"/>
              </a:spcBef>
            </a:pPr>
            <a:r>
              <a:rPr sz="1100" b="0">
                <a:solidFill>
                  <a:srgbClr val="222222"/>
                </a:solidFill>
                <a:latin typeface="Calibri"/>
              </a:rPr>
              <a:t/>
            </a:r>
          </a:p>
          <a:p>
            <a:pPr algn="l">
              <a:spcBef>
                <a:spcPts val="200"/>
              </a:spcBef>
            </a:pPr>
            <a:r>
              <a:rPr sz="1100" b="0">
                <a:solidFill>
                  <a:srgbClr val="222222"/>
                </a:solidFill>
                <a:latin typeface="Calibri"/>
              </a:rPr>
              <a:t>PDFs + legacy .doc bodies are byte-</a:t>
            </a:r>
          </a:p>
          <a:p>
            <a:pPr algn="l">
              <a:spcBef>
                <a:spcPts val="200"/>
              </a:spcBef>
            </a:pPr>
            <a:r>
              <a:rPr sz="1100" b="0">
                <a:solidFill>
                  <a:srgbClr val="222222"/>
                </a:solidFill>
                <a:latin typeface="Calibri"/>
              </a:rPr>
              <a:t>scanned and inlined so verify_session</a:t>
            </a:r>
          </a:p>
          <a:p>
            <a:pPr algn="l">
              <a:spcBef>
                <a:spcPts val="200"/>
              </a:spcBef>
            </a:pPr>
            <a:r>
              <a:rPr sz="1100" b="0">
                <a:solidFill>
                  <a:srgbClr val="222222"/>
                </a:solidFill>
                <a:latin typeface="Calibri"/>
              </a:rPr>
              <a:t>sees the full content, not just the</a:t>
            </a:r>
          </a:p>
          <a:p>
            <a:pPr algn="l">
              <a:spcBef>
                <a:spcPts val="200"/>
              </a:spcBef>
            </a:pPr>
            <a:r>
              <a:rPr sz="1100" b="0">
                <a:solidFill>
                  <a:srgbClr val="222222"/>
                </a:solidFill>
                <a:latin typeface="Calibri"/>
              </a:rPr>
              <a:t>filename.</a:t>
            </a:r>
          </a:p>
        </p:txBody>
      </p:sp>
      <p:sp>
        <p:nvSpPr>
          <p:cNvPr id="11" name="Rectangle 10"/>
          <p:cNvSpPr/>
          <p:nvPr/>
        </p:nvSpPr>
        <p:spPr>
          <a:xfrm>
            <a:off x="8046720" y="1371600"/>
            <a:ext cx="3703320" cy="48463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46720" y="1371600"/>
            <a:ext cx="73152" cy="484632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11312" y="1463040"/>
            <a:ext cx="3474720" cy="4663440"/>
          </a:xfrm>
          <a:prstGeom prst="rect">
            <a:avLst/>
          </a:prstGeom>
          <a:noFill/>
        </p:spPr>
        <p:txBody>
          <a:bodyPr wrap="square" lIns="0" rIns="0" tIns="0" bIns="0" anchor="t">
            <a:spAutoFit/>
          </a:bodyPr>
          <a:lstStyle/>
          <a:p>
            <a:pPr algn="l"/>
            <a:r>
              <a:rPr sz="1400" b="1">
                <a:solidFill>
                  <a:srgbClr val="C9962B"/>
                </a:solidFill>
                <a:latin typeface="Calibri"/>
              </a:rPr>
              <a:t>Drive (Google Drive)</a:t>
            </a:r>
          </a:p>
          <a:p>
            <a:pPr algn="l">
              <a:spcBef>
                <a:spcPts val="200"/>
              </a:spcBef>
            </a:pPr>
            <a:r>
              <a:rPr sz="1100" b="0">
                <a:solidFill>
                  <a:srgbClr val="222222"/>
                </a:solidFill>
                <a:latin typeface="Calibri"/>
              </a:rPr>
              <a:t>Where:    nucleus-stage-drive on .123</a:t>
            </a:r>
          </a:p>
          <a:p>
            <a:pPr algn="l">
              <a:spcBef>
                <a:spcPts val="200"/>
              </a:spcBef>
            </a:pPr>
            <a:r>
              <a:rPr sz="1100" b="0">
                <a:solidFill>
                  <a:srgbClr val="222222"/>
                </a:solidFill>
                <a:latin typeface="Calibri"/>
              </a:rPr>
              <a:t>Trigger:  loop, 15-min cadence</a:t>
            </a:r>
          </a:p>
          <a:p>
            <a:pPr algn="l">
              <a:spcBef>
                <a:spcPts val="200"/>
              </a:spcBef>
            </a:pPr>
            <a:r>
              <a:rPr sz="1100" b="0">
                <a:solidFill>
                  <a:srgbClr val="222222"/>
                </a:solidFill>
                <a:latin typeface="Calibri"/>
              </a:rPr>
              <a:t/>
            </a:r>
          </a:p>
          <a:p>
            <a:pPr algn="l">
              <a:spcBef>
                <a:spcPts val="200"/>
              </a:spcBef>
            </a:pPr>
            <a:r>
              <a:rPr sz="1100" b="0">
                <a:solidFill>
                  <a:srgbClr val="222222"/>
                </a:solidFill>
                <a:latin typeface="Calibri"/>
              </a:rPr>
              <a:t>Watches the shared client folder.</a:t>
            </a:r>
          </a:p>
          <a:p>
            <a:pPr algn="l">
              <a:spcBef>
                <a:spcPts val="200"/>
              </a:spcBef>
            </a:pPr>
            <a:r>
              <a:rPr sz="1100" b="0">
                <a:solidFill>
                  <a:srgbClr val="222222"/>
                </a:solidFill>
                <a:latin typeface="Calibri"/>
              </a:rPr>
              <a:t>New files copy into:</a:t>
            </a:r>
          </a:p>
          <a:p>
            <a:pPr algn="l">
              <a:spcBef>
                <a:spcPts val="200"/>
              </a:spcBef>
            </a:pPr>
            <a:r>
              <a:rPr sz="1100" b="0">
                <a:solidFill>
                  <a:srgbClr val="222222"/>
                </a:solidFill>
                <a:latin typeface="Calibri"/>
              </a:rPr>
              <a:t>  /&lt;dev&gt;/&lt;date&gt;/drive/</a:t>
            </a:r>
          </a:p>
          <a:p>
            <a:pPr algn="l">
              <a:spcBef>
                <a:spcPts val="200"/>
              </a:spcBef>
            </a:pPr>
            <a:r>
              <a:rPr sz="1100" b="0">
                <a:solidFill>
                  <a:srgbClr val="222222"/>
                </a:solidFill>
                <a:latin typeface="Calibri"/>
              </a:rPr>
              <a:t/>
            </a:r>
          </a:p>
          <a:p>
            <a:pPr algn="l">
              <a:spcBef>
                <a:spcPts val="200"/>
              </a:spcBef>
            </a:pPr>
            <a:r>
              <a:rPr sz="1100" b="0">
                <a:solidFill>
                  <a:srgbClr val="222222"/>
                </a:solidFill>
                <a:latin typeface="Calibri"/>
              </a:rPr>
              <a:t>Audio uploads (.m4a, .mp3, .wav)</a:t>
            </a:r>
          </a:p>
          <a:p>
            <a:pPr algn="l">
              <a:spcBef>
                <a:spcPts val="200"/>
              </a:spcBef>
            </a:pPr>
            <a:r>
              <a:rPr sz="1100" b="0">
                <a:solidFill>
                  <a:srgbClr val="222222"/>
                </a:solidFill>
                <a:latin typeface="Calibri"/>
              </a:rPr>
              <a:t>are re-transcribed through the same</a:t>
            </a:r>
          </a:p>
          <a:p>
            <a:pPr algn="l">
              <a:spcBef>
                <a:spcPts val="200"/>
              </a:spcBef>
            </a:pPr>
            <a:r>
              <a:rPr sz="1100" b="0">
                <a:solidFill>
                  <a:srgbClr val="222222"/>
                </a:solidFill>
                <a:latin typeface="Calibri"/>
              </a:rPr>
              <a:t>Groq pipeline -- so a voice note in</a:t>
            </a:r>
          </a:p>
          <a:p>
            <a:pPr algn="l">
              <a:spcBef>
                <a:spcPts val="200"/>
              </a:spcBef>
            </a:pPr>
            <a:r>
              <a:rPr sz="1100" b="0">
                <a:solidFill>
                  <a:srgbClr val="222222"/>
                </a:solidFill>
                <a:latin typeface="Calibri"/>
              </a:rPr>
              <a:t>the shared folder gets a transcript</a:t>
            </a:r>
          </a:p>
          <a:p>
            <a:pPr algn="l">
              <a:spcBef>
                <a:spcPts val="200"/>
              </a:spcBef>
            </a:pPr>
            <a:r>
              <a:rPr sz="1100" b="0">
                <a:solidFill>
                  <a:srgbClr val="222222"/>
                </a:solidFill>
                <a:latin typeface="Calibri"/>
              </a:rPr>
              <a:t>alongside, just like a call would.</a:t>
            </a:r>
          </a:p>
          <a:p>
            <a:pPr algn="l">
              <a:spcBef>
                <a:spcPts val="200"/>
              </a:spcBef>
            </a:pPr>
            <a:r>
              <a:rPr sz="1100" b="0">
                <a:solidFill>
                  <a:srgbClr val="222222"/>
                </a:solidFill>
                <a:latin typeface="Calibri"/>
              </a:rPr>
              <a:t/>
            </a:r>
          </a:p>
          <a:p>
            <a:pPr algn="l">
              <a:spcBef>
                <a:spcPts val="200"/>
              </a:spcBef>
            </a:pPr>
            <a:r>
              <a:rPr sz="1100" b="0">
                <a:solidFill>
                  <a:srgbClr val="222222"/>
                </a:solidFill>
                <a:latin typeface="Calibri"/>
              </a:rPr>
              <a:t>Drive transcripts and call transcripts</a:t>
            </a:r>
          </a:p>
          <a:p>
            <a:pPr algn="l">
              <a:spcBef>
                <a:spcPts val="200"/>
              </a:spcBef>
            </a:pPr>
            <a:r>
              <a:rPr sz="1100" b="0">
                <a:solidFill>
                  <a:srgbClr val="222222"/>
                </a:solidFill>
                <a:latin typeface="Calibri"/>
              </a:rPr>
              <a:t>are tracked separately so we don't</a:t>
            </a:r>
          </a:p>
          <a:p>
            <a:pPr algn="l">
              <a:spcBef>
                <a:spcPts val="200"/>
              </a:spcBef>
            </a:pPr>
            <a:r>
              <a:rPr sz="1100" b="0">
                <a:solidFill>
                  <a:srgbClr val="222222"/>
                </a:solidFill>
                <a:latin typeface="Calibri"/>
              </a:rPr>
              <a:t>double-count.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Daily Requirement Management</a:t>
            </a:r>
          </a:p>
          <a:p>
            <a:pPr algn="l">
              <a:spcBef>
                <a:spcPts val="200"/>
              </a:spcBef>
            </a:pPr>
            <a:r>
              <a:rPr sz="1400" b="0">
                <a:solidFill>
                  <a:srgbClr val="6B7785"/>
                </a:solidFill>
                <a:latin typeface="Calibri"/>
              </a:rPr>
              <a:t>BD 23:45 on .123. One pass aggregates the whole day.</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10698480" cy="548640"/>
          </a:xfrm>
          <a:prstGeom prst="rect">
            <a:avLst/>
          </a:prstGeom>
          <a:noFill/>
        </p:spPr>
        <p:txBody>
          <a:bodyPr wrap="square" lIns="0" rIns="0" tIns="0" bIns="0" anchor="t">
            <a:spAutoFit/>
          </a:bodyPr>
          <a:lstStyle/>
          <a:p>
            <a:pPr algn="l"/>
            <a:r>
              <a:rPr sz="1400" b="0">
                <a:solidFill>
                  <a:srgbClr val="6B7785"/>
                </a:solidFill>
                <a:latin typeface="Calibri"/>
              </a:rPr>
              <a:t>Container nucleus-daily-draft, TZ=Asia/Dhaka, sleep-until-target loop:</a:t>
            </a:r>
          </a:p>
        </p:txBody>
      </p:sp>
      <p:sp>
        <p:nvSpPr>
          <p:cNvPr id="6" name="Rectangle 5"/>
          <p:cNvSpPr/>
          <p:nvPr/>
        </p:nvSpPr>
        <p:spPr>
          <a:xfrm>
            <a:off x="335127" y="2103120"/>
            <a:ext cx="2194560" cy="24688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35127" y="2103120"/>
            <a:ext cx="73152" cy="246888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9719" y="2194560"/>
            <a:ext cx="1965960" cy="2286000"/>
          </a:xfrm>
          <a:prstGeom prst="rect">
            <a:avLst/>
          </a:prstGeom>
          <a:noFill/>
        </p:spPr>
        <p:txBody>
          <a:bodyPr wrap="square" lIns="0" rIns="0" tIns="0" bIns="0" anchor="t">
            <a:spAutoFit/>
          </a:bodyPr>
          <a:lstStyle/>
          <a:p>
            <a:pPr algn="l"/>
            <a:r>
              <a:rPr sz="1400" b="1">
                <a:solidFill>
                  <a:srgbClr val="1F4E79"/>
                </a:solidFill>
                <a:latin typeface="Calibri"/>
              </a:rPr>
              <a:t>23:45 BD</a:t>
            </a:r>
          </a:p>
          <a:p>
            <a:pPr algn="l">
              <a:spcBef>
                <a:spcPts val="200"/>
              </a:spcBef>
            </a:pPr>
            <a:r>
              <a:rPr sz="1100" b="0">
                <a:solidFill>
                  <a:srgbClr val="222222"/>
                </a:solidFill>
                <a:latin typeface="Calibri"/>
              </a:rPr>
              <a:t>Loop wakes.</a:t>
            </a:r>
          </a:p>
          <a:p>
            <a:pPr algn="l">
              <a:spcBef>
                <a:spcPts val="200"/>
              </a:spcBef>
            </a:pPr>
            <a:r>
              <a:rPr sz="1100" b="0">
                <a:solidFill>
                  <a:srgbClr val="222222"/>
                </a:solidFill>
                <a:latin typeface="Calibri"/>
              </a:rPr>
              <a:t>Fires once.</a:t>
            </a:r>
          </a:p>
          <a:p>
            <a:pPr algn="l">
              <a:spcBef>
                <a:spcPts val="200"/>
              </a:spcBef>
            </a:pPr>
            <a:r>
              <a:rPr sz="1100" b="0">
                <a:solidFill>
                  <a:srgbClr val="222222"/>
                </a:solidFill>
                <a:latin typeface="Calibri"/>
              </a:rPr>
              <a:t>Sleeps until 23:45 tomorrow.</a:t>
            </a:r>
          </a:p>
        </p:txBody>
      </p:sp>
      <p:cxnSp>
        <p:nvCxnSpPr>
          <p:cNvPr id="9" name="Connector 8"/>
          <p:cNvCxnSpPr/>
          <p:nvPr/>
        </p:nvCxnSpPr>
        <p:spPr>
          <a:xfrm>
            <a:off x="2529687" y="3337560"/>
            <a:ext cx="137160" cy="0"/>
          </a:xfrm>
          <a:prstGeom prst="bentConnector3">
            <a:avLst/>
          </a:prstGeom>
          <a:ln w="31750">
            <a:solidFill>
              <a:srgbClr val="1F4E79"/>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2666847" y="2103120"/>
            <a:ext cx="2194560" cy="24688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666847" y="2103120"/>
            <a:ext cx="73152" cy="246888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31439" y="2194560"/>
            <a:ext cx="1965960" cy="2286000"/>
          </a:xfrm>
          <a:prstGeom prst="rect">
            <a:avLst/>
          </a:prstGeom>
          <a:noFill/>
        </p:spPr>
        <p:txBody>
          <a:bodyPr wrap="square" lIns="0" rIns="0" tIns="0" bIns="0" anchor="t">
            <a:spAutoFit/>
          </a:bodyPr>
          <a:lstStyle/>
          <a:p>
            <a:pPr algn="l"/>
            <a:r>
              <a:rPr sz="1400" b="1">
                <a:solidFill>
                  <a:srgbClr val="2E8A8A"/>
                </a:solidFill>
                <a:latin typeface="Calibri"/>
              </a:rPr>
              <a:t>collect_central.py</a:t>
            </a:r>
          </a:p>
          <a:p>
            <a:pPr algn="l">
              <a:spcBef>
                <a:spcPts val="200"/>
              </a:spcBef>
            </a:pPr>
            <a:r>
              <a:rPr sz="1100" b="0">
                <a:solidFill>
                  <a:srgbClr val="222222"/>
                </a:solidFill>
                <a:latin typeface="Calibri"/>
              </a:rPr>
              <a:t>--client all</a:t>
            </a:r>
          </a:p>
          <a:p>
            <a:pPr algn="l">
              <a:spcBef>
                <a:spcPts val="200"/>
              </a:spcBef>
            </a:pPr>
            <a:r>
              <a:rPr sz="1100" b="0">
                <a:solidFill>
                  <a:srgbClr val="222222"/>
                </a:solidFill>
                <a:latin typeface="Calibri"/>
              </a:rPr>
              <a:t>--last-minutes 1440</a:t>
            </a:r>
          </a:p>
          <a:p>
            <a:pPr algn="l">
              <a:spcBef>
                <a:spcPts val="200"/>
              </a:spcBef>
            </a:pPr>
            <a:r>
              <a:rPr sz="1100" b="0">
                <a:solidFill>
                  <a:srgbClr val="222222"/>
                </a:solidFill>
                <a:latin typeface="Calibri"/>
              </a:rPr>
              <a:t>(walks last 24h)</a:t>
            </a:r>
          </a:p>
        </p:txBody>
      </p:sp>
      <p:cxnSp>
        <p:nvCxnSpPr>
          <p:cNvPr id="13" name="Connector 12"/>
          <p:cNvCxnSpPr/>
          <p:nvPr/>
        </p:nvCxnSpPr>
        <p:spPr>
          <a:xfrm>
            <a:off x="4861407" y="3337560"/>
            <a:ext cx="137160" cy="0"/>
          </a:xfrm>
          <a:prstGeom prst="bentConnector3">
            <a:avLst/>
          </a:prstGeom>
          <a:ln w="31750">
            <a:solidFill>
              <a:srgbClr val="1F4E79"/>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4998567" y="2103120"/>
            <a:ext cx="2194560" cy="24688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998567" y="2103120"/>
            <a:ext cx="73152" cy="246888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63159" y="2194560"/>
            <a:ext cx="1965960" cy="2286000"/>
          </a:xfrm>
          <a:prstGeom prst="rect">
            <a:avLst/>
          </a:prstGeom>
          <a:noFill/>
        </p:spPr>
        <p:txBody>
          <a:bodyPr wrap="square" lIns="0" rIns="0" tIns="0" bIns="0" anchor="t">
            <a:spAutoFit/>
          </a:bodyPr>
          <a:lstStyle/>
          <a:p>
            <a:pPr algn="l"/>
            <a:r>
              <a:rPr sz="1400" b="1">
                <a:solidFill>
                  <a:srgbClr val="6A4C93"/>
                </a:solidFill>
                <a:latin typeface="Calibri"/>
              </a:rPr>
              <a:t>Aggregate</a:t>
            </a:r>
          </a:p>
          <a:p>
            <a:pPr algn="l">
              <a:spcBef>
                <a:spcPts val="200"/>
              </a:spcBef>
            </a:pPr>
            <a:r>
              <a:rPr sz="1100" b="0">
                <a:solidFill>
                  <a:srgbClr val="222222"/>
                </a:solidFill>
                <a:latin typeface="Calibri"/>
              </a:rPr>
              <a:t>Read every .md / .docx in central tree.</a:t>
            </a:r>
          </a:p>
          <a:p>
            <a:pPr algn="l">
              <a:spcBef>
                <a:spcPts val="200"/>
              </a:spcBef>
            </a:pPr>
            <a:r>
              <a:rPr sz="1100" b="0">
                <a:solidFill>
                  <a:srgbClr val="222222"/>
                </a:solidFill>
                <a:latin typeface="Calibri"/>
              </a:rPr>
              <a:t>Group by client.</a:t>
            </a:r>
          </a:p>
          <a:p>
            <a:pPr algn="l">
              <a:spcBef>
                <a:spcPts val="200"/>
              </a:spcBef>
            </a:pPr>
            <a:r>
              <a:rPr sz="1100" b="0">
                <a:solidFill>
                  <a:srgbClr val="222222"/>
                </a:solidFill>
                <a:latin typeface="Calibri"/>
              </a:rPr>
              <a:t>Write Pull Session &lt;date&gt;.docx.</a:t>
            </a:r>
          </a:p>
        </p:txBody>
      </p:sp>
      <p:cxnSp>
        <p:nvCxnSpPr>
          <p:cNvPr id="17" name="Connector 16"/>
          <p:cNvCxnSpPr/>
          <p:nvPr/>
        </p:nvCxnSpPr>
        <p:spPr>
          <a:xfrm>
            <a:off x="7193127" y="3337560"/>
            <a:ext cx="137160" cy="0"/>
          </a:xfrm>
          <a:prstGeom prst="bentConnector3">
            <a:avLst/>
          </a:prstGeom>
          <a:ln w="31750">
            <a:solidFill>
              <a:srgbClr val="1F4E7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330287" y="2103120"/>
            <a:ext cx="2194560" cy="24688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30287" y="2103120"/>
            <a:ext cx="73152" cy="246888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4879" y="2194560"/>
            <a:ext cx="1965960" cy="2286000"/>
          </a:xfrm>
          <a:prstGeom prst="rect">
            <a:avLst/>
          </a:prstGeom>
          <a:noFill/>
        </p:spPr>
        <p:txBody>
          <a:bodyPr wrap="square" lIns="0" rIns="0" tIns="0" bIns="0" anchor="t">
            <a:spAutoFit/>
          </a:bodyPr>
          <a:lstStyle/>
          <a:p>
            <a:pPr algn="l"/>
            <a:r>
              <a:rPr sz="1400" b="1">
                <a:solidFill>
                  <a:srgbClr val="4A7A4A"/>
                </a:solidFill>
                <a:latin typeface="Calibri"/>
              </a:rPr>
              <a:t>verify_session</a:t>
            </a:r>
          </a:p>
          <a:p>
            <a:pPr algn="l">
              <a:spcBef>
                <a:spcPts val="200"/>
              </a:spcBef>
            </a:pPr>
            <a:r>
              <a:rPr sz="1100" b="0">
                <a:solidFill>
                  <a:srgbClr val="222222"/>
                </a:solidFill>
                <a:latin typeface="Calibri"/>
              </a:rPr>
              <a:t>Claude Agent SDK</a:t>
            </a:r>
          </a:p>
          <a:p>
            <a:pPr algn="l">
              <a:spcBef>
                <a:spcPts val="200"/>
              </a:spcBef>
            </a:pPr>
            <a:r>
              <a:rPr sz="1100" b="0">
                <a:solidFill>
                  <a:srgbClr val="222222"/>
                </a:solidFill>
                <a:latin typeface="Calibri"/>
              </a:rPr>
              <a:t>on the session doc.</a:t>
            </a:r>
          </a:p>
          <a:p>
            <a:pPr algn="l">
              <a:spcBef>
                <a:spcPts val="200"/>
              </a:spcBef>
            </a:pPr>
            <a:r>
              <a:rPr sz="1100" b="0">
                <a:solidFill>
                  <a:srgbClr val="222222"/>
                </a:solidFill>
                <a:latin typeface="Calibri"/>
              </a:rPr>
              <a:t>Identify + draft.</a:t>
            </a:r>
          </a:p>
        </p:txBody>
      </p:sp>
      <p:cxnSp>
        <p:nvCxnSpPr>
          <p:cNvPr id="21" name="Connector 20"/>
          <p:cNvCxnSpPr/>
          <p:nvPr/>
        </p:nvCxnSpPr>
        <p:spPr>
          <a:xfrm>
            <a:off x="9524847" y="3337560"/>
            <a:ext cx="137160" cy="0"/>
          </a:xfrm>
          <a:prstGeom prst="bentConnector3">
            <a:avLst/>
          </a:prstGeom>
          <a:ln w="31750">
            <a:solidFill>
              <a:srgbClr val="1F4E79"/>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9662007" y="2103120"/>
            <a:ext cx="2194560" cy="24688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662007" y="2103120"/>
            <a:ext cx="73152" cy="246888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26599" y="2194560"/>
            <a:ext cx="1965960" cy="2286000"/>
          </a:xfrm>
          <a:prstGeom prst="rect">
            <a:avLst/>
          </a:prstGeom>
          <a:noFill/>
        </p:spPr>
        <p:txBody>
          <a:bodyPr wrap="square" lIns="0" rIns="0" tIns="0" bIns="0" anchor="t">
            <a:spAutoFit/>
          </a:bodyPr>
          <a:lstStyle/>
          <a:p>
            <a:pPr algn="l"/>
            <a:r>
              <a:rPr sz="1400" b="1">
                <a:solidFill>
                  <a:srgbClr val="C9962B"/>
                </a:solidFill>
                <a:latin typeface="Calibri"/>
              </a:rPr>
              <a:t>Gmail Drafts</a:t>
            </a:r>
          </a:p>
          <a:p>
            <a:pPr algn="l">
              <a:spcBef>
                <a:spcPts val="200"/>
              </a:spcBef>
            </a:pPr>
            <a:r>
              <a:rPr sz="1100" b="0">
                <a:solidFill>
                  <a:srgbClr val="222222"/>
                </a:solidFill>
                <a:latin typeface="Calibri"/>
              </a:rPr>
              <a:t>One .eml per client</a:t>
            </a:r>
          </a:p>
          <a:p>
            <a:pPr algn="l">
              <a:spcBef>
                <a:spcPts val="200"/>
              </a:spcBef>
            </a:pPr>
            <a:r>
              <a:rPr sz="1100" b="0">
                <a:solidFill>
                  <a:srgbClr val="222222"/>
                </a:solidFill>
                <a:latin typeface="Calibri"/>
              </a:rPr>
              <a:t>lands in your Drafts</a:t>
            </a:r>
          </a:p>
          <a:p>
            <a:pPr algn="l">
              <a:spcBef>
                <a:spcPts val="200"/>
              </a:spcBef>
            </a:pPr>
            <a:r>
              <a:rPr sz="1100" b="0">
                <a:solidFill>
                  <a:srgbClr val="222222"/>
                </a:solidFill>
                <a:latin typeface="Calibri"/>
              </a:rPr>
              <a:t>ready for review.</a:t>
            </a:r>
          </a:p>
        </p:txBody>
      </p:sp>
      <p:sp>
        <p:nvSpPr>
          <p:cNvPr id="25" name="TextBox 24"/>
          <p:cNvSpPr txBox="1"/>
          <p:nvPr/>
        </p:nvSpPr>
        <p:spPr>
          <a:xfrm>
            <a:off x="731520" y="4937760"/>
            <a:ext cx="10698480" cy="1463040"/>
          </a:xfrm>
          <a:prstGeom prst="rect">
            <a:avLst/>
          </a:prstGeom>
          <a:noFill/>
        </p:spPr>
        <p:txBody>
          <a:bodyPr wrap="square" lIns="0" rIns="0" tIns="0" bIns="0" anchor="t">
            <a:spAutoFit/>
          </a:bodyPr>
          <a:lstStyle/>
          <a:p>
            <a:pPr algn="l"/>
            <a:r>
              <a:rPr sz="1400" b="1">
                <a:solidFill>
                  <a:srgbClr val="1F4E79"/>
                </a:solidFill>
                <a:latin typeface="Calibri"/>
              </a:rPr>
              <a:t>Typical run: 7 devs, 1 client, full day of capture.</a:t>
            </a:r>
          </a:p>
          <a:p>
            <a:pPr algn="l">
              <a:spcBef>
                <a:spcPts val="400"/>
              </a:spcBef>
            </a:pPr>
            <a:r>
              <a:rPr sz="1200" b="0">
                <a:solidFill>
                  <a:srgbClr val="6B7785"/>
                </a:solidFill>
                <a:latin typeface="Calibri"/>
              </a:rPr>
              <a:t>Session document around 16k characters. One Claude pass. Target cost ~$0.06 per run. Walks come in under 60 seconds.</a:t>
            </a:r>
          </a:p>
          <a:p>
            <a:pPr algn="l">
              <a:spcBef>
                <a:spcPts val="400"/>
              </a:spcBef>
            </a:pPr>
            <a:r>
              <a:rPr sz="1200" b="0">
                <a:solidFill>
                  <a:srgbClr val="6B7785"/>
                </a:solidFill>
                <a:latin typeface="Calibri"/>
              </a:rPr>
              <a:t>Same workhorse script runs ad-hoc -- collect_central.py --client "Salman" --day 2026-05-14 -- if you want a mid-day rebuild without waiting for 23:45.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Claude identifies and drafts</a:t>
            </a:r>
          </a:p>
          <a:p>
            <a:pPr algn="l">
              <a:spcBef>
                <a:spcPts val="200"/>
              </a:spcBef>
            </a:pPr>
            <a:r>
              <a:rPr sz="1400" b="0">
                <a:solidFill>
                  <a:srgbClr val="6B7785"/>
                </a:solidFill>
                <a:latin typeface="Calibri"/>
              </a:rPr>
              <a:t>One Claude Agent SDK session per client. ~16k chars in.</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5577840" cy="48463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0"/>
            <a:ext cx="73152" cy="484632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63040"/>
            <a:ext cx="5349240" cy="4663440"/>
          </a:xfrm>
          <a:prstGeom prst="rect">
            <a:avLst/>
          </a:prstGeom>
          <a:noFill/>
        </p:spPr>
        <p:txBody>
          <a:bodyPr wrap="square" lIns="0" rIns="0" tIns="0" bIns="0" anchor="t">
            <a:spAutoFit/>
          </a:bodyPr>
          <a:lstStyle/>
          <a:p>
            <a:pPr algn="l"/>
            <a:r>
              <a:rPr sz="1500" b="1">
                <a:solidFill>
                  <a:srgbClr val="1F4E79"/>
                </a:solidFill>
                <a:latin typeface="Calibri"/>
              </a:rPr>
              <a:t>Input: Pull Session &lt;date&gt;.docx</a:t>
            </a:r>
          </a:p>
          <a:p>
            <a:pPr algn="l">
              <a:spcBef>
                <a:spcPts val="200"/>
              </a:spcBef>
            </a:pPr>
            <a:r>
              <a:rPr sz="1200" b="0">
                <a:solidFill>
                  <a:srgbClr val="222222"/>
                </a:solidFill>
                <a:latin typeface="Calibri"/>
              </a:rPr>
              <a:t>  Calls section (transcripts, in time order)</a:t>
            </a:r>
          </a:p>
          <a:p>
            <a:pPr algn="l">
              <a:spcBef>
                <a:spcPts val="200"/>
              </a:spcBef>
            </a:pPr>
            <a:r>
              <a:rPr sz="1200" b="0">
                <a:solidFill>
                  <a:srgbClr val="222222"/>
                </a:solidFill>
                <a:latin typeface="Calibri"/>
              </a:rPr>
              <a:t>  Chats section (per chat window)</a:t>
            </a:r>
          </a:p>
          <a:p>
            <a:pPr algn="l">
              <a:spcBef>
                <a:spcPts val="200"/>
              </a:spcBef>
            </a:pPr>
            <a:r>
              <a:rPr sz="1200" b="0">
                <a:solidFill>
                  <a:srgbClr val="222222"/>
                </a:solidFill>
                <a:latin typeface="Calibri"/>
              </a:rPr>
              <a:t>  Emails section (subject + body + inlined attachments)</a:t>
            </a:r>
          </a:p>
          <a:p>
            <a:pPr algn="l">
              <a:spcBef>
                <a:spcPts val="200"/>
              </a:spcBef>
            </a:pPr>
            <a:r>
              <a:rPr sz="1200" b="0">
                <a:solidFill>
                  <a:srgbClr val="222222"/>
                </a:solidFill>
                <a:latin typeface="Calibri"/>
              </a:rPr>
              <a:t>  Drive section (file names + audio transcripts)</a:t>
            </a:r>
          </a:p>
          <a:p>
            <a:pPr algn="l">
              <a:spcBef>
                <a:spcPts val="200"/>
              </a:spcBef>
            </a:pPr>
            <a:r>
              <a:rPr sz="1200" b="0">
                <a:solidFill>
                  <a:srgbClr val="222222"/>
                </a:solidFill>
                <a:latin typeface="Calibri"/>
              </a:rPr>
              <a:t/>
            </a:r>
          </a:p>
          <a:p>
            <a:pPr algn="l">
              <a:spcBef>
                <a:spcPts val="200"/>
              </a:spcBef>
            </a:pPr>
            <a:r>
              <a:rPr sz="1200" b="0">
                <a:solidFill>
                  <a:srgbClr val="222222"/>
                </a:solidFill>
                <a:latin typeface="Calibri"/>
              </a:rPr>
              <a:t>Around 16k characters for a typical full day.</a:t>
            </a:r>
          </a:p>
          <a:p>
            <a:pPr algn="l">
              <a:spcBef>
                <a:spcPts val="200"/>
              </a:spcBef>
            </a:pPr>
            <a:r>
              <a:rPr sz="1200" b="0">
                <a:solidFill>
                  <a:srgbClr val="222222"/>
                </a:solidFill>
                <a:latin typeface="Calibri"/>
              </a:rPr>
              <a:t/>
            </a:r>
          </a:p>
          <a:p>
            <a:pPr algn="l">
              <a:spcBef>
                <a:spcPts val="200"/>
              </a:spcBef>
            </a:pPr>
            <a:r>
              <a:rPr sz="1200" b="0">
                <a:solidFill>
                  <a:srgbClr val="222222"/>
                </a:solidFill>
                <a:latin typeface="Calibri"/>
              </a:rPr>
              <a:t>Pre-filtered before Claude sees it:</a:t>
            </a:r>
          </a:p>
          <a:p>
            <a:pPr algn="l">
              <a:spcBef>
                <a:spcPts val="200"/>
              </a:spcBef>
            </a:pPr>
            <a:r>
              <a:rPr sz="1200" b="0">
                <a:solidFill>
                  <a:srgbClr val="222222"/>
                </a:solidFill>
                <a:latin typeface="Calibri"/>
              </a:rPr>
              <a:t>  - system notifications stripped</a:t>
            </a:r>
          </a:p>
          <a:p>
            <a:pPr algn="l">
              <a:spcBef>
                <a:spcPts val="200"/>
              </a:spcBef>
            </a:pPr>
            <a:r>
              <a:rPr sz="1200" b="0">
                <a:solidFill>
                  <a:srgbClr val="222222"/>
                </a:solidFill>
                <a:latin typeface="Calibri"/>
              </a:rPr>
              <a:t>  - recorder test snippets dropped</a:t>
            </a:r>
          </a:p>
          <a:p>
            <a:pPr algn="l">
              <a:spcBef>
                <a:spcPts val="200"/>
              </a:spcBef>
            </a:pPr>
            <a:r>
              <a:rPr sz="1200" b="0">
                <a:solidFill>
                  <a:srgbClr val="222222"/>
                </a:solidFill>
                <a:latin typeface="Calibri"/>
              </a:rPr>
              <a:t>  - peer-to-peer dev chatter dropped</a:t>
            </a:r>
          </a:p>
          <a:p>
            <a:pPr algn="l">
              <a:spcBef>
                <a:spcPts val="200"/>
              </a:spcBef>
            </a:pPr>
            <a:r>
              <a:rPr sz="1200" b="0">
                <a:solidFill>
                  <a:srgbClr val="222222"/>
                </a:solidFill>
                <a:latin typeface="Calibri"/>
              </a:rPr>
              <a:t>  - already-confirmed requirements (from previous</a:t>
            </a:r>
          </a:p>
          <a:p>
            <a:pPr algn="l">
              <a:spcBef>
                <a:spcPts val="200"/>
              </a:spcBef>
            </a:pPr>
            <a:r>
              <a:rPr sz="1200" b="0">
                <a:solidFill>
                  <a:srgbClr val="222222"/>
                </a:solidFill>
                <a:latin typeface="Calibri"/>
              </a:rPr>
              <a:t>    days' replies) marked as resolved.</a:t>
            </a:r>
          </a:p>
        </p:txBody>
      </p:sp>
      <p:sp>
        <p:nvSpPr>
          <p:cNvPr id="8" name="Rectangle 7"/>
          <p:cNvSpPr/>
          <p:nvPr/>
        </p:nvSpPr>
        <p:spPr>
          <a:xfrm>
            <a:off x="6126480" y="1371600"/>
            <a:ext cx="5577840" cy="48463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73152" cy="484632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91072" y="1463040"/>
            <a:ext cx="5349240" cy="4663440"/>
          </a:xfrm>
          <a:prstGeom prst="rect">
            <a:avLst/>
          </a:prstGeom>
          <a:noFill/>
        </p:spPr>
        <p:txBody>
          <a:bodyPr wrap="square" lIns="0" rIns="0" tIns="0" bIns="0" anchor="t">
            <a:spAutoFit/>
          </a:bodyPr>
          <a:lstStyle/>
          <a:p>
            <a:pPr algn="l"/>
            <a:r>
              <a:rPr sz="1500" b="1">
                <a:solidFill>
                  <a:srgbClr val="C9962B"/>
                </a:solidFill>
                <a:latin typeface="Calibri"/>
              </a:rPr>
              <a:t>Output: per-client artefacts</a:t>
            </a:r>
          </a:p>
          <a:p>
            <a:pPr algn="l">
              <a:spcBef>
                <a:spcPts val="200"/>
              </a:spcBef>
            </a:pPr>
            <a:r>
              <a:rPr sz="1200" b="0">
                <a:solidFill>
                  <a:srgbClr val="222222"/>
                </a:solidFill>
                <a:latin typeface="Calibri"/>
              </a:rPr>
              <a:t>1. Requirements Verification &lt;date&gt;.docx</a:t>
            </a:r>
          </a:p>
          <a:p>
            <a:pPr algn="l">
              <a:spcBef>
                <a:spcPts val="200"/>
              </a:spcBef>
            </a:pPr>
            <a:r>
              <a:rPr sz="1200" b="0">
                <a:solidFill>
                  <a:srgbClr val="222222"/>
                </a:solidFill>
                <a:latin typeface="Calibri"/>
              </a:rPr>
              <a:t>      a numbered list of what the team heard.</a:t>
            </a:r>
          </a:p>
          <a:p>
            <a:pPr algn="l">
              <a:spcBef>
                <a:spcPts val="200"/>
              </a:spcBef>
            </a:pPr>
            <a:r>
              <a:rPr sz="1200" b="0">
                <a:solidFill>
                  <a:srgbClr val="222222"/>
                </a:solidFill>
                <a:latin typeface="Calibri"/>
              </a:rPr>
              <a:t>      one entry per requirement, with the</a:t>
            </a:r>
          </a:p>
          <a:p>
            <a:pPr algn="l">
              <a:spcBef>
                <a:spcPts val="200"/>
              </a:spcBef>
            </a:pPr>
            <a:r>
              <a:rPr sz="1200" b="0">
                <a:solidFill>
                  <a:srgbClr val="222222"/>
                </a:solidFill>
                <a:latin typeface="Calibri"/>
              </a:rPr>
              <a:t>      source pointer (call timestamp, chat</a:t>
            </a:r>
          </a:p>
          <a:p>
            <a:pPr algn="l">
              <a:spcBef>
                <a:spcPts val="200"/>
              </a:spcBef>
            </a:pPr>
            <a:r>
              <a:rPr sz="1200" b="0">
                <a:solidFill>
                  <a:srgbClr val="222222"/>
                </a:solidFill>
                <a:latin typeface="Calibri"/>
              </a:rPr>
              <a:t>      thread, email subject).</a:t>
            </a:r>
          </a:p>
          <a:p>
            <a:pPr algn="l">
              <a:spcBef>
                <a:spcPts val="200"/>
              </a:spcBef>
            </a:pPr>
            <a:r>
              <a:rPr sz="1200" b="0">
                <a:solidFill>
                  <a:srgbClr val="222222"/>
                </a:solidFill>
                <a:latin typeface="Calibri"/>
              </a:rPr>
              <a:t/>
            </a:r>
          </a:p>
          <a:p>
            <a:pPr algn="l">
              <a:spcBef>
                <a:spcPts val="200"/>
              </a:spcBef>
            </a:pPr>
            <a:r>
              <a:rPr sz="1200" b="0">
                <a:solidFill>
                  <a:srgbClr val="222222"/>
                </a:solidFill>
                <a:latin typeface="Calibri"/>
              </a:rPr>
              <a:t>2. .eml draft in Gmail Drafts</a:t>
            </a:r>
          </a:p>
          <a:p>
            <a:pPr algn="l">
              <a:spcBef>
                <a:spcPts val="200"/>
              </a:spcBef>
            </a:pPr>
            <a:r>
              <a:rPr sz="1200" b="0">
                <a:solidFill>
                  <a:srgbClr val="222222"/>
                </a:solidFill>
                <a:latin typeface="Calibri"/>
              </a:rPr>
              <a:t>      To:      &lt;client&gt;@&lt;domain&gt;</a:t>
            </a:r>
          </a:p>
          <a:p>
            <a:pPr algn="l">
              <a:spcBef>
                <a:spcPts val="200"/>
              </a:spcBef>
            </a:pPr>
            <a:r>
              <a:rPr sz="1200" b="0">
                <a:solidFill>
                  <a:srgbClr val="222222"/>
                </a:solidFill>
                <a:latin typeface="Calibri"/>
              </a:rPr>
              <a:t>      Subject: Requirements Verification &lt;date&gt;</a:t>
            </a:r>
          </a:p>
          <a:p>
            <a:pPr algn="l">
              <a:spcBef>
                <a:spcPts val="200"/>
              </a:spcBef>
            </a:pPr>
            <a:r>
              <a:rPr sz="1200" b="0">
                <a:solidFill>
                  <a:srgbClr val="222222"/>
                </a:solidFill>
                <a:latin typeface="Calibri"/>
              </a:rPr>
              <a:t>      Body:    bullet summary</a:t>
            </a:r>
          </a:p>
          <a:p>
            <a:pPr algn="l">
              <a:spcBef>
                <a:spcPts val="200"/>
              </a:spcBef>
            </a:pPr>
            <a:r>
              <a:rPr sz="1200" b="0">
                <a:solidFill>
                  <a:srgbClr val="222222"/>
                </a:solidFill>
                <a:latin typeface="Calibri"/>
              </a:rPr>
              <a:t>      Attach:  the .docx above</a:t>
            </a:r>
          </a:p>
          <a:p>
            <a:pPr algn="l">
              <a:spcBef>
                <a:spcPts val="200"/>
              </a:spcBef>
            </a:pPr>
            <a:r>
              <a:rPr sz="1200" b="0">
                <a:solidFill>
                  <a:srgbClr val="222222"/>
                </a:solidFill>
                <a:latin typeface="Calibri"/>
              </a:rPr>
              <a:t>      Attach:  the Pull Session source doc</a:t>
            </a:r>
          </a:p>
          <a:p>
            <a:pPr algn="l">
              <a:spcBef>
                <a:spcPts val="200"/>
              </a:spcBef>
            </a:pPr>
            <a:r>
              <a:rPr sz="1200" b="0">
                <a:solidFill>
                  <a:srgbClr val="222222"/>
                </a:solidFill>
                <a:latin typeface="Calibri"/>
              </a:rPr>
              <a:t/>
            </a:r>
          </a:p>
          <a:p>
            <a:pPr algn="l">
              <a:spcBef>
                <a:spcPts val="200"/>
              </a:spcBef>
            </a:pPr>
            <a:r>
              <a:rPr sz="1200" b="0">
                <a:solidFill>
                  <a:srgbClr val="222222"/>
                </a:solidFill>
                <a:latin typeface="Calibri"/>
              </a:rPr>
              <a:t>Memory: writes new state to sqlite at</a:t>
            </a:r>
          </a:p>
          <a:p>
            <a:pPr algn="l">
              <a:spcBef>
                <a:spcPts val="200"/>
              </a:spcBef>
            </a:pPr>
            <a:r>
              <a:rPr sz="1200" b="0">
                <a:solidFill>
                  <a:srgbClr val="222222"/>
                </a:solidFill>
                <a:latin typeface="Calibri"/>
              </a:rPr>
              <a:t>      /state/nucleus_memory.db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Human in the loop</a:t>
            </a:r>
          </a:p>
          <a:p>
            <a:pPr algn="l">
              <a:spcBef>
                <a:spcPts val="200"/>
              </a:spcBef>
            </a:pPr>
            <a:r>
              <a:rPr sz="1400" b="0">
                <a:solidFill>
                  <a:srgbClr val="6B7785"/>
                </a:solidFill>
                <a:latin typeface="Calibri"/>
              </a:rPr>
              <a:t>Review the draft. Send. Reply gets parsed back.</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26567" y="1645920"/>
            <a:ext cx="365760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26567" y="1645920"/>
            <a:ext cx="73152" cy="31089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1159" y="1737360"/>
            <a:ext cx="3429000" cy="2926080"/>
          </a:xfrm>
          <a:prstGeom prst="rect">
            <a:avLst/>
          </a:prstGeom>
          <a:noFill/>
        </p:spPr>
        <p:txBody>
          <a:bodyPr wrap="square" lIns="0" rIns="0" tIns="0" bIns="0" anchor="t">
            <a:spAutoFit/>
          </a:bodyPr>
          <a:lstStyle/>
          <a:p>
            <a:pPr algn="l"/>
            <a:r>
              <a:rPr sz="1800" b="1">
                <a:solidFill>
                  <a:srgbClr val="1F4E79"/>
                </a:solidFill>
                <a:latin typeface="Calibri"/>
              </a:rPr>
              <a:t>Review</a:t>
            </a:r>
          </a:p>
          <a:p>
            <a:pPr algn="l">
              <a:spcBef>
                <a:spcPts val="200"/>
              </a:spcBef>
            </a:pPr>
            <a:r>
              <a:rPr sz="1300" b="0">
                <a:solidFill>
                  <a:srgbClr val="222222"/>
                </a:solidFill>
                <a:latin typeface="Calibri"/>
              </a:rPr>
              <a:t>Open Gmail Drafts.</a:t>
            </a:r>
          </a:p>
          <a:p>
            <a:pPr algn="l">
              <a:spcBef>
                <a:spcPts val="200"/>
              </a:spcBef>
            </a:pPr>
            <a:r>
              <a:rPr sz="1300" b="0">
                <a:solidFill>
                  <a:srgbClr val="222222"/>
                </a:solidFill>
                <a:latin typeface="Calibri"/>
              </a:rPr>
              <a:t>Read the curated .docx.</a:t>
            </a:r>
          </a:p>
          <a:p>
            <a:pPr algn="l">
              <a:spcBef>
                <a:spcPts val="200"/>
              </a:spcBef>
            </a:pPr>
            <a:r>
              <a:rPr sz="1300" b="0">
                <a:solidFill>
                  <a:srgbClr val="222222"/>
                </a:solidFill>
                <a:latin typeface="Calibri"/>
              </a:rPr>
              <a:t>Spot-check anything questionable</a:t>
            </a:r>
          </a:p>
          <a:p>
            <a:pPr algn="l">
              <a:spcBef>
                <a:spcPts val="200"/>
              </a:spcBef>
            </a:pPr>
            <a:r>
              <a:rPr sz="1300" b="0">
                <a:solidFill>
                  <a:srgbClr val="222222"/>
                </a:solidFill>
                <a:latin typeface="Calibri"/>
              </a:rPr>
              <a:t>against the Pull Session doc.</a:t>
            </a:r>
          </a:p>
        </p:txBody>
      </p:sp>
      <p:cxnSp>
        <p:nvCxnSpPr>
          <p:cNvPr id="8" name="Connector 7"/>
          <p:cNvCxnSpPr/>
          <p:nvPr/>
        </p:nvCxnSpPr>
        <p:spPr>
          <a:xfrm>
            <a:off x="4084167" y="3200400"/>
            <a:ext cx="182880" cy="0"/>
          </a:xfrm>
          <a:prstGeom prst="bentConnector3">
            <a:avLst/>
          </a:prstGeom>
          <a:ln w="31750">
            <a:solidFill>
              <a:srgbClr val="1F4E79"/>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4267047" y="1645920"/>
            <a:ext cx="365760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67047" y="1645920"/>
            <a:ext cx="73152" cy="310896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1639" y="1737360"/>
            <a:ext cx="3429000" cy="2926080"/>
          </a:xfrm>
          <a:prstGeom prst="rect">
            <a:avLst/>
          </a:prstGeom>
          <a:noFill/>
        </p:spPr>
        <p:txBody>
          <a:bodyPr wrap="square" lIns="0" rIns="0" tIns="0" bIns="0" anchor="t">
            <a:spAutoFit/>
          </a:bodyPr>
          <a:lstStyle/>
          <a:p>
            <a:pPr algn="l"/>
            <a:r>
              <a:rPr sz="1800" b="1">
                <a:solidFill>
                  <a:srgbClr val="4A7A4A"/>
                </a:solidFill>
                <a:latin typeface="Calibri"/>
              </a:rPr>
              <a:t>Send</a:t>
            </a:r>
          </a:p>
          <a:p>
            <a:pPr algn="l">
              <a:spcBef>
                <a:spcPts val="200"/>
              </a:spcBef>
            </a:pPr>
            <a:r>
              <a:rPr sz="1300" b="0">
                <a:solidFill>
                  <a:srgbClr val="222222"/>
                </a:solidFill>
                <a:latin typeface="Calibri"/>
              </a:rPr>
              <a:t>Click send when satisfied.</a:t>
            </a:r>
          </a:p>
          <a:p>
            <a:pPr algn="l">
              <a:spcBef>
                <a:spcPts val="200"/>
              </a:spcBef>
            </a:pPr>
            <a:r>
              <a:rPr sz="1300" b="0">
                <a:solidFill>
                  <a:srgbClr val="222222"/>
                </a:solidFill>
                <a:latin typeface="Calibri"/>
              </a:rPr>
              <a:t>No auto-send -- the human gate</a:t>
            </a:r>
          </a:p>
          <a:p>
            <a:pPr algn="l">
              <a:spcBef>
                <a:spcPts val="200"/>
              </a:spcBef>
            </a:pPr>
            <a:r>
              <a:rPr sz="1300" b="0">
                <a:solidFill>
                  <a:srgbClr val="222222"/>
                </a:solidFill>
                <a:latin typeface="Calibri"/>
              </a:rPr>
              <a:t>is deliberate.</a:t>
            </a:r>
          </a:p>
          <a:p>
            <a:pPr algn="l">
              <a:spcBef>
                <a:spcPts val="200"/>
              </a:spcBef>
            </a:pPr>
            <a:r>
              <a:rPr sz="1300" b="0">
                <a:solidFill>
                  <a:srgbClr val="222222"/>
                </a:solidFill>
                <a:latin typeface="Calibri"/>
              </a:rPr>
              <a:t>Salman gets the email + 2 attachments.</a:t>
            </a:r>
          </a:p>
        </p:txBody>
      </p:sp>
      <p:cxnSp>
        <p:nvCxnSpPr>
          <p:cNvPr id="12" name="Connector 11"/>
          <p:cNvCxnSpPr/>
          <p:nvPr/>
        </p:nvCxnSpPr>
        <p:spPr>
          <a:xfrm>
            <a:off x="7924647" y="3200400"/>
            <a:ext cx="182880" cy="0"/>
          </a:xfrm>
          <a:prstGeom prst="bentConnector3">
            <a:avLst/>
          </a:prstGeom>
          <a:ln w="31750">
            <a:solidFill>
              <a:srgbClr val="1F4E79"/>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8107527" y="1645920"/>
            <a:ext cx="365760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07527" y="1645920"/>
            <a:ext cx="73152" cy="310896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2119" y="1737360"/>
            <a:ext cx="3429000" cy="2926080"/>
          </a:xfrm>
          <a:prstGeom prst="rect">
            <a:avLst/>
          </a:prstGeom>
          <a:noFill/>
        </p:spPr>
        <p:txBody>
          <a:bodyPr wrap="square" lIns="0" rIns="0" tIns="0" bIns="0" anchor="t">
            <a:spAutoFit/>
          </a:bodyPr>
          <a:lstStyle/>
          <a:p>
            <a:pPr algn="l"/>
            <a:r>
              <a:rPr sz="1800" b="1">
                <a:solidFill>
                  <a:srgbClr val="6A4C93"/>
                </a:solidFill>
                <a:latin typeface="Calibri"/>
              </a:rPr>
              <a:t>Parse the reply</a:t>
            </a:r>
          </a:p>
          <a:p>
            <a:pPr algn="l">
              <a:spcBef>
                <a:spcPts val="200"/>
              </a:spcBef>
            </a:pPr>
            <a:r>
              <a:rPr sz="1300" b="0">
                <a:solidFill>
                  <a:srgbClr val="222222"/>
                </a:solidFill>
                <a:latin typeface="Calibri"/>
              </a:rPr>
              <a:t>Salman replies in Gmail.</a:t>
            </a:r>
          </a:p>
          <a:p>
            <a:pPr algn="l">
              <a:spcBef>
                <a:spcPts val="200"/>
              </a:spcBef>
            </a:pPr>
            <a:r>
              <a:rPr sz="1300" b="0">
                <a:solidFill>
                  <a:srgbClr val="222222"/>
                </a:solidFill>
                <a:latin typeface="Calibri"/>
              </a:rPr>
              <a:t>tools.poll_replies picks it up,</a:t>
            </a:r>
          </a:p>
          <a:p>
            <a:pPr algn="l">
              <a:spcBef>
                <a:spcPts val="200"/>
              </a:spcBef>
            </a:pPr>
            <a:r>
              <a:rPr sz="1300" b="0">
                <a:solidFill>
                  <a:srgbClr val="222222"/>
                </a:solidFill>
                <a:latin typeface="Calibri"/>
              </a:rPr>
              <a:t>updates the sqlite memory db,</a:t>
            </a:r>
          </a:p>
          <a:p>
            <a:pPr algn="l">
              <a:spcBef>
                <a:spcPts val="200"/>
              </a:spcBef>
            </a:pPr>
            <a:r>
              <a:rPr sz="1300" b="0">
                <a:solidFill>
                  <a:srgbClr val="222222"/>
                </a:solidFill>
                <a:latin typeface="Calibri"/>
              </a:rPr>
              <a:t>feeds tomorrow's run.</a:t>
            </a:r>
          </a:p>
        </p:txBody>
      </p:sp>
      <p:sp>
        <p:nvSpPr>
          <p:cNvPr id="16" name="TextBox 15"/>
          <p:cNvSpPr txBox="1"/>
          <p:nvPr/>
        </p:nvSpPr>
        <p:spPr>
          <a:xfrm>
            <a:off x="731520" y="5212080"/>
            <a:ext cx="10698480" cy="1280160"/>
          </a:xfrm>
          <a:prstGeom prst="rect">
            <a:avLst/>
          </a:prstGeom>
          <a:noFill/>
        </p:spPr>
        <p:txBody>
          <a:bodyPr wrap="square" lIns="0" rIns="0" tIns="0" bIns="0" anchor="t">
            <a:spAutoFit/>
          </a:bodyPr>
          <a:lstStyle/>
          <a:p>
            <a:pPr algn="l"/>
            <a:r>
              <a:rPr sz="1500" b="1">
                <a:solidFill>
                  <a:srgbClr val="1F4E79"/>
                </a:solidFill>
                <a:latin typeface="Calibri"/>
              </a:rPr>
              <a:t>The loop closes automatically.</a:t>
            </a:r>
          </a:p>
          <a:p>
            <a:pPr algn="l">
              <a:spcBef>
                <a:spcPts val="600"/>
              </a:spcBef>
            </a:pPr>
            <a:r>
              <a:rPr sz="1300" b="0">
                <a:solidFill>
                  <a:srgbClr val="6B7785"/>
                </a:solidFill>
                <a:latin typeface="Calibri"/>
              </a:rPr>
              <a:t>Replies are matched back to the verification email by thread id, parsed for accept/reject/clarify-on-each-line, and written into the same sqlite memory the next day's Pull Session reads from. Items confirmed yesterday don't re-surface today.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Tools and technologies</a:t>
            </a:r>
          </a:p>
          <a:p>
            <a:pPr algn="l">
              <a:spcBef>
                <a:spcPts val="200"/>
              </a:spcBef>
            </a:pPr>
            <a:r>
              <a:rPr sz="1400" b="0">
                <a:solidFill>
                  <a:srgbClr val="6B7785"/>
                </a:solidFill>
                <a:latin typeface="Calibri"/>
              </a:rPr>
              <a:t>Boring tech, deliberately. One Python stack end-to-end.</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3703320" cy="23317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0"/>
            <a:ext cx="73152" cy="233172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63040"/>
            <a:ext cx="3474720" cy="2148840"/>
          </a:xfrm>
          <a:prstGeom prst="rect">
            <a:avLst/>
          </a:prstGeom>
          <a:noFill/>
        </p:spPr>
        <p:txBody>
          <a:bodyPr wrap="square" lIns="0" rIns="0" tIns="0" bIns="0" anchor="t">
            <a:spAutoFit/>
          </a:bodyPr>
          <a:lstStyle/>
          <a:p>
            <a:pPr algn="l"/>
            <a:r>
              <a:rPr sz="1400" b="1">
                <a:solidFill>
                  <a:srgbClr val="2E8A8A"/>
                </a:solidFill>
                <a:latin typeface="Calibri"/>
              </a:rPr>
              <a:t>Runtime</a:t>
            </a:r>
          </a:p>
          <a:p>
            <a:pPr algn="l">
              <a:spcBef>
                <a:spcPts val="200"/>
              </a:spcBef>
            </a:pPr>
            <a:r>
              <a:rPr sz="1200" b="0">
                <a:solidFill>
                  <a:srgbClr val="222222"/>
                </a:solidFill>
                <a:latin typeface="Calibri"/>
              </a:rPr>
              <a:t>Python 3.12</a:t>
            </a:r>
          </a:p>
          <a:p>
            <a:pPr algn="l">
              <a:spcBef>
                <a:spcPts val="200"/>
              </a:spcBef>
            </a:pPr>
            <a:r>
              <a:rPr sz="1200" b="0">
                <a:solidFill>
                  <a:srgbClr val="222222"/>
                </a:solidFill>
                <a:latin typeface="Calibri"/>
              </a:rPr>
              <a:t>Ubuntu 24.04 LTS (.123)</a:t>
            </a:r>
          </a:p>
          <a:p>
            <a:pPr algn="l">
              <a:spcBef>
                <a:spcPts val="200"/>
              </a:spcBef>
            </a:pPr>
            <a:r>
              <a:rPr sz="1200" b="0">
                <a:solidFill>
                  <a:srgbClr val="222222"/>
                </a:solidFill>
                <a:latin typeface="Calibri"/>
              </a:rPr>
              <a:t>Windows 11 (dev PCs)</a:t>
            </a:r>
          </a:p>
          <a:p>
            <a:pPr algn="l">
              <a:spcBef>
                <a:spcPts val="200"/>
              </a:spcBef>
            </a:pPr>
            <a:r>
              <a:rPr sz="1200" b="0">
                <a:solidFill>
                  <a:srgbClr val="222222"/>
                </a:solidFill>
                <a:latin typeface="Calibri"/>
              </a:rPr>
              <a:t>Docker + docker-compose</a:t>
            </a:r>
          </a:p>
        </p:txBody>
      </p:sp>
      <p:sp>
        <p:nvSpPr>
          <p:cNvPr id="8" name="Rectangle 7"/>
          <p:cNvSpPr/>
          <p:nvPr/>
        </p:nvSpPr>
        <p:spPr>
          <a:xfrm>
            <a:off x="4297680" y="1371600"/>
            <a:ext cx="3703320" cy="23317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97680" y="1371600"/>
            <a:ext cx="73152" cy="233172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62272" y="1463040"/>
            <a:ext cx="3474720" cy="2148840"/>
          </a:xfrm>
          <a:prstGeom prst="rect">
            <a:avLst/>
          </a:prstGeom>
          <a:noFill/>
        </p:spPr>
        <p:txBody>
          <a:bodyPr wrap="square" lIns="0" rIns="0" tIns="0" bIns="0" anchor="t">
            <a:spAutoFit/>
          </a:bodyPr>
          <a:lstStyle/>
          <a:p>
            <a:pPr algn="l"/>
            <a:r>
              <a:rPr sz="1400" b="1">
                <a:solidFill>
                  <a:srgbClr val="6A4C93"/>
                </a:solidFill>
                <a:latin typeface="Calibri"/>
              </a:rPr>
              <a:t>AI / transcription</a:t>
            </a:r>
          </a:p>
          <a:p>
            <a:pPr algn="l">
              <a:spcBef>
                <a:spcPts val="200"/>
              </a:spcBef>
            </a:pPr>
            <a:r>
              <a:rPr sz="1200" b="0">
                <a:solidFill>
                  <a:srgbClr val="222222"/>
                </a:solidFill>
                <a:latin typeface="Calibri"/>
              </a:rPr>
              <a:t>Anthropic Claude Opus (Max-tier)</a:t>
            </a:r>
          </a:p>
          <a:p>
            <a:pPr algn="l">
              <a:spcBef>
                <a:spcPts val="200"/>
              </a:spcBef>
            </a:pPr>
            <a:r>
              <a:rPr sz="1200" b="0">
                <a:solidFill>
                  <a:srgbClr val="222222"/>
                </a:solidFill>
                <a:latin typeface="Calibri"/>
              </a:rPr>
              <a:t>Claude Agent SDK</a:t>
            </a:r>
          </a:p>
          <a:p>
            <a:pPr algn="l">
              <a:spcBef>
                <a:spcPts val="200"/>
              </a:spcBef>
            </a:pPr>
            <a:r>
              <a:rPr sz="1200" b="0">
                <a:solidFill>
                  <a:srgbClr val="222222"/>
                </a:solidFill>
                <a:latin typeface="Calibri"/>
              </a:rPr>
              <a:t>Groq API (whisper-large-v3)</a:t>
            </a:r>
          </a:p>
          <a:p>
            <a:pPr algn="l">
              <a:spcBef>
                <a:spcPts val="200"/>
              </a:spcBef>
            </a:pPr>
            <a:r>
              <a:rPr sz="1200" b="0">
                <a:solidFill>
                  <a:srgbClr val="222222"/>
                </a:solidFill>
                <a:latin typeface="Calibri"/>
              </a:rPr>
              <a:t>faster-whisper int8 (fallback)</a:t>
            </a:r>
          </a:p>
        </p:txBody>
      </p:sp>
      <p:sp>
        <p:nvSpPr>
          <p:cNvPr id="11" name="Rectangle 10"/>
          <p:cNvSpPr/>
          <p:nvPr/>
        </p:nvSpPr>
        <p:spPr>
          <a:xfrm>
            <a:off x="8138160" y="1371600"/>
            <a:ext cx="3703320" cy="23317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38160" y="1371600"/>
            <a:ext cx="73152" cy="233172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02752" y="1463040"/>
            <a:ext cx="3474720" cy="2148840"/>
          </a:xfrm>
          <a:prstGeom prst="rect">
            <a:avLst/>
          </a:prstGeom>
          <a:noFill/>
        </p:spPr>
        <p:txBody>
          <a:bodyPr wrap="square" lIns="0" rIns="0" tIns="0" bIns="0" anchor="t">
            <a:spAutoFit/>
          </a:bodyPr>
          <a:lstStyle/>
          <a:p>
            <a:pPr algn="l"/>
            <a:r>
              <a:rPr sz="1400" b="1">
                <a:solidFill>
                  <a:srgbClr val="C9962B"/>
                </a:solidFill>
                <a:latin typeface="Calibri"/>
              </a:rPr>
              <a:t>Storage / share</a:t>
            </a:r>
          </a:p>
          <a:p>
            <a:pPr algn="l">
              <a:spcBef>
                <a:spcPts val="200"/>
              </a:spcBef>
            </a:pPr>
            <a:r>
              <a:rPr sz="1200" b="0">
                <a:solidFill>
                  <a:srgbClr val="222222"/>
                </a:solidFill>
                <a:latin typeface="Calibri"/>
              </a:rPr>
              <a:t>Samba (SMB / port 445)</a:t>
            </a:r>
          </a:p>
          <a:p>
            <a:pPr algn="l">
              <a:spcBef>
                <a:spcPts val="200"/>
              </a:spcBef>
            </a:pPr>
            <a:r>
              <a:rPr sz="1200" b="0">
                <a:solidFill>
                  <a:srgbClr val="222222"/>
                </a:solidFill>
                <a:latin typeface="Calibri"/>
              </a:rPr>
              <a:t>sqlite (memory.db)</a:t>
            </a:r>
          </a:p>
          <a:p>
            <a:pPr algn="l">
              <a:spcBef>
                <a:spcPts val="200"/>
              </a:spcBef>
            </a:pPr>
            <a:r>
              <a:rPr sz="1200" b="0">
                <a:solidFill>
                  <a:srgbClr val="222222"/>
                </a:solidFill>
                <a:latin typeface="Calibri"/>
              </a:rPr>
              <a:t>python-docx (artefacts)</a:t>
            </a:r>
          </a:p>
          <a:p>
            <a:pPr algn="l">
              <a:spcBef>
                <a:spcPts val="200"/>
              </a:spcBef>
            </a:pPr>
            <a:r>
              <a:rPr sz="1200" b="0">
                <a:solidFill>
                  <a:srgbClr val="222222"/>
                </a:solidFill>
                <a:latin typeface="Calibri"/>
              </a:rPr>
              <a:t>Named docker volume (state)</a:t>
            </a:r>
          </a:p>
        </p:txBody>
      </p:sp>
      <p:sp>
        <p:nvSpPr>
          <p:cNvPr id="14" name="Rectangle 13"/>
          <p:cNvSpPr/>
          <p:nvPr/>
        </p:nvSpPr>
        <p:spPr>
          <a:xfrm>
            <a:off x="457200" y="3840480"/>
            <a:ext cx="3703320" cy="23317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3840480"/>
            <a:ext cx="73152" cy="233172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931920"/>
            <a:ext cx="3474720" cy="2148840"/>
          </a:xfrm>
          <a:prstGeom prst="rect">
            <a:avLst/>
          </a:prstGeom>
          <a:noFill/>
        </p:spPr>
        <p:txBody>
          <a:bodyPr wrap="square" lIns="0" rIns="0" tIns="0" bIns="0" anchor="t">
            <a:spAutoFit/>
          </a:bodyPr>
          <a:lstStyle/>
          <a:p>
            <a:pPr algn="l"/>
            <a:r>
              <a:rPr sz="1400" b="1">
                <a:solidFill>
                  <a:srgbClr val="E07856"/>
                </a:solidFill>
                <a:latin typeface="Calibri"/>
              </a:rPr>
              <a:t>Capture surfaces</a:t>
            </a:r>
          </a:p>
          <a:p>
            <a:pPr algn="l">
              <a:spcBef>
                <a:spcPts val="200"/>
              </a:spcBef>
            </a:pPr>
            <a:r>
              <a:rPr sz="1200" b="0">
                <a:solidFill>
                  <a:srgbClr val="222222"/>
                </a:solidFill>
                <a:latin typeface="Calibri"/>
              </a:rPr>
              <a:t>MS Teams (pycaw, IndexedDB)</a:t>
            </a:r>
          </a:p>
          <a:p>
            <a:pPr algn="l">
              <a:spcBef>
                <a:spcPts val="200"/>
              </a:spcBef>
            </a:pPr>
            <a:r>
              <a:rPr sz="1200" b="0">
                <a:solidFill>
                  <a:srgbClr val="222222"/>
                </a:solidFill>
                <a:latin typeface="Calibri"/>
              </a:rPr>
              <a:t>Gmail IMAP + OAuth</a:t>
            </a:r>
          </a:p>
          <a:p>
            <a:pPr algn="l">
              <a:spcBef>
                <a:spcPts val="200"/>
              </a:spcBef>
            </a:pPr>
            <a:r>
              <a:rPr sz="1200" b="0">
                <a:solidFill>
                  <a:srgbClr val="222222"/>
                </a:solidFill>
                <a:latin typeface="Calibri"/>
              </a:rPr>
              <a:t>Google Drive API + OAuth</a:t>
            </a:r>
          </a:p>
          <a:p>
            <a:pPr algn="l">
              <a:spcBef>
                <a:spcPts val="200"/>
              </a:spcBef>
            </a:pPr>
            <a:r>
              <a:rPr sz="1200" b="0">
                <a:solidFill>
                  <a:srgbClr val="222222"/>
                </a:solidFill>
                <a:latin typeface="Calibri"/>
              </a:rPr>
              <a:t>Windows Task Scheduler (chat push)</a:t>
            </a:r>
          </a:p>
        </p:txBody>
      </p:sp>
      <p:sp>
        <p:nvSpPr>
          <p:cNvPr id="17" name="Rectangle 16"/>
          <p:cNvSpPr/>
          <p:nvPr/>
        </p:nvSpPr>
        <p:spPr>
          <a:xfrm>
            <a:off x="4297680" y="3840480"/>
            <a:ext cx="3703320" cy="23317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3840480"/>
            <a:ext cx="73152" cy="233172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62272" y="3931920"/>
            <a:ext cx="3474720" cy="2148840"/>
          </a:xfrm>
          <a:prstGeom prst="rect">
            <a:avLst/>
          </a:prstGeom>
          <a:noFill/>
        </p:spPr>
        <p:txBody>
          <a:bodyPr wrap="square" lIns="0" rIns="0" tIns="0" bIns="0" anchor="t">
            <a:spAutoFit/>
          </a:bodyPr>
          <a:lstStyle/>
          <a:p>
            <a:pPr algn="l"/>
            <a:r>
              <a:rPr sz="1400" b="1">
                <a:solidFill>
                  <a:srgbClr val="4A7A4A"/>
                </a:solidFill>
                <a:latin typeface="Calibri"/>
              </a:rPr>
              <a:t>Ops</a:t>
            </a:r>
          </a:p>
          <a:p>
            <a:pPr algn="l">
              <a:spcBef>
                <a:spcPts val="200"/>
              </a:spcBef>
            </a:pPr>
            <a:r>
              <a:rPr sz="1200" b="0">
                <a:solidFill>
                  <a:srgbClr val="222222"/>
                </a:solidFill>
                <a:latin typeface="Calibri"/>
              </a:rPr>
              <a:t>GitHub Actions (self-hosted runner)</a:t>
            </a:r>
          </a:p>
          <a:p>
            <a:pPr algn="l">
              <a:spcBef>
                <a:spcPts val="200"/>
              </a:spcBef>
            </a:pPr>
            <a:r>
              <a:rPr sz="1200" b="0">
                <a:solidFill>
                  <a:srgbClr val="222222"/>
                </a:solidFill>
                <a:latin typeface="Calibri"/>
              </a:rPr>
              <a:t>docker-compose .env config</a:t>
            </a:r>
          </a:p>
          <a:p>
            <a:pPr algn="l">
              <a:spcBef>
                <a:spcPts val="200"/>
              </a:spcBef>
            </a:pPr>
            <a:r>
              <a:rPr sz="1200" b="0">
                <a:solidFill>
                  <a:srgbClr val="222222"/>
                </a:solidFill>
                <a:latin typeface="Calibri"/>
              </a:rPr>
              <a:t>git pull -&gt; RO bind-mount = hot reload</a:t>
            </a:r>
          </a:p>
          <a:p>
            <a:pPr algn="l">
              <a:spcBef>
                <a:spcPts val="200"/>
              </a:spcBef>
            </a:pPr>
            <a:r>
              <a:rPr sz="1200" b="0">
                <a:solidFill>
                  <a:srgbClr val="222222"/>
                </a:solidFill>
                <a:latin typeface="Calibri"/>
              </a:rPr>
              <a:t>tools.healthcheck (CLI status)</a:t>
            </a:r>
          </a:p>
        </p:txBody>
      </p:sp>
      <p:sp>
        <p:nvSpPr>
          <p:cNvPr id="20" name="Rectangle 19"/>
          <p:cNvSpPr/>
          <p:nvPr/>
        </p:nvSpPr>
        <p:spPr>
          <a:xfrm>
            <a:off x="8138160" y="3840480"/>
            <a:ext cx="3703320" cy="23317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38160" y="3840480"/>
            <a:ext cx="73152" cy="233172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02752" y="3931920"/>
            <a:ext cx="3474720" cy="2148840"/>
          </a:xfrm>
          <a:prstGeom prst="rect">
            <a:avLst/>
          </a:prstGeom>
          <a:noFill/>
        </p:spPr>
        <p:txBody>
          <a:bodyPr wrap="square" lIns="0" rIns="0" tIns="0" bIns="0" anchor="t">
            <a:spAutoFit/>
          </a:bodyPr>
          <a:lstStyle/>
          <a:p>
            <a:pPr algn="l"/>
            <a:r>
              <a:rPr sz="1400" b="1">
                <a:solidFill>
                  <a:srgbClr val="1F4E79"/>
                </a:solidFill>
                <a:latin typeface="Calibri"/>
              </a:rPr>
              <a:t>Auth</a:t>
            </a:r>
          </a:p>
          <a:p>
            <a:pPr algn="l">
              <a:spcBef>
                <a:spcPts val="200"/>
              </a:spcBef>
            </a:pPr>
            <a:r>
              <a:rPr sz="1200" b="0">
                <a:solidFill>
                  <a:srgbClr val="222222"/>
                </a:solidFill>
                <a:latin typeface="Calibri"/>
              </a:rPr>
              <a:t>Claude Max-tier (.claude bind-mounted RO)</a:t>
            </a:r>
          </a:p>
          <a:p>
            <a:pPr algn="l">
              <a:spcBef>
                <a:spcPts val="200"/>
              </a:spcBef>
            </a:pPr>
            <a:r>
              <a:rPr sz="1200" b="0">
                <a:solidFill>
                  <a:srgbClr val="222222"/>
                </a:solidFill>
                <a:latin typeface="Calibri"/>
              </a:rPr>
              <a:t>Gmail OAuth refresh tokens</a:t>
            </a:r>
          </a:p>
          <a:p>
            <a:pPr algn="l">
              <a:spcBef>
                <a:spcPts val="200"/>
              </a:spcBef>
            </a:pPr>
            <a:r>
              <a:rPr sz="1200" b="0">
                <a:solidFill>
                  <a:srgbClr val="222222"/>
                </a:solidFill>
                <a:latin typeface="Calibri"/>
              </a:rPr>
              <a:t>Drive OAuth (same project)</a:t>
            </a:r>
          </a:p>
          <a:p>
            <a:pPr algn="l">
              <a:spcBef>
                <a:spcPts val="200"/>
              </a:spcBef>
            </a:pPr>
            <a:r>
              <a:rPr sz="1200" b="0">
                <a:solidFill>
                  <a:srgbClr val="222222"/>
                </a:solidFill>
                <a:latin typeface="Calibri"/>
              </a:rPr>
              <a:t>Samba single shared user (Phase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What .123 actually does today</a:t>
            </a:r>
          </a:p>
          <a:p>
            <a:pPr algn="l">
              <a:spcBef>
                <a:spcPts val="200"/>
              </a:spcBef>
            </a:pPr>
            <a:r>
              <a:rPr sz="1400" b="0">
                <a:solidFill>
                  <a:srgbClr val="6B7785"/>
                </a:solidFill>
                <a:latin typeface="Calibri"/>
              </a:rPr>
              <a:t>Live as of 2026-05-14. Six containers up. Four channels active.</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26567" y="1463040"/>
            <a:ext cx="2697480" cy="15544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26567" y="1463040"/>
            <a:ext cx="2697480" cy="109728"/>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8007" y="1737360"/>
            <a:ext cx="2514600" cy="731520"/>
          </a:xfrm>
          <a:prstGeom prst="rect">
            <a:avLst/>
          </a:prstGeom>
          <a:noFill/>
        </p:spPr>
        <p:txBody>
          <a:bodyPr wrap="square" lIns="0" rIns="0" tIns="0" bIns="0" anchor="t">
            <a:spAutoFit/>
          </a:bodyPr>
          <a:lstStyle/>
          <a:p>
            <a:pPr algn="ctr"/>
            <a:r>
              <a:rPr sz="3000" b="1">
                <a:solidFill>
                  <a:srgbClr val="4A7A4A"/>
                </a:solidFill>
                <a:latin typeface="Calibri"/>
              </a:rPr>
              <a:t>6 / 6</a:t>
            </a:r>
          </a:p>
        </p:txBody>
      </p:sp>
      <p:sp>
        <p:nvSpPr>
          <p:cNvPr id="8" name="TextBox 7"/>
          <p:cNvSpPr txBox="1"/>
          <p:nvPr/>
        </p:nvSpPr>
        <p:spPr>
          <a:xfrm>
            <a:off x="518007" y="2423160"/>
            <a:ext cx="2514600" cy="457200"/>
          </a:xfrm>
          <a:prstGeom prst="rect">
            <a:avLst/>
          </a:prstGeom>
          <a:noFill/>
        </p:spPr>
        <p:txBody>
          <a:bodyPr wrap="square" lIns="0" rIns="0" tIns="0" bIns="0" anchor="t">
            <a:spAutoFit/>
          </a:bodyPr>
          <a:lstStyle/>
          <a:p>
            <a:pPr algn="ctr"/>
            <a:r>
              <a:rPr sz="1200" b="0">
                <a:solidFill>
                  <a:srgbClr val="6B7785"/>
                </a:solidFill>
                <a:latin typeface="Calibri"/>
              </a:rPr>
              <a:t>containers up</a:t>
            </a:r>
          </a:p>
        </p:txBody>
      </p:sp>
      <p:sp>
        <p:nvSpPr>
          <p:cNvPr id="9" name="Rectangle 8"/>
          <p:cNvSpPr/>
          <p:nvPr/>
        </p:nvSpPr>
        <p:spPr>
          <a:xfrm>
            <a:off x="3306927" y="1463040"/>
            <a:ext cx="2697480" cy="15544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06927" y="1463040"/>
            <a:ext cx="2697480" cy="109728"/>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98367" y="1737360"/>
            <a:ext cx="2514600" cy="731520"/>
          </a:xfrm>
          <a:prstGeom prst="rect">
            <a:avLst/>
          </a:prstGeom>
          <a:noFill/>
        </p:spPr>
        <p:txBody>
          <a:bodyPr wrap="square" lIns="0" rIns="0" tIns="0" bIns="0" anchor="t">
            <a:spAutoFit/>
          </a:bodyPr>
          <a:lstStyle/>
          <a:p>
            <a:pPr algn="ctr"/>
            <a:r>
              <a:rPr sz="3000" b="1">
                <a:solidFill>
                  <a:srgbClr val="4A7A4A"/>
                </a:solidFill>
                <a:latin typeface="Calibri"/>
              </a:rPr>
              <a:t>4 / 4</a:t>
            </a:r>
          </a:p>
        </p:txBody>
      </p:sp>
      <p:sp>
        <p:nvSpPr>
          <p:cNvPr id="12" name="TextBox 11"/>
          <p:cNvSpPr txBox="1"/>
          <p:nvPr/>
        </p:nvSpPr>
        <p:spPr>
          <a:xfrm>
            <a:off x="3398367" y="2423160"/>
            <a:ext cx="2514600" cy="457200"/>
          </a:xfrm>
          <a:prstGeom prst="rect">
            <a:avLst/>
          </a:prstGeom>
          <a:noFill/>
        </p:spPr>
        <p:txBody>
          <a:bodyPr wrap="square" lIns="0" rIns="0" tIns="0" bIns="0" anchor="t">
            <a:spAutoFit/>
          </a:bodyPr>
          <a:lstStyle/>
          <a:p>
            <a:pPr algn="ctr"/>
            <a:r>
              <a:rPr sz="1200" b="0">
                <a:solidFill>
                  <a:srgbClr val="6B7785"/>
                </a:solidFill>
                <a:latin typeface="Calibri"/>
              </a:rPr>
              <a:t>capture channels active</a:t>
            </a:r>
          </a:p>
        </p:txBody>
      </p:sp>
      <p:sp>
        <p:nvSpPr>
          <p:cNvPr id="13" name="Rectangle 12"/>
          <p:cNvSpPr/>
          <p:nvPr/>
        </p:nvSpPr>
        <p:spPr>
          <a:xfrm>
            <a:off x="6187287" y="1463040"/>
            <a:ext cx="2697480" cy="15544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7287" y="1463040"/>
            <a:ext cx="2697480" cy="109728"/>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8727" y="1737360"/>
            <a:ext cx="2514600" cy="731520"/>
          </a:xfrm>
          <a:prstGeom prst="rect">
            <a:avLst/>
          </a:prstGeom>
          <a:noFill/>
        </p:spPr>
        <p:txBody>
          <a:bodyPr wrap="square" lIns="0" rIns="0" tIns="0" bIns="0" anchor="t">
            <a:spAutoFit/>
          </a:bodyPr>
          <a:lstStyle/>
          <a:p>
            <a:pPr algn="ctr"/>
            <a:r>
              <a:rPr sz="3000" b="1">
                <a:solidFill>
                  <a:srgbClr val="C9962B"/>
                </a:solidFill>
                <a:latin typeface="Calibri"/>
              </a:rPr>
              <a:t>~$0.06</a:t>
            </a:r>
          </a:p>
        </p:txBody>
      </p:sp>
      <p:sp>
        <p:nvSpPr>
          <p:cNvPr id="16" name="TextBox 15"/>
          <p:cNvSpPr txBox="1"/>
          <p:nvPr/>
        </p:nvSpPr>
        <p:spPr>
          <a:xfrm>
            <a:off x="6278727" y="2423160"/>
            <a:ext cx="2514600" cy="457200"/>
          </a:xfrm>
          <a:prstGeom prst="rect">
            <a:avLst/>
          </a:prstGeom>
          <a:noFill/>
        </p:spPr>
        <p:txBody>
          <a:bodyPr wrap="square" lIns="0" rIns="0" tIns="0" bIns="0" anchor="t">
            <a:spAutoFit/>
          </a:bodyPr>
          <a:lstStyle/>
          <a:p>
            <a:pPr algn="ctr"/>
            <a:r>
              <a:rPr sz="1200" b="0">
                <a:solidFill>
                  <a:srgbClr val="6B7785"/>
                </a:solidFill>
                <a:latin typeface="Calibri"/>
              </a:rPr>
              <a:t>target cost per daily run</a:t>
            </a:r>
          </a:p>
        </p:txBody>
      </p:sp>
      <p:sp>
        <p:nvSpPr>
          <p:cNvPr id="17" name="Rectangle 16"/>
          <p:cNvSpPr/>
          <p:nvPr/>
        </p:nvSpPr>
        <p:spPr>
          <a:xfrm>
            <a:off x="9067647" y="1463040"/>
            <a:ext cx="2697480" cy="15544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67647" y="1463040"/>
            <a:ext cx="2697480" cy="109728"/>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59087" y="1737360"/>
            <a:ext cx="2514600" cy="731520"/>
          </a:xfrm>
          <a:prstGeom prst="rect">
            <a:avLst/>
          </a:prstGeom>
          <a:noFill/>
        </p:spPr>
        <p:txBody>
          <a:bodyPr wrap="square" lIns="0" rIns="0" tIns="0" bIns="0" anchor="t">
            <a:spAutoFit/>
          </a:bodyPr>
          <a:lstStyle/>
          <a:p>
            <a:pPr algn="ctr"/>
            <a:r>
              <a:rPr sz="3000" b="1">
                <a:solidFill>
                  <a:srgbClr val="2E8A8A"/>
                </a:solidFill>
                <a:latin typeface="Calibri"/>
              </a:rPr>
              <a:t>~30 s</a:t>
            </a:r>
          </a:p>
        </p:txBody>
      </p:sp>
      <p:sp>
        <p:nvSpPr>
          <p:cNvPr id="20" name="TextBox 19"/>
          <p:cNvSpPr txBox="1"/>
          <p:nvPr/>
        </p:nvSpPr>
        <p:spPr>
          <a:xfrm>
            <a:off x="9159087" y="2423160"/>
            <a:ext cx="2514600" cy="457200"/>
          </a:xfrm>
          <a:prstGeom prst="rect">
            <a:avLst/>
          </a:prstGeom>
          <a:noFill/>
        </p:spPr>
        <p:txBody>
          <a:bodyPr wrap="square" lIns="0" rIns="0" tIns="0" bIns="0" anchor="t">
            <a:spAutoFit/>
          </a:bodyPr>
          <a:lstStyle/>
          <a:p>
            <a:pPr algn="ctr"/>
            <a:r>
              <a:rPr sz="1200" b="0">
                <a:solidFill>
                  <a:srgbClr val="6B7785"/>
                </a:solidFill>
                <a:latin typeface="Calibri"/>
              </a:rPr>
              <a:t>per call via Groq</a:t>
            </a:r>
          </a:p>
        </p:txBody>
      </p:sp>
      <p:sp>
        <p:nvSpPr>
          <p:cNvPr id="21" name="Rectangle 20"/>
          <p:cNvSpPr/>
          <p:nvPr/>
        </p:nvSpPr>
        <p:spPr>
          <a:xfrm>
            <a:off x="457200" y="3291840"/>
            <a:ext cx="5577840" cy="29260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291840"/>
            <a:ext cx="73152" cy="292608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3383280"/>
            <a:ext cx="5349240" cy="2743200"/>
          </a:xfrm>
          <a:prstGeom prst="rect">
            <a:avLst/>
          </a:prstGeom>
          <a:noFill/>
        </p:spPr>
        <p:txBody>
          <a:bodyPr wrap="square" lIns="0" rIns="0" tIns="0" bIns="0" anchor="t">
            <a:spAutoFit/>
          </a:bodyPr>
          <a:lstStyle/>
          <a:p>
            <a:pPr algn="l"/>
            <a:r>
              <a:rPr sz="1500" b="1">
                <a:solidFill>
                  <a:srgbClr val="4A7A4A"/>
                </a:solidFill>
                <a:latin typeface="Calibri"/>
              </a:rPr>
              <a:t>The loop ran today</a:t>
            </a:r>
          </a:p>
          <a:p>
            <a:pPr algn="l">
              <a:spcBef>
                <a:spcPts val="200"/>
              </a:spcBef>
            </a:pPr>
            <a:r>
              <a:rPr sz="1200" b="0">
                <a:solidFill>
                  <a:srgbClr val="222222"/>
                </a:solidFill>
                <a:latin typeface="Calibri"/>
              </a:rPr>
              <a:t>Daily draft fired at 23:45 BD on .123.</a:t>
            </a:r>
          </a:p>
          <a:p>
            <a:pPr algn="l">
              <a:spcBef>
                <a:spcPts val="200"/>
              </a:spcBef>
            </a:pPr>
            <a:r>
              <a:rPr sz="1200" b="0">
                <a:solidFill>
                  <a:srgbClr val="222222"/>
                </a:solidFill>
                <a:latin typeface="Calibri"/>
              </a:rPr>
              <a:t>  collect_central --client all --last-minutes 1440</a:t>
            </a:r>
          </a:p>
          <a:p>
            <a:pPr algn="l">
              <a:spcBef>
                <a:spcPts val="200"/>
              </a:spcBef>
            </a:pPr>
            <a:r>
              <a:rPr sz="1200" b="0">
                <a:solidFill>
                  <a:srgbClr val="222222"/>
                </a:solidFill>
                <a:latin typeface="Calibri"/>
              </a:rPr>
              <a:t>  walked the central tree in under a minute.</a:t>
            </a:r>
          </a:p>
          <a:p>
            <a:pPr algn="l">
              <a:spcBef>
                <a:spcPts val="200"/>
              </a:spcBef>
            </a:pPr>
            <a:r>
              <a:rPr sz="1200" b="0">
                <a:solidFill>
                  <a:srgbClr val="222222"/>
                </a:solidFill>
                <a:latin typeface="Calibri"/>
              </a:rPr>
              <a:t>  one Pull Session doc per client.</a:t>
            </a:r>
          </a:p>
          <a:p>
            <a:pPr algn="l">
              <a:spcBef>
                <a:spcPts val="200"/>
              </a:spcBef>
            </a:pPr>
            <a:r>
              <a:rPr sz="1200" b="0">
                <a:solidFill>
                  <a:srgbClr val="222222"/>
                </a:solidFill>
                <a:latin typeface="Calibri"/>
              </a:rPr>
              <a:t>  one verify_session run per client.</a:t>
            </a:r>
          </a:p>
          <a:p>
            <a:pPr algn="l">
              <a:spcBef>
                <a:spcPts val="200"/>
              </a:spcBef>
            </a:pPr>
            <a:r>
              <a:rPr sz="1200" b="0">
                <a:solidFill>
                  <a:srgbClr val="222222"/>
                </a:solidFill>
                <a:latin typeface="Calibri"/>
              </a:rPr>
              <a:t>  one .eml landed in Gmail Drafts.</a:t>
            </a:r>
          </a:p>
          <a:p>
            <a:pPr algn="l">
              <a:spcBef>
                <a:spcPts val="200"/>
              </a:spcBef>
            </a:pPr>
            <a:r>
              <a:rPr sz="1200" b="0">
                <a:solidFill>
                  <a:srgbClr val="222222"/>
                </a:solidFill>
                <a:latin typeface="Calibri"/>
              </a:rPr>
              <a:t/>
            </a:r>
          </a:p>
          <a:p>
            <a:pPr algn="l">
              <a:spcBef>
                <a:spcPts val="200"/>
              </a:spcBef>
            </a:pPr>
            <a:r>
              <a:rPr sz="1200" b="0">
                <a:solidFill>
                  <a:srgbClr val="222222"/>
                </a:solidFill>
                <a:latin typeface="Calibri"/>
              </a:rPr>
              <a:t>Memory updated: /state/nucleus_memory.db</a:t>
            </a:r>
          </a:p>
        </p:txBody>
      </p:sp>
      <p:sp>
        <p:nvSpPr>
          <p:cNvPr id="24" name="Rectangle 23"/>
          <p:cNvSpPr/>
          <p:nvPr/>
        </p:nvSpPr>
        <p:spPr>
          <a:xfrm>
            <a:off x="6126480" y="3291840"/>
            <a:ext cx="5577840" cy="29260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80" y="3291840"/>
            <a:ext cx="73152" cy="292608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1072" y="3383280"/>
            <a:ext cx="5349240" cy="2743200"/>
          </a:xfrm>
          <a:prstGeom prst="rect">
            <a:avLst/>
          </a:prstGeom>
          <a:noFill/>
        </p:spPr>
        <p:txBody>
          <a:bodyPr wrap="square" lIns="0" rIns="0" tIns="0" bIns="0" anchor="t">
            <a:spAutoFit/>
          </a:bodyPr>
          <a:lstStyle/>
          <a:p>
            <a:pPr algn="l"/>
            <a:r>
              <a:rPr sz="1500" b="1">
                <a:solidFill>
                  <a:srgbClr val="1F4E79"/>
                </a:solidFill>
                <a:latin typeface="Calibri"/>
              </a:rPr>
              <a:t>Health snapshot</a:t>
            </a:r>
          </a:p>
          <a:p>
            <a:pPr algn="l">
              <a:spcBef>
                <a:spcPts val="200"/>
              </a:spcBef>
            </a:pPr>
            <a:r>
              <a:rPr sz="1200" b="0">
                <a:solidFill>
                  <a:srgbClr val="222222"/>
                </a:solidFill>
                <a:latin typeface="Calibri"/>
              </a:rPr>
              <a:t>nucleus-samba         -- serving share</a:t>
            </a:r>
          </a:p>
          <a:p>
            <a:pPr algn="l">
              <a:spcBef>
                <a:spcPts val="200"/>
              </a:spcBef>
            </a:pPr>
            <a:r>
              <a:rPr sz="1200" b="0">
                <a:solidFill>
                  <a:srgbClr val="222222"/>
                </a:solidFill>
                <a:latin typeface="Calibri"/>
              </a:rPr>
              <a:t>nucleus-transcribe    -- idle, queue empty</a:t>
            </a:r>
          </a:p>
          <a:p>
            <a:pPr algn="l">
              <a:spcBef>
                <a:spcPts val="200"/>
              </a:spcBef>
            </a:pPr>
            <a:r>
              <a:rPr sz="1200" b="0">
                <a:solidFill>
                  <a:srgbClr val="222222"/>
                </a:solidFill>
                <a:latin typeface="Calibri"/>
              </a:rPr>
              <a:t>nucleus-stage-email   -- last pull &lt;15 min ago</a:t>
            </a:r>
          </a:p>
          <a:p>
            <a:pPr algn="l">
              <a:spcBef>
                <a:spcPts val="200"/>
              </a:spcBef>
            </a:pPr>
            <a:r>
              <a:rPr sz="1200" b="0">
                <a:solidFill>
                  <a:srgbClr val="222222"/>
                </a:solidFill>
                <a:latin typeface="Calibri"/>
              </a:rPr>
              <a:t>nucleus-stage-drive   -- last pull &lt;15 min ago</a:t>
            </a:r>
          </a:p>
          <a:p>
            <a:pPr algn="l">
              <a:spcBef>
                <a:spcPts val="200"/>
              </a:spcBef>
            </a:pPr>
            <a:r>
              <a:rPr sz="1200" b="0">
                <a:solidFill>
                  <a:srgbClr val="222222"/>
                </a:solidFill>
                <a:latin typeface="Calibri"/>
              </a:rPr>
              <a:t>nucleus-daily-draft   -- next fire 23:45 BD</a:t>
            </a:r>
          </a:p>
          <a:p>
            <a:pPr algn="l">
              <a:spcBef>
                <a:spcPts val="200"/>
              </a:spcBef>
            </a:pPr>
            <a:r>
              <a:rPr sz="1200" b="0">
                <a:solidFill>
                  <a:srgbClr val="222222"/>
                </a:solidFill>
                <a:latin typeface="Calibri"/>
              </a:rPr>
              <a:t>nucleus-gha-runner    -- registered, idle</a:t>
            </a:r>
          </a:p>
          <a:p>
            <a:pPr algn="l">
              <a:spcBef>
                <a:spcPts val="200"/>
              </a:spcBef>
            </a:pPr>
            <a:r>
              <a:rPr sz="1200" b="0">
                <a:solidFill>
                  <a:srgbClr val="222222"/>
                </a:solidFill>
                <a:latin typeface="Calibri"/>
              </a:rPr>
              <a:t/>
            </a:r>
          </a:p>
          <a:p>
            <a:pPr algn="l">
              <a:spcBef>
                <a:spcPts val="200"/>
              </a:spcBef>
            </a:pPr>
            <a:r>
              <a:rPr sz="1200" b="0">
                <a:solidFill>
                  <a:srgbClr val="222222"/>
                </a:solidFill>
                <a:latin typeface="Calibri"/>
              </a:rPr>
              <a:t>Run `python -m tools.healthcheck` on .123 for the</a:t>
            </a:r>
          </a:p>
          <a:p>
            <a:pPr algn="l">
              <a:spcBef>
                <a:spcPts val="200"/>
              </a:spcBef>
            </a:pPr>
            <a:r>
              <a:rPr sz="1200" b="0">
                <a:solidFill>
                  <a:srgbClr val="222222"/>
                </a:solidFill>
                <a:latin typeface="Calibri"/>
              </a:rPr>
              <a:t>live version of this snapshot.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What's next</a:t>
            </a:r>
          </a:p>
          <a:p>
            <a:pPr algn="l">
              <a:spcBef>
                <a:spcPts val="200"/>
              </a:spcBef>
            </a:pPr>
            <a:r>
              <a:rPr sz="1400" b="0">
                <a:solidFill>
                  <a:srgbClr val="6B7785"/>
                </a:solidFill>
                <a:latin typeface="Calibri"/>
              </a:rPr>
              <a:t>Roster, onboarding, retire .209, automate the send loop.</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25880"/>
            <a:ext cx="3703320" cy="23774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25880"/>
            <a:ext cx="73152" cy="237744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17320"/>
            <a:ext cx="3474720" cy="2194560"/>
          </a:xfrm>
          <a:prstGeom prst="rect">
            <a:avLst/>
          </a:prstGeom>
          <a:noFill/>
        </p:spPr>
        <p:txBody>
          <a:bodyPr wrap="square" lIns="0" rIns="0" tIns="0" bIns="0" anchor="t">
            <a:spAutoFit/>
          </a:bodyPr>
          <a:lstStyle/>
          <a:p>
            <a:pPr algn="l"/>
            <a:r>
              <a:rPr sz="1400" b="1">
                <a:solidFill>
                  <a:srgbClr val="E07856"/>
                </a:solidFill>
                <a:latin typeface="Calibri"/>
              </a:rPr>
              <a:t>Extend the client roster</a:t>
            </a:r>
          </a:p>
          <a:p>
            <a:pPr algn="l">
              <a:spcBef>
                <a:spcPts val="200"/>
              </a:spcBef>
            </a:pPr>
            <a:r>
              <a:rPr sz="1100" b="0">
                <a:solidFill>
                  <a:srgbClr val="222222"/>
                </a:solidFill>
                <a:latin typeface="Calibri"/>
              </a:rPr>
              <a:t>Salman is client #1 today.</a:t>
            </a:r>
          </a:p>
          <a:p>
            <a:pPr algn="l">
              <a:spcBef>
                <a:spcPts val="200"/>
              </a:spcBef>
            </a:pPr>
            <a:r>
              <a:rPr sz="1100" b="0">
                <a:solidFill>
                  <a:srgbClr val="222222"/>
                </a:solidFill>
                <a:latin typeface="Calibri"/>
              </a:rPr>
              <a:t>Add a second client without changing code:</a:t>
            </a:r>
          </a:p>
          <a:p>
            <a:pPr algn="l">
              <a:spcBef>
                <a:spcPts val="200"/>
              </a:spcBef>
            </a:pPr>
            <a:r>
              <a:rPr sz="1100" b="0">
                <a:solidFill>
                  <a:srgbClr val="222222"/>
                </a:solidFill>
                <a:latin typeface="Calibri"/>
              </a:rPr>
              <a:t>  Drive folder + email alias + </a:t>
            </a:r>
          </a:p>
          <a:p>
            <a:pPr algn="l">
              <a:spcBef>
                <a:spcPts val="200"/>
              </a:spcBef>
            </a:pPr>
            <a:r>
              <a:rPr sz="1100" b="0">
                <a:solidFill>
                  <a:srgbClr val="222222"/>
                </a:solidFill>
                <a:latin typeface="Calibri"/>
              </a:rPr>
              <a:t>  metadata.client_name on calls,</a:t>
            </a:r>
          </a:p>
          <a:p>
            <a:pPr algn="l">
              <a:spcBef>
                <a:spcPts val="200"/>
              </a:spcBef>
            </a:pPr>
            <a:r>
              <a:rPr sz="1100" b="0">
                <a:solidFill>
                  <a:srgbClr val="222222"/>
                </a:solidFill>
                <a:latin typeface="Calibri"/>
              </a:rPr>
              <a:t>  collect_central is per-client already.</a:t>
            </a:r>
          </a:p>
        </p:txBody>
      </p:sp>
      <p:sp>
        <p:nvSpPr>
          <p:cNvPr id="8" name="Rectangle 7"/>
          <p:cNvSpPr/>
          <p:nvPr/>
        </p:nvSpPr>
        <p:spPr>
          <a:xfrm>
            <a:off x="4297680" y="1325880"/>
            <a:ext cx="3703320" cy="23774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97680" y="1325880"/>
            <a:ext cx="73152" cy="237744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62272" y="1417320"/>
            <a:ext cx="3474720" cy="2194560"/>
          </a:xfrm>
          <a:prstGeom prst="rect">
            <a:avLst/>
          </a:prstGeom>
          <a:noFill/>
        </p:spPr>
        <p:txBody>
          <a:bodyPr wrap="square" lIns="0" rIns="0" tIns="0" bIns="0" anchor="t">
            <a:spAutoFit/>
          </a:bodyPr>
          <a:lstStyle/>
          <a:p>
            <a:pPr algn="l"/>
            <a:r>
              <a:rPr sz="1400" b="1">
                <a:solidFill>
                  <a:srgbClr val="2E8A8A"/>
                </a:solidFill>
                <a:latin typeface="Calibri"/>
              </a:rPr>
              <a:t>Dev-PC onboarding</a:t>
            </a:r>
          </a:p>
          <a:p>
            <a:pPr algn="l">
              <a:spcBef>
                <a:spcPts val="200"/>
              </a:spcBef>
            </a:pPr>
            <a:r>
              <a:rPr sz="1100" b="0">
                <a:solidFill>
                  <a:srgbClr val="222222"/>
                </a:solidFill>
                <a:latin typeface="Calibri"/>
              </a:rPr>
              <a:t>Bring all 7 devs onto the daemon:</a:t>
            </a:r>
          </a:p>
          <a:p>
            <a:pPr algn="l">
              <a:spcBef>
                <a:spcPts val="200"/>
              </a:spcBef>
            </a:pPr>
            <a:r>
              <a:rPr sz="1100" b="0">
                <a:solidFill>
                  <a:srgbClr val="222222"/>
                </a:solidFill>
                <a:latin typeface="Calibri"/>
              </a:rPr>
              <a:t>  scripts\setup.bat</a:t>
            </a:r>
          </a:p>
          <a:p>
            <a:pPr algn="l">
              <a:spcBef>
                <a:spcPts val="200"/>
              </a:spcBef>
            </a:pPr>
            <a:r>
              <a:rPr sz="1100" b="0">
                <a:solidFill>
                  <a:srgbClr val="222222"/>
                </a:solidFill>
                <a:latin typeface="Calibri"/>
              </a:rPr>
              <a:t>  net use \\172.16.205.123\nucleus-central</a:t>
            </a:r>
          </a:p>
          <a:p>
            <a:pPr algn="l">
              <a:spcBef>
                <a:spcPts val="200"/>
              </a:spcBef>
            </a:pPr>
            <a:r>
              <a:rPr sz="1100" b="0">
                <a:solidFill>
                  <a:srgbClr val="222222"/>
                </a:solidFill>
                <a:latin typeface="Calibri"/>
              </a:rPr>
              <a:t>  scripts\start-daemon.bat</a:t>
            </a:r>
          </a:p>
          <a:p>
            <a:pPr algn="l">
              <a:spcBef>
                <a:spcPts val="200"/>
              </a:spcBef>
            </a:pPr>
            <a:r>
              <a:rPr sz="1100" b="0">
                <a:solidFill>
                  <a:srgbClr val="222222"/>
                </a:solidFill>
                <a:latin typeface="Calibri"/>
              </a:rPr>
              <a:t>About 10 minutes per teammate.</a:t>
            </a:r>
          </a:p>
        </p:txBody>
      </p:sp>
      <p:sp>
        <p:nvSpPr>
          <p:cNvPr id="11" name="Rectangle 10"/>
          <p:cNvSpPr/>
          <p:nvPr/>
        </p:nvSpPr>
        <p:spPr>
          <a:xfrm>
            <a:off x="8138160" y="1325880"/>
            <a:ext cx="3703320" cy="23774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38160" y="1325880"/>
            <a:ext cx="73152" cy="237744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02752" y="1417320"/>
            <a:ext cx="3474720" cy="2194560"/>
          </a:xfrm>
          <a:prstGeom prst="rect">
            <a:avLst/>
          </a:prstGeom>
          <a:noFill/>
        </p:spPr>
        <p:txBody>
          <a:bodyPr wrap="square" lIns="0" rIns="0" tIns="0" bIns="0" anchor="t">
            <a:spAutoFit/>
          </a:bodyPr>
          <a:lstStyle/>
          <a:p>
            <a:pPr algn="l"/>
            <a:r>
              <a:rPr sz="1400" b="1">
                <a:solidFill>
                  <a:srgbClr val="6A4C93"/>
                </a:solidFill>
                <a:latin typeface="Calibri"/>
              </a:rPr>
              <a:t>Retire MVPACCESS (.209)</a:t>
            </a:r>
          </a:p>
          <a:p>
            <a:pPr algn="l">
              <a:spcBef>
                <a:spcPts val="200"/>
              </a:spcBef>
            </a:pPr>
            <a:r>
              <a:rPr sz="1100" b="0">
                <a:solidFill>
                  <a:srgbClr val="222222"/>
                </a:solidFill>
                <a:latin typeface="Calibri"/>
              </a:rPr>
              <a:t>Confirm a full week of green on .123.</a:t>
            </a:r>
          </a:p>
          <a:p>
            <a:pPr algn="l">
              <a:spcBef>
                <a:spcPts val="200"/>
              </a:spcBef>
            </a:pPr>
            <a:r>
              <a:rPr sz="1100" b="0">
                <a:solidFill>
                  <a:srgbClr val="222222"/>
                </a:solidFill>
                <a:latin typeface="Calibri"/>
              </a:rPr>
              <a:t>Decommission the .209 Scheduled Tasks.</a:t>
            </a:r>
          </a:p>
          <a:p>
            <a:pPr algn="l">
              <a:spcBef>
                <a:spcPts val="200"/>
              </a:spcBef>
            </a:pPr>
            <a:r>
              <a:rPr sz="1100" b="0">
                <a:solidFill>
                  <a:srgbClr val="222222"/>
                </a:solidFill>
                <a:latin typeface="Calibri"/>
              </a:rPr>
              <a:t>Keep .209's nucleus-central archive RO</a:t>
            </a:r>
          </a:p>
          <a:p>
            <a:pPr algn="l">
              <a:spcBef>
                <a:spcPts val="200"/>
              </a:spcBef>
            </a:pPr>
            <a:r>
              <a:rPr sz="1100" b="0">
                <a:solidFill>
                  <a:srgbClr val="222222"/>
                </a:solidFill>
                <a:latin typeface="Calibri"/>
              </a:rPr>
              <a:t>  for the historical record, then power it down.</a:t>
            </a:r>
          </a:p>
        </p:txBody>
      </p:sp>
      <p:sp>
        <p:nvSpPr>
          <p:cNvPr id="14" name="Rectangle 13"/>
          <p:cNvSpPr/>
          <p:nvPr/>
        </p:nvSpPr>
        <p:spPr>
          <a:xfrm>
            <a:off x="457200" y="3840480"/>
            <a:ext cx="3703320" cy="23774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3840480"/>
            <a:ext cx="73152" cy="237744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931920"/>
            <a:ext cx="3474720" cy="2194560"/>
          </a:xfrm>
          <a:prstGeom prst="rect">
            <a:avLst/>
          </a:prstGeom>
          <a:noFill/>
        </p:spPr>
        <p:txBody>
          <a:bodyPr wrap="square" lIns="0" rIns="0" tIns="0" bIns="0" anchor="t">
            <a:spAutoFit/>
          </a:bodyPr>
          <a:lstStyle/>
          <a:p>
            <a:pPr algn="l"/>
            <a:r>
              <a:rPr sz="1400" b="1">
                <a:solidFill>
                  <a:srgbClr val="C9962B"/>
                </a:solidFill>
                <a:latin typeface="Calibri"/>
              </a:rPr>
              <a:t>Automate verify -&gt; send</a:t>
            </a:r>
          </a:p>
          <a:p>
            <a:pPr algn="l">
              <a:spcBef>
                <a:spcPts val="200"/>
              </a:spcBef>
            </a:pPr>
            <a:r>
              <a:rPr sz="1100" b="0">
                <a:solidFill>
                  <a:srgbClr val="222222"/>
                </a:solidFill>
                <a:latin typeface="Calibri"/>
              </a:rPr>
              <a:t>Track accuracy of the human-edit deltas</a:t>
            </a:r>
          </a:p>
          <a:p>
            <a:pPr algn="l">
              <a:spcBef>
                <a:spcPts val="200"/>
              </a:spcBef>
            </a:pPr>
            <a:r>
              <a:rPr sz="1100" b="0">
                <a:solidFill>
                  <a:srgbClr val="222222"/>
                </a:solidFill>
                <a:latin typeface="Calibri"/>
              </a:rPr>
              <a:t>  for the next N daily drafts.</a:t>
            </a:r>
          </a:p>
          <a:p>
            <a:pPr algn="l">
              <a:spcBef>
                <a:spcPts val="200"/>
              </a:spcBef>
            </a:pPr>
            <a:r>
              <a:rPr sz="1100" b="0">
                <a:solidFill>
                  <a:srgbClr val="222222"/>
                </a:solidFill>
                <a:latin typeface="Calibri"/>
              </a:rPr>
              <a:t>When accuracy crosses the agreed threshold,</a:t>
            </a:r>
          </a:p>
          <a:p>
            <a:pPr algn="l">
              <a:spcBef>
                <a:spcPts val="200"/>
              </a:spcBef>
            </a:pPr>
            <a:r>
              <a:rPr sz="1100" b="0">
                <a:solidFill>
                  <a:srgbClr val="222222"/>
                </a:solidFill>
                <a:latin typeface="Calibri"/>
              </a:rPr>
              <a:t>  flip a feature flag to auto-send for</a:t>
            </a:r>
          </a:p>
          <a:p>
            <a:pPr algn="l">
              <a:spcBef>
                <a:spcPts val="200"/>
              </a:spcBef>
            </a:pPr>
            <a:r>
              <a:rPr sz="1100" b="0">
                <a:solidFill>
                  <a:srgbClr val="222222"/>
                </a:solidFill>
                <a:latin typeface="Calibri"/>
              </a:rPr>
              <a:t>  routine confirmations only.</a:t>
            </a:r>
          </a:p>
        </p:txBody>
      </p:sp>
      <p:sp>
        <p:nvSpPr>
          <p:cNvPr id="17" name="Rectangle 16"/>
          <p:cNvSpPr/>
          <p:nvPr/>
        </p:nvSpPr>
        <p:spPr>
          <a:xfrm>
            <a:off x="4297680" y="3840480"/>
            <a:ext cx="3703320" cy="23774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3840480"/>
            <a:ext cx="73152" cy="2377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62272" y="3931920"/>
            <a:ext cx="3474720" cy="2194560"/>
          </a:xfrm>
          <a:prstGeom prst="rect">
            <a:avLst/>
          </a:prstGeom>
          <a:noFill/>
        </p:spPr>
        <p:txBody>
          <a:bodyPr wrap="square" lIns="0" rIns="0" tIns="0" bIns="0" anchor="t">
            <a:spAutoFit/>
          </a:bodyPr>
          <a:lstStyle/>
          <a:p>
            <a:pPr algn="l"/>
            <a:r>
              <a:rPr sz="1400" b="1">
                <a:solidFill>
                  <a:srgbClr val="1F4E79"/>
                </a:solidFill>
                <a:latin typeface="Calibri"/>
              </a:rPr>
              <a:t>Future integrations</a:t>
            </a:r>
          </a:p>
          <a:p>
            <a:pPr algn="l">
              <a:spcBef>
                <a:spcPts val="200"/>
              </a:spcBef>
            </a:pPr>
            <a:r>
              <a:rPr sz="1100" b="0">
                <a:solidFill>
                  <a:srgbClr val="222222"/>
                </a:solidFill>
                <a:latin typeface="Calibri"/>
              </a:rPr>
              <a:t>OpenProject publishing (auto-create tasks</a:t>
            </a:r>
          </a:p>
          <a:p>
            <a:pPr algn="l">
              <a:spcBef>
                <a:spcPts val="200"/>
              </a:spcBef>
            </a:pPr>
            <a:r>
              <a:rPr sz="1100" b="0">
                <a:solidFill>
                  <a:srgbClr val="222222"/>
                </a:solidFill>
                <a:latin typeface="Calibri"/>
              </a:rPr>
              <a:t>  for newly-confirmed requirements).</a:t>
            </a:r>
          </a:p>
          <a:p>
            <a:pPr algn="l">
              <a:spcBef>
                <a:spcPts val="200"/>
              </a:spcBef>
            </a:pPr>
            <a:r>
              <a:rPr sz="1100" b="0">
                <a:solidFill>
                  <a:srgbClr val="222222"/>
                </a:solidFill>
                <a:latin typeface="Calibri"/>
              </a:rPr>
              <a:t>Calendar-aware capture (cross-reference</a:t>
            </a:r>
          </a:p>
          <a:p>
            <a:pPr algn="l">
              <a:spcBef>
                <a:spcPts val="200"/>
              </a:spcBef>
            </a:pPr>
            <a:r>
              <a:rPr sz="1100" b="0">
                <a:solidFill>
                  <a:srgbClr val="222222"/>
                </a:solidFill>
                <a:latin typeface="Calibri"/>
              </a:rPr>
              <a:t>  meeting invites against call recordings).</a:t>
            </a:r>
          </a:p>
          <a:p>
            <a:pPr algn="l">
              <a:spcBef>
                <a:spcPts val="200"/>
              </a:spcBef>
            </a:pPr>
            <a:r>
              <a:rPr sz="1100" b="0">
                <a:solidFill>
                  <a:srgbClr val="222222"/>
                </a:solidFill>
                <a:latin typeface="Calibri"/>
              </a:rPr>
              <a:t>Slack / Discord channels (if a client uses them).</a:t>
            </a:r>
          </a:p>
        </p:txBody>
      </p:sp>
      <p:sp>
        <p:nvSpPr>
          <p:cNvPr id="20" name="Rectangle 19"/>
          <p:cNvSpPr/>
          <p:nvPr/>
        </p:nvSpPr>
        <p:spPr>
          <a:xfrm>
            <a:off x="8138160" y="3840480"/>
            <a:ext cx="3703320" cy="23774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38160" y="3840480"/>
            <a:ext cx="73152" cy="237744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02752" y="3931920"/>
            <a:ext cx="3474720" cy="2194560"/>
          </a:xfrm>
          <a:prstGeom prst="rect">
            <a:avLst/>
          </a:prstGeom>
          <a:noFill/>
        </p:spPr>
        <p:txBody>
          <a:bodyPr wrap="square" lIns="0" rIns="0" tIns="0" bIns="0" anchor="t">
            <a:spAutoFit/>
          </a:bodyPr>
          <a:lstStyle/>
          <a:p>
            <a:pPr algn="l"/>
            <a:r>
              <a:rPr sz="1400" b="1">
                <a:solidFill>
                  <a:srgbClr val="4A7A4A"/>
                </a:solidFill>
                <a:latin typeface="Calibri"/>
              </a:rPr>
              <a:t>Operational hardening</a:t>
            </a:r>
          </a:p>
          <a:p>
            <a:pPr algn="l">
              <a:spcBef>
                <a:spcPts val="200"/>
              </a:spcBef>
            </a:pPr>
            <a:r>
              <a:rPr sz="1100" b="0">
                <a:solidFill>
                  <a:srgbClr val="222222"/>
                </a:solidFill>
                <a:latin typeface="Calibri"/>
              </a:rPr>
              <a:t>Backups for /srv/nucleus-central and</a:t>
            </a:r>
          </a:p>
          <a:p>
            <a:pPr algn="l">
              <a:spcBef>
                <a:spcPts val="200"/>
              </a:spcBef>
            </a:pPr>
            <a:r>
              <a:rPr sz="1100" b="0">
                <a:solidFill>
                  <a:srgbClr val="222222"/>
                </a:solidFill>
                <a:latin typeface="Calibri"/>
              </a:rPr>
              <a:t>  the sqlite memory volume.</a:t>
            </a:r>
          </a:p>
          <a:p>
            <a:pPr algn="l">
              <a:spcBef>
                <a:spcPts val="200"/>
              </a:spcBef>
            </a:pPr>
            <a:r>
              <a:rPr sz="1100" b="0">
                <a:solidFill>
                  <a:srgbClr val="222222"/>
                </a:solidFill>
                <a:latin typeface="Calibri"/>
              </a:rPr>
              <a:t>Per-dev Samba accounts (drop the shared user).</a:t>
            </a:r>
          </a:p>
          <a:p>
            <a:pPr algn="l">
              <a:spcBef>
                <a:spcPts val="200"/>
              </a:spcBef>
            </a:pPr>
            <a:r>
              <a:rPr sz="1100" b="0">
                <a:solidFill>
                  <a:srgbClr val="222222"/>
                </a:solidFill>
                <a:latin typeface="Calibri"/>
              </a:rPr>
              <a:t>Prometheus exporter on healthcheck for</a:t>
            </a:r>
          </a:p>
          <a:p>
            <a:pPr algn="l">
              <a:spcBef>
                <a:spcPts val="200"/>
              </a:spcBef>
            </a:pPr>
            <a:r>
              <a:rPr sz="1100" b="0">
                <a:solidFill>
                  <a:srgbClr val="222222"/>
                </a:solidFill>
                <a:latin typeface="Calibri"/>
              </a:rPr>
              <a:t>  alerting on stuck containers.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