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 frame. Nucleus is the system that takes everything the team says, types, mails or shares with a client over the course of a day and -- with one human review step -- produces a single verification email back to the client confirming what we heard. It runs hands-off; developers do not change their workflow. Today is 2026-05-14, the day the central host moved from the Windows MVPACCESS box to a Linux docker stack on .123. The deck explains the whole pipeline end-to-end.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up the pain. Client requirements arrive through four different surfaces: Teams calls, Teams chats, Gmail threads, and the shared Google Drive folder. Each developer on our side talks to the client through some subset of those, but never all of them. Before Nucleus there was no place where all conversations with a client landed in the same shape, on the same day, attributable back to source. Half a feature would be mentioned on a call with one developer, the rest typed into an email reply to another -- and unless someone happened to be in both conversations, the request fell into the gap. This deck is the story of how we closed that gap.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One-sentence answer to 'what does this thing do?'. Four capture surfaces feed one daily AI pass, which produces one verification email per client. The AI in question is Claude (Anthropic), running via the Claude Agent SDK on the central Linux host. Capture happens continuously through the day; the AI pass fires once at 23:45 Bangladesh time and writes a Gmail draft for human review. After this slide, the viewer should be able to explain Nucleus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capture surfaces, each running in the background. Teams calls are picked up by a small voice daemon on each developer PC -- it watches the audio session via pycaw, and the instant Teams becomes active it records the mic and the speaker as two separate WAV tracks. Teams chats are collected by a scheduled task on each developer PC in three windows per day (morning, transition, evening). Email is pulled by a container on the central host via Gmail IMAP every 15 minutes -- threads are converted to structured .docx with attachments fanned out. Drive is watched by another container on the central host, also every 15 minutes; voice notes uploaded to the shared folder get re-transcribed through the same pipeline as calls.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Transcription pipeline in plain terms. Primary path is the Groq API hitting whisper-large-v3 on their LPU hardware; we use the translation endpoint so Bangla audio comes back as English text in one round trip. A typical 3-minute call comes back in about 30 seconds. Groq's free tier gives us 8 hours of audio per day, which comfortably covers the team's actual call volume. Fallback path is faster-whisper int8 quantized on CPU on the Linux host -- same model lineage, slower (~10 min for the same call) but no external dependency. Fallback fires automatically if the API key is missing, the network is down, we hit the rate limit, or the file is over the 25 MB upload cap. On normal days the fallback model is never loaded, saving ~3 GB of memory.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central server is the Ubuntu 24.04 box at 172.16.205.123. Implementation detail: it's a single docker-compose stack of six containers -- nucleus-samba (serves the shared folder over SMB on port 445), nucleus-transcribe (the call-to-text loop), nucleus-stage-email (Gmail IMAP every 15 min), nucleus-stage-drive (Google Drive watcher every 15 min), nucleus-daily-draft (the 23:45 BD agent run), and nucleus-gha-runner (self-hosted GitHub Actions runner). The repo is bind-mounted read-only so `git pull` on the host hot-reloads every worker without an image rebuild. State that must survive `compose down` lives in a named docker volume (the sqlite memory database) and on the host filesystem (the shared central tree). Today (2026-05-14) is the day this box took over from the old Windows MVPACCESS agent host.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AI is Anthropic's Claude, running through the Claude Agent SDK in the nucleus-daily-draft container on the central host. It fires once per day at 23:45 BD. The input is a 'Pull Session' document -- about 16,000 characters for a typical day -- that stitches every call transcript, chat window, email thread, and Drive file together, grouped by client and ordered in time. Pre-filters strip system notifications, recorder test snippets, and peer-to-peer dev chatter before Claude sees it. The output is two artefacts per client: a curated Requirements Verification .docx with one entry per requirement (each with a source pointer back to the call timestamp / chat / email) and a .eml draft in Gmail Drafts ready for human review. Cost target is around 6 cents per run thanks to tight scoping and prompt caching.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only manual step in the whole pipeline, and the deliberate design choice is that the system never sends mail to a client without a human pressing send. Open Gmail Drafts -- the .eml is already there with the curated .docx and the raw Pull Session source doc attached. Skim, cross-check anything weird against the source, edit if needed, send. When the client replies, tools.poll_replies on the central host matches the reply by thread id, parses line-by-line accept/reject/clarify, and writes the deltas into the sqlite memory database. Tomorrow's daily run reads that memory before drafting, so confirmed items do not get re-asked. This slide matters for trust-building -- emphasize that the human gate is the policy, not a temporary precaution.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Concrete illustrative scenario. The point is that no single person was in the room (or thread, or call) for all four touchpoints. A client requirement that spans channels is the common case, not the edge case, and that's exactly the kind of thing humans lose track of. The AI pass at 23:45 BD doesn't care which channel said what -- it stitches the day together and surfaces the full picture in one draft. The times in this slide are illustrative; the only real time on the slide is 23:45 BD, which is the actual daily-draft fire time.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Cost story for the budget conversation. The incremental cost of running Nucleus per daily pass is effectively zero -- there is no new line item on anyone's bill. The AI side runs against an Anthropic Claude Max-tier subscription, which is a flat monthly subscription we already have in place; it's not metered per token, so the daily verify_session pass doesn't show up as a per-run charge. Audio transcription goes through Groq's free tier -- 8 hours of audio per day, which is well above our actual call volume. The central server is 172.16.205.123, the Linux box that already hosts our OpenProject instance; Nucleus runs as a docker-compose stack alongside it on the same host, so there is no new VM, no new cloud subscription, no new hardware. The GitHub Actions runner that builds and deploys the stack is self-hosted on the same .123 box, so we don't pay GitHub for runner minutes or artifact storage. Heads up on an older number that may surface: a prior version of this deck quoted '~6 cents per run' as the Claude cost. That figure came from a snapshot where Nucleus was billed against the regular Claude API with per-token pricing. Since we moved to Max-tier subscription auth, that per-run charge no longer applies -- the subscription is flat and the marginal cost of one more daily run is $0.</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Status snapshot for today, 2026-05-14. Everything that was supposed to be running on the Linux central host today IS running. The six containers are nucleus-samba, nucleus-transcribe, nucleus-stage-email, nucleus-stage-drive, nucleus-daily-draft, and nucleus-gha-runner. The four channels are calls, chats, email, and Drive. The 23:45 BD fire produced a verification email last night for the one active client. Run `python -m tools.healthcheck` on the host for the live version of this snapshot at any time.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near-term priorities, ordered by what unblocks what. First, extend the client roster -- today's roster is one client; the pipeline is already per-client (collect_central takes --client as an argument), so adding another is configuration, not code (Drive folder + email alias + metadata.client_name resolution on calls). Second, onboard the remaining developers onto the voice daemon -- 10 minutes per teammate using setup.bat plus the SMB mount plus start-daemon.bat. Third, track the human-edit deltas on the AI's drafts; once accuracy is high enough on routine confirmations we can flip a feature flag and let the system auto-send those, while keeping the human gate on new asks. Beyond these: OpenProject auto-publishing of confirmed requirements, calendar-aware capture, per-developer Samba accounts, Prometheus monitoring, and backups for the central tree and sqlite memory volume.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3" name="TextBox 2"/>
          <p:cNvSpPr txBox="1"/>
          <p:nvPr/>
        </p:nvSpPr>
        <p:spPr>
          <a:xfrm>
            <a:off x="822960" y="2011680"/>
            <a:ext cx="10515600" cy="1463040"/>
          </a:xfrm>
          <a:prstGeom prst="rect">
            <a:avLst/>
          </a:prstGeom>
          <a:noFill/>
        </p:spPr>
        <p:txBody>
          <a:bodyPr wrap="square" lIns="0" rIns="0" tIns="0" bIns="0" anchor="t">
            <a:spAutoFit/>
          </a:bodyPr>
          <a:lstStyle/>
          <a:p>
            <a:pPr algn="l"/>
            <a:r>
              <a:rPr sz="6400" b="1">
                <a:solidFill>
                  <a:srgbClr val="FFFFFF"/>
                </a:solidFill>
                <a:latin typeface="Calibri"/>
              </a:rPr>
              <a:t>NAPCO Nucleus</a:t>
            </a:r>
          </a:p>
        </p:txBody>
      </p:sp>
      <p:sp>
        <p:nvSpPr>
          <p:cNvPr id="4" name="TextBox 3"/>
          <p:cNvSpPr txBox="1"/>
          <p:nvPr/>
        </p:nvSpPr>
        <p:spPr>
          <a:xfrm>
            <a:off x="822960" y="3291840"/>
            <a:ext cx="10515600" cy="1280160"/>
          </a:xfrm>
          <a:prstGeom prst="rect">
            <a:avLst/>
          </a:prstGeom>
          <a:noFill/>
        </p:spPr>
        <p:txBody>
          <a:bodyPr wrap="square" lIns="0" rIns="0" tIns="0" bIns="0" anchor="t">
            <a:spAutoFit/>
          </a:bodyPr>
          <a:lstStyle/>
          <a:p>
            <a:pPr algn="l"/>
            <a:r>
              <a:rPr sz="2600" b="0">
                <a:solidFill>
                  <a:srgbClr val="C8D2E0"/>
                </a:solidFill>
                <a:latin typeface="Calibri"/>
              </a:rPr>
              <a:t>Turning client conversations into verified requirements,</a:t>
            </a:r>
          </a:p>
          <a:p>
            <a:pPr algn="l"/>
            <a:r>
              <a:rPr sz="2600" b="0">
                <a:solidFill>
                  <a:srgbClr val="C8D2E0"/>
                </a:solidFill>
                <a:latin typeface="Calibri"/>
              </a:rPr>
              <a:t>automatically.</a:t>
            </a:r>
          </a:p>
        </p:txBody>
      </p:sp>
      <p:sp>
        <p:nvSpPr>
          <p:cNvPr id="5" name="TextBox 4"/>
          <p:cNvSpPr txBox="1"/>
          <p:nvPr/>
        </p:nvSpPr>
        <p:spPr>
          <a:xfrm>
            <a:off x="822960" y="6126480"/>
            <a:ext cx="10515600" cy="457200"/>
          </a:xfrm>
          <a:prstGeom prst="rect">
            <a:avLst/>
          </a:prstGeom>
          <a:noFill/>
        </p:spPr>
        <p:txBody>
          <a:bodyPr wrap="square" lIns="0" rIns="0" tIns="0" bIns="0" anchor="t">
            <a:spAutoFit/>
          </a:bodyPr>
          <a:lstStyle/>
          <a:p>
            <a:pPr algn="l"/>
            <a:r>
              <a:rPr sz="1200" b="0">
                <a:solidFill>
                  <a:srgbClr val="9CABBE"/>
                </a:solidFill>
                <a:latin typeface="Calibri"/>
              </a:rPr>
              <a:t>2026-05-14   |   Adaptive Enterprise / NAPCO labs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3" name="TextBox 2"/>
          <p:cNvSpPr txBox="1"/>
          <p:nvPr/>
        </p:nvSpPr>
        <p:spPr>
          <a:xfrm>
            <a:off x="640080" y="411480"/>
            <a:ext cx="10972800" cy="822960"/>
          </a:xfrm>
          <a:prstGeom prst="rect">
            <a:avLst/>
          </a:prstGeom>
          <a:noFill/>
        </p:spPr>
        <p:txBody>
          <a:bodyPr wrap="square" lIns="0" rIns="0" tIns="0" bIns="0" anchor="t">
            <a:spAutoFit/>
          </a:bodyPr>
          <a:lstStyle/>
          <a:p>
            <a:pPr algn="l"/>
            <a:r>
              <a:rPr sz="3600" b="1">
                <a:solidFill>
                  <a:srgbClr val="1F4E79"/>
                </a:solidFill>
                <a:latin typeface="Calibri"/>
              </a:rPr>
              <a:t>The problem</a:t>
            </a:r>
          </a:p>
          <a:p>
            <a:pPr algn="l">
              <a:spcBef>
                <a:spcPts val="400"/>
              </a:spcBef>
            </a:pPr>
            <a:r>
              <a:rPr sz="1600" b="0">
                <a:solidFill>
                  <a:srgbClr val="6B7785"/>
                </a:solidFill>
                <a:latin typeface="Calibri"/>
              </a:rPr>
              <a:t>Client needs arrive everywhere at once. Without help, things slip.</a:t>
            </a:r>
          </a:p>
        </p:txBody>
      </p:sp>
      <p:sp>
        <p:nvSpPr>
          <p:cNvPr id="4" name="Rectangle 3"/>
          <p:cNvSpPr/>
          <p:nvPr/>
        </p:nvSpPr>
        <p:spPr>
          <a:xfrm>
            <a:off x="640080" y="6446520"/>
            <a:ext cx="10972800" cy="18288"/>
          </a:xfrm>
          <a:prstGeom prst="rect">
            <a:avLst/>
          </a:prstGeom>
          <a:solidFill>
            <a:srgbClr val="D5DCE5"/>
          </a:solidFill>
          <a:ln>
            <a:no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5" name="Rectangle 4"/>
          <p:cNvSpPr/>
          <p:nvPr/>
        </p:nvSpPr>
        <p:spPr>
          <a:xfrm>
            <a:off x="518007" y="1828800"/>
            <a:ext cx="3566160" cy="2743200"/>
          </a:xfrm>
          <a:prstGeom prst="rect">
            <a:avLst/>
          </a:prstGeom>
          <a:solidFill>
            <a:srgbClr val="FFFFFF"/>
          </a:solidFill>
          <a:ln w="9525">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6" name="Rectangle 5"/>
          <p:cNvSpPr/>
          <p:nvPr/>
        </p:nvSpPr>
        <p:spPr>
          <a:xfrm>
            <a:off x="518007" y="1828800"/>
            <a:ext cx="73152" cy="2743200"/>
          </a:xfrm>
          <a:prstGeom prst="rect">
            <a:avLst/>
          </a:prstGeom>
          <a:solidFill>
            <a:srgbClr val="E07856"/>
          </a:solidFill>
          <a:ln>
            <a:no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7" name="TextBox 6"/>
          <p:cNvSpPr txBox="1"/>
          <p:nvPr/>
        </p:nvSpPr>
        <p:spPr>
          <a:xfrm>
            <a:off x="719175" y="1938528"/>
            <a:ext cx="3273552" cy="2523744"/>
          </a:xfrm>
          <a:prstGeom prst="rect">
            <a:avLst/>
          </a:prstGeom>
          <a:noFill/>
        </p:spPr>
        <p:txBody>
          <a:bodyPr wrap="square" lIns="0" rIns="0" tIns="0" bIns="0" anchor="t">
            <a:spAutoFit/>
          </a:bodyPr>
          <a:lstStyle/>
          <a:p>
            <a:pPr algn="l"/>
            <a:r>
              <a:rPr sz="2200" b="1">
                <a:solidFill>
                  <a:srgbClr val="E07856"/>
                </a:solidFill>
                <a:latin typeface="Calibri"/>
              </a:rPr>
              <a:t>Scattered</a:t>
            </a:r>
          </a:p>
          <a:p>
            <a:pPr algn="l">
              <a:spcBef>
                <a:spcPts val="300"/>
              </a:spcBef>
            </a:pPr>
            <a:r>
              <a:rPr sz="1400" b="0">
                <a:solidFill>
                  <a:srgbClr val="222222"/>
                </a:solidFill>
                <a:latin typeface="Calibri"/>
              </a:rPr>
              <a:t>Clients raise needs across calls, chats,</a:t>
            </a:r>
          </a:p>
          <a:p>
            <a:pPr algn="l">
              <a:spcBef>
                <a:spcPts val="300"/>
              </a:spcBef>
            </a:pPr>
            <a:r>
              <a:rPr sz="1400" b="0">
                <a:solidFill>
                  <a:srgbClr val="222222"/>
                </a:solidFill>
                <a:latin typeface="Calibri"/>
              </a:rPr>
              <a:t>emails, and shared files.</a:t>
            </a:r>
          </a:p>
        </p:txBody>
      </p:sp>
      <p:sp>
        <p:nvSpPr>
          <p:cNvPr id="8" name="Rectangle 7"/>
          <p:cNvSpPr/>
          <p:nvPr/>
        </p:nvSpPr>
        <p:spPr>
          <a:xfrm>
            <a:off x="4312767" y="1828800"/>
            <a:ext cx="3566160" cy="2743200"/>
          </a:xfrm>
          <a:prstGeom prst="rect">
            <a:avLst/>
          </a:prstGeom>
          <a:solidFill>
            <a:srgbClr val="FFFFFF"/>
          </a:solidFill>
          <a:ln w="9525">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9" name="Rectangle 8"/>
          <p:cNvSpPr/>
          <p:nvPr/>
        </p:nvSpPr>
        <p:spPr>
          <a:xfrm>
            <a:off x="4312767" y="1828800"/>
            <a:ext cx="73152" cy="2743200"/>
          </a:xfrm>
          <a:prstGeom prst="rect">
            <a:avLst/>
          </a:prstGeom>
          <a:solidFill>
            <a:srgbClr val="6A4C93"/>
          </a:solidFill>
          <a:ln>
            <a:no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10" name="TextBox 9"/>
          <p:cNvSpPr txBox="1"/>
          <p:nvPr/>
        </p:nvSpPr>
        <p:spPr>
          <a:xfrm>
            <a:off x="4513935" y="1938528"/>
            <a:ext cx="3273552" cy="2523744"/>
          </a:xfrm>
          <a:prstGeom prst="rect">
            <a:avLst/>
          </a:prstGeom>
          <a:noFill/>
        </p:spPr>
        <p:txBody>
          <a:bodyPr wrap="square" lIns="0" rIns="0" tIns="0" bIns="0" anchor="t">
            <a:spAutoFit/>
          </a:bodyPr>
          <a:lstStyle/>
          <a:p>
            <a:pPr algn="l"/>
            <a:r>
              <a:rPr sz="2200" b="1">
                <a:solidFill>
                  <a:srgbClr val="6A4C93"/>
                </a:solidFill>
                <a:latin typeface="Calibri"/>
              </a:rPr>
              <a:t>Fragmented</a:t>
            </a:r>
          </a:p>
          <a:p>
            <a:pPr algn="l">
              <a:spcBef>
                <a:spcPts val="300"/>
              </a:spcBef>
            </a:pPr>
            <a:r>
              <a:rPr sz="1400" b="0">
                <a:solidFill>
                  <a:srgbClr val="222222"/>
                </a:solidFill>
                <a:latin typeface="Calibri"/>
              </a:rPr>
              <a:t>Each developer hears only their slice.</a:t>
            </a:r>
          </a:p>
          <a:p>
            <a:pPr algn="l">
              <a:spcBef>
                <a:spcPts val="300"/>
              </a:spcBef>
            </a:pPr>
            <a:r>
              <a:rPr sz="1400" b="0">
                <a:solidFill>
                  <a:srgbClr val="222222"/>
                </a:solidFill>
                <a:latin typeface="Calibri"/>
              </a:rPr>
              <a:t>No one sees the whole picture.</a:t>
            </a:r>
          </a:p>
        </p:txBody>
      </p:sp>
      <p:sp>
        <p:nvSpPr>
          <p:cNvPr id="11" name="Rectangle 10"/>
          <p:cNvSpPr/>
          <p:nvPr/>
        </p:nvSpPr>
        <p:spPr>
          <a:xfrm>
            <a:off x="8107527" y="1828800"/>
            <a:ext cx="3566160" cy="2743200"/>
          </a:xfrm>
          <a:prstGeom prst="rect">
            <a:avLst/>
          </a:prstGeom>
          <a:solidFill>
            <a:srgbClr val="FFFFFF"/>
          </a:solidFill>
          <a:ln w="9525">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12" name="Rectangle 11"/>
          <p:cNvSpPr/>
          <p:nvPr/>
        </p:nvSpPr>
        <p:spPr>
          <a:xfrm>
            <a:off x="8107527" y="1828800"/>
            <a:ext cx="73152" cy="2743200"/>
          </a:xfrm>
          <a:prstGeom prst="rect">
            <a:avLst/>
          </a:prstGeom>
          <a:solidFill>
            <a:srgbClr val="C9962B"/>
          </a:solidFill>
          <a:ln>
            <a:no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13" name="TextBox 12"/>
          <p:cNvSpPr txBox="1"/>
          <p:nvPr/>
        </p:nvSpPr>
        <p:spPr>
          <a:xfrm>
            <a:off x="8308695" y="1938528"/>
            <a:ext cx="3273552" cy="2523744"/>
          </a:xfrm>
          <a:prstGeom prst="rect">
            <a:avLst/>
          </a:prstGeom>
          <a:noFill/>
        </p:spPr>
        <p:txBody>
          <a:bodyPr wrap="square" lIns="0" rIns="0" tIns="0" bIns="0" anchor="t">
            <a:spAutoFit/>
          </a:bodyPr>
          <a:lstStyle/>
          <a:p>
            <a:pPr algn="l"/>
            <a:r>
              <a:rPr sz="2200" b="1">
                <a:solidFill>
                  <a:srgbClr val="C9962B"/>
                </a:solidFill>
                <a:latin typeface="Calibri"/>
              </a:rPr>
              <a:t>Lost</a:t>
            </a:r>
          </a:p>
          <a:p>
            <a:pPr algn="l">
              <a:spcBef>
                <a:spcPts val="300"/>
              </a:spcBef>
            </a:pPr>
            <a:r>
              <a:rPr sz="1400" b="0">
                <a:solidFill>
                  <a:srgbClr val="222222"/>
                </a:solidFill>
                <a:latin typeface="Calibri"/>
              </a:rPr>
              <a:t>Requirements get missed, half-captured,</a:t>
            </a:r>
          </a:p>
          <a:p>
            <a:pPr algn="l">
              <a:spcBef>
                <a:spcPts val="300"/>
              </a:spcBef>
            </a:pPr>
            <a:r>
              <a:rPr sz="1400" b="0">
                <a:solidFill>
                  <a:srgbClr val="222222"/>
                </a:solidFill>
                <a:latin typeface="Calibri"/>
              </a:rPr>
              <a:t>or re-asked weeks later.</a:t>
            </a:r>
          </a:p>
        </p:txBody>
      </p:sp>
      <p:sp>
        <p:nvSpPr>
          <p:cNvPr id="14" name="TextBox 13"/>
          <p:cNvSpPr txBox="1"/>
          <p:nvPr/>
        </p:nvSpPr>
        <p:spPr>
          <a:xfrm>
            <a:off x="640080" y="5120640"/>
            <a:ext cx="10881360" cy="1097280"/>
          </a:xfrm>
          <a:prstGeom prst="rect">
            <a:avLst/>
          </a:prstGeom>
          <a:noFill/>
        </p:spPr>
        <p:txBody>
          <a:bodyPr wrap="square" lIns="0" rIns="0" tIns="0" bIns="0" anchor="t">
            <a:spAutoFit/>
          </a:bodyPr>
          <a:lstStyle/>
          <a:p>
            <a:pPr algn="ctr"/>
            <a:r>
              <a:rPr sz="2000" b="1">
                <a:solidFill>
                  <a:srgbClr val="1F4E79"/>
                </a:solidFill>
                <a:latin typeface="Calibri"/>
              </a:rPr>
              <a:t>Nothing was centralized. Nothing was reconciled.</a:t>
            </a:r>
          </a:p>
          <a:p>
            <a:pPr algn="ctr">
              <a:spcBef>
                <a:spcPts val="800"/>
              </a:spcBef>
            </a:pPr>
            <a:r>
              <a:rPr sz="1400" b="0">
                <a:solidFill>
                  <a:srgbClr val="6B7785"/>
                </a:solidFill>
                <a:latin typeface="Calibri"/>
              </a:rPr>
              <a:t>The cost was invisible -- until a deliverable shipped without what the client thought they had asked for.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3" name="TextBox 2"/>
          <p:cNvSpPr txBox="1"/>
          <p:nvPr/>
        </p:nvSpPr>
        <p:spPr>
          <a:xfrm>
            <a:off x="640080" y="411480"/>
            <a:ext cx="10972800" cy="822960"/>
          </a:xfrm>
          <a:prstGeom prst="rect">
            <a:avLst/>
          </a:prstGeom>
          <a:noFill/>
        </p:spPr>
        <p:txBody>
          <a:bodyPr wrap="square" lIns="0" rIns="0" tIns="0" bIns="0" anchor="t">
            <a:spAutoFit/>
          </a:bodyPr>
          <a:lstStyle/>
          <a:p>
            <a:pPr algn="l"/>
            <a:r>
              <a:rPr sz="3600" b="1">
                <a:solidFill>
                  <a:srgbClr val="1F4E79"/>
                </a:solidFill>
                <a:latin typeface="Calibri"/>
              </a:rPr>
              <a:t>What we built</a:t>
            </a:r>
          </a:p>
          <a:p>
            <a:pPr algn="l">
              <a:spcBef>
                <a:spcPts val="400"/>
              </a:spcBef>
            </a:pPr>
            <a:r>
              <a:rPr sz="1600" b="0">
                <a:solidFill>
                  <a:srgbClr val="6B7785"/>
                </a:solidFill>
                <a:latin typeface="Calibri"/>
              </a:rPr>
              <a:t>Four inputs. One AI pass. One verified email out.</a:t>
            </a:r>
          </a:p>
        </p:txBody>
      </p:sp>
      <p:sp>
        <p:nvSpPr>
          <p:cNvPr id="4" name="Rectangle 3"/>
          <p:cNvSpPr/>
          <p:nvPr/>
        </p:nvSpPr>
        <p:spPr>
          <a:xfrm>
            <a:off x="640080" y="6446520"/>
            <a:ext cx="10972800" cy="18288"/>
          </a:xfrm>
          <a:prstGeom prst="rect">
            <a:avLst/>
          </a:prstGeom>
          <a:solidFill>
            <a:srgbClr val="D5DCE5"/>
          </a:solidFill>
          <a:ln>
            <a:no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5" name="Rounded Rectangle 4"/>
          <p:cNvSpPr/>
          <p:nvPr/>
        </p:nvSpPr>
        <p:spPr>
          <a:xfrm>
            <a:off x="640080" y="1737360"/>
            <a:ext cx="2194560" cy="685800"/>
          </a:xfrm>
          <a:prstGeom prst="roundRect">
            <a:avLst/>
          </a:prstGeom>
          <a:solidFill>
            <a:srgbClr val="6A4C93"/>
          </a:solidFill>
          <a:ln>
            <a:no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r>
              <a:rPr sz="2000" b="1">
                <a:solidFill>
                  <a:srgbClr val="FFFFFF"/>
                </a:solidFill>
                <a:latin typeface="Calibri"/>
              </a:rPr>
              <a:t>Calls</a:t>
            </a:r>
          </a:p>
        </p:txBody>
      </p:sp>
      <p:sp>
        <p:nvSpPr>
          <p:cNvPr id="6" name="Rounded Rectangle 5"/>
          <p:cNvSpPr/>
          <p:nvPr/>
        </p:nvSpPr>
        <p:spPr>
          <a:xfrm>
            <a:off x="640080" y="2743200"/>
            <a:ext cx="2194560" cy="685800"/>
          </a:xfrm>
          <a:prstGeom prst="roundRect">
            <a:avLst/>
          </a:prstGeom>
          <a:solidFill>
            <a:srgbClr val="2E8A8A"/>
          </a:solidFill>
          <a:ln>
            <a:no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r>
              <a:rPr sz="2000" b="1">
                <a:solidFill>
                  <a:srgbClr val="FFFFFF"/>
                </a:solidFill>
                <a:latin typeface="Calibri"/>
              </a:rPr>
              <a:t>Chats</a:t>
            </a:r>
          </a:p>
        </p:txBody>
      </p:sp>
      <p:sp>
        <p:nvSpPr>
          <p:cNvPr id="7" name="Rounded Rectangle 6"/>
          <p:cNvSpPr/>
          <p:nvPr/>
        </p:nvSpPr>
        <p:spPr>
          <a:xfrm>
            <a:off x="640080" y="3749039"/>
            <a:ext cx="2194560" cy="685800"/>
          </a:xfrm>
          <a:prstGeom prst="roundRect">
            <a:avLst/>
          </a:prstGeom>
          <a:solidFill>
            <a:srgbClr val="E07856"/>
          </a:solidFill>
          <a:ln>
            <a:no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r>
              <a:rPr sz="2000" b="1">
                <a:solidFill>
                  <a:srgbClr val="FFFFFF"/>
                </a:solidFill>
                <a:latin typeface="Calibri"/>
              </a:rPr>
              <a:t>Emails</a:t>
            </a:r>
          </a:p>
        </p:txBody>
      </p:sp>
      <p:sp>
        <p:nvSpPr>
          <p:cNvPr id="8" name="Rounded Rectangle 7"/>
          <p:cNvSpPr/>
          <p:nvPr/>
        </p:nvSpPr>
        <p:spPr>
          <a:xfrm>
            <a:off x="640080" y="4754880"/>
            <a:ext cx="2194560" cy="685800"/>
          </a:xfrm>
          <a:prstGeom prst="roundRect">
            <a:avLst/>
          </a:prstGeom>
          <a:solidFill>
            <a:srgbClr val="C9962B"/>
          </a:solidFill>
          <a:ln>
            <a:no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r>
              <a:rPr sz="2000" b="1">
                <a:solidFill>
                  <a:srgbClr val="FFFFFF"/>
                </a:solidFill>
                <a:latin typeface="Calibri"/>
              </a:rPr>
              <a:t>Files</a:t>
            </a:r>
          </a:p>
        </p:txBody>
      </p:sp>
      <p:sp>
        <p:nvSpPr>
          <p:cNvPr id="9" name="Rectangle 8"/>
          <p:cNvSpPr/>
          <p:nvPr/>
        </p:nvSpPr>
        <p:spPr>
          <a:xfrm>
            <a:off x="4937760" y="2377440"/>
            <a:ext cx="2377440" cy="1645920"/>
          </a:xfrm>
          <a:prstGeom prst="rect">
            <a:avLst/>
          </a:prstGeom>
          <a:solidFill>
            <a:srgbClr val="1F4E79"/>
          </a:solidFill>
          <a:ln w="9525">
            <a:solidFill>
              <a:srgbClr val="1F4E79"/>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10" name="TextBox 9"/>
          <p:cNvSpPr txBox="1"/>
          <p:nvPr/>
        </p:nvSpPr>
        <p:spPr>
          <a:xfrm>
            <a:off x="4937760" y="2377440"/>
            <a:ext cx="2377440" cy="1645920"/>
          </a:xfrm>
          <a:prstGeom prst="rect">
            <a:avLst/>
          </a:prstGeom>
          <a:noFill/>
        </p:spPr>
        <p:txBody>
          <a:bodyPr wrap="square" lIns="0" rIns="0" tIns="0" bIns="0" anchor="ctr">
            <a:spAutoFit/>
          </a:bodyPr>
          <a:lstStyle/>
          <a:p>
            <a:pPr algn="ctr"/>
            <a:r>
              <a:rPr sz="4400" b="1">
                <a:solidFill>
                  <a:srgbClr val="FFFFFF"/>
                </a:solidFill>
                <a:latin typeface="Calibri"/>
              </a:rPr>
              <a:t>AI</a:t>
            </a:r>
          </a:p>
          <a:p>
            <a:pPr algn="ctr">
              <a:spcBef>
                <a:spcPts val="400"/>
              </a:spcBef>
            </a:pPr>
            <a:r>
              <a:rPr sz="1400" b="0">
                <a:solidFill>
                  <a:srgbClr val="C8D2E0"/>
                </a:solidFill>
                <a:latin typeface="Calibri"/>
              </a:rPr>
              <a:t>reads and reconciles</a:t>
            </a:r>
          </a:p>
        </p:txBody>
      </p:sp>
      <p:cxnSp>
        <p:nvCxnSpPr>
          <p:cNvPr id="11" name="Connector 10"/>
          <p:cNvCxnSpPr/>
          <p:nvPr/>
        </p:nvCxnSpPr>
        <p:spPr>
          <a:xfrm>
            <a:off x="2834640" y="2080260"/>
            <a:ext cx="2103120" cy="1120140"/>
          </a:xfrm>
          <a:prstGeom prst="bentConnector3">
            <a:avLst/>
          </a:prstGeom>
          <a:ln w="25400">
            <a:solidFill>
              <a:srgbClr val="6B7785"/>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834640" y="3086100"/>
            <a:ext cx="2103120" cy="114300"/>
          </a:xfrm>
          <a:prstGeom prst="bentConnector3">
            <a:avLst/>
          </a:prstGeom>
          <a:ln w="25400">
            <a:solidFill>
              <a:srgbClr val="6B7785"/>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2834640" y="3200400"/>
            <a:ext cx="2103120" cy="891539"/>
          </a:xfrm>
          <a:prstGeom prst="bentConnector3">
            <a:avLst/>
          </a:prstGeom>
          <a:ln w="25400">
            <a:solidFill>
              <a:srgbClr val="6B7785"/>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2834640" y="3200400"/>
            <a:ext cx="2103120" cy="1897380"/>
          </a:xfrm>
          <a:prstGeom prst="bentConnector3">
            <a:avLst/>
          </a:prstGeom>
          <a:ln w="25400">
            <a:solidFill>
              <a:srgbClr val="6B7785"/>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9144000" y="2651760"/>
            <a:ext cx="2377440" cy="1188720"/>
          </a:xfrm>
          <a:prstGeom prst="roundRect">
            <a:avLst/>
          </a:prstGeom>
          <a:solidFill>
            <a:srgbClr val="4A7A4A"/>
          </a:solidFill>
          <a:ln>
            <a:no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r>
              <a:rPr sz="2200" b="1">
                <a:solidFill>
                  <a:srgbClr val="FFFFFF"/>
                </a:solidFill>
                <a:latin typeface="Calibri"/>
              </a:rPr>
              <a:t>Verification
email</a:t>
            </a:r>
          </a:p>
        </p:txBody>
      </p:sp>
      <p:cxnSp>
        <p:nvCxnSpPr>
          <p:cNvPr id="16" name="Connector 15"/>
          <p:cNvCxnSpPr/>
          <p:nvPr/>
        </p:nvCxnSpPr>
        <p:spPr>
          <a:xfrm>
            <a:off x="7315200" y="3200400"/>
            <a:ext cx="1828800" cy="45720"/>
          </a:xfrm>
          <a:prstGeom prst="bentConnector3">
            <a:avLst/>
          </a:prstGeom>
          <a:ln w="38100">
            <a:solidFill>
              <a:srgbClr val="1F4E79"/>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40080" y="5486400"/>
            <a:ext cx="10881360" cy="914400"/>
          </a:xfrm>
          <a:prstGeom prst="rect">
            <a:avLst/>
          </a:prstGeom>
          <a:noFill/>
        </p:spPr>
        <p:txBody>
          <a:bodyPr wrap="square" lIns="0" rIns="0" tIns="0" bIns="0" anchor="t">
            <a:spAutoFit/>
          </a:bodyPr>
          <a:lstStyle/>
          <a:p>
            <a:pPr algn="ctr"/>
            <a:r>
              <a:rPr sz="1600" b="0">
                <a:solidFill>
                  <a:srgbClr val="222222"/>
                </a:solidFill>
                <a:latin typeface="Calibri"/>
              </a:rPr>
              <a:t>Everything a client said to anyone, anywhere, in one day --</a:t>
            </a:r>
          </a:p>
          <a:p>
            <a:pPr algn="ctr">
              <a:spcBef>
                <a:spcPts val="400"/>
              </a:spcBef>
            </a:pPr>
            <a:r>
              <a:rPr sz="1600" b="1">
                <a:solidFill>
                  <a:srgbClr val="1F4E79"/>
                </a:solidFill>
                <a:latin typeface="Calibri"/>
              </a:rPr>
              <a:t>summarised back to them for sign-off.</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3" name="TextBox 2"/>
          <p:cNvSpPr txBox="1"/>
          <p:nvPr/>
        </p:nvSpPr>
        <p:spPr>
          <a:xfrm>
            <a:off x="640080" y="411480"/>
            <a:ext cx="10972800" cy="822960"/>
          </a:xfrm>
          <a:prstGeom prst="rect">
            <a:avLst/>
          </a:prstGeom>
          <a:noFill/>
        </p:spPr>
        <p:txBody>
          <a:bodyPr wrap="square" lIns="0" rIns="0" tIns="0" bIns="0" anchor="t">
            <a:spAutoFit/>
          </a:bodyPr>
          <a:lstStyle/>
          <a:p>
            <a:pPr algn="l"/>
            <a:r>
              <a:rPr sz="3600" b="1">
                <a:solidFill>
                  <a:srgbClr val="1F4E79"/>
                </a:solidFill>
                <a:latin typeface="Calibri"/>
              </a:rPr>
              <a:t>Four ways we capture</a:t>
            </a:r>
          </a:p>
          <a:p>
            <a:pPr algn="l">
              <a:spcBef>
                <a:spcPts val="400"/>
              </a:spcBef>
            </a:pPr>
            <a:r>
              <a:rPr sz="1600" b="0">
                <a:solidFill>
                  <a:srgbClr val="6B7785"/>
                </a:solidFill>
                <a:latin typeface="Calibri"/>
              </a:rPr>
              <a:t>Whatever the client touches, we pick up.</a:t>
            </a:r>
          </a:p>
        </p:txBody>
      </p:sp>
      <p:sp>
        <p:nvSpPr>
          <p:cNvPr id="4" name="Rectangle 3"/>
          <p:cNvSpPr/>
          <p:nvPr/>
        </p:nvSpPr>
        <p:spPr>
          <a:xfrm>
            <a:off x="640080" y="6446520"/>
            <a:ext cx="10972800" cy="18288"/>
          </a:xfrm>
          <a:prstGeom prst="rect">
            <a:avLst/>
          </a:prstGeom>
          <a:solidFill>
            <a:srgbClr val="D5DCE5"/>
          </a:solidFill>
          <a:ln>
            <a:no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5" name="Rectangle 4"/>
          <p:cNvSpPr/>
          <p:nvPr/>
        </p:nvSpPr>
        <p:spPr>
          <a:xfrm>
            <a:off x="518007" y="1828800"/>
            <a:ext cx="2651760" cy="3291840"/>
          </a:xfrm>
          <a:prstGeom prst="rect">
            <a:avLst/>
          </a:prstGeom>
          <a:solidFill>
            <a:srgbClr val="FFFFFF"/>
          </a:solidFill>
          <a:ln w="9525">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6" name="Rectangle 5"/>
          <p:cNvSpPr/>
          <p:nvPr/>
        </p:nvSpPr>
        <p:spPr>
          <a:xfrm>
            <a:off x="518007" y="1828800"/>
            <a:ext cx="73152" cy="3291840"/>
          </a:xfrm>
          <a:prstGeom prst="rect">
            <a:avLst/>
          </a:prstGeom>
          <a:solidFill>
            <a:srgbClr val="6A4C93"/>
          </a:solidFill>
          <a:ln>
            <a:no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7" name="TextBox 6"/>
          <p:cNvSpPr txBox="1"/>
          <p:nvPr/>
        </p:nvSpPr>
        <p:spPr>
          <a:xfrm>
            <a:off x="719175" y="1938528"/>
            <a:ext cx="2359152" cy="3072384"/>
          </a:xfrm>
          <a:prstGeom prst="rect">
            <a:avLst/>
          </a:prstGeom>
          <a:noFill/>
        </p:spPr>
        <p:txBody>
          <a:bodyPr wrap="square" lIns="0" rIns="0" tIns="0" bIns="0" anchor="t">
            <a:spAutoFit/>
          </a:bodyPr>
          <a:lstStyle/>
          <a:p>
            <a:pPr algn="l"/>
            <a:r>
              <a:rPr sz="2200" b="1">
                <a:solidFill>
                  <a:srgbClr val="6A4C93"/>
                </a:solidFill>
                <a:latin typeface="Calibri"/>
              </a:rPr>
              <a:t>Calls</a:t>
            </a:r>
          </a:p>
          <a:p>
            <a:pPr algn="l">
              <a:spcBef>
                <a:spcPts val="300"/>
              </a:spcBef>
            </a:pPr>
            <a:r>
              <a:rPr sz="1400" b="0">
                <a:solidFill>
                  <a:srgbClr val="222222"/>
                </a:solidFill>
                <a:latin typeface="Calibri"/>
              </a:rPr>
              <a:t>Recorded automatically</a:t>
            </a:r>
          </a:p>
          <a:p>
            <a:pPr algn="l">
              <a:spcBef>
                <a:spcPts val="300"/>
              </a:spcBef>
            </a:pPr>
            <a:r>
              <a:rPr sz="1400" b="0">
                <a:solidFill>
                  <a:srgbClr val="222222"/>
                </a:solidFill>
                <a:latin typeface="Calibri"/>
              </a:rPr>
              <a:t>when a Teams call starts.</a:t>
            </a:r>
          </a:p>
        </p:txBody>
      </p:sp>
      <p:sp>
        <p:nvSpPr>
          <p:cNvPr id="8" name="Rectangle 7"/>
          <p:cNvSpPr/>
          <p:nvPr/>
        </p:nvSpPr>
        <p:spPr>
          <a:xfrm>
            <a:off x="3352647" y="1828800"/>
            <a:ext cx="2651760" cy="3291840"/>
          </a:xfrm>
          <a:prstGeom prst="rect">
            <a:avLst/>
          </a:prstGeom>
          <a:solidFill>
            <a:srgbClr val="FFFFFF"/>
          </a:solidFill>
          <a:ln w="9525">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9" name="Rectangle 8"/>
          <p:cNvSpPr/>
          <p:nvPr/>
        </p:nvSpPr>
        <p:spPr>
          <a:xfrm>
            <a:off x="3352647" y="1828800"/>
            <a:ext cx="73152" cy="3291840"/>
          </a:xfrm>
          <a:prstGeom prst="rect">
            <a:avLst/>
          </a:prstGeom>
          <a:solidFill>
            <a:srgbClr val="2E8A8A"/>
          </a:solidFill>
          <a:ln>
            <a:no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10" name="TextBox 9"/>
          <p:cNvSpPr txBox="1"/>
          <p:nvPr/>
        </p:nvSpPr>
        <p:spPr>
          <a:xfrm>
            <a:off x="3553815" y="1938528"/>
            <a:ext cx="2359152" cy="3072384"/>
          </a:xfrm>
          <a:prstGeom prst="rect">
            <a:avLst/>
          </a:prstGeom>
          <a:noFill/>
        </p:spPr>
        <p:txBody>
          <a:bodyPr wrap="square" lIns="0" rIns="0" tIns="0" bIns="0" anchor="t">
            <a:spAutoFit/>
          </a:bodyPr>
          <a:lstStyle/>
          <a:p>
            <a:pPr algn="l"/>
            <a:r>
              <a:rPr sz="2200" b="1">
                <a:solidFill>
                  <a:srgbClr val="2E8A8A"/>
                </a:solidFill>
                <a:latin typeface="Calibri"/>
              </a:rPr>
              <a:t>Chats</a:t>
            </a:r>
          </a:p>
          <a:p>
            <a:pPr algn="l">
              <a:spcBef>
                <a:spcPts val="300"/>
              </a:spcBef>
            </a:pPr>
            <a:r>
              <a:rPr sz="1400" b="0">
                <a:solidFill>
                  <a:srgbClr val="222222"/>
                </a:solidFill>
                <a:latin typeface="Calibri"/>
              </a:rPr>
              <a:t>Collected from each</a:t>
            </a:r>
          </a:p>
          <a:p>
            <a:pPr algn="l">
              <a:spcBef>
                <a:spcPts val="300"/>
              </a:spcBef>
            </a:pPr>
            <a:r>
              <a:rPr sz="1400" b="0">
                <a:solidFill>
                  <a:srgbClr val="222222"/>
                </a:solidFill>
                <a:latin typeface="Calibri"/>
              </a:rPr>
              <a:t>teammate's Teams chats.</a:t>
            </a:r>
          </a:p>
        </p:txBody>
      </p:sp>
      <p:sp>
        <p:nvSpPr>
          <p:cNvPr id="11" name="Rectangle 10"/>
          <p:cNvSpPr/>
          <p:nvPr/>
        </p:nvSpPr>
        <p:spPr>
          <a:xfrm>
            <a:off x="6187287" y="1828800"/>
            <a:ext cx="2651760" cy="3291840"/>
          </a:xfrm>
          <a:prstGeom prst="rect">
            <a:avLst/>
          </a:prstGeom>
          <a:solidFill>
            <a:srgbClr val="FFFFFF"/>
          </a:solidFill>
          <a:ln w="9525">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12" name="Rectangle 11"/>
          <p:cNvSpPr/>
          <p:nvPr/>
        </p:nvSpPr>
        <p:spPr>
          <a:xfrm>
            <a:off x="6187287" y="1828800"/>
            <a:ext cx="73152" cy="3291840"/>
          </a:xfrm>
          <a:prstGeom prst="rect">
            <a:avLst/>
          </a:prstGeom>
          <a:solidFill>
            <a:srgbClr val="E07856"/>
          </a:solidFill>
          <a:ln>
            <a:no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13" name="TextBox 12"/>
          <p:cNvSpPr txBox="1"/>
          <p:nvPr/>
        </p:nvSpPr>
        <p:spPr>
          <a:xfrm>
            <a:off x="6388455" y="1938528"/>
            <a:ext cx="2359152" cy="3072384"/>
          </a:xfrm>
          <a:prstGeom prst="rect">
            <a:avLst/>
          </a:prstGeom>
          <a:noFill/>
        </p:spPr>
        <p:txBody>
          <a:bodyPr wrap="square" lIns="0" rIns="0" tIns="0" bIns="0" anchor="t">
            <a:spAutoFit/>
          </a:bodyPr>
          <a:lstStyle/>
          <a:p>
            <a:pPr algn="l"/>
            <a:r>
              <a:rPr sz="2200" b="1">
                <a:solidFill>
                  <a:srgbClr val="E07856"/>
                </a:solidFill>
                <a:latin typeface="Calibri"/>
              </a:rPr>
              <a:t>Emails</a:t>
            </a:r>
          </a:p>
          <a:p>
            <a:pPr algn="l">
              <a:spcBef>
                <a:spcPts val="300"/>
              </a:spcBef>
            </a:pPr>
            <a:r>
              <a:rPr sz="1400" b="0">
                <a:solidFill>
                  <a:srgbClr val="222222"/>
                </a:solidFill>
                <a:latin typeface="Calibri"/>
              </a:rPr>
              <a:t>Pulled from the team's</a:t>
            </a:r>
          </a:p>
          <a:p>
            <a:pPr algn="l">
              <a:spcBef>
                <a:spcPts val="300"/>
              </a:spcBef>
            </a:pPr>
            <a:r>
              <a:rPr sz="1400" b="0">
                <a:solidFill>
                  <a:srgbClr val="222222"/>
                </a:solidFill>
                <a:latin typeface="Calibri"/>
              </a:rPr>
              <a:t>Gmail throughout the day.</a:t>
            </a:r>
          </a:p>
        </p:txBody>
      </p:sp>
      <p:sp>
        <p:nvSpPr>
          <p:cNvPr id="14" name="Rectangle 13"/>
          <p:cNvSpPr/>
          <p:nvPr/>
        </p:nvSpPr>
        <p:spPr>
          <a:xfrm>
            <a:off x="9021927" y="1828800"/>
            <a:ext cx="2651760" cy="3291840"/>
          </a:xfrm>
          <a:prstGeom prst="rect">
            <a:avLst/>
          </a:prstGeom>
          <a:solidFill>
            <a:srgbClr val="FFFFFF"/>
          </a:solidFill>
          <a:ln w="9525">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15" name="Rectangle 14"/>
          <p:cNvSpPr/>
          <p:nvPr/>
        </p:nvSpPr>
        <p:spPr>
          <a:xfrm>
            <a:off x="9021927" y="1828800"/>
            <a:ext cx="73152" cy="3291840"/>
          </a:xfrm>
          <a:prstGeom prst="rect">
            <a:avLst/>
          </a:prstGeom>
          <a:solidFill>
            <a:srgbClr val="C9962B"/>
          </a:solidFill>
          <a:ln>
            <a:no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16" name="TextBox 15"/>
          <p:cNvSpPr txBox="1"/>
          <p:nvPr/>
        </p:nvSpPr>
        <p:spPr>
          <a:xfrm>
            <a:off x="9223095" y="1938528"/>
            <a:ext cx="2359152" cy="3072384"/>
          </a:xfrm>
          <a:prstGeom prst="rect">
            <a:avLst/>
          </a:prstGeom>
          <a:noFill/>
        </p:spPr>
        <p:txBody>
          <a:bodyPr wrap="square" lIns="0" rIns="0" tIns="0" bIns="0" anchor="t">
            <a:spAutoFit/>
          </a:bodyPr>
          <a:lstStyle/>
          <a:p>
            <a:pPr algn="l"/>
            <a:r>
              <a:rPr sz="2200" b="1">
                <a:solidFill>
                  <a:srgbClr val="C9962B"/>
                </a:solidFill>
                <a:latin typeface="Calibri"/>
              </a:rPr>
              <a:t>Shared files</a:t>
            </a:r>
          </a:p>
          <a:p>
            <a:pPr algn="l">
              <a:spcBef>
                <a:spcPts val="300"/>
              </a:spcBef>
            </a:pPr>
            <a:r>
              <a:rPr sz="1400" b="0">
                <a:solidFill>
                  <a:srgbClr val="222222"/>
                </a:solidFill>
                <a:latin typeface="Calibri"/>
              </a:rPr>
              <a:t>Watched in the shared</a:t>
            </a:r>
          </a:p>
          <a:p>
            <a:pPr algn="l">
              <a:spcBef>
                <a:spcPts val="300"/>
              </a:spcBef>
            </a:pPr>
            <a:r>
              <a:rPr sz="1400" b="0">
                <a:solidFill>
                  <a:srgbClr val="222222"/>
                </a:solidFill>
                <a:latin typeface="Calibri"/>
              </a:rPr>
              <a:t>Google Drive folder.</a:t>
            </a:r>
          </a:p>
        </p:txBody>
      </p:sp>
      <p:sp>
        <p:nvSpPr>
          <p:cNvPr id="17" name="TextBox 16"/>
          <p:cNvSpPr txBox="1"/>
          <p:nvPr/>
        </p:nvSpPr>
        <p:spPr>
          <a:xfrm>
            <a:off x="640080" y="5486400"/>
            <a:ext cx="10881360" cy="914400"/>
          </a:xfrm>
          <a:prstGeom prst="rect">
            <a:avLst/>
          </a:prstGeom>
          <a:noFill/>
        </p:spPr>
        <p:txBody>
          <a:bodyPr wrap="square" lIns="0" rIns="0" tIns="0" bIns="0" anchor="t">
            <a:spAutoFit/>
          </a:bodyPr>
          <a:lstStyle/>
          <a:p>
            <a:pPr algn="ctr"/>
            <a:r>
              <a:rPr sz="1600" b="1">
                <a:solidFill>
                  <a:srgbClr val="1F4E79"/>
                </a:solidFill>
                <a:latin typeface="Calibri"/>
              </a:rPr>
              <a:t>Capture is silent. No one has to remember to log anything.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3" name="TextBox 2"/>
          <p:cNvSpPr txBox="1"/>
          <p:nvPr/>
        </p:nvSpPr>
        <p:spPr>
          <a:xfrm>
            <a:off x="640080" y="411480"/>
            <a:ext cx="10972800" cy="822960"/>
          </a:xfrm>
          <a:prstGeom prst="rect">
            <a:avLst/>
          </a:prstGeom>
          <a:noFill/>
        </p:spPr>
        <p:txBody>
          <a:bodyPr wrap="square" lIns="0" rIns="0" tIns="0" bIns="0" anchor="t">
            <a:spAutoFit/>
          </a:bodyPr>
          <a:lstStyle/>
          <a:p>
            <a:pPr algn="l"/>
            <a:r>
              <a:rPr sz="3600" b="1">
                <a:solidFill>
                  <a:srgbClr val="1F4E79"/>
                </a:solidFill>
                <a:latin typeface="Calibri"/>
              </a:rPr>
              <a:t>How calls become text</a:t>
            </a:r>
          </a:p>
          <a:p>
            <a:pPr algn="l">
              <a:spcBef>
                <a:spcPts val="400"/>
              </a:spcBef>
            </a:pPr>
            <a:r>
              <a:rPr sz="1600" b="0">
                <a:solidFill>
                  <a:srgbClr val="6B7785"/>
                </a:solidFill>
                <a:latin typeface="Calibri"/>
              </a:rPr>
              <a:t>Fast cloud transcription. Local backup if cloud fails.</a:t>
            </a:r>
          </a:p>
        </p:txBody>
      </p:sp>
      <p:sp>
        <p:nvSpPr>
          <p:cNvPr id="4" name="Rectangle 3"/>
          <p:cNvSpPr/>
          <p:nvPr/>
        </p:nvSpPr>
        <p:spPr>
          <a:xfrm>
            <a:off x="640080" y="6446520"/>
            <a:ext cx="10972800" cy="18288"/>
          </a:xfrm>
          <a:prstGeom prst="rect">
            <a:avLst/>
          </a:prstGeom>
          <a:solidFill>
            <a:srgbClr val="D5DCE5"/>
          </a:solidFill>
          <a:ln>
            <a:no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5" name="Rectangle 4"/>
          <p:cNvSpPr/>
          <p:nvPr/>
        </p:nvSpPr>
        <p:spPr>
          <a:xfrm>
            <a:off x="883767" y="1828800"/>
            <a:ext cx="3291840" cy="3108960"/>
          </a:xfrm>
          <a:prstGeom prst="rect">
            <a:avLst/>
          </a:prstGeom>
          <a:solidFill>
            <a:srgbClr val="FFFFFF"/>
          </a:solidFill>
          <a:ln w="9525">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6" name="Rectangle 5"/>
          <p:cNvSpPr/>
          <p:nvPr/>
        </p:nvSpPr>
        <p:spPr>
          <a:xfrm>
            <a:off x="883767" y="1828800"/>
            <a:ext cx="3291840" cy="457200"/>
          </a:xfrm>
          <a:prstGeom prst="rect">
            <a:avLst/>
          </a:prstGeom>
          <a:solidFill>
            <a:srgbClr val="6A4C93"/>
          </a:solidFill>
          <a:ln>
            <a:no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7" name="TextBox 6"/>
          <p:cNvSpPr txBox="1"/>
          <p:nvPr/>
        </p:nvSpPr>
        <p:spPr>
          <a:xfrm>
            <a:off x="1066647" y="1874520"/>
            <a:ext cx="548640" cy="365760"/>
          </a:xfrm>
          <a:prstGeom prst="rect">
            <a:avLst/>
          </a:prstGeom>
          <a:noFill/>
        </p:spPr>
        <p:txBody>
          <a:bodyPr wrap="square" lIns="0" rIns="0" tIns="0" bIns="0" anchor="ctr">
            <a:spAutoFit/>
          </a:bodyPr>
          <a:lstStyle/>
          <a:p>
            <a:pPr algn="l"/>
            <a:r>
              <a:rPr sz="1800" b="1">
                <a:solidFill>
                  <a:srgbClr val="FFFFFF"/>
                </a:solidFill>
                <a:latin typeface="Calibri"/>
              </a:rPr>
              <a:t>1</a:t>
            </a:r>
          </a:p>
        </p:txBody>
      </p:sp>
      <p:sp>
        <p:nvSpPr>
          <p:cNvPr id="8" name="TextBox 7"/>
          <p:cNvSpPr txBox="1"/>
          <p:nvPr/>
        </p:nvSpPr>
        <p:spPr>
          <a:xfrm>
            <a:off x="1066647" y="2468880"/>
            <a:ext cx="2926080" cy="640080"/>
          </a:xfrm>
          <a:prstGeom prst="rect">
            <a:avLst/>
          </a:prstGeom>
          <a:noFill/>
        </p:spPr>
        <p:txBody>
          <a:bodyPr wrap="square" lIns="0" rIns="0" tIns="0" bIns="0" anchor="t">
            <a:spAutoFit/>
          </a:bodyPr>
          <a:lstStyle/>
          <a:p>
            <a:pPr algn="l"/>
            <a:r>
              <a:rPr sz="2200" b="1">
                <a:solidFill>
                  <a:srgbClr val="6A4C93"/>
                </a:solidFill>
                <a:latin typeface="Calibri"/>
              </a:rPr>
              <a:t>Call starts</a:t>
            </a:r>
          </a:p>
        </p:txBody>
      </p:sp>
      <p:sp>
        <p:nvSpPr>
          <p:cNvPr id="9" name="TextBox 8"/>
          <p:cNvSpPr txBox="1"/>
          <p:nvPr/>
        </p:nvSpPr>
        <p:spPr>
          <a:xfrm>
            <a:off x="1066647" y="3383280"/>
            <a:ext cx="2926080" cy="1463040"/>
          </a:xfrm>
          <a:prstGeom prst="rect">
            <a:avLst/>
          </a:prstGeom>
          <a:noFill/>
        </p:spPr>
        <p:txBody>
          <a:bodyPr wrap="square" lIns="0" rIns="0" tIns="0" bIns="0" anchor="t">
            <a:spAutoFit/>
          </a:bodyPr>
          <a:lstStyle/>
          <a:p>
            <a:pPr algn="l"/>
            <a:r>
              <a:rPr sz="1500" b="0">
                <a:solidFill>
                  <a:srgbClr val="222222"/>
                </a:solidFill>
                <a:latin typeface="Calibri"/>
              </a:rPr>
              <a:t>Recording begins</a:t>
            </a:r>
          </a:p>
          <a:p>
            <a:pPr algn="l">
              <a:spcBef>
                <a:spcPts val="400"/>
              </a:spcBef>
            </a:pPr>
            <a:r>
              <a:rPr sz="1500" b="0">
                <a:solidFill>
                  <a:srgbClr val="222222"/>
                </a:solidFill>
                <a:latin typeface="Calibri"/>
              </a:rPr>
              <a:t>automatically.</a:t>
            </a:r>
          </a:p>
        </p:txBody>
      </p:sp>
      <p:cxnSp>
        <p:nvCxnSpPr>
          <p:cNvPr id="10" name="Connector 9"/>
          <p:cNvCxnSpPr/>
          <p:nvPr/>
        </p:nvCxnSpPr>
        <p:spPr>
          <a:xfrm>
            <a:off x="4175607" y="3383280"/>
            <a:ext cx="274320" cy="0"/>
          </a:xfrm>
          <a:prstGeom prst="bentConnector3">
            <a:avLst/>
          </a:prstGeom>
          <a:ln w="38100">
            <a:solidFill>
              <a:srgbClr val="1F4E79"/>
            </a:solidFill>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4449927" y="1828800"/>
            <a:ext cx="3291840" cy="3108960"/>
          </a:xfrm>
          <a:prstGeom prst="rect">
            <a:avLst/>
          </a:prstGeom>
          <a:solidFill>
            <a:srgbClr val="FFFFFF"/>
          </a:solidFill>
          <a:ln w="9525">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12" name="Rectangle 11"/>
          <p:cNvSpPr/>
          <p:nvPr/>
        </p:nvSpPr>
        <p:spPr>
          <a:xfrm>
            <a:off x="4449927" y="1828800"/>
            <a:ext cx="3291840" cy="457200"/>
          </a:xfrm>
          <a:prstGeom prst="rect">
            <a:avLst/>
          </a:prstGeom>
          <a:solidFill>
            <a:srgbClr val="2E8A8A"/>
          </a:solidFill>
          <a:ln>
            <a:no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13" name="TextBox 12"/>
          <p:cNvSpPr txBox="1"/>
          <p:nvPr/>
        </p:nvSpPr>
        <p:spPr>
          <a:xfrm>
            <a:off x="4632807" y="1874520"/>
            <a:ext cx="548640" cy="365760"/>
          </a:xfrm>
          <a:prstGeom prst="rect">
            <a:avLst/>
          </a:prstGeom>
          <a:noFill/>
        </p:spPr>
        <p:txBody>
          <a:bodyPr wrap="square" lIns="0" rIns="0" tIns="0" bIns="0" anchor="ctr">
            <a:spAutoFit/>
          </a:bodyPr>
          <a:lstStyle/>
          <a:p>
            <a:pPr algn="l"/>
            <a:r>
              <a:rPr sz="1800" b="1">
                <a:solidFill>
                  <a:srgbClr val="FFFFFF"/>
                </a:solidFill>
                <a:latin typeface="Calibri"/>
              </a:rPr>
              <a:t>2</a:t>
            </a:r>
          </a:p>
        </p:txBody>
      </p:sp>
      <p:sp>
        <p:nvSpPr>
          <p:cNvPr id="14" name="TextBox 13"/>
          <p:cNvSpPr txBox="1"/>
          <p:nvPr/>
        </p:nvSpPr>
        <p:spPr>
          <a:xfrm>
            <a:off x="4632807" y="2468880"/>
            <a:ext cx="2926080" cy="640080"/>
          </a:xfrm>
          <a:prstGeom prst="rect">
            <a:avLst/>
          </a:prstGeom>
          <a:noFill/>
        </p:spPr>
        <p:txBody>
          <a:bodyPr wrap="square" lIns="0" rIns="0" tIns="0" bIns="0" anchor="t">
            <a:spAutoFit/>
          </a:bodyPr>
          <a:lstStyle/>
          <a:p>
            <a:pPr algn="l"/>
            <a:r>
              <a:rPr sz="2200" b="1">
                <a:solidFill>
                  <a:srgbClr val="2E8A8A"/>
                </a:solidFill>
                <a:latin typeface="Calibri"/>
              </a:rPr>
              <a:t>Call ends</a:t>
            </a:r>
          </a:p>
        </p:txBody>
      </p:sp>
      <p:sp>
        <p:nvSpPr>
          <p:cNvPr id="15" name="TextBox 14"/>
          <p:cNvSpPr txBox="1"/>
          <p:nvPr/>
        </p:nvSpPr>
        <p:spPr>
          <a:xfrm>
            <a:off x="4632807" y="3383280"/>
            <a:ext cx="2926080" cy="1463040"/>
          </a:xfrm>
          <a:prstGeom prst="rect">
            <a:avLst/>
          </a:prstGeom>
          <a:noFill/>
        </p:spPr>
        <p:txBody>
          <a:bodyPr wrap="square" lIns="0" rIns="0" tIns="0" bIns="0" anchor="t">
            <a:spAutoFit/>
          </a:bodyPr>
          <a:lstStyle/>
          <a:p>
            <a:pPr algn="l"/>
            <a:r>
              <a:rPr sz="1500" b="0">
                <a:solidFill>
                  <a:srgbClr val="222222"/>
                </a:solidFill>
                <a:latin typeface="Calibri"/>
              </a:rPr>
              <a:t>Recording stops.</a:t>
            </a:r>
          </a:p>
          <a:p>
            <a:pPr algn="l">
              <a:spcBef>
                <a:spcPts val="400"/>
              </a:spcBef>
            </a:pPr>
            <a:r>
              <a:rPr sz="1500" b="0">
                <a:solidFill>
                  <a:srgbClr val="222222"/>
                </a:solidFill>
                <a:latin typeface="Calibri"/>
              </a:rPr>
              <a:t>Files uploaded.</a:t>
            </a:r>
          </a:p>
        </p:txBody>
      </p:sp>
      <p:cxnSp>
        <p:nvCxnSpPr>
          <p:cNvPr id="16" name="Connector 15"/>
          <p:cNvCxnSpPr/>
          <p:nvPr/>
        </p:nvCxnSpPr>
        <p:spPr>
          <a:xfrm>
            <a:off x="7741767" y="3383280"/>
            <a:ext cx="274320" cy="0"/>
          </a:xfrm>
          <a:prstGeom prst="bentConnector3">
            <a:avLst/>
          </a:prstGeom>
          <a:ln w="38100">
            <a:solidFill>
              <a:srgbClr val="1F4E79"/>
            </a:solidFill>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8016087" y="1828800"/>
            <a:ext cx="3291840" cy="3108960"/>
          </a:xfrm>
          <a:prstGeom prst="rect">
            <a:avLst/>
          </a:prstGeom>
          <a:solidFill>
            <a:srgbClr val="FFFFFF"/>
          </a:solidFill>
          <a:ln w="9525">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18" name="Rectangle 17"/>
          <p:cNvSpPr/>
          <p:nvPr/>
        </p:nvSpPr>
        <p:spPr>
          <a:xfrm>
            <a:off x="8016087" y="1828800"/>
            <a:ext cx="3291840" cy="457200"/>
          </a:xfrm>
          <a:prstGeom prst="rect">
            <a:avLst/>
          </a:prstGeom>
          <a:solidFill>
            <a:srgbClr val="4A7A4A"/>
          </a:solidFill>
          <a:ln>
            <a:no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19" name="TextBox 18"/>
          <p:cNvSpPr txBox="1"/>
          <p:nvPr/>
        </p:nvSpPr>
        <p:spPr>
          <a:xfrm>
            <a:off x="8198967" y="1874520"/>
            <a:ext cx="548640" cy="365760"/>
          </a:xfrm>
          <a:prstGeom prst="rect">
            <a:avLst/>
          </a:prstGeom>
          <a:noFill/>
        </p:spPr>
        <p:txBody>
          <a:bodyPr wrap="square" lIns="0" rIns="0" tIns="0" bIns="0" anchor="ctr">
            <a:spAutoFit/>
          </a:bodyPr>
          <a:lstStyle/>
          <a:p>
            <a:pPr algn="l"/>
            <a:r>
              <a:rPr sz="1800" b="1">
                <a:solidFill>
                  <a:srgbClr val="FFFFFF"/>
                </a:solidFill>
                <a:latin typeface="Calibri"/>
              </a:rPr>
              <a:t>3</a:t>
            </a:r>
          </a:p>
        </p:txBody>
      </p:sp>
      <p:sp>
        <p:nvSpPr>
          <p:cNvPr id="20" name="TextBox 19"/>
          <p:cNvSpPr txBox="1"/>
          <p:nvPr/>
        </p:nvSpPr>
        <p:spPr>
          <a:xfrm>
            <a:off x="8198967" y="2468880"/>
            <a:ext cx="2926080" cy="640080"/>
          </a:xfrm>
          <a:prstGeom prst="rect">
            <a:avLst/>
          </a:prstGeom>
          <a:noFill/>
        </p:spPr>
        <p:txBody>
          <a:bodyPr wrap="square" lIns="0" rIns="0" tIns="0" bIns="0" anchor="t">
            <a:spAutoFit/>
          </a:bodyPr>
          <a:lstStyle/>
          <a:p>
            <a:pPr algn="l"/>
            <a:r>
              <a:rPr sz="2200" b="1">
                <a:solidFill>
                  <a:srgbClr val="4A7A4A"/>
                </a:solidFill>
                <a:latin typeface="Calibri"/>
              </a:rPr>
              <a:t>Transcribed</a:t>
            </a:r>
          </a:p>
        </p:txBody>
      </p:sp>
      <p:sp>
        <p:nvSpPr>
          <p:cNvPr id="21" name="TextBox 20"/>
          <p:cNvSpPr txBox="1"/>
          <p:nvPr/>
        </p:nvSpPr>
        <p:spPr>
          <a:xfrm>
            <a:off x="8198967" y="3383280"/>
            <a:ext cx="2926080" cy="1463040"/>
          </a:xfrm>
          <a:prstGeom prst="rect">
            <a:avLst/>
          </a:prstGeom>
          <a:noFill/>
        </p:spPr>
        <p:txBody>
          <a:bodyPr wrap="square" lIns="0" rIns="0" tIns="0" bIns="0" anchor="t">
            <a:spAutoFit/>
          </a:bodyPr>
          <a:lstStyle/>
          <a:p>
            <a:pPr algn="l"/>
            <a:r>
              <a:rPr sz="1500" b="0">
                <a:solidFill>
                  <a:srgbClr val="222222"/>
                </a:solidFill>
                <a:latin typeface="Calibri"/>
              </a:rPr>
              <a:t>Text ready within</a:t>
            </a:r>
          </a:p>
          <a:p>
            <a:pPr algn="l">
              <a:spcBef>
                <a:spcPts val="400"/>
              </a:spcBef>
            </a:pPr>
            <a:r>
              <a:rPr sz="1500" b="0">
                <a:solidFill>
                  <a:srgbClr val="222222"/>
                </a:solidFill>
                <a:latin typeface="Calibri"/>
              </a:rPr>
              <a:t>a few minutes.</a:t>
            </a:r>
          </a:p>
        </p:txBody>
      </p:sp>
      <p:sp>
        <p:nvSpPr>
          <p:cNvPr id="22" name="TextBox 21"/>
          <p:cNvSpPr txBox="1"/>
          <p:nvPr/>
        </p:nvSpPr>
        <p:spPr>
          <a:xfrm>
            <a:off x="640080" y="5394960"/>
            <a:ext cx="10881360" cy="1097280"/>
          </a:xfrm>
          <a:prstGeom prst="rect">
            <a:avLst/>
          </a:prstGeom>
          <a:noFill/>
        </p:spPr>
        <p:txBody>
          <a:bodyPr wrap="square" lIns="0" rIns="0" tIns="0" bIns="0" anchor="t">
            <a:spAutoFit/>
          </a:bodyPr>
          <a:lstStyle/>
          <a:p>
            <a:pPr algn="ctr"/>
            <a:r>
              <a:rPr sz="1600" b="1">
                <a:solidFill>
                  <a:srgbClr val="1F4E79"/>
                </a:solidFill>
                <a:latin typeface="Calibri"/>
              </a:rPr>
              <a:t>Cloud-first for speed. Local fallback when cloud is unavailable.</a:t>
            </a:r>
          </a:p>
          <a:p>
            <a:pPr algn="ctr">
              <a:spcBef>
                <a:spcPts val="600"/>
              </a:spcBef>
            </a:pPr>
            <a:r>
              <a:rPr sz="1300" b="0">
                <a:solidFill>
                  <a:srgbClr val="6B7785"/>
                </a:solidFill>
                <a:latin typeface="Calibri"/>
              </a:rPr>
              <a:t>Bangla speech is translated to English in the same step -- no separate translation pass.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3" name="TextBox 2"/>
          <p:cNvSpPr txBox="1"/>
          <p:nvPr/>
        </p:nvSpPr>
        <p:spPr>
          <a:xfrm>
            <a:off x="640080" y="411480"/>
            <a:ext cx="10972800" cy="822960"/>
          </a:xfrm>
          <a:prstGeom prst="rect">
            <a:avLst/>
          </a:prstGeom>
          <a:noFill/>
        </p:spPr>
        <p:txBody>
          <a:bodyPr wrap="square" lIns="0" rIns="0" tIns="0" bIns="0" anchor="t">
            <a:spAutoFit/>
          </a:bodyPr>
          <a:lstStyle/>
          <a:p>
            <a:pPr algn="l"/>
            <a:r>
              <a:rPr sz="3600" b="1">
                <a:solidFill>
                  <a:srgbClr val="1F4E79"/>
                </a:solidFill>
                <a:latin typeface="Calibri"/>
              </a:rPr>
              <a:t>What our central server does</a:t>
            </a:r>
          </a:p>
          <a:p>
            <a:pPr algn="l">
              <a:spcBef>
                <a:spcPts val="400"/>
              </a:spcBef>
            </a:pPr>
            <a:r>
              <a:rPr sz="1600" b="0">
                <a:solidFill>
                  <a:srgbClr val="6B7785"/>
                </a:solidFill>
                <a:latin typeface="Calibri"/>
              </a:rPr>
              <a:t>One Linux box. Six quiet background jobs.</a:t>
            </a:r>
          </a:p>
        </p:txBody>
      </p:sp>
      <p:sp>
        <p:nvSpPr>
          <p:cNvPr id="4" name="Rectangle 3"/>
          <p:cNvSpPr/>
          <p:nvPr/>
        </p:nvSpPr>
        <p:spPr>
          <a:xfrm>
            <a:off x="640080" y="6446520"/>
            <a:ext cx="10972800" cy="18288"/>
          </a:xfrm>
          <a:prstGeom prst="rect">
            <a:avLst/>
          </a:prstGeom>
          <a:solidFill>
            <a:srgbClr val="D5DCE5"/>
          </a:solidFill>
          <a:ln>
            <a:no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5" name="Rectangle 4"/>
          <p:cNvSpPr/>
          <p:nvPr/>
        </p:nvSpPr>
        <p:spPr>
          <a:xfrm>
            <a:off x="457200" y="1417320"/>
            <a:ext cx="3703320" cy="1965960"/>
          </a:xfrm>
          <a:prstGeom prst="rect">
            <a:avLst/>
          </a:prstGeom>
          <a:solidFill>
            <a:srgbClr val="FFFFFF"/>
          </a:solidFill>
          <a:ln w="9525">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6" name="Rectangle 5"/>
          <p:cNvSpPr/>
          <p:nvPr/>
        </p:nvSpPr>
        <p:spPr>
          <a:xfrm>
            <a:off x="457200" y="1417320"/>
            <a:ext cx="73152" cy="1965960"/>
          </a:xfrm>
          <a:prstGeom prst="rect">
            <a:avLst/>
          </a:prstGeom>
          <a:solidFill>
            <a:srgbClr val="2E8A8A"/>
          </a:solidFill>
          <a:ln>
            <a:no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7" name="TextBox 6"/>
          <p:cNvSpPr txBox="1"/>
          <p:nvPr/>
        </p:nvSpPr>
        <p:spPr>
          <a:xfrm>
            <a:off x="658368" y="1527048"/>
            <a:ext cx="3410712" cy="1746504"/>
          </a:xfrm>
          <a:prstGeom prst="rect">
            <a:avLst/>
          </a:prstGeom>
          <a:noFill/>
        </p:spPr>
        <p:txBody>
          <a:bodyPr wrap="square" lIns="0" rIns="0" tIns="0" bIns="0" anchor="t">
            <a:spAutoFit/>
          </a:bodyPr>
          <a:lstStyle/>
          <a:p>
            <a:pPr algn="l"/>
            <a:r>
              <a:rPr sz="1700" b="1">
                <a:solidFill>
                  <a:srgbClr val="2E8A8A"/>
                </a:solidFill>
                <a:latin typeface="Calibri"/>
              </a:rPr>
              <a:t>Stores recordings</a:t>
            </a:r>
          </a:p>
          <a:p>
            <a:pPr algn="l">
              <a:spcBef>
                <a:spcPts val="300"/>
              </a:spcBef>
            </a:pPr>
            <a:r>
              <a:rPr sz="1300" b="0">
                <a:solidFill>
                  <a:srgbClr val="222222"/>
                </a:solidFill>
                <a:latin typeface="Calibri"/>
              </a:rPr>
              <a:t>Holds every call, chat,</a:t>
            </a:r>
          </a:p>
          <a:p>
            <a:pPr algn="l">
              <a:spcBef>
                <a:spcPts val="300"/>
              </a:spcBef>
            </a:pPr>
            <a:r>
              <a:rPr sz="1300" b="0">
                <a:solidFill>
                  <a:srgbClr val="222222"/>
                </a:solidFill>
                <a:latin typeface="Calibri"/>
              </a:rPr>
              <a:t>email, and shared file.</a:t>
            </a:r>
          </a:p>
        </p:txBody>
      </p:sp>
      <p:sp>
        <p:nvSpPr>
          <p:cNvPr id="8" name="Rectangle 7"/>
          <p:cNvSpPr/>
          <p:nvPr/>
        </p:nvSpPr>
        <p:spPr>
          <a:xfrm>
            <a:off x="4297680" y="1417320"/>
            <a:ext cx="3703320" cy="1965960"/>
          </a:xfrm>
          <a:prstGeom prst="rect">
            <a:avLst/>
          </a:prstGeom>
          <a:solidFill>
            <a:srgbClr val="FFFFFF"/>
          </a:solidFill>
          <a:ln w="9525">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9" name="Rectangle 8"/>
          <p:cNvSpPr/>
          <p:nvPr/>
        </p:nvSpPr>
        <p:spPr>
          <a:xfrm>
            <a:off x="4297680" y="1417320"/>
            <a:ext cx="73152" cy="1965960"/>
          </a:xfrm>
          <a:prstGeom prst="rect">
            <a:avLst/>
          </a:prstGeom>
          <a:solidFill>
            <a:srgbClr val="E07856"/>
          </a:solidFill>
          <a:ln>
            <a:no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10" name="TextBox 9"/>
          <p:cNvSpPr txBox="1"/>
          <p:nvPr/>
        </p:nvSpPr>
        <p:spPr>
          <a:xfrm>
            <a:off x="4498848" y="1527048"/>
            <a:ext cx="3410712" cy="1746504"/>
          </a:xfrm>
          <a:prstGeom prst="rect">
            <a:avLst/>
          </a:prstGeom>
          <a:noFill/>
        </p:spPr>
        <p:txBody>
          <a:bodyPr wrap="square" lIns="0" rIns="0" tIns="0" bIns="0" anchor="t">
            <a:spAutoFit/>
          </a:bodyPr>
          <a:lstStyle/>
          <a:p>
            <a:pPr algn="l"/>
            <a:r>
              <a:rPr sz="1700" b="1">
                <a:solidFill>
                  <a:srgbClr val="E07856"/>
                </a:solidFill>
                <a:latin typeface="Calibri"/>
              </a:rPr>
              <a:t>Listens for new content</a:t>
            </a:r>
          </a:p>
          <a:p>
            <a:pPr algn="l">
              <a:spcBef>
                <a:spcPts val="300"/>
              </a:spcBef>
            </a:pPr>
            <a:r>
              <a:rPr sz="1300" b="0">
                <a:solidFill>
                  <a:srgbClr val="222222"/>
                </a:solidFill>
                <a:latin typeface="Calibri"/>
              </a:rPr>
              <a:t>Notices the moment</a:t>
            </a:r>
          </a:p>
          <a:p>
            <a:pPr algn="l">
              <a:spcBef>
                <a:spcPts val="300"/>
              </a:spcBef>
            </a:pPr>
            <a:r>
              <a:rPr sz="1300" b="0">
                <a:solidFill>
                  <a:srgbClr val="222222"/>
                </a:solidFill>
                <a:latin typeface="Calibri"/>
              </a:rPr>
              <a:t>something new arrives.</a:t>
            </a:r>
          </a:p>
        </p:txBody>
      </p:sp>
      <p:sp>
        <p:nvSpPr>
          <p:cNvPr id="11" name="Rectangle 10"/>
          <p:cNvSpPr/>
          <p:nvPr/>
        </p:nvSpPr>
        <p:spPr>
          <a:xfrm>
            <a:off x="8138160" y="1417320"/>
            <a:ext cx="3703320" cy="1965960"/>
          </a:xfrm>
          <a:prstGeom prst="rect">
            <a:avLst/>
          </a:prstGeom>
          <a:solidFill>
            <a:srgbClr val="FFFFFF"/>
          </a:solidFill>
          <a:ln w="9525">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12" name="Rectangle 11"/>
          <p:cNvSpPr/>
          <p:nvPr/>
        </p:nvSpPr>
        <p:spPr>
          <a:xfrm>
            <a:off x="8138160" y="1417320"/>
            <a:ext cx="73152" cy="1965960"/>
          </a:xfrm>
          <a:prstGeom prst="rect">
            <a:avLst/>
          </a:prstGeom>
          <a:solidFill>
            <a:srgbClr val="6A4C93"/>
          </a:solidFill>
          <a:ln>
            <a:no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13" name="TextBox 12"/>
          <p:cNvSpPr txBox="1"/>
          <p:nvPr/>
        </p:nvSpPr>
        <p:spPr>
          <a:xfrm>
            <a:off x="8339328" y="1527048"/>
            <a:ext cx="3410712" cy="1746504"/>
          </a:xfrm>
          <a:prstGeom prst="rect">
            <a:avLst/>
          </a:prstGeom>
          <a:noFill/>
        </p:spPr>
        <p:txBody>
          <a:bodyPr wrap="square" lIns="0" rIns="0" tIns="0" bIns="0" anchor="t">
            <a:spAutoFit/>
          </a:bodyPr>
          <a:lstStyle/>
          <a:p>
            <a:pPr algn="l"/>
            <a:r>
              <a:rPr sz="1700" b="1">
                <a:solidFill>
                  <a:srgbClr val="6A4C93"/>
                </a:solidFill>
                <a:latin typeface="Calibri"/>
              </a:rPr>
              <a:t>Turns audio into text</a:t>
            </a:r>
          </a:p>
          <a:p>
            <a:pPr algn="l">
              <a:spcBef>
                <a:spcPts val="300"/>
              </a:spcBef>
            </a:pPr>
            <a:r>
              <a:rPr sz="1300" b="0">
                <a:solidFill>
                  <a:srgbClr val="222222"/>
                </a:solidFill>
                <a:latin typeface="Calibri"/>
              </a:rPr>
              <a:t>Sends recordings out</a:t>
            </a:r>
          </a:p>
          <a:p>
            <a:pPr algn="l">
              <a:spcBef>
                <a:spcPts val="300"/>
              </a:spcBef>
            </a:pPr>
            <a:r>
              <a:rPr sz="1300" b="0">
                <a:solidFill>
                  <a:srgbClr val="222222"/>
                </a:solidFill>
                <a:latin typeface="Calibri"/>
              </a:rPr>
              <a:t>for fast transcription.</a:t>
            </a:r>
          </a:p>
        </p:txBody>
      </p:sp>
      <p:sp>
        <p:nvSpPr>
          <p:cNvPr id="14" name="Rectangle 13"/>
          <p:cNvSpPr/>
          <p:nvPr/>
        </p:nvSpPr>
        <p:spPr>
          <a:xfrm>
            <a:off x="457200" y="3520440"/>
            <a:ext cx="3703320" cy="1965960"/>
          </a:xfrm>
          <a:prstGeom prst="rect">
            <a:avLst/>
          </a:prstGeom>
          <a:solidFill>
            <a:srgbClr val="FFFFFF"/>
          </a:solidFill>
          <a:ln w="9525">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15" name="Rectangle 14"/>
          <p:cNvSpPr/>
          <p:nvPr/>
        </p:nvSpPr>
        <p:spPr>
          <a:xfrm>
            <a:off x="457200" y="3520440"/>
            <a:ext cx="73152" cy="1965960"/>
          </a:xfrm>
          <a:prstGeom prst="rect">
            <a:avLst/>
          </a:prstGeom>
          <a:solidFill>
            <a:srgbClr val="C9962B"/>
          </a:solidFill>
          <a:ln>
            <a:no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16" name="TextBox 15"/>
          <p:cNvSpPr txBox="1"/>
          <p:nvPr/>
        </p:nvSpPr>
        <p:spPr>
          <a:xfrm>
            <a:off x="658368" y="3630168"/>
            <a:ext cx="3410712" cy="1746504"/>
          </a:xfrm>
          <a:prstGeom prst="rect">
            <a:avLst/>
          </a:prstGeom>
          <a:noFill/>
        </p:spPr>
        <p:txBody>
          <a:bodyPr wrap="square" lIns="0" rIns="0" tIns="0" bIns="0" anchor="t">
            <a:spAutoFit/>
          </a:bodyPr>
          <a:lstStyle/>
          <a:p>
            <a:pPr algn="l"/>
            <a:r>
              <a:rPr sz="1700" b="1">
                <a:solidFill>
                  <a:srgbClr val="C9962B"/>
                </a:solidFill>
                <a:latin typeface="Calibri"/>
              </a:rPr>
              <a:t>Pulls email and files</a:t>
            </a:r>
          </a:p>
          <a:p>
            <a:pPr algn="l">
              <a:spcBef>
                <a:spcPts val="300"/>
              </a:spcBef>
            </a:pPr>
            <a:r>
              <a:rPr sz="1300" b="0">
                <a:solidFill>
                  <a:srgbClr val="222222"/>
                </a:solidFill>
                <a:latin typeface="Calibri"/>
              </a:rPr>
              <a:t>Checks Gmail and Drive</a:t>
            </a:r>
          </a:p>
          <a:p>
            <a:pPr algn="l">
              <a:spcBef>
                <a:spcPts val="300"/>
              </a:spcBef>
            </a:pPr>
            <a:r>
              <a:rPr sz="1300" b="0">
                <a:solidFill>
                  <a:srgbClr val="222222"/>
                </a:solidFill>
                <a:latin typeface="Calibri"/>
              </a:rPr>
              <a:t>every 15 minutes.</a:t>
            </a:r>
          </a:p>
        </p:txBody>
      </p:sp>
      <p:sp>
        <p:nvSpPr>
          <p:cNvPr id="17" name="Rectangle 16"/>
          <p:cNvSpPr/>
          <p:nvPr/>
        </p:nvSpPr>
        <p:spPr>
          <a:xfrm>
            <a:off x="4297680" y="3520440"/>
            <a:ext cx="3703320" cy="1965960"/>
          </a:xfrm>
          <a:prstGeom prst="rect">
            <a:avLst/>
          </a:prstGeom>
          <a:solidFill>
            <a:srgbClr val="FFFFFF"/>
          </a:solidFill>
          <a:ln w="9525">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18" name="Rectangle 17"/>
          <p:cNvSpPr/>
          <p:nvPr/>
        </p:nvSpPr>
        <p:spPr>
          <a:xfrm>
            <a:off x="4297680" y="3520440"/>
            <a:ext cx="73152" cy="196596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19" name="TextBox 18"/>
          <p:cNvSpPr txBox="1"/>
          <p:nvPr/>
        </p:nvSpPr>
        <p:spPr>
          <a:xfrm>
            <a:off x="4498848" y="3630168"/>
            <a:ext cx="3410712" cy="1746504"/>
          </a:xfrm>
          <a:prstGeom prst="rect">
            <a:avLst/>
          </a:prstGeom>
          <a:noFill/>
        </p:spPr>
        <p:txBody>
          <a:bodyPr wrap="square" lIns="0" rIns="0" tIns="0" bIns="0" anchor="t">
            <a:spAutoFit/>
          </a:bodyPr>
          <a:lstStyle/>
          <a:p>
            <a:pPr algn="l"/>
            <a:r>
              <a:rPr sz="1700" b="1">
                <a:solidFill>
                  <a:srgbClr val="1F4E79"/>
                </a:solidFill>
                <a:latin typeface="Calibri"/>
              </a:rPr>
              <a:t>Runs the AI</a:t>
            </a:r>
          </a:p>
          <a:p>
            <a:pPr algn="l">
              <a:spcBef>
                <a:spcPts val="300"/>
              </a:spcBef>
            </a:pPr>
            <a:r>
              <a:rPr sz="1300" b="0">
                <a:solidFill>
                  <a:srgbClr val="222222"/>
                </a:solidFill>
                <a:latin typeface="Calibri"/>
              </a:rPr>
              <a:t>Each night, reviews the</a:t>
            </a:r>
          </a:p>
          <a:p>
            <a:pPr algn="l">
              <a:spcBef>
                <a:spcPts val="300"/>
              </a:spcBef>
            </a:pPr>
            <a:r>
              <a:rPr sz="1300" b="0">
                <a:solidFill>
                  <a:srgbClr val="222222"/>
                </a:solidFill>
                <a:latin typeface="Calibri"/>
              </a:rPr>
              <a:t>whole day's material.</a:t>
            </a:r>
          </a:p>
        </p:txBody>
      </p:sp>
      <p:sp>
        <p:nvSpPr>
          <p:cNvPr id="20" name="Rectangle 19"/>
          <p:cNvSpPr/>
          <p:nvPr/>
        </p:nvSpPr>
        <p:spPr>
          <a:xfrm>
            <a:off x="8138160" y="3520440"/>
            <a:ext cx="3703320" cy="1965960"/>
          </a:xfrm>
          <a:prstGeom prst="rect">
            <a:avLst/>
          </a:prstGeom>
          <a:solidFill>
            <a:srgbClr val="FFFFFF"/>
          </a:solidFill>
          <a:ln w="9525">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21" name="Rectangle 20"/>
          <p:cNvSpPr/>
          <p:nvPr/>
        </p:nvSpPr>
        <p:spPr>
          <a:xfrm>
            <a:off x="8138160" y="3520440"/>
            <a:ext cx="73152" cy="1965960"/>
          </a:xfrm>
          <a:prstGeom prst="rect">
            <a:avLst/>
          </a:prstGeom>
          <a:solidFill>
            <a:srgbClr val="4A7A4A"/>
          </a:solidFill>
          <a:ln>
            <a:no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22" name="TextBox 21"/>
          <p:cNvSpPr txBox="1"/>
          <p:nvPr/>
        </p:nvSpPr>
        <p:spPr>
          <a:xfrm>
            <a:off x="8339328" y="3630168"/>
            <a:ext cx="3410712" cy="1746504"/>
          </a:xfrm>
          <a:prstGeom prst="rect">
            <a:avLst/>
          </a:prstGeom>
          <a:noFill/>
        </p:spPr>
        <p:txBody>
          <a:bodyPr wrap="square" lIns="0" rIns="0" tIns="0" bIns="0" anchor="t">
            <a:spAutoFit/>
          </a:bodyPr>
          <a:lstStyle/>
          <a:p>
            <a:pPr algn="l"/>
            <a:r>
              <a:rPr sz="1700" b="1">
                <a:solidFill>
                  <a:srgbClr val="4A7A4A"/>
                </a:solidFill>
                <a:latin typeface="Calibri"/>
              </a:rPr>
              <a:t>Drafts the email</a:t>
            </a:r>
          </a:p>
          <a:p>
            <a:pPr algn="l">
              <a:spcBef>
                <a:spcPts val="300"/>
              </a:spcBef>
            </a:pPr>
            <a:r>
              <a:rPr sz="1300" b="0">
                <a:solidFill>
                  <a:srgbClr val="222222"/>
                </a:solidFill>
                <a:latin typeface="Calibri"/>
              </a:rPr>
              <a:t>Writes the verification</a:t>
            </a:r>
          </a:p>
          <a:p>
            <a:pPr algn="l">
              <a:spcBef>
                <a:spcPts val="300"/>
              </a:spcBef>
            </a:pPr>
            <a:r>
              <a:rPr sz="1300" b="0">
                <a:solidFill>
                  <a:srgbClr val="222222"/>
                </a:solidFill>
                <a:latin typeface="Calibri"/>
              </a:rPr>
              <a:t>email for your review.</a:t>
            </a:r>
          </a:p>
        </p:txBody>
      </p:sp>
      <p:sp>
        <p:nvSpPr>
          <p:cNvPr id="23" name="TextBox 22"/>
          <p:cNvSpPr txBox="1"/>
          <p:nvPr/>
        </p:nvSpPr>
        <p:spPr>
          <a:xfrm>
            <a:off x="640080" y="5852160"/>
            <a:ext cx="10881360" cy="548640"/>
          </a:xfrm>
          <a:prstGeom prst="rect">
            <a:avLst/>
          </a:prstGeom>
          <a:noFill/>
        </p:spPr>
        <p:txBody>
          <a:bodyPr wrap="square" lIns="0" rIns="0" tIns="0" bIns="0" anchor="t">
            <a:spAutoFit/>
          </a:bodyPr>
          <a:lstStyle/>
          <a:p>
            <a:pPr algn="ctr"/>
            <a:r>
              <a:rPr sz="1400" b="0">
                <a:solidFill>
                  <a:srgbClr val="6B7785"/>
                </a:solidFill>
                <a:latin typeface="Calibri"/>
              </a:rPr>
              <a:t>All six jobs run continuously. No one logs in to babysit them.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3" name="TextBox 2"/>
          <p:cNvSpPr txBox="1"/>
          <p:nvPr/>
        </p:nvSpPr>
        <p:spPr>
          <a:xfrm>
            <a:off x="640080" y="411480"/>
            <a:ext cx="10972800" cy="822960"/>
          </a:xfrm>
          <a:prstGeom prst="rect">
            <a:avLst/>
          </a:prstGeom>
          <a:noFill/>
        </p:spPr>
        <p:txBody>
          <a:bodyPr wrap="square" lIns="0" rIns="0" tIns="0" bIns="0" anchor="t">
            <a:spAutoFit/>
          </a:bodyPr>
          <a:lstStyle/>
          <a:p>
            <a:pPr algn="l"/>
            <a:r>
              <a:rPr sz="3600" b="1">
                <a:solidFill>
                  <a:srgbClr val="1F4E79"/>
                </a:solidFill>
                <a:latin typeface="Calibri"/>
              </a:rPr>
              <a:t>What the AI does</a:t>
            </a:r>
          </a:p>
          <a:p>
            <a:pPr algn="l">
              <a:spcBef>
                <a:spcPts val="400"/>
              </a:spcBef>
            </a:pPr>
            <a:r>
              <a:rPr sz="1600" b="0">
                <a:solidFill>
                  <a:srgbClr val="6B7785"/>
                </a:solidFill>
                <a:latin typeface="Calibri"/>
              </a:rPr>
              <a:t>Reads everything from the day. Drafts one email per client.</a:t>
            </a:r>
          </a:p>
        </p:txBody>
      </p:sp>
      <p:sp>
        <p:nvSpPr>
          <p:cNvPr id="4" name="Rectangle 3"/>
          <p:cNvSpPr/>
          <p:nvPr/>
        </p:nvSpPr>
        <p:spPr>
          <a:xfrm>
            <a:off x="640080" y="6446520"/>
            <a:ext cx="10972800" cy="18288"/>
          </a:xfrm>
          <a:prstGeom prst="rect">
            <a:avLst/>
          </a:prstGeom>
          <a:solidFill>
            <a:srgbClr val="D5DCE5"/>
          </a:solidFill>
          <a:ln>
            <a:no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5" name="Rectangle 4"/>
          <p:cNvSpPr/>
          <p:nvPr/>
        </p:nvSpPr>
        <p:spPr>
          <a:xfrm>
            <a:off x="518007" y="1737360"/>
            <a:ext cx="3566160" cy="3108960"/>
          </a:xfrm>
          <a:prstGeom prst="rect">
            <a:avLst/>
          </a:prstGeom>
          <a:solidFill>
            <a:srgbClr val="FFFFFF"/>
          </a:solidFill>
          <a:ln w="9525">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6" name="Rectangle 5"/>
          <p:cNvSpPr/>
          <p:nvPr/>
        </p:nvSpPr>
        <p:spPr>
          <a:xfrm>
            <a:off x="518007" y="1737360"/>
            <a:ext cx="73152" cy="310896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7" name="TextBox 6"/>
          <p:cNvSpPr txBox="1"/>
          <p:nvPr/>
        </p:nvSpPr>
        <p:spPr>
          <a:xfrm>
            <a:off x="719175" y="1847088"/>
            <a:ext cx="3273552" cy="2889504"/>
          </a:xfrm>
          <a:prstGeom prst="rect">
            <a:avLst/>
          </a:prstGeom>
          <a:noFill/>
        </p:spPr>
        <p:txBody>
          <a:bodyPr wrap="square" lIns="0" rIns="0" tIns="0" bIns="0" anchor="t">
            <a:spAutoFit/>
          </a:bodyPr>
          <a:lstStyle/>
          <a:p>
            <a:pPr algn="l"/>
            <a:r>
              <a:rPr sz="2400" b="1">
                <a:solidFill>
                  <a:srgbClr val="1F4E79"/>
                </a:solidFill>
                <a:latin typeface="Calibri"/>
              </a:rPr>
              <a:t>Reads</a:t>
            </a:r>
          </a:p>
          <a:p>
            <a:pPr algn="l">
              <a:spcBef>
                <a:spcPts val="300"/>
              </a:spcBef>
            </a:pPr>
            <a:r>
              <a:rPr sz="1500" b="0">
                <a:solidFill>
                  <a:srgbClr val="222222"/>
                </a:solidFill>
                <a:latin typeface="Calibri"/>
              </a:rPr>
              <a:t>Every call transcript, chat,</a:t>
            </a:r>
          </a:p>
          <a:p>
            <a:pPr algn="l">
              <a:spcBef>
                <a:spcPts val="300"/>
              </a:spcBef>
            </a:pPr>
            <a:r>
              <a:rPr sz="1500" b="0">
                <a:solidFill>
                  <a:srgbClr val="222222"/>
                </a:solidFill>
                <a:latin typeface="Calibri"/>
              </a:rPr>
              <a:t>email, and file from the day.</a:t>
            </a:r>
          </a:p>
        </p:txBody>
      </p:sp>
      <p:cxnSp>
        <p:nvCxnSpPr>
          <p:cNvPr id="8" name="Connector 7"/>
          <p:cNvCxnSpPr/>
          <p:nvPr/>
        </p:nvCxnSpPr>
        <p:spPr>
          <a:xfrm>
            <a:off x="4084167" y="3291840"/>
            <a:ext cx="228600" cy="0"/>
          </a:xfrm>
          <a:prstGeom prst="bentConnector3">
            <a:avLst/>
          </a:prstGeom>
          <a:ln w="38100">
            <a:solidFill>
              <a:srgbClr val="1F4E79"/>
            </a:solidFill>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4312767" y="1737360"/>
            <a:ext cx="3566160" cy="3108960"/>
          </a:xfrm>
          <a:prstGeom prst="rect">
            <a:avLst/>
          </a:prstGeom>
          <a:solidFill>
            <a:srgbClr val="FFFFFF"/>
          </a:solidFill>
          <a:ln w="9525">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10" name="Rectangle 9"/>
          <p:cNvSpPr/>
          <p:nvPr/>
        </p:nvSpPr>
        <p:spPr>
          <a:xfrm>
            <a:off x="4312767" y="1737360"/>
            <a:ext cx="73152" cy="3108960"/>
          </a:xfrm>
          <a:prstGeom prst="rect">
            <a:avLst/>
          </a:prstGeom>
          <a:solidFill>
            <a:srgbClr val="6A4C93"/>
          </a:solidFill>
          <a:ln>
            <a:no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11" name="TextBox 10"/>
          <p:cNvSpPr txBox="1"/>
          <p:nvPr/>
        </p:nvSpPr>
        <p:spPr>
          <a:xfrm>
            <a:off x="4513935" y="1847088"/>
            <a:ext cx="3273552" cy="2889504"/>
          </a:xfrm>
          <a:prstGeom prst="rect">
            <a:avLst/>
          </a:prstGeom>
          <a:noFill/>
        </p:spPr>
        <p:txBody>
          <a:bodyPr wrap="square" lIns="0" rIns="0" tIns="0" bIns="0" anchor="t">
            <a:spAutoFit/>
          </a:bodyPr>
          <a:lstStyle/>
          <a:p>
            <a:pPr algn="l"/>
            <a:r>
              <a:rPr sz="2400" b="1">
                <a:solidFill>
                  <a:srgbClr val="6A4C93"/>
                </a:solidFill>
                <a:latin typeface="Calibri"/>
              </a:rPr>
              <a:t>Identifies</a:t>
            </a:r>
          </a:p>
          <a:p>
            <a:pPr algn="l">
              <a:spcBef>
                <a:spcPts val="300"/>
              </a:spcBef>
            </a:pPr>
            <a:r>
              <a:rPr sz="1500" b="0">
                <a:solidFill>
                  <a:srgbClr val="222222"/>
                </a:solidFill>
                <a:latin typeface="Calibri"/>
              </a:rPr>
              <a:t>Picks out real client requirements.</a:t>
            </a:r>
          </a:p>
          <a:p>
            <a:pPr algn="l">
              <a:spcBef>
                <a:spcPts val="300"/>
              </a:spcBef>
            </a:pPr>
            <a:r>
              <a:rPr sz="1500" b="0">
                <a:solidFill>
                  <a:srgbClr val="222222"/>
                </a:solidFill>
                <a:latin typeface="Calibri"/>
              </a:rPr>
              <a:t>Ignores noise and chatter.</a:t>
            </a:r>
          </a:p>
        </p:txBody>
      </p:sp>
      <p:cxnSp>
        <p:nvCxnSpPr>
          <p:cNvPr id="12" name="Connector 11"/>
          <p:cNvCxnSpPr/>
          <p:nvPr/>
        </p:nvCxnSpPr>
        <p:spPr>
          <a:xfrm>
            <a:off x="7878927" y="3291840"/>
            <a:ext cx="228600" cy="0"/>
          </a:xfrm>
          <a:prstGeom prst="bentConnector3">
            <a:avLst/>
          </a:prstGeom>
          <a:ln w="38100">
            <a:solidFill>
              <a:srgbClr val="1F4E79"/>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8107527" y="1737360"/>
            <a:ext cx="3566160" cy="3108960"/>
          </a:xfrm>
          <a:prstGeom prst="rect">
            <a:avLst/>
          </a:prstGeom>
          <a:solidFill>
            <a:srgbClr val="FFFFFF"/>
          </a:solidFill>
          <a:ln w="9525">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14" name="Rectangle 13"/>
          <p:cNvSpPr/>
          <p:nvPr/>
        </p:nvSpPr>
        <p:spPr>
          <a:xfrm>
            <a:off x="8107527" y="1737360"/>
            <a:ext cx="73152" cy="3108960"/>
          </a:xfrm>
          <a:prstGeom prst="rect">
            <a:avLst/>
          </a:prstGeom>
          <a:solidFill>
            <a:srgbClr val="C9962B"/>
          </a:solidFill>
          <a:ln>
            <a:no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15" name="TextBox 14"/>
          <p:cNvSpPr txBox="1"/>
          <p:nvPr/>
        </p:nvSpPr>
        <p:spPr>
          <a:xfrm>
            <a:off x="8308695" y="1847088"/>
            <a:ext cx="3273552" cy="2889504"/>
          </a:xfrm>
          <a:prstGeom prst="rect">
            <a:avLst/>
          </a:prstGeom>
          <a:noFill/>
        </p:spPr>
        <p:txBody>
          <a:bodyPr wrap="square" lIns="0" rIns="0" tIns="0" bIns="0" anchor="t">
            <a:spAutoFit/>
          </a:bodyPr>
          <a:lstStyle/>
          <a:p>
            <a:pPr algn="l"/>
            <a:r>
              <a:rPr sz="2400" b="1">
                <a:solidFill>
                  <a:srgbClr val="C9962B"/>
                </a:solidFill>
                <a:latin typeface="Calibri"/>
              </a:rPr>
              <a:t>Drafts</a:t>
            </a:r>
          </a:p>
          <a:p>
            <a:pPr algn="l">
              <a:spcBef>
                <a:spcPts val="300"/>
              </a:spcBef>
            </a:pPr>
            <a:r>
              <a:rPr sz="1500" b="0">
                <a:solidFill>
                  <a:srgbClr val="222222"/>
                </a:solidFill>
                <a:latin typeface="Calibri"/>
              </a:rPr>
              <a:t>Writes a verification email,</a:t>
            </a:r>
          </a:p>
          <a:p>
            <a:pPr algn="l">
              <a:spcBef>
                <a:spcPts val="300"/>
              </a:spcBef>
            </a:pPr>
            <a:r>
              <a:rPr sz="1500" b="0">
                <a:solidFill>
                  <a:srgbClr val="222222"/>
                </a:solidFill>
                <a:latin typeface="Calibri"/>
              </a:rPr>
              <a:t>attaches the source material.</a:t>
            </a:r>
          </a:p>
        </p:txBody>
      </p:sp>
      <p:sp>
        <p:nvSpPr>
          <p:cNvPr id="16" name="TextBox 15"/>
          <p:cNvSpPr txBox="1"/>
          <p:nvPr/>
        </p:nvSpPr>
        <p:spPr>
          <a:xfrm>
            <a:off x="640080" y="5212080"/>
            <a:ext cx="10881360" cy="1280160"/>
          </a:xfrm>
          <a:prstGeom prst="rect">
            <a:avLst/>
          </a:prstGeom>
          <a:noFill/>
        </p:spPr>
        <p:txBody>
          <a:bodyPr wrap="square" lIns="0" rIns="0" tIns="0" bIns="0" anchor="t">
            <a:spAutoFit/>
          </a:bodyPr>
          <a:lstStyle/>
          <a:p>
            <a:pPr algn="ctr"/>
            <a:r>
              <a:rPr sz="2000" b="1">
                <a:solidFill>
                  <a:srgbClr val="1F4E79"/>
                </a:solidFill>
                <a:latin typeface="Calibri"/>
              </a:rPr>
              <a:t>One pass per day. One email per client.</a:t>
            </a:r>
          </a:p>
          <a:p>
            <a:pPr algn="ctr">
              <a:spcBef>
                <a:spcPts val="600"/>
              </a:spcBef>
            </a:pPr>
            <a:r>
              <a:rPr sz="1400" b="0">
                <a:solidFill>
                  <a:srgbClr val="6B7785"/>
                </a:solidFill>
                <a:latin typeface="Calibri"/>
              </a:rPr>
              <a:t>Already-confirmed items from earlier days are skipped, so the client only ever sees what's new.</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3" name="TextBox 2"/>
          <p:cNvSpPr txBox="1"/>
          <p:nvPr/>
        </p:nvSpPr>
        <p:spPr>
          <a:xfrm>
            <a:off x="640080" y="411480"/>
            <a:ext cx="10972800" cy="822960"/>
          </a:xfrm>
          <a:prstGeom prst="rect">
            <a:avLst/>
          </a:prstGeom>
          <a:noFill/>
        </p:spPr>
        <p:txBody>
          <a:bodyPr wrap="square" lIns="0" rIns="0" tIns="0" bIns="0" anchor="t">
            <a:spAutoFit/>
          </a:bodyPr>
          <a:lstStyle/>
          <a:p>
            <a:pPr algn="l"/>
            <a:r>
              <a:rPr sz="3600" b="1">
                <a:solidFill>
                  <a:srgbClr val="1F4E79"/>
                </a:solidFill>
                <a:latin typeface="Calibri"/>
              </a:rPr>
              <a:t>Human in the loop</a:t>
            </a:r>
          </a:p>
          <a:p>
            <a:pPr algn="l">
              <a:spcBef>
                <a:spcPts val="400"/>
              </a:spcBef>
            </a:pPr>
            <a:r>
              <a:rPr sz="1600" b="0">
                <a:solidFill>
                  <a:srgbClr val="6B7785"/>
                </a:solidFill>
                <a:latin typeface="Calibri"/>
              </a:rPr>
              <a:t>You always review before it sends. By design.</a:t>
            </a:r>
          </a:p>
        </p:txBody>
      </p:sp>
      <p:sp>
        <p:nvSpPr>
          <p:cNvPr id="4" name="Rectangle 3"/>
          <p:cNvSpPr/>
          <p:nvPr/>
        </p:nvSpPr>
        <p:spPr>
          <a:xfrm>
            <a:off x="640080" y="6446520"/>
            <a:ext cx="10972800" cy="18288"/>
          </a:xfrm>
          <a:prstGeom prst="rect">
            <a:avLst/>
          </a:prstGeom>
          <a:solidFill>
            <a:srgbClr val="D5DCE5"/>
          </a:solidFill>
          <a:ln>
            <a:no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5" name="TextBox 4"/>
          <p:cNvSpPr txBox="1"/>
          <p:nvPr/>
        </p:nvSpPr>
        <p:spPr>
          <a:xfrm>
            <a:off x="640080" y="1554480"/>
            <a:ext cx="10881360" cy="1280160"/>
          </a:xfrm>
          <a:prstGeom prst="rect">
            <a:avLst/>
          </a:prstGeom>
          <a:noFill/>
        </p:spPr>
        <p:txBody>
          <a:bodyPr wrap="square" lIns="0" rIns="0" tIns="0" bIns="0" anchor="t">
            <a:spAutoFit/>
          </a:bodyPr>
          <a:lstStyle/>
          <a:p>
            <a:pPr algn="ctr"/>
            <a:r>
              <a:rPr sz="2800" b="1">
                <a:solidFill>
                  <a:srgbClr val="1F4E79"/>
                </a:solidFill>
                <a:latin typeface="Calibri"/>
              </a:rPr>
              <a:t>Nothing goes to the client without your click.</a:t>
            </a:r>
          </a:p>
        </p:txBody>
      </p:sp>
      <p:sp>
        <p:nvSpPr>
          <p:cNvPr id="6" name="Rectangle 5"/>
          <p:cNvSpPr/>
          <p:nvPr/>
        </p:nvSpPr>
        <p:spPr>
          <a:xfrm>
            <a:off x="518007" y="3291840"/>
            <a:ext cx="3566160" cy="2651760"/>
          </a:xfrm>
          <a:prstGeom prst="rect">
            <a:avLst/>
          </a:prstGeom>
          <a:solidFill>
            <a:srgbClr val="FFFFFF"/>
          </a:solidFill>
          <a:ln w="9525">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7" name="Rectangle 6"/>
          <p:cNvSpPr/>
          <p:nvPr/>
        </p:nvSpPr>
        <p:spPr>
          <a:xfrm>
            <a:off x="518007" y="3291840"/>
            <a:ext cx="73152" cy="265176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8" name="TextBox 7"/>
          <p:cNvSpPr txBox="1"/>
          <p:nvPr/>
        </p:nvSpPr>
        <p:spPr>
          <a:xfrm>
            <a:off x="719175" y="3401568"/>
            <a:ext cx="3273552" cy="2432304"/>
          </a:xfrm>
          <a:prstGeom prst="rect">
            <a:avLst/>
          </a:prstGeom>
          <a:noFill/>
        </p:spPr>
        <p:txBody>
          <a:bodyPr wrap="square" lIns="0" rIns="0" tIns="0" bIns="0" anchor="t">
            <a:spAutoFit/>
          </a:bodyPr>
          <a:lstStyle/>
          <a:p>
            <a:pPr algn="l"/>
            <a:r>
              <a:rPr sz="2000" b="1">
                <a:solidFill>
                  <a:srgbClr val="1F4E79"/>
                </a:solidFill>
                <a:latin typeface="Calibri"/>
              </a:rPr>
              <a:t>Review</a:t>
            </a:r>
          </a:p>
          <a:p>
            <a:pPr algn="l">
              <a:spcBef>
                <a:spcPts val="300"/>
              </a:spcBef>
            </a:pPr>
            <a:r>
              <a:rPr sz="1400" b="0">
                <a:solidFill>
                  <a:srgbClr val="222222"/>
                </a:solidFill>
                <a:latin typeface="Calibri"/>
              </a:rPr>
              <a:t>Open Gmail Drafts.</a:t>
            </a:r>
          </a:p>
          <a:p>
            <a:pPr algn="l">
              <a:spcBef>
                <a:spcPts val="300"/>
              </a:spcBef>
            </a:pPr>
            <a:r>
              <a:rPr sz="1400" b="0">
                <a:solidFill>
                  <a:srgbClr val="222222"/>
                </a:solidFill>
                <a:latin typeface="Calibri"/>
              </a:rPr>
              <a:t>Read the list of</a:t>
            </a:r>
          </a:p>
          <a:p>
            <a:pPr algn="l">
              <a:spcBef>
                <a:spcPts val="300"/>
              </a:spcBef>
            </a:pPr>
            <a:r>
              <a:rPr sz="1400" b="0">
                <a:solidFill>
                  <a:srgbClr val="222222"/>
                </a:solidFill>
                <a:latin typeface="Calibri"/>
              </a:rPr>
              <a:t>identified items.</a:t>
            </a:r>
          </a:p>
        </p:txBody>
      </p:sp>
      <p:cxnSp>
        <p:nvCxnSpPr>
          <p:cNvPr id="9" name="Connector 8"/>
          <p:cNvCxnSpPr/>
          <p:nvPr/>
        </p:nvCxnSpPr>
        <p:spPr>
          <a:xfrm>
            <a:off x="4084167" y="4572000"/>
            <a:ext cx="228600" cy="0"/>
          </a:xfrm>
          <a:prstGeom prst="bentConnector3">
            <a:avLst/>
          </a:prstGeom>
          <a:ln w="31750">
            <a:solidFill>
              <a:srgbClr val="1F4E79"/>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4312767" y="3291840"/>
            <a:ext cx="3566160" cy="2651760"/>
          </a:xfrm>
          <a:prstGeom prst="rect">
            <a:avLst/>
          </a:prstGeom>
          <a:solidFill>
            <a:srgbClr val="FFFFFF"/>
          </a:solidFill>
          <a:ln w="9525">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11" name="Rectangle 10"/>
          <p:cNvSpPr/>
          <p:nvPr/>
        </p:nvSpPr>
        <p:spPr>
          <a:xfrm>
            <a:off x="4312767" y="3291840"/>
            <a:ext cx="73152" cy="2651760"/>
          </a:xfrm>
          <a:prstGeom prst="rect">
            <a:avLst/>
          </a:prstGeom>
          <a:solidFill>
            <a:srgbClr val="4A7A4A"/>
          </a:solidFill>
          <a:ln>
            <a:no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12" name="TextBox 11"/>
          <p:cNvSpPr txBox="1"/>
          <p:nvPr/>
        </p:nvSpPr>
        <p:spPr>
          <a:xfrm>
            <a:off x="4513935" y="3401568"/>
            <a:ext cx="3273552" cy="2432304"/>
          </a:xfrm>
          <a:prstGeom prst="rect">
            <a:avLst/>
          </a:prstGeom>
          <a:noFill/>
        </p:spPr>
        <p:txBody>
          <a:bodyPr wrap="square" lIns="0" rIns="0" tIns="0" bIns="0" anchor="t">
            <a:spAutoFit/>
          </a:bodyPr>
          <a:lstStyle/>
          <a:p>
            <a:pPr algn="l"/>
            <a:r>
              <a:rPr sz="2000" b="1">
                <a:solidFill>
                  <a:srgbClr val="4A7A4A"/>
                </a:solidFill>
                <a:latin typeface="Calibri"/>
              </a:rPr>
              <a:t>Edit if needed</a:t>
            </a:r>
          </a:p>
          <a:p>
            <a:pPr algn="l">
              <a:spcBef>
                <a:spcPts val="300"/>
              </a:spcBef>
            </a:pPr>
            <a:r>
              <a:rPr sz="1400" b="0">
                <a:solidFill>
                  <a:srgbClr val="222222"/>
                </a:solidFill>
                <a:latin typeface="Calibri"/>
              </a:rPr>
              <a:t>Fix anything that looks</a:t>
            </a:r>
          </a:p>
          <a:p>
            <a:pPr algn="l">
              <a:spcBef>
                <a:spcPts val="300"/>
              </a:spcBef>
            </a:pPr>
            <a:r>
              <a:rPr sz="1400" b="0">
                <a:solidFill>
                  <a:srgbClr val="222222"/>
                </a:solidFill>
                <a:latin typeface="Calibri"/>
              </a:rPr>
              <a:t>wrong. Add what's missing.</a:t>
            </a:r>
          </a:p>
          <a:p>
            <a:pPr algn="l">
              <a:spcBef>
                <a:spcPts val="300"/>
              </a:spcBef>
            </a:pPr>
            <a:r>
              <a:rPr sz="1400" b="0">
                <a:solidFill>
                  <a:srgbClr val="222222"/>
                </a:solidFill>
                <a:latin typeface="Calibri"/>
              </a:rPr>
              <a:t>Then click send.</a:t>
            </a:r>
          </a:p>
        </p:txBody>
      </p:sp>
      <p:cxnSp>
        <p:nvCxnSpPr>
          <p:cNvPr id="13" name="Connector 12"/>
          <p:cNvCxnSpPr/>
          <p:nvPr/>
        </p:nvCxnSpPr>
        <p:spPr>
          <a:xfrm>
            <a:off x="7878927" y="4572000"/>
            <a:ext cx="228600" cy="0"/>
          </a:xfrm>
          <a:prstGeom prst="bentConnector3">
            <a:avLst/>
          </a:prstGeom>
          <a:ln w="31750">
            <a:solidFill>
              <a:srgbClr val="1F4E79"/>
            </a:solidFill>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8107527" y="3291840"/>
            <a:ext cx="3566160" cy="2651760"/>
          </a:xfrm>
          <a:prstGeom prst="rect">
            <a:avLst/>
          </a:prstGeom>
          <a:solidFill>
            <a:srgbClr val="FFFFFF"/>
          </a:solidFill>
          <a:ln w="9525">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15" name="Rectangle 14"/>
          <p:cNvSpPr/>
          <p:nvPr/>
        </p:nvSpPr>
        <p:spPr>
          <a:xfrm>
            <a:off x="8107527" y="3291840"/>
            <a:ext cx="73152" cy="2651760"/>
          </a:xfrm>
          <a:prstGeom prst="rect">
            <a:avLst/>
          </a:prstGeom>
          <a:solidFill>
            <a:srgbClr val="6A4C93"/>
          </a:solidFill>
          <a:ln>
            <a:no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16" name="TextBox 15"/>
          <p:cNvSpPr txBox="1"/>
          <p:nvPr/>
        </p:nvSpPr>
        <p:spPr>
          <a:xfrm>
            <a:off x="8308695" y="3401568"/>
            <a:ext cx="3273552" cy="2432304"/>
          </a:xfrm>
          <a:prstGeom prst="rect">
            <a:avLst/>
          </a:prstGeom>
          <a:noFill/>
        </p:spPr>
        <p:txBody>
          <a:bodyPr wrap="square" lIns="0" rIns="0" tIns="0" bIns="0" anchor="t">
            <a:spAutoFit/>
          </a:bodyPr>
          <a:lstStyle/>
          <a:p>
            <a:pPr algn="l"/>
            <a:r>
              <a:rPr sz="2000" b="1">
                <a:solidFill>
                  <a:srgbClr val="6A4C93"/>
                </a:solidFill>
                <a:latin typeface="Calibri"/>
              </a:rPr>
              <a:t>Reply loops back</a:t>
            </a:r>
          </a:p>
          <a:p>
            <a:pPr algn="l">
              <a:spcBef>
                <a:spcPts val="300"/>
              </a:spcBef>
            </a:pPr>
            <a:r>
              <a:rPr sz="1400" b="0">
                <a:solidFill>
                  <a:srgbClr val="222222"/>
                </a:solidFill>
                <a:latin typeface="Calibri"/>
              </a:rPr>
              <a:t>When the client replies,</a:t>
            </a:r>
          </a:p>
          <a:p>
            <a:pPr algn="l">
              <a:spcBef>
                <a:spcPts val="300"/>
              </a:spcBef>
            </a:pPr>
            <a:r>
              <a:rPr sz="1400" b="0">
                <a:solidFill>
                  <a:srgbClr val="222222"/>
                </a:solidFill>
                <a:latin typeface="Calibri"/>
              </a:rPr>
              <a:t>the system learns.</a:t>
            </a:r>
          </a:p>
          <a:p>
            <a:pPr algn="l">
              <a:spcBef>
                <a:spcPts val="300"/>
              </a:spcBef>
            </a:pPr>
            <a:r>
              <a:rPr sz="1400" b="0">
                <a:solidFill>
                  <a:srgbClr val="222222"/>
                </a:solidFill>
                <a:latin typeface="Calibri"/>
              </a:rPr>
              <a:t>Confirmed items don't</a:t>
            </a:r>
          </a:p>
          <a:p>
            <a:pPr algn="l">
              <a:spcBef>
                <a:spcPts val="300"/>
              </a:spcBef>
            </a:pPr>
            <a:r>
              <a:rPr sz="1400" b="0">
                <a:solidFill>
                  <a:srgbClr val="222222"/>
                </a:solidFill>
                <a:latin typeface="Calibri"/>
              </a:rPr>
              <a:t>resurface tomorrow.</a:t>
            </a:r>
          </a:p>
        </p:txBody>
      </p:sp>
      <p:sp>
        <p:nvSpPr>
          <p:cNvPr id="17" name="TextBox 16"/>
          <p:cNvSpPr txBox="1"/>
          <p:nvPr/>
        </p:nvSpPr>
        <p:spPr>
          <a:xfrm>
            <a:off x="640080" y="6126480"/>
            <a:ext cx="10881360" cy="457200"/>
          </a:xfrm>
          <a:prstGeom prst="rect">
            <a:avLst/>
          </a:prstGeom>
          <a:noFill/>
        </p:spPr>
        <p:txBody>
          <a:bodyPr wrap="square" lIns="0" rIns="0" tIns="0" bIns="0" anchor="t">
            <a:spAutoFit/>
          </a:bodyPr>
          <a:lstStyle/>
          <a:p>
            <a:pPr algn="ctr"/>
            <a:r>
              <a:rPr sz="1400" b="0">
                <a:solidFill>
                  <a:srgbClr val="6B7785"/>
                </a:solidFill>
                <a:latin typeface="Calibri"/>
              </a:rPr>
              <a:t>The system drafts. The human ships.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3" name="TextBox 2"/>
          <p:cNvSpPr txBox="1"/>
          <p:nvPr/>
        </p:nvSpPr>
        <p:spPr>
          <a:xfrm>
            <a:off x="640080" y="411480"/>
            <a:ext cx="10972800" cy="822960"/>
          </a:xfrm>
          <a:prstGeom prst="rect">
            <a:avLst/>
          </a:prstGeom>
          <a:noFill/>
        </p:spPr>
        <p:txBody>
          <a:bodyPr wrap="square" lIns="0" rIns="0" tIns="0" bIns="0" anchor="t">
            <a:spAutoFit/>
          </a:bodyPr>
          <a:lstStyle/>
          <a:p>
            <a:pPr algn="l"/>
            <a:r>
              <a:rPr sz="3600" b="1">
                <a:solidFill>
                  <a:srgbClr val="1F4E79"/>
                </a:solidFill>
                <a:latin typeface="Calibri"/>
              </a:rPr>
              <a:t>A day in the life</a:t>
            </a:r>
          </a:p>
          <a:p>
            <a:pPr algn="l">
              <a:spcBef>
                <a:spcPts val="400"/>
              </a:spcBef>
            </a:pPr>
            <a:r>
              <a:rPr sz="1600" b="0">
                <a:solidFill>
                  <a:srgbClr val="6B7785"/>
                </a:solidFill>
                <a:latin typeface="Calibri"/>
              </a:rPr>
              <a:t>Same client mentioned across channels. One draft at the end.</a:t>
            </a:r>
          </a:p>
        </p:txBody>
      </p:sp>
      <p:sp>
        <p:nvSpPr>
          <p:cNvPr id="4" name="Rectangle 3"/>
          <p:cNvSpPr/>
          <p:nvPr/>
        </p:nvSpPr>
        <p:spPr>
          <a:xfrm>
            <a:off x="640080" y="6446520"/>
            <a:ext cx="10972800" cy="18288"/>
          </a:xfrm>
          <a:prstGeom prst="rect">
            <a:avLst/>
          </a:prstGeom>
          <a:solidFill>
            <a:srgbClr val="D5DCE5"/>
          </a:solidFill>
          <a:ln>
            <a:no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5" name="Rectangle 4"/>
          <p:cNvSpPr/>
          <p:nvPr/>
        </p:nvSpPr>
        <p:spPr>
          <a:xfrm>
            <a:off x="2286000" y="1554480"/>
            <a:ext cx="36576" cy="4572000"/>
          </a:xfrm>
          <a:prstGeom prst="rect">
            <a:avLst/>
          </a:prstGeom>
          <a:solidFill>
            <a:srgbClr val="D5DCE5"/>
          </a:solidFill>
          <a:ln>
            <a:no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6" name="TextBox 5"/>
          <p:cNvSpPr txBox="1"/>
          <p:nvPr/>
        </p:nvSpPr>
        <p:spPr>
          <a:xfrm>
            <a:off x="640080" y="1463040"/>
            <a:ext cx="1554480" cy="457200"/>
          </a:xfrm>
          <a:prstGeom prst="rect">
            <a:avLst/>
          </a:prstGeom>
          <a:noFill/>
        </p:spPr>
        <p:txBody>
          <a:bodyPr wrap="square" lIns="0" rIns="0" tIns="0" bIns="0" anchor="t">
            <a:spAutoFit/>
          </a:bodyPr>
          <a:lstStyle/>
          <a:p>
            <a:pPr algn="r"/>
            <a:r>
              <a:rPr sz="1800" b="1">
                <a:solidFill>
                  <a:srgbClr val="6A4C93"/>
                </a:solidFill>
                <a:latin typeface="Calibri"/>
              </a:rPr>
              <a:t>9 AM</a:t>
            </a:r>
          </a:p>
        </p:txBody>
      </p:sp>
      <p:sp>
        <p:nvSpPr>
          <p:cNvPr id="7" name="Rounded Rectangle 6"/>
          <p:cNvSpPr/>
          <p:nvPr/>
        </p:nvSpPr>
        <p:spPr>
          <a:xfrm>
            <a:off x="2194560" y="1536192"/>
            <a:ext cx="228600" cy="228600"/>
          </a:xfrm>
          <a:prstGeom prst="roundRect">
            <a:avLst/>
          </a:prstGeom>
          <a:solidFill>
            <a:srgbClr val="6A4C93"/>
          </a:solidFill>
          <a:ln>
            <a:no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r>
              <a:rPr sz="1400" b="1">
                <a:solidFill>
                  <a:srgbClr val="FFFFFF"/>
                </a:solidFill>
                <a:latin typeface="Calibri"/>
              </a:rPr>
              <a:t/>
            </a:r>
          </a:p>
        </p:txBody>
      </p:sp>
      <p:sp>
        <p:nvSpPr>
          <p:cNvPr id="8" name="Rounded Rectangle 7"/>
          <p:cNvSpPr/>
          <p:nvPr/>
        </p:nvSpPr>
        <p:spPr>
          <a:xfrm>
            <a:off x="2560320" y="1481328"/>
            <a:ext cx="1188720" cy="411480"/>
          </a:xfrm>
          <a:prstGeom prst="roundRect">
            <a:avLst/>
          </a:prstGeom>
          <a:solidFill>
            <a:srgbClr val="6A4C93"/>
          </a:solidFill>
          <a:ln>
            <a:no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r>
              <a:rPr sz="1300" b="1">
                <a:solidFill>
                  <a:srgbClr val="FFFFFF"/>
                </a:solidFill>
                <a:latin typeface="Calibri"/>
              </a:rPr>
              <a:t>Call</a:t>
            </a:r>
          </a:p>
        </p:txBody>
      </p:sp>
      <p:sp>
        <p:nvSpPr>
          <p:cNvPr id="9" name="TextBox 8"/>
          <p:cNvSpPr txBox="1"/>
          <p:nvPr/>
        </p:nvSpPr>
        <p:spPr>
          <a:xfrm>
            <a:off x="3931920" y="1508760"/>
            <a:ext cx="6858000" cy="457200"/>
          </a:xfrm>
          <a:prstGeom prst="rect">
            <a:avLst/>
          </a:prstGeom>
          <a:noFill/>
        </p:spPr>
        <p:txBody>
          <a:bodyPr wrap="square" lIns="0" rIns="0" tIns="0" bIns="0" anchor="t">
            <a:spAutoFit/>
          </a:bodyPr>
          <a:lstStyle/>
          <a:p>
            <a:pPr algn="l"/>
            <a:r>
              <a:rPr sz="1500" b="0">
                <a:solidFill>
                  <a:srgbClr val="222222"/>
                </a:solidFill>
                <a:latin typeface="Calibri"/>
              </a:rPr>
              <a:t>Client asks for a feature on a call.</a:t>
            </a:r>
          </a:p>
        </p:txBody>
      </p:sp>
      <p:sp>
        <p:nvSpPr>
          <p:cNvPr id="10" name="TextBox 9"/>
          <p:cNvSpPr txBox="1"/>
          <p:nvPr/>
        </p:nvSpPr>
        <p:spPr>
          <a:xfrm>
            <a:off x="640080" y="2377440"/>
            <a:ext cx="1554480" cy="457200"/>
          </a:xfrm>
          <a:prstGeom prst="rect">
            <a:avLst/>
          </a:prstGeom>
          <a:noFill/>
        </p:spPr>
        <p:txBody>
          <a:bodyPr wrap="square" lIns="0" rIns="0" tIns="0" bIns="0" anchor="t">
            <a:spAutoFit/>
          </a:bodyPr>
          <a:lstStyle/>
          <a:p>
            <a:pPr algn="r"/>
            <a:r>
              <a:rPr sz="1800" b="1">
                <a:solidFill>
                  <a:srgbClr val="E07856"/>
                </a:solidFill>
                <a:latin typeface="Calibri"/>
              </a:rPr>
              <a:t>11 AM</a:t>
            </a:r>
          </a:p>
        </p:txBody>
      </p:sp>
      <p:sp>
        <p:nvSpPr>
          <p:cNvPr id="11" name="Rounded Rectangle 10"/>
          <p:cNvSpPr/>
          <p:nvPr/>
        </p:nvSpPr>
        <p:spPr>
          <a:xfrm>
            <a:off x="2194560" y="2450592"/>
            <a:ext cx="228600" cy="228600"/>
          </a:xfrm>
          <a:prstGeom prst="roundRect">
            <a:avLst/>
          </a:prstGeom>
          <a:solidFill>
            <a:srgbClr val="E07856"/>
          </a:solidFill>
          <a:ln>
            <a:no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r>
              <a:rPr sz="1400" b="1">
                <a:solidFill>
                  <a:srgbClr val="FFFFFF"/>
                </a:solidFill>
                <a:latin typeface="Calibri"/>
              </a:rPr>
              <a:t/>
            </a:r>
          </a:p>
        </p:txBody>
      </p:sp>
      <p:sp>
        <p:nvSpPr>
          <p:cNvPr id="12" name="Rounded Rectangle 11"/>
          <p:cNvSpPr/>
          <p:nvPr/>
        </p:nvSpPr>
        <p:spPr>
          <a:xfrm>
            <a:off x="2560320" y="2395728"/>
            <a:ext cx="1188720" cy="411480"/>
          </a:xfrm>
          <a:prstGeom prst="roundRect">
            <a:avLst/>
          </a:prstGeom>
          <a:solidFill>
            <a:srgbClr val="E07856"/>
          </a:solidFill>
          <a:ln>
            <a:no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r>
              <a:rPr sz="1300" b="1">
                <a:solidFill>
                  <a:srgbClr val="FFFFFF"/>
                </a:solidFill>
                <a:latin typeface="Calibri"/>
              </a:rPr>
              <a:t>Email</a:t>
            </a:r>
          </a:p>
        </p:txBody>
      </p:sp>
      <p:sp>
        <p:nvSpPr>
          <p:cNvPr id="13" name="TextBox 12"/>
          <p:cNvSpPr txBox="1"/>
          <p:nvPr/>
        </p:nvSpPr>
        <p:spPr>
          <a:xfrm>
            <a:off x="3931920" y="2423160"/>
            <a:ext cx="6858000" cy="457200"/>
          </a:xfrm>
          <a:prstGeom prst="rect">
            <a:avLst/>
          </a:prstGeom>
          <a:noFill/>
        </p:spPr>
        <p:txBody>
          <a:bodyPr wrap="square" lIns="0" rIns="0" tIns="0" bIns="0" anchor="t">
            <a:spAutoFit/>
          </a:bodyPr>
          <a:lstStyle/>
          <a:p>
            <a:pPr algn="l"/>
            <a:r>
              <a:rPr sz="1500" b="0">
                <a:solidFill>
                  <a:srgbClr val="222222"/>
                </a:solidFill>
                <a:latin typeface="Calibri"/>
              </a:rPr>
              <a:t>Same client follows up with more detail by email.</a:t>
            </a:r>
          </a:p>
        </p:txBody>
      </p:sp>
      <p:sp>
        <p:nvSpPr>
          <p:cNvPr id="14" name="TextBox 13"/>
          <p:cNvSpPr txBox="1"/>
          <p:nvPr/>
        </p:nvSpPr>
        <p:spPr>
          <a:xfrm>
            <a:off x="640080" y="3291840"/>
            <a:ext cx="1554480" cy="457200"/>
          </a:xfrm>
          <a:prstGeom prst="rect">
            <a:avLst/>
          </a:prstGeom>
          <a:noFill/>
        </p:spPr>
        <p:txBody>
          <a:bodyPr wrap="square" lIns="0" rIns="0" tIns="0" bIns="0" anchor="t">
            <a:spAutoFit/>
          </a:bodyPr>
          <a:lstStyle/>
          <a:p>
            <a:pPr algn="r"/>
            <a:r>
              <a:rPr sz="1800" b="1">
                <a:solidFill>
                  <a:srgbClr val="C9962B"/>
                </a:solidFill>
                <a:latin typeface="Calibri"/>
              </a:rPr>
              <a:t>3 PM</a:t>
            </a:r>
          </a:p>
        </p:txBody>
      </p:sp>
      <p:sp>
        <p:nvSpPr>
          <p:cNvPr id="15" name="Rounded Rectangle 14"/>
          <p:cNvSpPr/>
          <p:nvPr/>
        </p:nvSpPr>
        <p:spPr>
          <a:xfrm>
            <a:off x="2194560" y="3364992"/>
            <a:ext cx="228600" cy="228600"/>
          </a:xfrm>
          <a:prstGeom prst="roundRect">
            <a:avLst/>
          </a:prstGeom>
          <a:solidFill>
            <a:srgbClr val="C9962B"/>
          </a:solidFill>
          <a:ln>
            <a:no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r>
              <a:rPr sz="1400" b="1">
                <a:solidFill>
                  <a:srgbClr val="FFFFFF"/>
                </a:solidFill>
                <a:latin typeface="Calibri"/>
              </a:rPr>
              <a:t/>
            </a:r>
          </a:p>
        </p:txBody>
      </p:sp>
      <p:sp>
        <p:nvSpPr>
          <p:cNvPr id="16" name="Rounded Rectangle 15"/>
          <p:cNvSpPr/>
          <p:nvPr/>
        </p:nvSpPr>
        <p:spPr>
          <a:xfrm>
            <a:off x="2560320" y="3310128"/>
            <a:ext cx="1188720" cy="411480"/>
          </a:xfrm>
          <a:prstGeom prst="roundRect">
            <a:avLst/>
          </a:prstGeom>
          <a:solidFill>
            <a:srgbClr val="C9962B"/>
          </a:solidFill>
          <a:ln>
            <a:no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r>
              <a:rPr sz="1300" b="1">
                <a:solidFill>
                  <a:srgbClr val="FFFFFF"/>
                </a:solidFill>
                <a:latin typeface="Calibri"/>
              </a:rPr>
              <a:t>File</a:t>
            </a:r>
          </a:p>
        </p:txBody>
      </p:sp>
      <p:sp>
        <p:nvSpPr>
          <p:cNvPr id="17" name="TextBox 16"/>
          <p:cNvSpPr txBox="1"/>
          <p:nvPr/>
        </p:nvSpPr>
        <p:spPr>
          <a:xfrm>
            <a:off x="3931920" y="3337560"/>
            <a:ext cx="6858000" cy="457200"/>
          </a:xfrm>
          <a:prstGeom prst="rect">
            <a:avLst/>
          </a:prstGeom>
          <a:noFill/>
        </p:spPr>
        <p:txBody>
          <a:bodyPr wrap="square" lIns="0" rIns="0" tIns="0" bIns="0" anchor="t">
            <a:spAutoFit/>
          </a:bodyPr>
          <a:lstStyle/>
          <a:p>
            <a:pPr algn="l"/>
            <a:r>
              <a:rPr sz="1500" b="0">
                <a:solidFill>
                  <a:srgbClr val="222222"/>
                </a:solidFill>
                <a:latin typeface="Calibri"/>
              </a:rPr>
              <a:t>Client uploads a reference document to the shared folder.</a:t>
            </a:r>
          </a:p>
        </p:txBody>
      </p:sp>
      <p:sp>
        <p:nvSpPr>
          <p:cNvPr id="18" name="TextBox 17"/>
          <p:cNvSpPr txBox="1"/>
          <p:nvPr/>
        </p:nvSpPr>
        <p:spPr>
          <a:xfrm>
            <a:off x="640080" y="4206240"/>
            <a:ext cx="1554480" cy="457200"/>
          </a:xfrm>
          <a:prstGeom prst="rect">
            <a:avLst/>
          </a:prstGeom>
          <a:noFill/>
        </p:spPr>
        <p:txBody>
          <a:bodyPr wrap="square" lIns="0" rIns="0" tIns="0" bIns="0" anchor="t">
            <a:spAutoFit/>
          </a:bodyPr>
          <a:lstStyle/>
          <a:p>
            <a:pPr algn="r"/>
            <a:r>
              <a:rPr sz="1800" b="1">
                <a:solidFill>
                  <a:srgbClr val="2E8A8A"/>
                </a:solidFill>
                <a:latin typeface="Calibri"/>
              </a:rPr>
              <a:t>6 PM</a:t>
            </a:r>
          </a:p>
        </p:txBody>
      </p:sp>
      <p:sp>
        <p:nvSpPr>
          <p:cNvPr id="19" name="Rounded Rectangle 18"/>
          <p:cNvSpPr/>
          <p:nvPr/>
        </p:nvSpPr>
        <p:spPr>
          <a:xfrm>
            <a:off x="2194560" y="4279392"/>
            <a:ext cx="228600" cy="228600"/>
          </a:xfrm>
          <a:prstGeom prst="roundRect">
            <a:avLst/>
          </a:prstGeom>
          <a:solidFill>
            <a:srgbClr val="2E8A8A"/>
          </a:solidFill>
          <a:ln>
            <a:no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r>
              <a:rPr sz="1400" b="1">
                <a:solidFill>
                  <a:srgbClr val="FFFFFF"/>
                </a:solidFill>
                <a:latin typeface="Calibri"/>
              </a:rPr>
              <a:t/>
            </a:r>
          </a:p>
        </p:txBody>
      </p:sp>
      <p:sp>
        <p:nvSpPr>
          <p:cNvPr id="20" name="Rounded Rectangle 19"/>
          <p:cNvSpPr/>
          <p:nvPr/>
        </p:nvSpPr>
        <p:spPr>
          <a:xfrm>
            <a:off x="2560320" y="4224528"/>
            <a:ext cx="1188720" cy="411480"/>
          </a:xfrm>
          <a:prstGeom prst="roundRect">
            <a:avLst/>
          </a:prstGeom>
          <a:solidFill>
            <a:srgbClr val="2E8A8A"/>
          </a:solidFill>
          <a:ln>
            <a:no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r>
              <a:rPr sz="1300" b="1">
                <a:solidFill>
                  <a:srgbClr val="FFFFFF"/>
                </a:solidFill>
                <a:latin typeface="Calibri"/>
              </a:rPr>
              <a:t>Chat</a:t>
            </a:r>
          </a:p>
        </p:txBody>
      </p:sp>
      <p:sp>
        <p:nvSpPr>
          <p:cNvPr id="21" name="TextBox 20"/>
          <p:cNvSpPr txBox="1"/>
          <p:nvPr/>
        </p:nvSpPr>
        <p:spPr>
          <a:xfrm>
            <a:off x="3931920" y="4251960"/>
            <a:ext cx="6858000" cy="457200"/>
          </a:xfrm>
          <a:prstGeom prst="rect">
            <a:avLst/>
          </a:prstGeom>
          <a:noFill/>
        </p:spPr>
        <p:txBody>
          <a:bodyPr wrap="square" lIns="0" rIns="0" tIns="0" bIns="0" anchor="t">
            <a:spAutoFit/>
          </a:bodyPr>
          <a:lstStyle/>
          <a:p>
            <a:pPr algn="l"/>
            <a:r>
              <a:rPr sz="1500" b="0">
                <a:solidFill>
                  <a:srgbClr val="222222"/>
                </a:solidFill>
                <a:latin typeface="Calibri"/>
              </a:rPr>
              <a:t>Another teammate gets a clarifying chat message.</a:t>
            </a:r>
          </a:p>
        </p:txBody>
      </p:sp>
      <p:sp>
        <p:nvSpPr>
          <p:cNvPr id="22" name="TextBox 21"/>
          <p:cNvSpPr txBox="1"/>
          <p:nvPr/>
        </p:nvSpPr>
        <p:spPr>
          <a:xfrm>
            <a:off x="640080" y="5120640"/>
            <a:ext cx="1554480" cy="457200"/>
          </a:xfrm>
          <a:prstGeom prst="rect">
            <a:avLst/>
          </a:prstGeom>
          <a:noFill/>
        </p:spPr>
        <p:txBody>
          <a:bodyPr wrap="square" lIns="0" rIns="0" tIns="0" bIns="0" anchor="t">
            <a:spAutoFit/>
          </a:bodyPr>
          <a:lstStyle/>
          <a:p>
            <a:pPr algn="r"/>
            <a:r>
              <a:rPr sz="1800" b="1">
                <a:solidFill>
                  <a:srgbClr val="4A7A4A"/>
                </a:solidFill>
                <a:latin typeface="Calibri"/>
              </a:rPr>
              <a:t>11:45 PM</a:t>
            </a:r>
          </a:p>
        </p:txBody>
      </p:sp>
      <p:sp>
        <p:nvSpPr>
          <p:cNvPr id="23" name="Rounded Rectangle 22"/>
          <p:cNvSpPr/>
          <p:nvPr/>
        </p:nvSpPr>
        <p:spPr>
          <a:xfrm>
            <a:off x="2194560" y="5193792"/>
            <a:ext cx="228600" cy="228600"/>
          </a:xfrm>
          <a:prstGeom prst="roundRect">
            <a:avLst/>
          </a:prstGeom>
          <a:solidFill>
            <a:srgbClr val="4A7A4A"/>
          </a:solidFill>
          <a:ln>
            <a:no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r>
              <a:rPr sz="1400" b="1">
                <a:solidFill>
                  <a:srgbClr val="FFFFFF"/>
                </a:solidFill>
                <a:latin typeface="Calibri"/>
              </a:rPr>
              <a:t/>
            </a:r>
          </a:p>
        </p:txBody>
      </p:sp>
      <p:sp>
        <p:nvSpPr>
          <p:cNvPr id="24" name="Rounded Rectangle 23"/>
          <p:cNvSpPr/>
          <p:nvPr/>
        </p:nvSpPr>
        <p:spPr>
          <a:xfrm>
            <a:off x="2560320" y="5138928"/>
            <a:ext cx="1188720" cy="411480"/>
          </a:xfrm>
          <a:prstGeom prst="roundRect">
            <a:avLst/>
          </a:prstGeom>
          <a:solidFill>
            <a:srgbClr val="4A7A4A"/>
          </a:solidFill>
          <a:ln>
            <a:no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r>
              <a:rPr sz="1300" b="1">
                <a:solidFill>
                  <a:srgbClr val="FFFFFF"/>
                </a:solidFill>
                <a:latin typeface="Calibri"/>
              </a:rPr>
              <a:t>Draft</a:t>
            </a:r>
          </a:p>
        </p:txBody>
      </p:sp>
      <p:sp>
        <p:nvSpPr>
          <p:cNvPr id="25" name="TextBox 24"/>
          <p:cNvSpPr txBox="1"/>
          <p:nvPr/>
        </p:nvSpPr>
        <p:spPr>
          <a:xfrm>
            <a:off x="3931920" y="5166360"/>
            <a:ext cx="6858000" cy="457200"/>
          </a:xfrm>
          <a:prstGeom prst="rect">
            <a:avLst/>
          </a:prstGeom>
          <a:noFill/>
        </p:spPr>
        <p:txBody>
          <a:bodyPr wrap="square" lIns="0" rIns="0" tIns="0" bIns="0" anchor="t">
            <a:spAutoFit/>
          </a:bodyPr>
          <a:lstStyle/>
          <a:p>
            <a:pPr algn="l"/>
            <a:r>
              <a:rPr sz="1500" b="0">
                <a:solidFill>
                  <a:srgbClr val="222222"/>
                </a:solidFill>
                <a:latin typeface="Calibri"/>
              </a:rPr>
              <a:t>The AI produces one verification email covering all four.</a:t>
            </a:r>
          </a:p>
        </p:txBody>
      </p:sp>
      <p:sp>
        <p:nvSpPr>
          <p:cNvPr id="26" name="TextBox 25"/>
          <p:cNvSpPr txBox="1"/>
          <p:nvPr/>
        </p:nvSpPr>
        <p:spPr>
          <a:xfrm>
            <a:off x="640080" y="6126480"/>
            <a:ext cx="10881360" cy="457200"/>
          </a:xfrm>
          <a:prstGeom prst="rect">
            <a:avLst/>
          </a:prstGeom>
          <a:noFill/>
        </p:spPr>
        <p:txBody>
          <a:bodyPr wrap="square" lIns="0" rIns="0" tIns="0" bIns="0" anchor="t">
            <a:spAutoFit/>
          </a:bodyPr>
          <a:lstStyle/>
          <a:p>
            <a:pPr algn="ctr"/>
            <a:r>
              <a:rPr sz="1500" b="1">
                <a:solidFill>
                  <a:srgbClr val="1F4E79"/>
                </a:solidFill>
                <a:latin typeface="Calibri"/>
              </a:rPr>
              <a:t>No one saw all four. The system did.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3" name="TextBox 2"/>
          <p:cNvSpPr txBox="1"/>
          <p:nvPr/>
        </p:nvSpPr>
        <p:spPr>
          <a:xfrm>
            <a:off x="640080" y="411480"/>
            <a:ext cx="10972800" cy="822960"/>
          </a:xfrm>
          <a:prstGeom prst="rect">
            <a:avLst/>
          </a:prstGeom>
          <a:noFill/>
        </p:spPr>
        <p:txBody>
          <a:bodyPr wrap="square" lIns="0" rIns="0" tIns="0" bIns="0" anchor="t">
            <a:spAutoFit/>
          </a:bodyPr>
          <a:lstStyle/>
          <a:p>
            <a:pPr algn="l"/>
            <a:r>
              <a:rPr sz="3600" b="1">
                <a:solidFill>
                  <a:srgbClr val="1F4E79"/>
                </a:solidFill>
                <a:latin typeface="Calibri"/>
              </a:rPr>
              <a:t>What it costs</a:t>
            </a:r>
          </a:p>
          <a:p>
            <a:pPr algn="l">
              <a:spcBef>
                <a:spcPts val="400"/>
              </a:spcBef>
            </a:pPr>
            <a:r>
              <a:rPr sz="1600" b="0">
                <a:solidFill>
                  <a:srgbClr val="6B7785"/>
                </a:solidFill>
                <a:latin typeface="Calibri"/>
              </a:rPr>
              <a:t>No new line items. No per-run charge.</a:t>
            </a:r>
          </a:p>
        </p:txBody>
      </p:sp>
      <p:sp>
        <p:nvSpPr>
          <p:cNvPr id="4" name="Rectangle 3"/>
          <p:cNvSpPr/>
          <p:nvPr/>
        </p:nvSpPr>
        <p:spPr>
          <a:xfrm>
            <a:off x="640080" y="6446520"/>
            <a:ext cx="10972800" cy="18288"/>
          </a:xfrm>
          <a:prstGeom prst="rect">
            <a:avLst/>
          </a:prstGeom>
          <a:solidFill>
            <a:srgbClr val="D5DCE5"/>
          </a:solidFill>
          <a:ln>
            <a:no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5" name="TextBox 4"/>
          <p:cNvSpPr txBox="1"/>
          <p:nvPr/>
        </p:nvSpPr>
        <p:spPr>
          <a:xfrm>
            <a:off x="640080" y="1371600"/>
            <a:ext cx="10881360" cy="2377440"/>
          </a:xfrm>
          <a:prstGeom prst="rect">
            <a:avLst/>
          </a:prstGeom>
          <a:noFill/>
        </p:spPr>
        <p:txBody>
          <a:bodyPr wrap="square" lIns="0" rIns="0" tIns="0" bIns="0" anchor="ctr">
            <a:spAutoFit/>
          </a:bodyPr>
          <a:lstStyle/>
          <a:p>
            <a:pPr algn="ctr"/>
            <a:r>
              <a:rPr sz="20000" b="1">
                <a:solidFill>
                  <a:srgbClr val="1F4E79"/>
                </a:solidFill>
                <a:latin typeface="Calibri"/>
              </a:rPr>
              <a:t>$0</a:t>
            </a:r>
          </a:p>
        </p:txBody>
      </p:sp>
      <p:sp>
        <p:nvSpPr>
          <p:cNvPr id="6" name="TextBox 5"/>
          <p:cNvSpPr txBox="1"/>
          <p:nvPr/>
        </p:nvSpPr>
        <p:spPr>
          <a:xfrm>
            <a:off x="640080" y="3840480"/>
            <a:ext cx="10881360" cy="640080"/>
          </a:xfrm>
          <a:prstGeom prst="rect">
            <a:avLst/>
          </a:prstGeom>
          <a:noFill/>
        </p:spPr>
        <p:txBody>
          <a:bodyPr wrap="square" lIns="0" rIns="0" tIns="0" bIns="0" anchor="t">
            <a:spAutoFit/>
          </a:bodyPr>
          <a:lstStyle/>
          <a:p>
            <a:pPr algn="ctr"/>
            <a:r>
              <a:rPr sz="2000" b="1">
                <a:solidFill>
                  <a:srgbClr val="2E8A8A"/>
                </a:solidFill>
                <a:latin typeface="Calibri"/>
              </a:rPr>
              <a:t>No per-run charge. No per-developer license. No new infrastructure cost.</a:t>
            </a:r>
          </a:p>
        </p:txBody>
      </p:sp>
      <p:sp>
        <p:nvSpPr>
          <p:cNvPr id="7" name="Rectangle 6"/>
          <p:cNvSpPr/>
          <p:nvPr/>
        </p:nvSpPr>
        <p:spPr>
          <a:xfrm>
            <a:off x="609447" y="4846320"/>
            <a:ext cx="5394960" cy="640080"/>
          </a:xfrm>
          <a:prstGeom prst="rect">
            <a:avLst/>
          </a:prstGeom>
          <a:solidFill>
            <a:srgbClr val="F5F7FA"/>
          </a:solidFill>
          <a:ln w="9525">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8" name="TextBox 7"/>
          <p:cNvSpPr txBox="1"/>
          <p:nvPr/>
        </p:nvSpPr>
        <p:spPr>
          <a:xfrm>
            <a:off x="792327" y="4846320"/>
            <a:ext cx="2377440" cy="640080"/>
          </a:xfrm>
          <a:prstGeom prst="rect">
            <a:avLst/>
          </a:prstGeom>
          <a:noFill/>
        </p:spPr>
        <p:txBody>
          <a:bodyPr wrap="square" lIns="0" rIns="0" tIns="0" bIns="0" anchor="ctr">
            <a:spAutoFit/>
          </a:bodyPr>
          <a:lstStyle/>
          <a:p>
            <a:pPr algn="l"/>
            <a:r>
              <a:rPr sz="1200" b="0">
                <a:solidFill>
                  <a:srgbClr val="6B7785"/>
                </a:solidFill>
                <a:latin typeface="Calibri"/>
              </a:rPr>
              <a:t>AI / requirement drafting</a:t>
            </a:r>
          </a:p>
        </p:txBody>
      </p:sp>
      <p:sp>
        <p:nvSpPr>
          <p:cNvPr id="9" name="TextBox 8"/>
          <p:cNvSpPr txBox="1"/>
          <p:nvPr/>
        </p:nvSpPr>
        <p:spPr>
          <a:xfrm>
            <a:off x="3215487" y="4846320"/>
            <a:ext cx="2651760" cy="640080"/>
          </a:xfrm>
          <a:prstGeom prst="rect">
            <a:avLst/>
          </a:prstGeom>
          <a:noFill/>
        </p:spPr>
        <p:txBody>
          <a:bodyPr wrap="square" lIns="0" rIns="0" tIns="0" bIns="0" anchor="ctr">
            <a:spAutoFit/>
          </a:bodyPr>
          <a:lstStyle/>
          <a:p>
            <a:pPr algn="l"/>
            <a:r>
              <a:rPr sz="1300" b="1">
                <a:solidFill>
                  <a:srgbClr val="1F4E79"/>
                </a:solidFill>
                <a:latin typeface="Calibri"/>
              </a:rPr>
              <a:t>Existing Claude subscription</a:t>
            </a:r>
          </a:p>
        </p:txBody>
      </p:sp>
      <p:sp>
        <p:nvSpPr>
          <p:cNvPr id="10" name="Rectangle 9"/>
          <p:cNvSpPr/>
          <p:nvPr/>
        </p:nvSpPr>
        <p:spPr>
          <a:xfrm>
            <a:off x="6187287" y="4846320"/>
            <a:ext cx="5394960" cy="640080"/>
          </a:xfrm>
          <a:prstGeom prst="rect">
            <a:avLst/>
          </a:prstGeom>
          <a:solidFill>
            <a:srgbClr val="F5F7FA"/>
          </a:solidFill>
          <a:ln w="9525">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11" name="TextBox 10"/>
          <p:cNvSpPr txBox="1"/>
          <p:nvPr/>
        </p:nvSpPr>
        <p:spPr>
          <a:xfrm>
            <a:off x="6370167" y="4846320"/>
            <a:ext cx="2377440" cy="640080"/>
          </a:xfrm>
          <a:prstGeom prst="rect">
            <a:avLst/>
          </a:prstGeom>
          <a:noFill/>
        </p:spPr>
        <p:txBody>
          <a:bodyPr wrap="square" lIns="0" rIns="0" tIns="0" bIns="0" anchor="ctr">
            <a:spAutoFit/>
          </a:bodyPr>
          <a:lstStyle/>
          <a:p>
            <a:pPr algn="l"/>
            <a:r>
              <a:rPr sz="1200" b="0">
                <a:solidFill>
                  <a:srgbClr val="6B7785"/>
                </a:solidFill>
                <a:latin typeface="Calibri"/>
              </a:rPr>
              <a:t>Audio transcription</a:t>
            </a:r>
          </a:p>
        </p:txBody>
      </p:sp>
      <p:sp>
        <p:nvSpPr>
          <p:cNvPr id="12" name="TextBox 11"/>
          <p:cNvSpPr txBox="1"/>
          <p:nvPr/>
        </p:nvSpPr>
        <p:spPr>
          <a:xfrm>
            <a:off x="8793327" y="4846320"/>
            <a:ext cx="2651760" cy="640080"/>
          </a:xfrm>
          <a:prstGeom prst="rect">
            <a:avLst/>
          </a:prstGeom>
          <a:noFill/>
        </p:spPr>
        <p:txBody>
          <a:bodyPr wrap="square" lIns="0" rIns="0" tIns="0" bIns="0" anchor="ctr">
            <a:spAutoFit/>
          </a:bodyPr>
          <a:lstStyle/>
          <a:p>
            <a:pPr algn="l"/>
            <a:r>
              <a:rPr sz="1300" b="1">
                <a:solidFill>
                  <a:srgbClr val="1F4E79"/>
                </a:solidFill>
                <a:latin typeface="Calibri"/>
              </a:rPr>
              <a:t>Free tier (Groq)</a:t>
            </a:r>
          </a:p>
        </p:txBody>
      </p:sp>
      <p:sp>
        <p:nvSpPr>
          <p:cNvPr id="13" name="Rectangle 12"/>
          <p:cNvSpPr/>
          <p:nvPr/>
        </p:nvSpPr>
        <p:spPr>
          <a:xfrm>
            <a:off x="609447" y="5577840"/>
            <a:ext cx="5394960" cy="640080"/>
          </a:xfrm>
          <a:prstGeom prst="rect">
            <a:avLst/>
          </a:prstGeom>
          <a:solidFill>
            <a:srgbClr val="F5F7FA"/>
          </a:solidFill>
          <a:ln w="9525">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14" name="TextBox 13"/>
          <p:cNvSpPr txBox="1"/>
          <p:nvPr/>
        </p:nvSpPr>
        <p:spPr>
          <a:xfrm>
            <a:off x="792327" y="5577840"/>
            <a:ext cx="2377440" cy="640080"/>
          </a:xfrm>
          <a:prstGeom prst="rect">
            <a:avLst/>
          </a:prstGeom>
          <a:noFill/>
        </p:spPr>
        <p:txBody>
          <a:bodyPr wrap="square" lIns="0" rIns="0" tIns="0" bIns="0" anchor="ctr">
            <a:spAutoFit/>
          </a:bodyPr>
          <a:lstStyle/>
          <a:p>
            <a:pPr algn="l"/>
            <a:r>
              <a:rPr sz="1200" b="0">
                <a:solidFill>
                  <a:srgbClr val="6B7785"/>
                </a:solidFill>
                <a:latin typeface="Calibri"/>
              </a:rPr>
              <a:t>Central server</a:t>
            </a:r>
          </a:p>
        </p:txBody>
      </p:sp>
      <p:sp>
        <p:nvSpPr>
          <p:cNvPr id="15" name="TextBox 14"/>
          <p:cNvSpPr txBox="1"/>
          <p:nvPr/>
        </p:nvSpPr>
        <p:spPr>
          <a:xfrm>
            <a:off x="3215487" y="5577840"/>
            <a:ext cx="2651760" cy="640080"/>
          </a:xfrm>
          <a:prstGeom prst="rect">
            <a:avLst/>
          </a:prstGeom>
          <a:noFill/>
        </p:spPr>
        <p:txBody>
          <a:bodyPr wrap="square" lIns="0" rIns="0" tIns="0" bIns="0" anchor="ctr">
            <a:spAutoFit/>
          </a:bodyPr>
          <a:lstStyle/>
          <a:p>
            <a:pPr algn="l"/>
            <a:r>
              <a:rPr sz="1300" b="1">
                <a:solidFill>
                  <a:srgbClr val="1F4E79"/>
                </a:solidFill>
                <a:latin typeface="Calibri"/>
              </a:rPr>
              <a:t>Shared with OpenProject (no new cost)</a:t>
            </a:r>
          </a:p>
        </p:txBody>
      </p:sp>
      <p:sp>
        <p:nvSpPr>
          <p:cNvPr id="16" name="Rectangle 15"/>
          <p:cNvSpPr/>
          <p:nvPr/>
        </p:nvSpPr>
        <p:spPr>
          <a:xfrm>
            <a:off x="6187287" y="5577840"/>
            <a:ext cx="5394960" cy="640080"/>
          </a:xfrm>
          <a:prstGeom prst="rect">
            <a:avLst/>
          </a:prstGeom>
          <a:solidFill>
            <a:srgbClr val="F5F7FA"/>
          </a:solidFill>
          <a:ln w="9525">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17" name="TextBox 16"/>
          <p:cNvSpPr txBox="1"/>
          <p:nvPr/>
        </p:nvSpPr>
        <p:spPr>
          <a:xfrm>
            <a:off x="6370167" y="5577840"/>
            <a:ext cx="2377440" cy="640080"/>
          </a:xfrm>
          <a:prstGeom prst="rect">
            <a:avLst/>
          </a:prstGeom>
          <a:noFill/>
        </p:spPr>
        <p:txBody>
          <a:bodyPr wrap="square" lIns="0" rIns="0" tIns="0" bIns="0" anchor="ctr">
            <a:spAutoFit/>
          </a:bodyPr>
          <a:lstStyle/>
          <a:p>
            <a:pPr algn="l"/>
            <a:r>
              <a:rPr sz="1200" b="0">
                <a:solidFill>
                  <a:srgbClr val="6B7785"/>
                </a:solidFill>
                <a:latin typeface="Calibri"/>
              </a:rPr>
              <a:t>GitHub runner + storage</a:t>
            </a:r>
          </a:p>
        </p:txBody>
      </p:sp>
      <p:sp>
        <p:nvSpPr>
          <p:cNvPr id="18" name="TextBox 17"/>
          <p:cNvSpPr txBox="1"/>
          <p:nvPr/>
        </p:nvSpPr>
        <p:spPr>
          <a:xfrm>
            <a:off x="8793327" y="5577840"/>
            <a:ext cx="2651760" cy="640080"/>
          </a:xfrm>
          <a:prstGeom prst="rect">
            <a:avLst/>
          </a:prstGeom>
          <a:noFill/>
        </p:spPr>
        <p:txBody>
          <a:bodyPr wrap="square" lIns="0" rIns="0" tIns="0" bIns="0" anchor="ctr">
            <a:spAutoFit/>
          </a:bodyPr>
          <a:lstStyle/>
          <a:p>
            <a:pPr algn="l"/>
            <a:r>
              <a:rPr sz="1300" b="1">
                <a:solidFill>
                  <a:srgbClr val="1F4E79"/>
                </a:solidFill>
                <a:latin typeface="Calibri"/>
              </a:rPr>
              <a:t>Self-hosted (no charge)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3" name="TextBox 2"/>
          <p:cNvSpPr txBox="1"/>
          <p:nvPr/>
        </p:nvSpPr>
        <p:spPr>
          <a:xfrm>
            <a:off x="640080" y="411480"/>
            <a:ext cx="10972800" cy="822960"/>
          </a:xfrm>
          <a:prstGeom prst="rect">
            <a:avLst/>
          </a:prstGeom>
          <a:noFill/>
        </p:spPr>
        <p:txBody>
          <a:bodyPr wrap="square" lIns="0" rIns="0" tIns="0" bIns="0" anchor="t">
            <a:spAutoFit/>
          </a:bodyPr>
          <a:lstStyle/>
          <a:p>
            <a:pPr algn="l"/>
            <a:r>
              <a:rPr sz="3600" b="1">
                <a:solidFill>
                  <a:srgbClr val="1F4E79"/>
                </a:solidFill>
                <a:latin typeface="Calibri"/>
              </a:rPr>
              <a:t>Where we are today</a:t>
            </a:r>
          </a:p>
          <a:p>
            <a:pPr algn="l">
              <a:spcBef>
                <a:spcPts val="400"/>
              </a:spcBef>
            </a:pPr>
            <a:r>
              <a:rPr sz="1600" b="0">
                <a:solidFill>
                  <a:srgbClr val="6B7785"/>
                </a:solidFill>
                <a:latin typeface="Calibri"/>
              </a:rPr>
              <a:t>Live as of 2026-05-14.</a:t>
            </a:r>
          </a:p>
        </p:txBody>
      </p:sp>
      <p:sp>
        <p:nvSpPr>
          <p:cNvPr id="4" name="Rectangle 3"/>
          <p:cNvSpPr/>
          <p:nvPr/>
        </p:nvSpPr>
        <p:spPr>
          <a:xfrm>
            <a:off x="640080" y="6446520"/>
            <a:ext cx="10972800" cy="18288"/>
          </a:xfrm>
          <a:prstGeom prst="rect">
            <a:avLst/>
          </a:prstGeom>
          <a:solidFill>
            <a:srgbClr val="D5DCE5"/>
          </a:solidFill>
          <a:ln>
            <a:no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5" name="Rectangle 4"/>
          <p:cNvSpPr/>
          <p:nvPr/>
        </p:nvSpPr>
        <p:spPr>
          <a:xfrm>
            <a:off x="426567" y="1554480"/>
            <a:ext cx="2697480" cy="1828800"/>
          </a:xfrm>
          <a:prstGeom prst="rect">
            <a:avLst/>
          </a:prstGeom>
          <a:solidFill>
            <a:srgbClr val="FFFFFF"/>
          </a:solidFill>
          <a:ln w="9525">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6" name="Rectangle 5"/>
          <p:cNvSpPr/>
          <p:nvPr/>
        </p:nvSpPr>
        <p:spPr>
          <a:xfrm>
            <a:off x="426567" y="1554480"/>
            <a:ext cx="2697480" cy="128016"/>
          </a:xfrm>
          <a:prstGeom prst="rect">
            <a:avLst/>
          </a:prstGeom>
          <a:solidFill>
            <a:srgbClr val="4A7A4A"/>
          </a:solidFill>
          <a:ln>
            <a:no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7" name="TextBox 6"/>
          <p:cNvSpPr txBox="1"/>
          <p:nvPr/>
        </p:nvSpPr>
        <p:spPr>
          <a:xfrm>
            <a:off x="426567" y="1920240"/>
            <a:ext cx="2697480" cy="914400"/>
          </a:xfrm>
          <a:prstGeom prst="rect">
            <a:avLst/>
          </a:prstGeom>
          <a:noFill/>
        </p:spPr>
        <p:txBody>
          <a:bodyPr wrap="square" lIns="0" rIns="0" tIns="0" bIns="0" anchor="t">
            <a:spAutoFit/>
          </a:bodyPr>
          <a:lstStyle/>
          <a:p>
            <a:pPr algn="ctr"/>
            <a:r>
              <a:rPr sz="3800" b="1">
                <a:solidFill>
                  <a:srgbClr val="4A7A4A"/>
                </a:solidFill>
                <a:latin typeface="Calibri"/>
              </a:rPr>
              <a:t>Live</a:t>
            </a:r>
          </a:p>
        </p:txBody>
      </p:sp>
      <p:sp>
        <p:nvSpPr>
          <p:cNvPr id="8" name="TextBox 7"/>
          <p:cNvSpPr txBox="1"/>
          <p:nvPr/>
        </p:nvSpPr>
        <p:spPr>
          <a:xfrm>
            <a:off x="426567" y="2834640"/>
            <a:ext cx="2697480" cy="457200"/>
          </a:xfrm>
          <a:prstGeom prst="rect">
            <a:avLst/>
          </a:prstGeom>
          <a:noFill/>
        </p:spPr>
        <p:txBody>
          <a:bodyPr wrap="square" lIns="0" rIns="0" tIns="0" bIns="0" anchor="t">
            <a:spAutoFit/>
          </a:bodyPr>
          <a:lstStyle/>
          <a:p>
            <a:pPr algn="ctr"/>
            <a:r>
              <a:rPr sz="1300" b="0">
                <a:solidFill>
                  <a:srgbClr val="6B7785"/>
                </a:solidFill>
                <a:latin typeface="Calibri"/>
              </a:rPr>
              <a:t>since 2026-05-14</a:t>
            </a:r>
          </a:p>
        </p:txBody>
      </p:sp>
      <p:sp>
        <p:nvSpPr>
          <p:cNvPr id="9" name="Rectangle 8"/>
          <p:cNvSpPr/>
          <p:nvPr/>
        </p:nvSpPr>
        <p:spPr>
          <a:xfrm>
            <a:off x="3306927" y="1554480"/>
            <a:ext cx="2697480" cy="1828800"/>
          </a:xfrm>
          <a:prstGeom prst="rect">
            <a:avLst/>
          </a:prstGeom>
          <a:solidFill>
            <a:srgbClr val="FFFFFF"/>
          </a:solidFill>
          <a:ln w="9525">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10" name="Rectangle 9"/>
          <p:cNvSpPr/>
          <p:nvPr/>
        </p:nvSpPr>
        <p:spPr>
          <a:xfrm>
            <a:off x="3306927" y="1554480"/>
            <a:ext cx="2697480" cy="128016"/>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11" name="TextBox 10"/>
          <p:cNvSpPr txBox="1"/>
          <p:nvPr/>
        </p:nvSpPr>
        <p:spPr>
          <a:xfrm>
            <a:off x="3306927" y="1920240"/>
            <a:ext cx="2697480" cy="914400"/>
          </a:xfrm>
          <a:prstGeom prst="rect">
            <a:avLst/>
          </a:prstGeom>
          <a:noFill/>
        </p:spPr>
        <p:txBody>
          <a:bodyPr wrap="square" lIns="0" rIns="0" tIns="0" bIns="0" anchor="t">
            <a:spAutoFit/>
          </a:bodyPr>
          <a:lstStyle/>
          <a:p>
            <a:pPr algn="ctr"/>
            <a:r>
              <a:rPr sz="3800" b="1">
                <a:solidFill>
                  <a:srgbClr val="1F4E79"/>
                </a:solidFill>
                <a:latin typeface="Calibri"/>
              </a:rPr>
              <a:t>6</a:t>
            </a:r>
          </a:p>
        </p:txBody>
      </p:sp>
      <p:sp>
        <p:nvSpPr>
          <p:cNvPr id="12" name="TextBox 11"/>
          <p:cNvSpPr txBox="1"/>
          <p:nvPr/>
        </p:nvSpPr>
        <p:spPr>
          <a:xfrm>
            <a:off x="3306927" y="2834640"/>
            <a:ext cx="2697480" cy="457200"/>
          </a:xfrm>
          <a:prstGeom prst="rect">
            <a:avLst/>
          </a:prstGeom>
          <a:noFill/>
        </p:spPr>
        <p:txBody>
          <a:bodyPr wrap="square" lIns="0" rIns="0" tIns="0" bIns="0" anchor="t">
            <a:spAutoFit/>
          </a:bodyPr>
          <a:lstStyle/>
          <a:p>
            <a:pPr algn="ctr"/>
            <a:r>
              <a:rPr sz="1300" b="0">
                <a:solidFill>
                  <a:srgbClr val="6B7785"/>
                </a:solidFill>
                <a:latin typeface="Calibri"/>
              </a:rPr>
              <a:t>background jobs running</a:t>
            </a:r>
          </a:p>
        </p:txBody>
      </p:sp>
      <p:sp>
        <p:nvSpPr>
          <p:cNvPr id="13" name="Rectangle 12"/>
          <p:cNvSpPr/>
          <p:nvPr/>
        </p:nvSpPr>
        <p:spPr>
          <a:xfrm>
            <a:off x="6187287" y="1554480"/>
            <a:ext cx="2697480" cy="1828800"/>
          </a:xfrm>
          <a:prstGeom prst="rect">
            <a:avLst/>
          </a:prstGeom>
          <a:solidFill>
            <a:srgbClr val="FFFFFF"/>
          </a:solidFill>
          <a:ln w="9525">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14" name="Rectangle 13"/>
          <p:cNvSpPr/>
          <p:nvPr/>
        </p:nvSpPr>
        <p:spPr>
          <a:xfrm>
            <a:off x="6187287" y="1554480"/>
            <a:ext cx="2697480" cy="128016"/>
          </a:xfrm>
          <a:prstGeom prst="rect">
            <a:avLst/>
          </a:prstGeom>
          <a:solidFill>
            <a:srgbClr val="2E8A8A"/>
          </a:solidFill>
          <a:ln>
            <a:no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15" name="TextBox 14"/>
          <p:cNvSpPr txBox="1"/>
          <p:nvPr/>
        </p:nvSpPr>
        <p:spPr>
          <a:xfrm>
            <a:off x="6187287" y="1920240"/>
            <a:ext cx="2697480" cy="914400"/>
          </a:xfrm>
          <a:prstGeom prst="rect">
            <a:avLst/>
          </a:prstGeom>
          <a:noFill/>
        </p:spPr>
        <p:txBody>
          <a:bodyPr wrap="square" lIns="0" rIns="0" tIns="0" bIns="0" anchor="t">
            <a:spAutoFit/>
          </a:bodyPr>
          <a:lstStyle/>
          <a:p>
            <a:pPr algn="ctr"/>
            <a:r>
              <a:rPr sz="3800" b="1">
                <a:solidFill>
                  <a:srgbClr val="2E8A8A"/>
                </a:solidFill>
                <a:latin typeface="Calibri"/>
              </a:rPr>
              <a:t>4</a:t>
            </a:r>
          </a:p>
        </p:txBody>
      </p:sp>
      <p:sp>
        <p:nvSpPr>
          <p:cNvPr id="16" name="TextBox 15"/>
          <p:cNvSpPr txBox="1"/>
          <p:nvPr/>
        </p:nvSpPr>
        <p:spPr>
          <a:xfrm>
            <a:off x="6187287" y="2834640"/>
            <a:ext cx="2697480" cy="457200"/>
          </a:xfrm>
          <a:prstGeom prst="rect">
            <a:avLst/>
          </a:prstGeom>
          <a:noFill/>
        </p:spPr>
        <p:txBody>
          <a:bodyPr wrap="square" lIns="0" rIns="0" tIns="0" bIns="0" anchor="t">
            <a:spAutoFit/>
          </a:bodyPr>
          <a:lstStyle/>
          <a:p>
            <a:pPr algn="ctr"/>
            <a:r>
              <a:rPr sz="1300" b="0">
                <a:solidFill>
                  <a:srgbClr val="6B7785"/>
                </a:solidFill>
                <a:latin typeface="Calibri"/>
              </a:rPr>
              <a:t>capture channels active</a:t>
            </a:r>
          </a:p>
        </p:txBody>
      </p:sp>
      <p:sp>
        <p:nvSpPr>
          <p:cNvPr id="17" name="Rectangle 16"/>
          <p:cNvSpPr/>
          <p:nvPr/>
        </p:nvSpPr>
        <p:spPr>
          <a:xfrm>
            <a:off x="9067647" y="1554480"/>
            <a:ext cx="2697480" cy="1828800"/>
          </a:xfrm>
          <a:prstGeom prst="rect">
            <a:avLst/>
          </a:prstGeom>
          <a:solidFill>
            <a:srgbClr val="FFFFFF"/>
          </a:solidFill>
          <a:ln w="9525">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18" name="Rectangle 17"/>
          <p:cNvSpPr/>
          <p:nvPr/>
        </p:nvSpPr>
        <p:spPr>
          <a:xfrm>
            <a:off x="9067647" y="1554480"/>
            <a:ext cx="2697480" cy="128016"/>
          </a:xfrm>
          <a:prstGeom prst="rect">
            <a:avLst/>
          </a:prstGeom>
          <a:solidFill>
            <a:srgbClr val="C9962B"/>
          </a:solidFill>
          <a:ln>
            <a:no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19" name="TextBox 18"/>
          <p:cNvSpPr txBox="1"/>
          <p:nvPr/>
        </p:nvSpPr>
        <p:spPr>
          <a:xfrm>
            <a:off x="9067647" y="1920240"/>
            <a:ext cx="2697480" cy="914400"/>
          </a:xfrm>
          <a:prstGeom prst="rect">
            <a:avLst/>
          </a:prstGeom>
          <a:noFill/>
        </p:spPr>
        <p:txBody>
          <a:bodyPr wrap="square" lIns="0" rIns="0" tIns="0" bIns="0" anchor="t">
            <a:spAutoFit/>
          </a:bodyPr>
          <a:lstStyle/>
          <a:p>
            <a:pPr algn="ctr"/>
            <a:r>
              <a:rPr sz="3800" b="1">
                <a:solidFill>
                  <a:srgbClr val="C9962B"/>
                </a:solidFill>
                <a:latin typeface="Calibri"/>
              </a:rPr>
              <a:t>1</a:t>
            </a:r>
          </a:p>
        </p:txBody>
      </p:sp>
      <p:sp>
        <p:nvSpPr>
          <p:cNvPr id="20" name="TextBox 19"/>
          <p:cNvSpPr txBox="1"/>
          <p:nvPr/>
        </p:nvSpPr>
        <p:spPr>
          <a:xfrm>
            <a:off x="9067647" y="2834640"/>
            <a:ext cx="2697480" cy="457200"/>
          </a:xfrm>
          <a:prstGeom prst="rect">
            <a:avLst/>
          </a:prstGeom>
          <a:noFill/>
        </p:spPr>
        <p:txBody>
          <a:bodyPr wrap="square" lIns="0" rIns="0" tIns="0" bIns="0" anchor="t">
            <a:spAutoFit/>
          </a:bodyPr>
          <a:lstStyle/>
          <a:p>
            <a:pPr algn="ctr"/>
            <a:r>
              <a:rPr sz="1300" b="0">
                <a:solidFill>
                  <a:srgbClr val="6B7785"/>
                </a:solidFill>
                <a:latin typeface="Calibri"/>
              </a:rPr>
              <a:t>verification email last night</a:t>
            </a:r>
          </a:p>
        </p:txBody>
      </p:sp>
      <p:sp>
        <p:nvSpPr>
          <p:cNvPr id="21" name="Rectangle 20"/>
          <p:cNvSpPr/>
          <p:nvPr/>
        </p:nvSpPr>
        <p:spPr>
          <a:xfrm>
            <a:off x="640080" y="3840480"/>
            <a:ext cx="10881360" cy="2194560"/>
          </a:xfrm>
          <a:prstGeom prst="rect">
            <a:avLst/>
          </a:prstGeom>
          <a:solidFill>
            <a:srgbClr val="FFFFFF"/>
          </a:solidFill>
          <a:ln w="9525">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22" name="Rectangle 21"/>
          <p:cNvSpPr/>
          <p:nvPr/>
        </p:nvSpPr>
        <p:spPr>
          <a:xfrm>
            <a:off x="640080" y="3840480"/>
            <a:ext cx="73152" cy="2194560"/>
          </a:xfrm>
          <a:prstGeom prst="rect">
            <a:avLst/>
          </a:prstGeom>
          <a:solidFill>
            <a:srgbClr val="4A7A4A"/>
          </a:solidFill>
          <a:ln>
            <a:no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23" name="TextBox 22"/>
          <p:cNvSpPr txBox="1"/>
          <p:nvPr/>
        </p:nvSpPr>
        <p:spPr>
          <a:xfrm>
            <a:off x="841248" y="3950208"/>
            <a:ext cx="10588752" cy="1975104"/>
          </a:xfrm>
          <a:prstGeom prst="rect">
            <a:avLst/>
          </a:prstGeom>
          <a:noFill/>
        </p:spPr>
        <p:txBody>
          <a:bodyPr wrap="square" lIns="0" rIns="0" tIns="0" bIns="0" anchor="t">
            <a:spAutoFit/>
          </a:bodyPr>
          <a:lstStyle/>
          <a:p>
            <a:pPr algn="l"/>
            <a:r>
              <a:rPr sz="1800" b="1">
                <a:solidFill>
                  <a:srgbClr val="4A7A4A"/>
                </a:solidFill>
                <a:latin typeface="Calibri"/>
              </a:rPr>
              <a:t>Yesterday, end to end</a:t>
            </a:r>
          </a:p>
          <a:p>
            <a:pPr algn="l">
              <a:spcBef>
                <a:spcPts val="300"/>
              </a:spcBef>
            </a:pPr>
            <a:r>
              <a:rPr sz="1400" b="0">
                <a:solidFill>
                  <a:srgbClr val="222222"/>
                </a:solidFill>
                <a:latin typeface="Calibri"/>
              </a:rPr>
              <a:t>The day's calls, chats, emails, and files were captured.</a:t>
            </a:r>
          </a:p>
          <a:p>
            <a:pPr algn="l">
              <a:spcBef>
                <a:spcPts val="300"/>
              </a:spcBef>
            </a:pPr>
            <a:r>
              <a:rPr sz="1400" b="0">
                <a:solidFill>
                  <a:srgbClr val="222222"/>
                </a:solidFill>
                <a:latin typeface="Calibri"/>
              </a:rPr>
              <a:t>The AI pass ran on schedule.</a:t>
            </a:r>
          </a:p>
          <a:p>
            <a:pPr algn="l">
              <a:spcBef>
                <a:spcPts val="300"/>
              </a:spcBef>
            </a:pPr>
            <a:r>
              <a:rPr sz="1400" b="0">
                <a:solidFill>
                  <a:srgbClr val="222222"/>
                </a:solidFill>
                <a:latin typeface="Calibri"/>
              </a:rPr>
              <a:t>A draft verification email landed in Gmail Drafts.</a:t>
            </a:r>
          </a:p>
          <a:p>
            <a:pPr algn="l">
              <a:spcBef>
                <a:spcPts val="300"/>
              </a:spcBef>
            </a:pPr>
            <a:r>
              <a:rPr sz="1400" b="0">
                <a:solidFill>
                  <a:srgbClr val="222222"/>
                </a:solidFill>
                <a:latin typeface="Calibri"/>
              </a:rPr>
              <a:t>Memory was updated so today won't re-ask anything.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3" name="TextBox 2"/>
          <p:cNvSpPr txBox="1"/>
          <p:nvPr/>
        </p:nvSpPr>
        <p:spPr>
          <a:xfrm>
            <a:off x="640080" y="411480"/>
            <a:ext cx="10972800" cy="822960"/>
          </a:xfrm>
          <a:prstGeom prst="rect">
            <a:avLst/>
          </a:prstGeom>
          <a:noFill/>
        </p:spPr>
        <p:txBody>
          <a:bodyPr wrap="square" lIns="0" rIns="0" tIns="0" bIns="0" anchor="t">
            <a:spAutoFit/>
          </a:bodyPr>
          <a:lstStyle/>
          <a:p>
            <a:pPr algn="l"/>
            <a:r>
              <a:rPr sz="3600" b="1">
                <a:solidFill>
                  <a:srgbClr val="1F4E79"/>
                </a:solidFill>
                <a:latin typeface="Calibri"/>
              </a:rPr>
              <a:t>What's next</a:t>
            </a:r>
          </a:p>
          <a:p>
            <a:pPr algn="l">
              <a:spcBef>
                <a:spcPts val="400"/>
              </a:spcBef>
            </a:pPr>
            <a:r>
              <a:rPr sz="1600" b="0">
                <a:solidFill>
                  <a:srgbClr val="6B7785"/>
                </a:solidFill>
                <a:latin typeface="Calibri"/>
              </a:rPr>
              <a:t>Three priorities for the coming weeks.</a:t>
            </a:r>
          </a:p>
        </p:txBody>
      </p:sp>
      <p:sp>
        <p:nvSpPr>
          <p:cNvPr id="4" name="Rectangle 3"/>
          <p:cNvSpPr/>
          <p:nvPr/>
        </p:nvSpPr>
        <p:spPr>
          <a:xfrm>
            <a:off x="640080" y="6446520"/>
            <a:ext cx="10972800" cy="18288"/>
          </a:xfrm>
          <a:prstGeom prst="rect">
            <a:avLst/>
          </a:prstGeom>
          <a:solidFill>
            <a:srgbClr val="D5DCE5"/>
          </a:solidFill>
          <a:ln>
            <a:no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5" name="Rectangle 4"/>
          <p:cNvSpPr/>
          <p:nvPr/>
        </p:nvSpPr>
        <p:spPr>
          <a:xfrm>
            <a:off x="518007" y="1828800"/>
            <a:ext cx="3566160" cy="3108960"/>
          </a:xfrm>
          <a:prstGeom prst="rect">
            <a:avLst/>
          </a:prstGeom>
          <a:solidFill>
            <a:srgbClr val="FFFFFF"/>
          </a:solidFill>
          <a:ln w="9525">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6" name="Rectangle 5"/>
          <p:cNvSpPr/>
          <p:nvPr/>
        </p:nvSpPr>
        <p:spPr>
          <a:xfrm>
            <a:off x="518007" y="1828800"/>
            <a:ext cx="73152" cy="3108960"/>
          </a:xfrm>
          <a:prstGeom prst="rect">
            <a:avLst/>
          </a:prstGeom>
          <a:solidFill>
            <a:srgbClr val="E07856"/>
          </a:solidFill>
          <a:ln>
            <a:no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7" name="TextBox 6"/>
          <p:cNvSpPr txBox="1"/>
          <p:nvPr/>
        </p:nvSpPr>
        <p:spPr>
          <a:xfrm>
            <a:off x="719175" y="1938528"/>
            <a:ext cx="3273552" cy="2889504"/>
          </a:xfrm>
          <a:prstGeom prst="rect">
            <a:avLst/>
          </a:prstGeom>
          <a:noFill/>
        </p:spPr>
        <p:txBody>
          <a:bodyPr wrap="square" lIns="0" rIns="0" tIns="0" bIns="0" anchor="t">
            <a:spAutoFit/>
          </a:bodyPr>
          <a:lstStyle/>
          <a:p>
            <a:pPr algn="l"/>
            <a:r>
              <a:rPr sz="2000" b="1">
                <a:solidFill>
                  <a:srgbClr val="E07856"/>
                </a:solidFill>
                <a:latin typeface="Calibri"/>
              </a:rPr>
              <a:t>Bring on more clients</a:t>
            </a:r>
          </a:p>
          <a:p>
            <a:pPr algn="l">
              <a:spcBef>
                <a:spcPts val="300"/>
              </a:spcBef>
            </a:pPr>
            <a:r>
              <a:rPr sz="1500" b="0">
                <a:solidFill>
                  <a:srgbClr val="222222"/>
                </a:solidFill>
                <a:latin typeface="Calibri"/>
              </a:rPr>
              <a:t>The pipeline scales</a:t>
            </a:r>
          </a:p>
          <a:p>
            <a:pPr algn="l">
              <a:spcBef>
                <a:spcPts val="300"/>
              </a:spcBef>
            </a:pPr>
            <a:r>
              <a:rPr sz="1500" b="0">
                <a:solidFill>
                  <a:srgbClr val="222222"/>
                </a:solidFill>
                <a:latin typeface="Calibri"/>
              </a:rPr>
              <a:t>per client at no</a:t>
            </a:r>
          </a:p>
          <a:p>
            <a:pPr algn="l">
              <a:spcBef>
                <a:spcPts val="300"/>
              </a:spcBef>
            </a:pPr>
            <a:r>
              <a:rPr sz="1500" b="0">
                <a:solidFill>
                  <a:srgbClr val="222222"/>
                </a:solidFill>
                <a:latin typeface="Calibri"/>
              </a:rPr>
              <a:t>additional cost.</a:t>
            </a:r>
          </a:p>
        </p:txBody>
      </p:sp>
      <p:sp>
        <p:nvSpPr>
          <p:cNvPr id="8" name="Rectangle 7"/>
          <p:cNvSpPr/>
          <p:nvPr/>
        </p:nvSpPr>
        <p:spPr>
          <a:xfrm>
            <a:off x="4312767" y="1828800"/>
            <a:ext cx="3566160" cy="3108960"/>
          </a:xfrm>
          <a:prstGeom prst="rect">
            <a:avLst/>
          </a:prstGeom>
          <a:solidFill>
            <a:srgbClr val="FFFFFF"/>
          </a:solidFill>
          <a:ln w="9525">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9" name="Rectangle 8"/>
          <p:cNvSpPr/>
          <p:nvPr/>
        </p:nvSpPr>
        <p:spPr>
          <a:xfrm>
            <a:off x="4312767" y="1828800"/>
            <a:ext cx="73152" cy="3108960"/>
          </a:xfrm>
          <a:prstGeom prst="rect">
            <a:avLst/>
          </a:prstGeom>
          <a:solidFill>
            <a:srgbClr val="2E8A8A"/>
          </a:solidFill>
          <a:ln>
            <a:no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10" name="TextBox 9"/>
          <p:cNvSpPr txBox="1"/>
          <p:nvPr/>
        </p:nvSpPr>
        <p:spPr>
          <a:xfrm>
            <a:off x="4513935" y="1938528"/>
            <a:ext cx="3273552" cy="2889504"/>
          </a:xfrm>
          <a:prstGeom prst="rect">
            <a:avLst/>
          </a:prstGeom>
          <a:noFill/>
        </p:spPr>
        <p:txBody>
          <a:bodyPr wrap="square" lIns="0" rIns="0" tIns="0" bIns="0" anchor="t">
            <a:spAutoFit/>
          </a:bodyPr>
          <a:lstStyle/>
          <a:p>
            <a:pPr algn="l"/>
            <a:r>
              <a:rPr sz="2000" b="1">
                <a:solidFill>
                  <a:srgbClr val="2E8A8A"/>
                </a:solidFill>
                <a:latin typeface="Calibri"/>
              </a:rPr>
              <a:t>Onboard remaining
developers</a:t>
            </a:r>
          </a:p>
          <a:p>
            <a:pPr algn="l">
              <a:spcBef>
                <a:spcPts val="300"/>
              </a:spcBef>
            </a:pPr>
            <a:r>
              <a:rPr sz="1500" b="0">
                <a:solidFill>
                  <a:srgbClr val="222222"/>
                </a:solidFill>
                <a:latin typeface="Calibri"/>
              </a:rPr>
              <a:t>Add each teammate's PC</a:t>
            </a:r>
          </a:p>
          <a:p>
            <a:pPr algn="l">
              <a:spcBef>
                <a:spcPts val="300"/>
              </a:spcBef>
            </a:pPr>
            <a:r>
              <a:rPr sz="1500" b="0">
                <a:solidFill>
                  <a:srgbClr val="222222"/>
                </a:solidFill>
                <a:latin typeface="Calibri"/>
              </a:rPr>
              <a:t>to the capture network.</a:t>
            </a:r>
          </a:p>
          <a:p>
            <a:pPr algn="l">
              <a:spcBef>
                <a:spcPts val="300"/>
              </a:spcBef>
            </a:pPr>
            <a:r>
              <a:rPr sz="1500" b="0">
                <a:solidFill>
                  <a:srgbClr val="222222"/>
                </a:solidFill>
                <a:latin typeface="Calibri"/>
              </a:rPr>
              <a:t>Around 10 minutes each.</a:t>
            </a:r>
          </a:p>
        </p:txBody>
      </p:sp>
      <p:sp>
        <p:nvSpPr>
          <p:cNvPr id="11" name="Rectangle 10"/>
          <p:cNvSpPr/>
          <p:nvPr/>
        </p:nvSpPr>
        <p:spPr>
          <a:xfrm>
            <a:off x="8107527" y="1828800"/>
            <a:ext cx="3566160" cy="3108960"/>
          </a:xfrm>
          <a:prstGeom prst="rect">
            <a:avLst/>
          </a:prstGeom>
          <a:solidFill>
            <a:srgbClr val="FFFFFF"/>
          </a:solidFill>
          <a:ln w="9525">
            <a:solidFill>
              <a:srgbClr val="D5DCE5"/>
            </a:solid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12" name="Rectangle 11"/>
          <p:cNvSpPr/>
          <p:nvPr/>
        </p:nvSpPr>
        <p:spPr>
          <a:xfrm>
            <a:off x="8107527" y="1828800"/>
            <a:ext cx="73152" cy="3108960"/>
          </a:xfrm>
          <a:prstGeom prst="rect">
            <a:avLst/>
          </a:prstGeom>
          <a:solidFill>
            <a:srgbClr val="C9962B"/>
          </a:solidFill>
          <a:ln>
            <a:noFill/>
          </a:ln>
        </p:spPr>
        <p:style>
          <a:lnRef idx="1">
            <a:schemeClr val="accent1"/>
          </a:lnRef>
          <a:fillRef idx="3">
            <a:schemeClr val="accent1"/>
          </a:fillRef>
          <a:effectRef idx="2">
            <a:schemeClr val="accent1"/>
          </a:effectRef>
          <a:fontRef idx="minor">
            <a:schemeClr val="lt1"/>
          </a:fontRef>
        </p:style>
        <p:txBody>
          <a:bodyPr rtlCol="0" anchor="ctr" lIns="109728" rIns="109728" tIns="73152" bIns="73152"/>
          <a:lstStyle/>
          <a:p>
            <a:pPr algn="ctr"/>
          </a:p>
        </p:txBody>
      </p:sp>
      <p:sp>
        <p:nvSpPr>
          <p:cNvPr id="13" name="TextBox 12"/>
          <p:cNvSpPr txBox="1"/>
          <p:nvPr/>
        </p:nvSpPr>
        <p:spPr>
          <a:xfrm>
            <a:off x="8308695" y="1938528"/>
            <a:ext cx="3273552" cy="2889504"/>
          </a:xfrm>
          <a:prstGeom prst="rect">
            <a:avLst/>
          </a:prstGeom>
          <a:noFill/>
        </p:spPr>
        <p:txBody>
          <a:bodyPr wrap="square" lIns="0" rIns="0" tIns="0" bIns="0" anchor="t">
            <a:spAutoFit/>
          </a:bodyPr>
          <a:lstStyle/>
          <a:p>
            <a:pPr algn="l"/>
            <a:r>
              <a:rPr sz="2000" b="1">
                <a:solidFill>
                  <a:srgbClr val="C9962B"/>
                </a:solidFill>
                <a:latin typeface="Calibri"/>
              </a:rPr>
              <a:t>Tighten the loop</a:t>
            </a:r>
          </a:p>
          <a:p>
            <a:pPr algn="l">
              <a:spcBef>
                <a:spcPts val="300"/>
              </a:spcBef>
            </a:pPr>
            <a:r>
              <a:rPr sz="1500" b="0">
                <a:solidFill>
                  <a:srgbClr val="222222"/>
                </a:solidFill>
                <a:latin typeface="Calibri"/>
              </a:rPr>
              <a:t>Track edits the human</a:t>
            </a:r>
          </a:p>
          <a:p>
            <a:pPr algn="l">
              <a:spcBef>
                <a:spcPts val="300"/>
              </a:spcBef>
            </a:pPr>
            <a:r>
              <a:rPr sz="1500" b="0">
                <a:solidFill>
                  <a:srgbClr val="222222"/>
                </a:solidFill>
                <a:latin typeface="Calibri"/>
              </a:rPr>
              <a:t>makes to drafts. Reduce</a:t>
            </a:r>
          </a:p>
          <a:p>
            <a:pPr algn="l">
              <a:spcBef>
                <a:spcPts val="300"/>
              </a:spcBef>
            </a:pPr>
            <a:r>
              <a:rPr sz="1500" b="0">
                <a:solidFill>
                  <a:srgbClr val="222222"/>
                </a:solidFill>
                <a:latin typeface="Calibri"/>
              </a:rPr>
              <a:t>them over time.</a:t>
            </a:r>
          </a:p>
        </p:txBody>
      </p:sp>
      <p:sp>
        <p:nvSpPr>
          <p:cNvPr id="14" name="TextBox 13"/>
          <p:cNvSpPr txBox="1"/>
          <p:nvPr/>
        </p:nvSpPr>
        <p:spPr>
          <a:xfrm>
            <a:off x="640080" y="5303520"/>
            <a:ext cx="10881360" cy="1097280"/>
          </a:xfrm>
          <a:prstGeom prst="rect">
            <a:avLst/>
          </a:prstGeom>
          <a:noFill/>
        </p:spPr>
        <p:txBody>
          <a:bodyPr wrap="square" lIns="0" rIns="0" tIns="0" bIns="0" anchor="t">
            <a:spAutoFit/>
          </a:bodyPr>
          <a:lstStyle/>
          <a:p>
            <a:pPr algn="ctr"/>
            <a:r>
              <a:rPr sz="2000" b="1">
                <a:solidFill>
                  <a:srgbClr val="1F4E79"/>
                </a:solidFill>
                <a:latin typeface="Calibri"/>
              </a:rPr>
              <a:t>The foundation is built. Now we extend it.</a:t>
            </a:r>
          </a:p>
          <a:p>
            <a:pPr algn="ctr">
              <a:spcBef>
                <a:spcPts val="600"/>
              </a:spcBef>
            </a:pPr>
            <a:r>
              <a:rPr sz="1400" b="0">
                <a:solidFill>
                  <a:srgbClr val="6B7785"/>
                </a:solidFill>
                <a:latin typeface="Calibri"/>
              </a:rPr>
              <a:t>Each next step builds on the same daily pass -- no re-architecture needed.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