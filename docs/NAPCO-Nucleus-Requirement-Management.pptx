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framing: requirements come at us from multiple channels and multiple people. Today's deck shows how NAPCO Nucleus stitches all of that back together into one verification email that I review and send to the client myself. The team's involvement is small but important -- I'll explain exactly what I need from each of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a single requirement might mention something in a Teams chat with Dev 2, get clarified in a call with Dev 1, and arrive fully formed as a PDF in my inbox. By the time I notice all three exist I've already lost a day. The cost isn't just time -- it's that pieces get dropped silently.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stages. Capture is the only one running in the background. Identify is one LLM call, on my command. Verify is me reading the document. Deliver is me clicking Send. The team is in Capture only -- the rest is on 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channels stage to central in the background -- nothing to remember. Chat push runs on three BD-local schedules (Day every 2 hr 10:00-17:00, Transition once at 17:30, Evening every 30 min 18:00-24:00) with an overnight gap that can be swept manually if needed. Teams calls record automatically the moment Teams opens its audio session -- no phrases to remember, though the verbal-trigger fallback is still armed. Email + Drive run 24x7 from the central host (offset by 5 min to avoid API contention). Dev machines never hold Gmail or Drive credentials -- those live on the central host. The Requirement Management workflow reads from the central store when I'm ready to draft.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Developer Setup PDF in docs/ goes through every step in detail. The two things to remember: run the chat-push registration in admin PowerShell so the three scheduled tasks land, and use install-voice-daemon.bat -- it registers a Scheduled Task that re-launches the daemon at every logon and restarts it on crash. Recordings happen automatically the moment Teams opens an audio session; no buttons, no phrases.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everyone to internalise: you don't run any command during the day. Your machine pushes chat on its three BD-time schedules; the voice daemon auto-records the second Teams opens an audio session -- nothing to say, nothing to press; downloads land in ~/Downloads automatically when you click. That's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workflow. Two triggers, same code path: the GitHub Actions "Requirement Management" workflow on the self-hosted runner, or scripts\requirement-management.bat on my own machine. Email + Drive are already on central (auto-staged every 15 min), so the workflow just walks what's there, transcribes new calls, and asks Claude to identify + draft. Output is one verification email in [Gmail]/Drafts -- I read it, edit it, send it, or skip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responsibilities. Dev machines push -- only push -- to the central Samba share on .123. The Linux central host runs a docker-compose stack that pulls email + Drive on its own cadence and transcribes new calls within ~2 minutes of arrival. The LLM identify + draft step runs once daily at 23:45 BD inside a container, and also on demand whenever I trigger it. Each layer holds the smallest permissions it needs -- dev PCs have no Gmail or Drive credentials at 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artifacts. The raw doc is the audit trail. The requirements doc is what the client will see. The draft is ready to send. If I find an issue, I can re-run with a different window or fix the source data and try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being explicit about boundaries so expectations are right. Capture is fully automated -- chat, calls, email, and Drive all stage themselves. Identify + draft also runs on its own once daily at 23:45 BD. The one thing that stays manual is the send click: every email that goes to a client leaves my mailbox because I clicked Send. That's the human-in-the-loop boundary, and it stays there until the requirements doc is &gt;=80% accurate month after month. This is a capture aid that I drive at the final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chasing automation for its own sake. The order is: stabilise the manual flow, then layer dedup and convenience, then layer auto-publish behind an accuracy gate, then -- only if it's rock solid -- consider auto-send. None of this happens without measurable wins on the earlier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kept deliberately small. Setup once. Keep Teams open. Click Download. That's the whole ask. Everything else -- the pulling, the transcribing, the identifying, the drafting -- is on the system and on 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on questions, then offer a live run -- do_it_now.py with the seeded test data so the team can see the verification doc and the draft email appear.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1371600"/>
          </a:xfrm>
          <a:prstGeom prst="rect">
            <a:avLst/>
          </a:prstGeom>
          <a:noFill/>
        </p:spPr>
        <p:txBody>
          <a:bodyPr wrap="square" lIns="0" rIns="0" tIns="0" bIns="0" anchor="t">
            <a:spAutoFit/>
          </a:bodyPr>
          <a:lstStyle/>
          <a:p>
            <a:pPr algn="l"/>
            <a:r>
              <a:rPr sz="5800" b="1">
                <a:solidFill>
                  <a:srgbClr val="FFFFFF"/>
                </a:solidFill>
                <a:latin typeface="Calibri"/>
              </a:rPr>
              <a:t>NAPCO Nucleus</a:t>
            </a:r>
          </a:p>
          <a:p>
            <a:pPr algn="l"/>
            <a:r>
              <a:rPr sz="2800" b="0">
                <a:solidFill>
                  <a:srgbClr val="FFFFFF"/>
                </a:solidFill>
                <a:latin typeface="Calibri"/>
              </a:rPr>
              <a:t>Requirement Management Workflow</a:t>
            </a:r>
          </a:p>
        </p:txBody>
      </p:sp>
      <p:sp>
        <p:nvSpPr>
          <p:cNvPr id="4" name="TextBox 3"/>
          <p:cNvSpPr txBox="1"/>
          <p:nvPr/>
        </p:nvSpPr>
        <p:spPr>
          <a:xfrm>
            <a:off x="731520" y="4023360"/>
            <a:ext cx="10698480" cy="1371600"/>
          </a:xfrm>
          <a:prstGeom prst="rect">
            <a:avLst/>
          </a:prstGeom>
          <a:noFill/>
        </p:spPr>
        <p:txBody>
          <a:bodyPr wrap="square" lIns="0" rIns="0" tIns="0" bIns="0" anchor="t">
            <a:spAutoFit/>
          </a:bodyPr>
          <a:lstStyle/>
          <a:p>
            <a:pPr algn="l"/>
            <a:r>
              <a:rPr sz="1800" b="0">
                <a:solidFill>
                  <a:srgbClr val="C8D2E0"/>
                </a:solidFill>
                <a:latin typeface="Calibri"/>
              </a:rPr>
              <a:t>Client conversations -&gt; one verification email, end-to-end.</a:t>
            </a:r>
          </a:p>
        </p:txBody>
      </p:sp>
      <p:sp>
        <p:nvSpPr>
          <p:cNvPr id="5" name="TextBox 4"/>
          <p:cNvSpPr txBox="1"/>
          <p:nvPr/>
        </p:nvSpPr>
        <p:spPr>
          <a:xfrm>
            <a:off x="731520" y="6217920"/>
            <a:ext cx="10698480" cy="365760"/>
          </a:xfrm>
          <a:prstGeom prst="rect">
            <a:avLst/>
          </a:prstGeom>
          <a:noFill/>
        </p:spPr>
        <p:txBody>
          <a:bodyPr wrap="square" lIns="0" rIns="0" tIns="0" bIns="0" anchor="t">
            <a:spAutoFit/>
          </a:bodyPr>
          <a:lstStyle/>
          <a:p>
            <a:pPr algn="l"/>
            <a:r>
              <a:rPr sz="1200" b="0">
                <a:solidFill>
                  <a:srgbClr val="9CABBE"/>
                </a:solidFill>
                <a:latin typeface="Calibri"/>
              </a:rPr>
              <a:t>Mohammad Kamrul Hasan (Titu)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problem</a:t>
            </a:r>
          </a:p>
          <a:p>
            <a:pPr algn="l">
              <a:spcBef>
                <a:spcPts val="200"/>
              </a:spcBef>
            </a:pPr>
            <a:r>
              <a:rPr sz="1400" b="0">
                <a:solidFill>
                  <a:srgbClr val="6B7785"/>
                </a:solidFill>
                <a:latin typeface="Calibri"/>
              </a:rPr>
              <a:t>A single client requirement is rarely in one place.</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2194560" cy="54864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Client</a:t>
            </a:r>
          </a:p>
        </p:txBody>
      </p:sp>
      <p:sp>
        <p:nvSpPr>
          <p:cNvPr id="6" name="Rounded Rectangle 5"/>
          <p:cNvSpPr/>
          <p:nvPr/>
        </p:nvSpPr>
        <p:spPr>
          <a:xfrm>
            <a:off x="731520" y="23317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1</a:t>
            </a:r>
          </a:p>
        </p:txBody>
      </p:sp>
      <p:sp>
        <p:nvSpPr>
          <p:cNvPr id="7" name="Rounded Rectangle 6"/>
          <p:cNvSpPr/>
          <p:nvPr/>
        </p:nvSpPr>
        <p:spPr>
          <a:xfrm>
            <a:off x="731520" y="30175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2</a:t>
            </a:r>
          </a:p>
        </p:txBody>
      </p:sp>
      <p:sp>
        <p:nvSpPr>
          <p:cNvPr id="8" name="Rounded Rectangle 7"/>
          <p:cNvSpPr/>
          <p:nvPr/>
        </p:nvSpPr>
        <p:spPr>
          <a:xfrm>
            <a:off x="731520" y="37033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3</a:t>
            </a:r>
          </a:p>
        </p:txBody>
      </p:sp>
      <p:sp>
        <p:nvSpPr>
          <p:cNvPr id="9" name="Rounded Rectangle 8"/>
          <p:cNvSpPr/>
          <p:nvPr/>
        </p:nvSpPr>
        <p:spPr>
          <a:xfrm>
            <a:off x="3840480" y="1463040"/>
            <a:ext cx="1828800" cy="54864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Teams chat</a:t>
            </a:r>
          </a:p>
        </p:txBody>
      </p:sp>
      <p:sp>
        <p:nvSpPr>
          <p:cNvPr id="10" name="TextBox 9"/>
          <p:cNvSpPr txBox="1"/>
          <p:nvPr/>
        </p:nvSpPr>
        <p:spPr>
          <a:xfrm>
            <a:off x="5943600" y="1463040"/>
            <a:ext cx="5852160" cy="548640"/>
          </a:xfrm>
          <a:prstGeom prst="rect">
            <a:avLst/>
          </a:prstGeom>
          <a:noFill/>
        </p:spPr>
        <p:txBody>
          <a:bodyPr wrap="square" lIns="0" rIns="0" tIns="0" bIns="0" anchor="ctr">
            <a:spAutoFit/>
          </a:bodyPr>
          <a:lstStyle/>
          <a:p>
            <a:pPr algn="l"/>
            <a:r>
              <a:rPr sz="1200" b="0">
                <a:solidFill>
                  <a:srgbClr val="222222"/>
                </a:solidFill>
                <a:latin typeface="Calibri"/>
              </a:rPr>
              <a:t>"Make the login flow log failed attempts"</a:t>
            </a:r>
          </a:p>
        </p:txBody>
      </p:sp>
      <p:sp>
        <p:nvSpPr>
          <p:cNvPr id="11" name="Rounded Rectangle 10"/>
          <p:cNvSpPr/>
          <p:nvPr/>
        </p:nvSpPr>
        <p:spPr>
          <a:xfrm>
            <a:off x="3840480" y="2560320"/>
            <a:ext cx="1828800" cy="54864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Teams call</a:t>
            </a:r>
          </a:p>
        </p:txBody>
      </p:sp>
      <p:sp>
        <p:nvSpPr>
          <p:cNvPr id="12" name="TextBox 11"/>
          <p:cNvSpPr txBox="1"/>
          <p:nvPr/>
        </p:nvSpPr>
        <p:spPr>
          <a:xfrm>
            <a:off x="5943600" y="2560320"/>
            <a:ext cx="5852160" cy="548640"/>
          </a:xfrm>
          <a:prstGeom prst="rect">
            <a:avLst/>
          </a:prstGeom>
          <a:noFill/>
        </p:spPr>
        <p:txBody>
          <a:bodyPr wrap="square" lIns="0" rIns="0" tIns="0" bIns="0" anchor="ctr">
            <a:spAutoFit/>
          </a:bodyPr>
          <a:lstStyle/>
          <a:p>
            <a:pPr algn="l"/>
            <a:r>
              <a:rPr sz="1200" b="0">
                <a:solidFill>
                  <a:srgbClr val="222222"/>
                </a:solidFill>
                <a:latin typeface="Calibri"/>
              </a:rPr>
              <a:t>"...and also keep audit timestamps in UTC"</a:t>
            </a:r>
          </a:p>
        </p:txBody>
      </p:sp>
      <p:sp>
        <p:nvSpPr>
          <p:cNvPr id="13" name="Rounded Rectangle 12"/>
          <p:cNvSpPr/>
          <p:nvPr/>
        </p:nvSpPr>
        <p:spPr>
          <a:xfrm>
            <a:off x="3840480" y="3657600"/>
            <a:ext cx="1828800" cy="54864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Email</a:t>
            </a:r>
          </a:p>
        </p:txBody>
      </p:sp>
      <p:sp>
        <p:nvSpPr>
          <p:cNvPr id="14" name="TextBox 13"/>
          <p:cNvSpPr txBox="1"/>
          <p:nvPr/>
        </p:nvSpPr>
        <p:spPr>
          <a:xfrm>
            <a:off x="5943600" y="3657600"/>
            <a:ext cx="5852160" cy="548640"/>
          </a:xfrm>
          <a:prstGeom prst="rect">
            <a:avLst/>
          </a:prstGeom>
          <a:noFill/>
        </p:spPr>
        <p:txBody>
          <a:bodyPr wrap="square" lIns="0" rIns="0" tIns="0" bIns="0" anchor="ctr">
            <a:spAutoFit/>
          </a:bodyPr>
          <a:lstStyle/>
          <a:p>
            <a:pPr algn="l"/>
            <a:r>
              <a:rPr sz="1200" b="0">
                <a:solidFill>
                  <a:srgbClr val="222222"/>
                </a:solidFill>
                <a:latin typeface="Calibri"/>
              </a:rPr>
              <a:t>PDF attached: "Requirement spec v2"</a:t>
            </a:r>
          </a:p>
        </p:txBody>
      </p:sp>
      <p:sp>
        <p:nvSpPr>
          <p:cNvPr id="15" name="Rounded Rectangle 14"/>
          <p:cNvSpPr/>
          <p:nvPr/>
        </p:nvSpPr>
        <p:spPr>
          <a:xfrm>
            <a:off x="3840480" y="4754879"/>
            <a:ext cx="1828800" cy="54864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Drive</a:t>
            </a:r>
          </a:p>
        </p:txBody>
      </p:sp>
      <p:sp>
        <p:nvSpPr>
          <p:cNvPr id="16" name="TextBox 15"/>
          <p:cNvSpPr txBox="1"/>
          <p:nvPr/>
        </p:nvSpPr>
        <p:spPr>
          <a:xfrm>
            <a:off x="5943600" y="4754879"/>
            <a:ext cx="5852160" cy="548640"/>
          </a:xfrm>
          <a:prstGeom prst="rect">
            <a:avLst/>
          </a:prstGeom>
          <a:noFill/>
        </p:spPr>
        <p:txBody>
          <a:bodyPr wrap="square" lIns="0" rIns="0" tIns="0" bIns="0" anchor="ctr">
            <a:spAutoFit/>
          </a:bodyPr>
          <a:lstStyle/>
          <a:p>
            <a:pPr algn="l"/>
            <a:r>
              <a:rPr sz="1200" b="0">
                <a:solidFill>
                  <a:srgbClr val="222222"/>
                </a:solidFill>
                <a:latin typeface="Calibri"/>
              </a:rPr>
              <a:t>Spreadsheet of edge cases dropped in folder</a:t>
            </a:r>
          </a:p>
        </p:txBody>
      </p:sp>
      <p:sp>
        <p:nvSpPr>
          <p:cNvPr id="17" name="Rectangle 16"/>
          <p:cNvSpPr/>
          <p:nvPr/>
        </p:nvSpPr>
        <p:spPr>
          <a:xfrm>
            <a:off x="548640" y="5852160"/>
            <a:ext cx="11064240" cy="45720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897880"/>
            <a:ext cx="10698480" cy="365760"/>
          </a:xfrm>
          <a:prstGeom prst="rect">
            <a:avLst/>
          </a:prstGeom>
          <a:noFill/>
        </p:spPr>
        <p:txBody>
          <a:bodyPr wrap="square" lIns="0" rIns="0" tIns="0" bIns="0" anchor="ctr">
            <a:spAutoFit/>
          </a:bodyPr>
          <a:lstStyle/>
          <a:p>
            <a:pPr algn="l"/>
            <a:r>
              <a:rPr sz="1200" b="0">
                <a:solidFill>
                  <a:srgbClr val="6B7785"/>
                </a:solidFill>
                <a:latin typeface="Calibri"/>
              </a:rPr>
              <a:t>Nobody has all the pieces. Stitching them by hand is slow and error-prone.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solution</a:t>
            </a:r>
          </a:p>
          <a:p>
            <a:pPr algn="l">
              <a:spcBef>
                <a:spcPts val="200"/>
              </a:spcBef>
            </a:pPr>
            <a:r>
              <a:rPr sz="1400" b="0">
                <a:solidFill>
                  <a:srgbClr val="6B7785"/>
                </a:solidFill>
                <a:latin typeface="Calibri"/>
              </a:rPr>
              <a:t>One pipeline, four channels in, one verification email out.</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73152" cy="3291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64208"/>
            <a:ext cx="2350008" cy="3072384"/>
          </a:xfrm>
          <a:prstGeom prst="rect">
            <a:avLst/>
          </a:prstGeom>
          <a:noFill/>
        </p:spPr>
        <p:txBody>
          <a:bodyPr wrap="square" lIns="0" rIns="0" tIns="0" bIns="0" anchor="t">
            <a:spAutoFit/>
          </a:bodyPr>
          <a:lstStyle/>
          <a:p>
            <a:pPr algn="l"/>
            <a:r>
              <a:rPr sz="1400" b="1">
                <a:solidFill>
                  <a:srgbClr val="1F4E79"/>
                </a:solidFill>
                <a:latin typeface="Calibri"/>
              </a:rPr>
              <a:t>CAPTURE</a:t>
            </a:r>
          </a:p>
          <a:p>
            <a:pPr algn="l">
              <a:spcBef>
                <a:spcPts val="200"/>
              </a:spcBef>
            </a:pPr>
            <a:r>
              <a:rPr sz="1100" b="0">
                <a:solidFill>
                  <a:srgbClr val="222222"/>
                </a:solidFill>
                <a:latin typeface="Calibri"/>
              </a:rPr>
              <a:t>Every dev machine + agent host pulls chat, calls, email, and Drive into one document.</a:t>
            </a:r>
          </a:p>
        </p:txBody>
      </p:sp>
      <p:cxnSp>
        <p:nvCxnSpPr>
          <p:cNvPr id="8" name="Connector 7"/>
          <p:cNvCxnSpPr/>
          <p:nvPr/>
        </p:nvCxnSpPr>
        <p:spPr>
          <a:xfrm>
            <a:off x="326440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7472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554480"/>
            <a:ext cx="73152" cy="32918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1664208"/>
            <a:ext cx="2350008" cy="3072384"/>
          </a:xfrm>
          <a:prstGeom prst="rect">
            <a:avLst/>
          </a:prstGeom>
          <a:noFill/>
        </p:spPr>
        <p:txBody>
          <a:bodyPr wrap="square" lIns="0" rIns="0" tIns="0" bIns="0" anchor="t">
            <a:spAutoFit/>
          </a:bodyPr>
          <a:lstStyle/>
          <a:p>
            <a:pPr algn="l"/>
            <a:r>
              <a:rPr sz="1400" b="1">
                <a:solidFill>
                  <a:srgbClr val="2E8A8A"/>
                </a:solidFill>
                <a:latin typeface="Calibri"/>
              </a:rPr>
              <a:t>IDENTIFY</a:t>
            </a:r>
          </a:p>
          <a:p>
            <a:pPr algn="l">
              <a:spcBef>
                <a:spcPts val="200"/>
              </a:spcBef>
            </a:pPr>
            <a:r>
              <a:rPr sz="1100" b="0">
                <a:solidFill>
                  <a:srgbClr val="222222"/>
                </a:solidFill>
                <a:latin typeface="Calibri"/>
              </a:rPr>
              <a:t>Claude reads the document and extracts a deduped, structured requirement list.</a:t>
            </a:r>
          </a:p>
        </p:txBody>
      </p:sp>
      <p:cxnSp>
        <p:nvCxnSpPr>
          <p:cNvPr id="12" name="Connector 11"/>
          <p:cNvCxnSpPr/>
          <p:nvPr/>
        </p:nvCxnSpPr>
        <p:spPr>
          <a:xfrm>
            <a:off x="609904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30936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554480"/>
            <a:ext cx="73152" cy="329184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664208"/>
            <a:ext cx="2350008" cy="3072384"/>
          </a:xfrm>
          <a:prstGeom prst="rect">
            <a:avLst/>
          </a:prstGeom>
          <a:noFill/>
        </p:spPr>
        <p:txBody>
          <a:bodyPr wrap="square" lIns="0" rIns="0" tIns="0" bIns="0" anchor="t">
            <a:spAutoFit/>
          </a:bodyPr>
          <a:lstStyle/>
          <a:p>
            <a:pPr algn="l"/>
            <a:r>
              <a:rPr sz="1400" b="1">
                <a:solidFill>
                  <a:srgbClr val="4A7A4A"/>
                </a:solidFill>
                <a:latin typeface="Calibri"/>
              </a:rPr>
              <a:t>VERIFY</a:t>
            </a:r>
          </a:p>
          <a:p>
            <a:pPr algn="l">
              <a:spcBef>
                <a:spcPts val="200"/>
              </a:spcBef>
            </a:pPr>
            <a:r>
              <a:rPr sz="1100" b="0">
                <a:solidFill>
                  <a:srgbClr val="222222"/>
                </a:solidFill>
                <a:latin typeface="Calibri"/>
              </a:rPr>
              <a:t>Titu reviews the list, edits if needed, and clicks Send when satisfied.</a:t>
            </a:r>
          </a:p>
        </p:txBody>
      </p:sp>
      <p:cxnSp>
        <p:nvCxnSpPr>
          <p:cNvPr id="16" name="Connector 15"/>
          <p:cNvCxnSpPr/>
          <p:nvPr/>
        </p:nvCxnSpPr>
        <p:spPr>
          <a:xfrm>
            <a:off x="893368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1554480"/>
            <a:ext cx="73152" cy="32918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08592" y="1664208"/>
            <a:ext cx="2350008" cy="3072384"/>
          </a:xfrm>
          <a:prstGeom prst="rect">
            <a:avLst/>
          </a:prstGeom>
          <a:noFill/>
        </p:spPr>
        <p:txBody>
          <a:bodyPr wrap="square" lIns="0" rIns="0" tIns="0" bIns="0" anchor="t">
            <a:spAutoFit/>
          </a:bodyPr>
          <a:lstStyle/>
          <a:p>
            <a:pPr algn="l"/>
            <a:r>
              <a:rPr sz="1400" b="1">
                <a:solidFill>
                  <a:srgbClr val="E07856"/>
                </a:solidFill>
                <a:latin typeface="Calibri"/>
              </a:rPr>
              <a:t>DELIVER</a:t>
            </a:r>
          </a:p>
          <a:p>
            <a:pPr algn="l">
              <a:spcBef>
                <a:spcPts val="200"/>
              </a:spcBef>
            </a:pPr>
            <a:r>
              <a:rPr sz="1100" b="0">
                <a:solidFill>
                  <a:srgbClr val="222222"/>
                </a:solidFill>
                <a:latin typeface="Calibri"/>
              </a:rPr>
              <a:t>Client receives an email asking them to confirm. Nothing leaves Gmail without Titu.</a:t>
            </a:r>
          </a:p>
        </p:txBody>
      </p:sp>
      <p:sp>
        <p:nvSpPr>
          <p:cNvPr id="20" name="TextBox 19"/>
          <p:cNvSpPr txBox="1"/>
          <p:nvPr/>
        </p:nvSpPr>
        <p:spPr>
          <a:xfrm>
            <a:off x="640080" y="5212080"/>
            <a:ext cx="10972800" cy="731520"/>
          </a:xfrm>
          <a:prstGeom prst="rect">
            <a:avLst/>
          </a:prstGeom>
          <a:noFill/>
        </p:spPr>
        <p:txBody>
          <a:bodyPr wrap="square" lIns="0" rIns="0" tIns="0" bIns="0" anchor="ctr">
            <a:spAutoFit/>
          </a:bodyPr>
          <a:lstStyle/>
          <a:p>
            <a:pPr algn="ctr"/>
            <a:r>
              <a:rPr sz="1400" b="1">
                <a:solidFill>
                  <a:srgbClr val="1F4E79"/>
                </a:solidFill>
                <a:latin typeface="Calibri"/>
              </a:rPr>
              <a:t>Human-in-the-loop at the Verify step. Nothing is auto-sent.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four input channels</a:t>
            </a:r>
          </a:p>
          <a:p>
            <a:pPr algn="l">
              <a:spcBef>
                <a:spcPts val="200"/>
              </a:spcBef>
            </a:pPr>
            <a:r>
              <a:rPr sz="1400" b="0">
                <a:solidFill>
                  <a:srgbClr val="6B7785"/>
                </a:solidFill>
                <a:latin typeface="Calibri"/>
              </a:rPr>
              <a:t>All four stage to central automatically. No operator action.</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73152" cy="233172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81328"/>
            <a:ext cx="5047488" cy="2112264"/>
          </a:xfrm>
          <a:prstGeom prst="rect">
            <a:avLst/>
          </a:prstGeom>
          <a:noFill/>
        </p:spPr>
        <p:txBody>
          <a:bodyPr wrap="square" lIns="0" rIns="0" tIns="0" bIns="0" anchor="t">
            <a:spAutoFit/>
          </a:bodyPr>
          <a:lstStyle/>
          <a:p>
            <a:pPr algn="l"/>
            <a:r>
              <a:rPr sz="1400" b="1">
                <a:solidFill>
                  <a:srgbClr val="E07856"/>
                </a:solidFill>
                <a:latin typeface="Calibri"/>
              </a:rPr>
              <a:t>Teams chat</a:t>
            </a:r>
          </a:p>
          <a:p>
            <a:pPr algn="l">
              <a:spcBef>
                <a:spcPts val="200"/>
              </a:spcBef>
            </a:pPr>
            <a:r>
              <a:rPr sz="1100" b="0">
                <a:solidFill>
                  <a:srgbClr val="222222"/>
                </a:solidFill>
                <a:latin typeface="Calibri"/>
              </a:rPr>
              <a:t>Read from each dev's local Teams cache. No API, no token.</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Day every 2 hr, Transition 17:30, Evening every 30 min. 24x7 with overnight gap.</a:t>
            </a:r>
          </a:p>
        </p:txBody>
      </p:sp>
      <p:sp>
        <p:nvSpPr>
          <p:cNvPr id="8" name="Rectangle 7"/>
          <p:cNvSpPr/>
          <p:nvPr/>
        </p:nvSpPr>
        <p:spPr>
          <a:xfrm>
            <a:off x="6355080" y="13716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371600"/>
            <a:ext cx="73152" cy="233172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1481328"/>
            <a:ext cx="5047488" cy="2112264"/>
          </a:xfrm>
          <a:prstGeom prst="rect">
            <a:avLst/>
          </a:prstGeom>
          <a:noFill/>
        </p:spPr>
        <p:txBody>
          <a:bodyPr wrap="square" lIns="0" rIns="0" tIns="0" bIns="0" anchor="t">
            <a:spAutoFit/>
          </a:bodyPr>
          <a:lstStyle/>
          <a:p>
            <a:pPr algn="l"/>
            <a:r>
              <a:rPr sz="1400" b="1">
                <a:solidFill>
                  <a:srgbClr val="2E8A8A"/>
                </a:solidFill>
                <a:latin typeface="Calibri"/>
              </a:rPr>
              <a:t>Teams calls</a:t>
            </a:r>
          </a:p>
          <a:p>
            <a:pPr algn="l">
              <a:spcBef>
                <a:spcPts val="200"/>
              </a:spcBef>
            </a:pPr>
            <a:r>
              <a:rPr sz="1100" b="0">
                <a:solidFill>
                  <a:srgbClr val="222222"/>
                </a:solidFill>
                <a:latin typeface="Calibri"/>
              </a:rPr>
              <a:t>Voice daemon records mic + speaker as separate tracks.</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Auto on Teams audio-session edges, 24x7. Phrase trigger armed as fallback.</a:t>
            </a:r>
          </a:p>
        </p:txBody>
      </p:sp>
      <p:sp>
        <p:nvSpPr>
          <p:cNvPr id="11" name="Rectangle 10"/>
          <p:cNvSpPr/>
          <p:nvPr/>
        </p:nvSpPr>
        <p:spPr>
          <a:xfrm>
            <a:off x="548640" y="38862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73152" cy="23317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95928"/>
            <a:ext cx="5047488" cy="2112264"/>
          </a:xfrm>
          <a:prstGeom prst="rect">
            <a:avLst/>
          </a:prstGeom>
          <a:noFill/>
        </p:spPr>
        <p:txBody>
          <a:bodyPr wrap="square" lIns="0" rIns="0" tIns="0" bIns="0" anchor="t">
            <a:spAutoFit/>
          </a:bodyPr>
          <a:lstStyle/>
          <a:p>
            <a:pPr algn="l"/>
            <a:r>
              <a:rPr sz="1400" b="1">
                <a:solidFill>
                  <a:srgbClr val="C9962B"/>
                </a:solidFill>
                <a:latin typeface="Calibri"/>
              </a:rPr>
              <a:t>Email</a:t>
            </a:r>
          </a:p>
          <a:p>
            <a:pPr algn="l">
              <a:spcBef>
                <a:spcPts val="200"/>
              </a:spcBef>
            </a:pPr>
            <a:r>
              <a:rPr sz="1100" b="0">
                <a:solidFill>
                  <a:srgbClr val="222222"/>
                </a:solidFill>
                <a:latin typeface="Calibri"/>
              </a:rPr>
              <a:t>IMAP poll of khasan@ael-bd.com on the central host.</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Auto-staged to central every 15 min, 24x7. UID-checkpointed.</a:t>
            </a:r>
          </a:p>
        </p:txBody>
      </p:sp>
      <p:sp>
        <p:nvSpPr>
          <p:cNvPr id="14" name="Rectangle 13"/>
          <p:cNvSpPr/>
          <p:nvPr/>
        </p:nvSpPr>
        <p:spPr>
          <a:xfrm>
            <a:off x="6355080" y="38862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3886200"/>
            <a:ext cx="73152" cy="23317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3995928"/>
            <a:ext cx="5047488" cy="2112264"/>
          </a:xfrm>
          <a:prstGeom prst="rect">
            <a:avLst/>
          </a:prstGeom>
          <a:noFill/>
        </p:spPr>
        <p:txBody>
          <a:bodyPr wrap="square" lIns="0" rIns="0" tIns="0" bIns="0" anchor="t">
            <a:spAutoFit/>
          </a:bodyPr>
          <a:lstStyle/>
          <a:p>
            <a:pPr algn="l"/>
            <a:r>
              <a:rPr sz="1400" b="1">
                <a:solidFill>
                  <a:srgbClr val="6A4C93"/>
                </a:solidFill>
                <a:latin typeface="Calibri"/>
              </a:rPr>
              <a:t>Google Drive</a:t>
            </a:r>
          </a:p>
          <a:p>
            <a:pPr algn="l">
              <a:spcBef>
                <a:spcPts val="200"/>
              </a:spcBef>
            </a:pPr>
            <a:r>
              <a:rPr sz="1100" b="0">
                <a:solidFill>
                  <a:srgbClr val="222222"/>
                </a:solidFill>
                <a:latin typeface="Calibri"/>
              </a:rPr>
              <a:t>Service-account read of one shared folder.</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Auto-staged to central every 15 min, 24x7, +5 min offset.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every developer does -- once</a:t>
            </a:r>
          </a:p>
          <a:p>
            <a:pPr algn="l">
              <a:spcBef>
                <a:spcPts val="200"/>
              </a:spcBef>
            </a:pPr>
            <a:r>
              <a:rPr sz="1400" b="0">
                <a:solidFill>
                  <a:srgbClr val="6B7785"/>
                </a:solidFill>
                <a:latin typeface="Calibri"/>
              </a:rPr>
              <a:t>Five steps. Ten minutes. No secrets.</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6" name="TextBox 5"/>
          <p:cNvSpPr txBox="1"/>
          <p:nvPr/>
        </p:nvSpPr>
        <p:spPr>
          <a:xfrm>
            <a:off x="1463040" y="1417320"/>
            <a:ext cx="10058400" cy="640080"/>
          </a:xfrm>
          <a:prstGeom prst="rect">
            <a:avLst/>
          </a:prstGeom>
          <a:noFill/>
        </p:spPr>
        <p:txBody>
          <a:bodyPr wrap="square" lIns="0" rIns="0" tIns="0" bIns="0" anchor="ctr">
            <a:spAutoFit/>
          </a:bodyPr>
          <a:lstStyle/>
          <a:p>
            <a:pPr algn="l"/>
            <a:r>
              <a:rPr sz="1600" b="1">
                <a:solidFill>
                  <a:srgbClr val="1F4E79"/>
                </a:solidFill>
                <a:latin typeface="Calibri"/>
              </a:rPr>
              <a:t>Clone the repo</a:t>
            </a:r>
          </a:p>
          <a:p>
            <a:pPr algn="l">
              <a:spcBef>
                <a:spcPts val="200"/>
              </a:spcBef>
            </a:pPr>
            <a:r>
              <a:rPr sz="1200" b="0">
                <a:solidFill>
                  <a:srgbClr val="6B7785"/>
                </a:solidFill>
                <a:latin typeface="Calibri"/>
              </a:rPr>
              <a:t>git clone https://github.com/napco-labs/napco-nucleus</a:t>
            </a:r>
          </a:p>
        </p:txBody>
      </p:sp>
      <p:sp>
        <p:nvSpPr>
          <p:cNvPr id="7" name="Rounded Rectangle 6"/>
          <p:cNvSpPr/>
          <p:nvPr/>
        </p:nvSpPr>
        <p:spPr>
          <a:xfrm>
            <a:off x="640080" y="228600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8" name="TextBox 7"/>
          <p:cNvSpPr txBox="1"/>
          <p:nvPr/>
        </p:nvSpPr>
        <p:spPr>
          <a:xfrm>
            <a:off x="1463040" y="2286000"/>
            <a:ext cx="10058400" cy="640080"/>
          </a:xfrm>
          <a:prstGeom prst="rect">
            <a:avLst/>
          </a:prstGeom>
          <a:noFill/>
        </p:spPr>
        <p:txBody>
          <a:bodyPr wrap="square" lIns="0" rIns="0" tIns="0" bIns="0" anchor="ctr">
            <a:spAutoFit/>
          </a:bodyPr>
          <a:lstStyle/>
          <a:p>
            <a:pPr algn="l"/>
            <a:r>
              <a:rPr sz="1600" b="1">
                <a:solidFill>
                  <a:srgbClr val="1F4E79"/>
                </a:solidFill>
                <a:latin typeface="Calibri"/>
              </a:rPr>
              <a:t>Run scripts\setup.bat</a:t>
            </a:r>
          </a:p>
          <a:p>
            <a:pPr algn="l">
              <a:spcBef>
                <a:spcPts val="200"/>
              </a:spcBef>
            </a:pPr>
            <a:r>
              <a:rPr sz="1200" b="0">
                <a:solidFill>
                  <a:srgbClr val="6B7785"/>
                </a:solidFill>
                <a:latin typeface="Calibri"/>
              </a:rPr>
              <a:t>Python, venv, deps, .env. No App Password needed.</a:t>
            </a:r>
          </a:p>
        </p:txBody>
      </p:sp>
      <p:sp>
        <p:nvSpPr>
          <p:cNvPr id="9" name="Rounded Rectangle 8"/>
          <p:cNvSpPr/>
          <p:nvPr/>
        </p:nvSpPr>
        <p:spPr>
          <a:xfrm>
            <a:off x="640080" y="315468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0" name="TextBox 9"/>
          <p:cNvSpPr txBox="1"/>
          <p:nvPr/>
        </p:nvSpPr>
        <p:spPr>
          <a:xfrm>
            <a:off x="1463040" y="3154680"/>
            <a:ext cx="10058400" cy="640080"/>
          </a:xfrm>
          <a:prstGeom prst="rect">
            <a:avLst/>
          </a:prstGeom>
          <a:noFill/>
        </p:spPr>
        <p:txBody>
          <a:bodyPr wrap="square" lIns="0" rIns="0" tIns="0" bIns="0" anchor="ctr">
            <a:spAutoFit/>
          </a:bodyPr>
          <a:lstStyle/>
          <a:p>
            <a:pPr algn="l"/>
            <a:r>
              <a:rPr sz="1600" b="1">
                <a:solidFill>
                  <a:srgbClr val="1F4E79"/>
                </a:solidFill>
                <a:latin typeface="Calibri"/>
              </a:rPr>
              <a:t>Confirm one line in .env</a:t>
            </a:r>
          </a:p>
          <a:p>
            <a:pPr algn="l">
              <a:spcBef>
                <a:spcPts val="200"/>
              </a:spcBef>
            </a:pPr>
            <a:r>
              <a:rPr sz="1200" b="0">
                <a:solidFill>
                  <a:srgbClr val="6B7785"/>
                </a:solidFill>
                <a:latin typeface="Calibri"/>
              </a:rPr>
              <a:t>NUCLEUS_CENTRAL_PATH=\\172.16.205.123\nucleus-central</a:t>
            </a:r>
          </a:p>
        </p:txBody>
      </p:sp>
      <p:sp>
        <p:nvSpPr>
          <p:cNvPr id="11" name="Rounded Rectangle 10"/>
          <p:cNvSpPr/>
          <p:nvPr/>
        </p:nvSpPr>
        <p:spPr>
          <a:xfrm>
            <a:off x="640080" y="402336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4</a:t>
            </a:r>
          </a:p>
        </p:txBody>
      </p:sp>
      <p:sp>
        <p:nvSpPr>
          <p:cNvPr id="12" name="TextBox 11"/>
          <p:cNvSpPr txBox="1"/>
          <p:nvPr/>
        </p:nvSpPr>
        <p:spPr>
          <a:xfrm>
            <a:off x="1463040" y="4023360"/>
            <a:ext cx="10058400" cy="640080"/>
          </a:xfrm>
          <a:prstGeom prst="rect">
            <a:avLst/>
          </a:prstGeom>
          <a:noFill/>
        </p:spPr>
        <p:txBody>
          <a:bodyPr wrap="square" lIns="0" rIns="0" tIns="0" bIns="0" anchor="ctr">
            <a:spAutoFit/>
          </a:bodyPr>
          <a:lstStyle/>
          <a:p>
            <a:pPr algn="l"/>
            <a:r>
              <a:rPr sz="1600" b="1">
                <a:solidFill>
                  <a:srgbClr val="1F4E79"/>
                </a:solidFill>
                <a:latin typeface="Calibri"/>
              </a:rPr>
              <a:t>Register the chat-push tasks (Day / Transition / Evening)</a:t>
            </a:r>
          </a:p>
          <a:p>
            <a:pPr algn="l">
              <a:spcBef>
                <a:spcPts val="200"/>
              </a:spcBef>
            </a:pPr>
            <a:r>
              <a:rPr sz="1200" b="0">
                <a:solidFill>
                  <a:srgbClr val="6B7785"/>
                </a:solidFill>
                <a:latin typeface="Calibri"/>
              </a:rPr>
              <a:t>.\scripts\register-chat-push-task.ps1  (admin PowerShell)</a:t>
            </a:r>
          </a:p>
        </p:txBody>
      </p:sp>
      <p:sp>
        <p:nvSpPr>
          <p:cNvPr id="13" name="Rounded Rectangle 12"/>
          <p:cNvSpPr/>
          <p:nvPr/>
        </p:nvSpPr>
        <p:spPr>
          <a:xfrm>
            <a:off x="640080" y="489204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5</a:t>
            </a:r>
          </a:p>
        </p:txBody>
      </p:sp>
      <p:sp>
        <p:nvSpPr>
          <p:cNvPr id="14" name="TextBox 13"/>
          <p:cNvSpPr txBox="1"/>
          <p:nvPr/>
        </p:nvSpPr>
        <p:spPr>
          <a:xfrm>
            <a:off x="1463040" y="4892040"/>
            <a:ext cx="10058400" cy="640080"/>
          </a:xfrm>
          <a:prstGeom prst="rect">
            <a:avLst/>
          </a:prstGeom>
          <a:noFill/>
        </p:spPr>
        <p:txBody>
          <a:bodyPr wrap="square" lIns="0" rIns="0" tIns="0" bIns="0" anchor="ctr">
            <a:spAutoFit/>
          </a:bodyPr>
          <a:lstStyle/>
          <a:p>
            <a:pPr algn="l"/>
            <a:r>
              <a:rPr sz="1600" b="1">
                <a:solidFill>
                  <a:srgbClr val="1F4E79"/>
                </a:solidFill>
                <a:latin typeface="Calibri"/>
              </a:rPr>
              <a:t>Install the voice daemon (autostarts at logon)</a:t>
            </a:r>
          </a:p>
          <a:p>
            <a:pPr algn="l">
              <a:spcBef>
                <a:spcPts val="200"/>
              </a:spcBef>
            </a:pPr>
            <a:r>
              <a:rPr sz="1200" b="0">
                <a:solidFill>
                  <a:srgbClr val="6B7785"/>
                </a:solidFill>
                <a:latin typeface="Calibri"/>
              </a:rPr>
              <a:t>Double-click scripts\install-voice-daemon.bat</a:t>
            </a:r>
          </a:p>
        </p:txBody>
      </p:sp>
      <p:sp>
        <p:nvSpPr>
          <p:cNvPr id="15" name="Rectangle 14"/>
          <p:cNvSpPr/>
          <p:nvPr/>
        </p:nvSpPr>
        <p:spPr>
          <a:xfrm>
            <a:off x="548640" y="5989320"/>
            <a:ext cx="11064240" cy="4114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016752"/>
            <a:ext cx="10698480" cy="365760"/>
          </a:xfrm>
          <a:prstGeom prst="rect">
            <a:avLst/>
          </a:prstGeom>
          <a:noFill/>
        </p:spPr>
        <p:txBody>
          <a:bodyPr wrap="square" lIns="0" rIns="0" tIns="0" bIns="0" anchor="ctr">
            <a:spAutoFit/>
          </a:bodyPr>
          <a:lstStyle/>
          <a:p>
            <a:pPr algn="l"/>
            <a:r>
              <a:rPr sz="1200" b="0">
                <a:solidFill>
                  <a:srgbClr val="6B7785"/>
                </a:solidFill>
                <a:latin typeface="Calibri"/>
              </a:rPr>
              <a:t>Full walk-through: docs/Setup_Guide.pdf in the repo.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every developer does -- daily</a:t>
            </a:r>
          </a:p>
          <a:p>
            <a:pPr algn="l">
              <a:spcBef>
                <a:spcPts val="200"/>
              </a:spcBef>
            </a:pPr>
            <a:r>
              <a:rPr sz="1400" b="0">
                <a:solidFill>
                  <a:srgbClr val="6B7785"/>
                </a:solidFill>
                <a:latin typeface="Calibri"/>
              </a:rPr>
              <a:t>Mostly nothing. The system does the work.</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5448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4572000" cy="640080"/>
          </a:xfrm>
          <a:prstGeom prst="rect">
            <a:avLst/>
          </a:prstGeom>
          <a:noFill/>
        </p:spPr>
        <p:txBody>
          <a:bodyPr wrap="square" lIns="0" rIns="0" tIns="0" bIns="0" anchor="ctr">
            <a:spAutoFit/>
          </a:bodyPr>
          <a:lstStyle/>
          <a:p>
            <a:pPr algn="l"/>
            <a:r>
              <a:rPr sz="1400" b="1">
                <a:solidFill>
                  <a:srgbClr val="1F4E79"/>
                </a:solidFill>
                <a:latin typeface="Calibri"/>
              </a:rPr>
              <a:t>Get your chat / attachments to central</a:t>
            </a:r>
          </a:p>
        </p:txBody>
      </p:sp>
      <p:sp>
        <p:nvSpPr>
          <p:cNvPr id="7" name="TextBox 6"/>
          <p:cNvSpPr txBox="1"/>
          <p:nvPr/>
        </p:nvSpPr>
        <p:spPr>
          <a:xfrm>
            <a:off x="5577840" y="1691640"/>
            <a:ext cx="6035040" cy="640080"/>
          </a:xfrm>
          <a:prstGeom prst="rect">
            <a:avLst/>
          </a:prstGeom>
          <a:noFill/>
        </p:spPr>
        <p:txBody>
          <a:bodyPr wrap="square" lIns="0" rIns="0" tIns="0" bIns="0" anchor="ctr">
            <a:spAutoFit/>
          </a:bodyPr>
          <a:lstStyle/>
          <a:p>
            <a:pPr algn="l"/>
            <a:r>
              <a:rPr sz="1300" b="0">
                <a:solidFill>
                  <a:srgbClr val="222222"/>
                </a:solidFill>
                <a:latin typeface="Calibri"/>
              </a:rPr>
              <a:t>Nothing -- the chat-push tasks (Day / Transition / Evening) handle it</a:t>
            </a:r>
          </a:p>
        </p:txBody>
      </p:sp>
      <p:sp>
        <p:nvSpPr>
          <p:cNvPr id="8" name="Rectangle 7"/>
          <p:cNvSpPr/>
          <p:nvPr/>
        </p:nvSpPr>
        <p:spPr>
          <a:xfrm>
            <a:off x="548640" y="260604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743200"/>
            <a:ext cx="4572000" cy="640080"/>
          </a:xfrm>
          <a:prstGeom prst="rect">
            <a:avLst/>
          </a:prstGeom>
          <a:noFill/>
        </p:spPr>
        <p:txBody>
          <a:bodyPr wrap="square" lIns="0" rIns="0" tIns="0" bIns="0" anchor="ctr">
            <a:spAutoFit/>
          </a:bodyPr>
          <a:lstStyle/>
          <a:p>
            <a:pPr algn="l"/>
            <a:r>
              <a:rPr sz="1400" b="1">
                <a:solidFill>
                  <a:srgbClr val="1F4E79"/>
                </a:solidFill>
                <a:latin typeface="Calibri"/>
              </a:rPr>
              <a:t>Record a Teams call</a:t>
            </a:r>
          </a:p>
        </p:txBody>
      </p:sp>
      <p:sp>
        <p:nvSpPr>
          <p:cNvPr id="10" name="TextBox 9"/>
          <p:cNvSpPr txBox="1"/>
          <p:nvPr/>
        </p:nvSpPr>
        <p:spPr>
          <a:xfrm>
            <a:off x="5577840" y="2743200"/>
            <a:ext cx="6035040" cy="640080"/>
          </a:xfrm>
          <a:prstGeom prst="rect">
            <a:avLst/>
          </a:prstGeom>
          <a:noFill/>
        </p:spPr>
        <p:txBody>
          <a:bodyPr wrap="square" lIns="0" rIns="0" tIns="0" bIns="0" anchor="ctr">
            <a:spAutoFit/>
          </a:bodyPr>
          <a:lstStyle/>
          <a:p>
            <a:pPr algn="l"/>
            <a:r>
              <a:rPr sz="1300" b="0">
                <a:solidFill>
                  <a:srgbClr val="222222"/>
                </a:solidFill>
                <a:latin typeface="Calibri"/>
              </a:rPr>
              <a:t>Nothing -- recording auto-starts when Teams opens its audio session</a:t>
            </a:r>
          </a:p>
        </p:txBody>
      </p:sp>
      <p:sp>
        <p:nvSpPr>
          <p:cNvPr id="11" name="Rectangle 10"/>
          <p:cNvSpPr/>
          <p:nvPr/>
        </p:nvSpPr>
        <p:spPr>
          <a:xfrm>
            <a:off x="548640" y="365760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794760"/>
            <a:ext cx="4572000" cy="640080"/>
          </a:xfrm>
          <a:prstGeom prst="rect">
            <a:avLst/>
          </a:prstGeom>
          <a:noFill/>
        </p:spPr>
        <p:txBody>
          <a:bodyPr wrap="square" lIns="0" rIns="0" tIns="0" bIns="0" anchor="ctr">
            <a:spAutoFit/>
          </a:bodyPr>
          <a:lstStyle/>
          <a:p>
            <a:pPr algn="l"/>
            <a:r>
              <a:rPr sz="1400" b="1">
                <a:solidFill>
                  <a:srgbClr val="1F4E79"/>
                </a:solidFill>
                <a:latin typeface="Calibri"/>
              </a:rPr>
              <a:t>Include a file from Teams chat</a:t>
            </a:r>
          </a:p>
        </p:txBody>
      </p:sp>
      <p:sp>
        <p:nvSpPr>
          <p:cNvPr id="13" name="TextBox 12"/>
          <p:cNvSpPr txBox="1"/>
          <p:nvPr/>
        </p:nvSpPr>
        <p:spPr>
          <a:xfrm>
            <a:off x="5577840" y="3794760"/>
            <a:ext cx="6035040" cy="640080"/>
          </a:xfrm>
          <a:prstGeom prst="rect">
            <a:avLst/>
          </a:prstGeom>
          <a:noFill/>
        </p:spPr>
        <p:txBody>
          <a:bodyPr wrap="square" lIns="0" rIns="0" tIns="0" bIns="0" anchor="ctr">
            <a:spAutoFit/>
          </a:bodyPr>
          <a:lstStyle/>
          <a:p>
            <a:pPr algn="l"/>
            <a:r>
              <a:rPr sz="1300" b="0">
                <a:solidFill>
                  <a:srgbClr val="222222"/>
                </a:solidFill>
                <a:latin typeface="Calibri"/>
              </a:rPr>
              <a:t>Click "Download" on the attachment so it lands in ~/Downloads</a:t>
            </a:r>
          </a:p>
        </p:txBody>
      </p:sp>
      <p:sp>
        <p:nvSpPr>
          <p:cNvPr id="14" name="Rectangle 13"/>
          <p:cNvSpPr/>
          <p:nvPr/>
        </p:nvSpPr>
        <p:spPr>
          <a:xfrm>
            <a:off x="548640" y="470916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846320"/>
            <a:ext cx="4572000" cy="640080"/>
          </a:xfrm>
          <a:prstGeom prst="rect">
            <a:avLst/>
          </a:prstGeom>
          <a:noFill/>
        </p:spPr>
        <p:txBody>
          <a:bodyPr wrap="square" lIns="0" rIns="0" tIns="0" bIns="0" anchor="ctr">
            <a:spAutoFit/>
          </a:bodyPr>
          <a:lstStyle/>
          <a:p>
            <a:pPr algn="l"/>
            <a:r>
              <a:rPr sz="1400" b="1">
                <a:solidFill>
                  <a:srgbClr val="1F4E79"/>
                </a:solidFill>
                <a:latin typeface="Calibri"/>
              </a:rPr>
              <a:t>Update to the latest code</a:t>
            </a:r>
          </a:p>
        </p:txBody>
      </p:sp>
      <p:sp>
        <p:nvSpPr>
          <p:cNvPr id="16" name="TextBox 15"/>
          <p:cNvSpPr txBox="1"/>
          <p:nvPr/>
        </p:nvSpPr>
        <p:spPr>
          <a:xfrm>
            <a:off x="5577840" y="4846320"/>
            <a:ext cx="6035040" cy="640080"/>
          </a:xfrm>
          <a:prstGeom prst="rect">
            <a:avLst/>
          </a:prstGeom>
          <a:noFill/>
        </p:spPr>
        <p:txBody>
          <a:bodyPr wrap="square" lIns="0" rIns="0" tIns="0" bIns="0" anchor="ctr">
            <a:spAutoFit/>
          </a:bodyPr>
          <a:lstStyle/>
          <a:p>
            <a:pPr algn="l"/>
            <a:r>
              <a:rPr sz="1300" b="0">
                <a:solidFill>
                  <a:srgbClr val="222222"/>
                </a:solidFill>
                <a:latin typeface="Calibri"/>
              </a:rPr>
              <a:t>Double-click scripts\update.bat after a git pull notice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 do</a:t>
            </a:r>
          </a:p>
          <a:p>
            <a:pPr algn="l">
              <a:spcBef>
                <a:spcPts val="200"/>
              </a:spcBef>
            </a:pPr>
            <a:r>
              <a:rPr sz="1400" b="0">
                <a:solidFill>
                  <a:srgbClr val="6B7785"/>
                </a:solidFill>
                <a:latin typeface="Calibri"/>
              </a:rPr>
              <a:t>One command, end-to-end, on demand.</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54480"/>
            <a:ext cx="11064240" cy="9601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10698480" cy="731520"/>
          </a:xfrm>
          <a:prstGeom prst="rect">
            <a:avLst/>
          </a:prstGeom>
          <a:noFill/>
        </p:spPr>
        <p:txBody>
          <a:bodyPr wrap="square" lIns="0" rIns="0" tIns="0" bIns="0" anchor="ctr">
            <a:spAutoFit/>
          </a:bodyPr>
          <a:lstStyle/>
          <a:p>
            <a:pPr algn="l"/>
            <a:r>
              <a:rPr sz="1800" b="1">
                <a:solidFill>
                  <a:srgbClr val="FFFFFF"/>
                </a:solidFill>
                <a:latin typeface="Consolas"/>
              </a:rPr>
              <a:t>GHA: Run workflow "Requirement Management"   or   scripts\requirement-management.bat</a:t>
            </a:r>
          </a:p>
        </p:txBody>
      </p:sp>
      <p:sp>
        <p:nvSpPr>
          <p:cNvPr id="7" name="Rounded Rectangle 6"/>
          <p:cNvSpPr/>
          <p:nvPr/>
        </p:nvSpPr>
        <p:spPr>
          <a:xfrm>
            <a:off x="731520" y="278892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8" name="TextBox 7"/>
          <p:cNvSpPr txBox="1"/>
          <p:nvPr/>
        </p:nvSpPr>
        <p:spPr>
          <a:xfrm>
            <a:off x="1417320" y="2788920"/>
            <a:ext cx="10058400" cy="502920"/>
          </a:xfrm>
          <a:prstGeom prst="rect">
            <a:avLst/>
          </a:prstGeom>
          <a:noFill/>
        </p:spPr>
        <p:txBody>
          <a:bodyPr wrap="square" lIns="0" rIns="0" tIns="0" bIns="0" anchor="ctr">
            <a:spAutoFit/>
          </a:bodyPr>
          <a:lstStyle/>
          <a:p>
            <a:pPr algn="l"/>
            <a:r>
              <a:rPr sz="1400" b="0">
                <a:solidFill>
                  <a:srgbClr val="222222"/>
                </a:solidFill>
                <a:latin typeface="Calibri"/>
              </a:rPr>
              <a:t>Push my local Teams chat to central (force-flush)</a:t>
            </a:r>
          </a:p>
        </p:txBody>
      </p:sp>
      <p:sp>
        <p:nvSpPr>
          <p:cNvPr id="9" name="Rounded Rectangle 8"/>
          <p:cNvSpPr/>
          <p:nvPr/>
        </p:nvSpPr>
        <p:spPr>
          <a:xfrm>
            <a:off x="731520" y="333756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10" name="TextBox 9"/>
          <p:cNvSpPr txBox="1"/>
          <p:nvPr/>
        </p:nvSpPr>
        <p:spPr>
          <a:xfrm>
            <a:off x="1417320" y="3337560"/>
            <a:ext cx="10058400" cy="502920"/>
          </a:xfrm>
          <a:prstGeom prst="rect">
            <a:avLst/>
          </a:prstGeom>
          <a:noFill/>
        </p:spPr>
        <p:txBody>
          <a:bodyPr wrap="square" lIns="0" rIns="0" tIns="0" bIns="0" anchor="ctr">
            <a:spAutoFit/>
          </a:bodyPr>
          <a:lstStyle/>
          <a:p>
            <a:pPr algn="l"/>
            <a:r>
              <a:rPr sz="1400" b="0">
                <a:solidFill>
                  <a:srgbClr val="222222"/>
                </a:solidFill>
                <a:latin typeface="Calibri"/>
              </a:rPr>
              <a:t>Walk central: chat + calls + already-staged email + Drive</a:t>
            </a:r>
          </a:p>
        </p:txBody>
      </p:sp>
      <p:sp>
        <p:nvSpPr>
          <p:cNvPr id="11" name="Rounded Rectangle 10"/>
          <p:cNvSpPr/>
          <p:nvPr/>
        </p:nvSpPr>
        <p:spPr>
          <a:xfrm>
            <a:off x="731520" y="388620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2" name="TextBox 11"/>
          <p:cNvSpPr txBox="1"/>
          <p:nvPr/>
        </p:nvSpPr>
        <p:spPr>
          <a:xfrm>
            <a:off x="1417320" y="3886200"/>
            <a:ext cx="10058400" cy="502920"/>
          </a:xfrm>
          <a:prstGeom prst="rect">
            <a:avLst/>
          </a:prstGeom>
          <a:noFill/>
        </p:spPr>
        <p:txBody>
          <a:bodyPr wrap="square" lIns="0" rIns="0" tIns="0" bIns="0" anchor="ctr">
            <a:spAutoFit/>
          </a:bodyPr>
          <a:lstStyle/>
          <a:p>
            <a:pPr algn="l"/>
            <a:r>
              <a:rPr sz="1400" b="0">
                <a:solidFill>
                  <a:srgbClr val="222222"/>
                </a:solidFill>
                <a:latin typeface="Calibri"/>
              </a:rPr>
              <a:t>Transcribe every new call (Whisper chunked, parallel)</a:t>
            </a:r>
          </a:p>
        </p:txBody>
      </p:sp>
      <p:sp>
        <p:nvSpPr>
          <p:cNvPr id="13" name="Rounded Rectangle 12"/>
          <p:cNvSpPr/>
          <p:nvPr/>
        </p:nvSpPr>
        <p:spPr>
          <a:xfrm>
            <a:off x="731520" y="443484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4</a:t>
            </a:r>
          </a:p>
        </p:txBody>
      </p:sp>
      <p:sp>
        <p:nvSpPr>
          <p:cNvPr id="14" name="TextBox 13"/>
          <p:cNvSpPr txBox="1"/>
          <p:nvPr/>
        </p:nvSpPr>
        <p:spPr>
          <a:xfrm>
            <a:off x="1417320" y="4434840"/>
            <a:ext cx="10058400" cy="502920"/>
          </a:xfrm>
          <a:prstGeom prst="rect">
            <a:avLst/>
          </a:prstGeom>
          <a:noFill/>
        </p:spPr>
        <p:txBody>
          <a:bodyPr wrap="square" lIns="0" rIns="0" tIns="0" bIns="0" anchor="ctr">
            <a:spAutoFit/>
          </a:bodyPr>
          <a:lstStyle/>
          <a:p>
            <a:pPr algn="l"/>
            <a:r>
              <a:rPr sz="1400" b="0">
                <a:solidFill>
                  <a:srgbClr val="222222"/>
                </a:solidFill>
                <a:latin typeface="Calibri"/>
              </a:rPr>
              <a:t>Bangla -&gt; English happens inline at identify time</a:t>
            </a:r>
          </a:p>
        </p:txBody>
      </p:sp>
      <p:sp>
        <p:nvSpPr>
          <p:cNvPr id="15" name="Rounded Rectangle 14"/>
          <p:cNvSpPr/>
          <p:nvPr/>
        </p:nvSpPr>
        <p:spPr>
          <a:xfrm>
            <a:off x="731520" y="498348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5</a:t>
            </a:r>
          </a:p>
        </p:txBody>
      </p:sp>
      <p:sp>
        <p:nvSpPr>
          <p:cNvPr id="16" name="TextBox 15"/>
          <p:cNvSpPr txBox="1"/>
          <p:nvPr/>
        </p:nvSpPr>
        <p:spPr>
          <a:xfrm>
            <a:off x="1417320" y="4983480"/>
            <a:ext cx="10058400" cy="502920"/>
          </a:xfrm>
          <a:prstGeom prst="rect">
            <a:avLst/>
          </a:prstGeom>
          <a:noFill/>
        </p:spPr>
        <p:txBody>
          <a:bodyPr wrap="square" lIns="0" rIns="0" tIns="0" bIns="0" anchor="ctr">
            <a:spAutoFit/>
          </a:bodyPr>
          <a:lstStyle/>
          <a:p>
            <a:pPr algn="l"/>
            <a:r>
              <a:rPr sz="1400" b="0">
                <a:solidFill>
                  <a:srgbClr val="222222"/>
                </a:solidFill>
                <a:latin typeface="Calibri"/>
              </a:rPr>
              <a:t>Claude extracts requirements -&gt; drafts verification email</a:t>
            </a:r>
          </a:p>
        </p:txBody>
      </p:sp>
      <p:sp>
        <p:nvSpPr>
          <p:cNvPr id="17" name="Rounded Rectangle 16"/>
          <p:cNvSpPr/>
          <p:nvPr/>
        </p:nvSpPr>
        <p:spPr>
          <a:xfrm>
            <a:off x="731520" y="553212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6</a:t>
            </a:r>
          </a:p>
        </p:txBody>
      </p:sp>
      <p:sp>
        <p:nvSpPr>
          <p:cNvPr id="18" name="TextBox 17"/>
          <p:cNvSpPr txBox="1"/>
          <p:nvPr/>
        </p:nvSpPr>
        <p:spPr>
          <a:xfrm>
            <a:off x="1417320" y="5532120"/>
            <a:ext cx="10058400" cy="502920"/>
          </a:xfrm>
          <a:prstGeom prst="rect">
            <a:avLst/>
          </a:prstGeom>
          <a:noFill/>
        </p:spPr>
        <p:txBody>
          <a:bodyPr wrap="square" lIns="0" rIns="0" tIns="0" bIns="0" anchor="ctr">
            <a:spAutoFit/>
          </a:bodyPr>
          <a:lstStyle/>
          <a:p>
            <a:pPr algn="l"/>
            <a:r>
              <a:rPr sz="1400" b="0">
                <a:solidFill>
                  <a:srgbClr val="222222"/>
                </a:solidFill>
                <a:latin typeface="Calibri"/>
              </a:rPr>
              <a:t>Draft lands in [Gmail]/Drafts for me to review and send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Where the work happens</a:t>
            </a:r>
          </a:p>
          <a:p>
            <a:pPr algn="l">
              <a:spcBef>
                <a:spcPts val="200"/>
              </a:spcBef>
            </a:pPr>
            <a:r>
              <a:rPr sz="1400" b="0">
                <a:solidFill>
                  <a:srgbClr val="6B7785"/>
                </a:solidFill>
                <a:latin typeface="Calibri"/>
              </a:rPr>
              <a:t>Per-dev push + Linux central pull + LLM identify.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73152" cy="4206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27048"/>
            <a:ext cx="3264408" cy="3986784"/>
          </a:xfrm>
          <a:prstGeom prst="rect">
            <a:avLst/>
          </a:prstGeom>
          <a:noFill/>
        </p:spPr>
        <p:txBody>
          <a:bodyPr wrap="square" lIns="0" rIns="0" tIns="0" bIns="0" anchor="t">
            <a:spAutoFit/>
          </a:bodyPr>
          <a:lstStyle/>
          <a:p>
            <a:pPr algn="l"/>
            <a:r>
              <a:rPr sz="1400" b="1">
                <a:solidFill>
                  <a:srgbClr val="1F4E79"/>
                </a:solidFill>
                <a:latin typeface="Calibri"/>
              </a:rPr>
              <a:t>Dev machines (x N)</a:t>
            </a:r>
          </a:p>
          <a:p>
            <a:pPr algn="l">
              <a:spcBef>
                <a:spcPts val="200"/>
              </a:spcBef>
            </a:pPr>
            <a:r>
              <a:rPr sz="1100" b="0">
                <a:solidFill>
                  <a:srgbClr val="222222"/>
                </a:solidFill>
                <a:latin typeface="Calibri"/>
              </a:rPr>
              <a:t>Read local Teams IndexedDB</a:t>
            </a:r>
          </a:p>
          <a:p>
            <a:pPr algn="l">
              <a:spcBef>
                <a:spcPts val="200"/>
              </a:spcBef>
            </a:pPr>
            <a:r>
              <a:rPr sz="1100" b="0">
                <a:solidFill>
                  <a:srgbClr val="222222"/>
                </a:solidFill>
                <a:latin typeface="Calibri"/>
              </a:rPr>
              <a:t>Chat-push tasks (Day / Transition / Evening)</a:t>
            </a:r>
          </a:p>
          <a:p>
            <a:pPr algn="l">
              <a:spcBef>
                <a:spcPts val="200"/>
              </a:spcBef>
            </a:pPr>
            <a:r>
              <a:rPr sz="1100" b="0">
                <a:solidFill>
                  <a:srgbClr val="222222"/>
                </a:solidFill>
                <a:latin typeface="Calibri"/>
              </a:rPr>
              <a:t>Voice daemon auto-records Teams calls</a:t>
            </a:r>
          </a:p>
          <a:p>
            <a:pPr algn="l">
              <a:spcBef>
                <a:spcPts val="200"/>
              </a:spcBef>
            </a:pPr>
            <a:r>
              <a:rPr sz="1100" b="0">
                <a:solidFill>
                  <a:srgbClr val="222222"/>
                </a:solidFill>
                <a:latin typeface="Calibri"/>
              </a:rPr>
              <a:t>Writes to \\172.16.205.123\nucleus-central</a:t>
            </a:r>
          </a:p>
          <a:p>
            <a:pPr algn="l">
              <a:spcBef>
                <a:spcPts val="200"/>
              </a:spcBef>
            </a:pPr>
            <a:r>
              <a:rPr sz="1100" b="0">
                <a:solidFill>
                  <a:srgbClr val="222222"/>
                </a:solidFill>
                <a:latin typeface="Calibri"/>
              </a:rPr>
              <a:t>No secrets. No API keys.</a:t>
            </a:r>
          </a:p>
        </p:txBody>
      </p:sp>
      <p:sp>
        <p:nvSpPr>
          <p:cNvPr id="8" name="Rectangle 7"/>
          <p:cNvSpPr/>
          <p:nvPr/>
        </p:nvSpPr>
        <p:spPr>
          <a:xfrm>
            <a:off x="434340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417320"/>
            <a:ext cx="73152" cy="42062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527048"/>
            <a:ext cx="3264408" cy="3986784"/>
          </a:xfrm>
          <a:prstGeom prst="rect">
            <a:avLst/>
          </a:prstGeom>
          <a:noFill/>
        </p:spPr>
        <p:txBody>
          <a:bodyPr wrap="square" lIns="0" rIns="0" tIns="0" bIns="0" anchor="t">
            <a:spAutoFit/>
          </a:bodyPr>
          <a:lstStyle/>
          <a:p>
            <a:pPr algn="l"/>
            <a:r>
              <a:rPr sz="1400" b="1">
                <a:solidFill>
                  <a:srgbClr val="2E8A8A"/>
                </a:solidFill>
                <a:latin typeface="Calibri"/>
              </a:rPr>
              <a:t>Central host (.123, Linux)</a:t>
            </a:r>
          </a:p>
          <a:p>
            <a:pPr algn="l">
              <a:spcBef>
                <a:spcPts val="200"/>
              </a:spcBef>
            </a:pPr>
            <a:r>
              <a:rPr sz="1100" b="0">
                <a:solidFill>
                  <a:srgbClr val="222222"/>
                </a:solidFill>
                <a:latin typeface="Calibri"/>
              </a:rPr>
              <a:t>docker-compose: 6 services, always on</a:t>
            </a:r>
          </a:p>
          <a:p>
            <a:pPr algn="l">
              <a:spcBef>
                <a:spcPts val="200"/>
              </a:spcBef>
            </a:pPr>
            <a:r>
              <a:rPr sz="1100" b="0">
                <a:solidFill>
                  <a:srgbClr val="222222"/>
                </a:solidFill>
                <a:latin typeface="Calibri"/>
              </a:rPr>
              <a:t>Pulls email (IMAP) + Drive every 15 min</a:t>
            </a:r>
          </a:p>
          <a:p>
            <a:pPr algn="l">
              <a:spcBef>
                <a:spcPts val="200"/>
              </a:spcBef>
            </a:pPr>
            <a:r>
              <a:rPr sz="1100" b="0">
                <a:solidFill>
                  <a:srgbClr val="222222"/>
                </a:solidFill>
                <a:latin typeface="Calibri"/>
              </a:rPr>
              <a:t>Auto-transcribes new calls (~2 min lag)</a:t>
            </a:r>
          </a:p>
          <a:p>
            <a:pPr algn="l">
              <a:spcBef>
                <a:spcPts val="200"/>
              </a:spcBef>
            </a:pPr>
            <a:r>
              <a:rPr sz="1100" b="0">
                <a:solidFill>
                  <a:srgbClr val="222222"/>
                </a:solidFill>
                <a:latin typeface="Calibri"/>
              </a:rPr>
              <a:t>Groq whisper-large-v3 with chunking;</a:t>
            </a:r>
          </a:p>
          <a:p>
            <a:pPr algn="l">
              <a:spcBef>
                <a:spcPts val="200"/>
              </a:spcBef>
            </a:pPr>
            <a:r>
              <a:rPr sz="1100" b="0">
                <a:solidFill>
                  <a:srgbClr val="222222"/>
                </a:solidFill>
                <a:latin typeface="Calibri"/>
              </a:rPr>
              <a:t>faster-whisper fallback</a:t>
            </a:r>
          </a:p>
        </p:txBody>
      </p:sp>
      <p:sp>
        <p:nvSpPr>
          <p:cNvPr id="11" name="Rectangle 10"/>
          <p:cNvSpPr/>
          <p:nvPr/>
        </p:nvSpPr>
        <p:spPr>
          <a:xfrm>
            <a:off x="813816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417320"/>
            <a:ext cx="73152" cy="42062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527048"/>
            <a:ext cx="3264408" cy="3986784"/>
          </a:xfrm>
          <a:prstGeom prst="rect">
            <a:avLst/>
          </a:prstGeom>
          <a:noFill/>
        </p:spPr>
        <p:txBody>
          <a:bodyPr wrap="square" lIns="0" rIns="0" tIns="0" bIns="0" anchor="t">
            <a:spAutoFit/>
          </a:bodyPr>
          <a:lstStyle/>
          <a:p>
            <a:pPr algn="l"/>
            <a:r>
              <a:rPr sz="1400" b="1">
                <a:solidFill>
                  <a:srgbClr val="E07856"/>
                </a:solidFill>
                <a:latin typeface="Calibri"/>
              </a:rPr>
              <a:t>LLM identify + draft</a:t>
            </a:r>
          </a:p>
          <a:p>
            <a:pPr algn="l">
              <a:spcBef>
                <a:spcPts val="200"/>
              </a:spcBef>
            </a:pPr>
            <a:r>
              <a:rPr sz="1100" b="0">
                <a:solidFill>
                  <a:srgbClr val="222222"/>
                </a:solidFill>
                <a:latin typeface="Calibri"/>
              </a:rPr>
              <a:t>Claude CLI in nucleus-daily-draft container</a:t>
            </a:r>
          </a:p>
          <a:p>
            <a:pPr algn="l">
              <a:spcBef>
                <a:spcPts val="200"/>
              </a:spcBef>
            </a:pPr>
            <a:r>
              <a:rPr sz="1100" b="0">
                <a:solidFill>
                  <a:srgbClr val="222222"/>
                </a:solidFill>
                <a:latin typeface="Calibri"/>
              </a:rPr>
              <a:t>Auto-fires 23:45 BD daily; on-demand too</a:t>
            </a:r>
          </a:p>
          <a:p>
            <a:pPr algn="l">
              <a:spcBef>
                <a:spcPts val="200"/>
              </a:spcBef>
            </a:pPr>
            <a:r>
              <a:rPr sz="1100" b="0">
                <a:solidFill>
                  <a:srgbClr val="222222"/>
                </a:solidFill>
                <a:latin typeface="Calibri"/>
              </a:rPr>
              <a:t>Extracts deduped requirement list</a:t>
            </a:r>
          </a:p>
          <a:p>
            <a:pPr algn="l">
              <a:spcBef>
                <a:spcPts val="200"/>
              </a:spcBef>
            </a:pPr>
            <a:r>
              <a:rPr sz="1100" b="0">
                <a:solidFill>
                  <a:srgbClr val="222222"/>
                </a:solidFill>
                <a:latin typeface="Calibri"/>
              </a:rPr>
              <a:t>Writes Requirements Verification .docx</a:t>
            </a:r>
          </a:p>
          <a:p>
            <a:pPr algn="l">
              <a:spcBef>
                <a:spcPts val="200"/>
              </a:spcBef>
            </a:pPr>
            <a:r>
              <a:rPr sz="1100" b="0">
                <a:solidFill>
                  <a:srgbClr val="222222"/>
                </a:solidFill>
                <a:latin typeface="Calibri"/>
              </a:rPr>
              <a:t>IMAP APPEND to Titu's [Gmail]/Drafts</a:t>
            </a:r>
          </a:p>
        </p:txBody>
      </p:sp>
      <p:cxnSp>
        <p:nvCxnSpPr>
          <p:cNvPr id="14" name="Connector 13"/>
          <p:cNvCxnSpPr/>
          <p:nvPr/>
        </p:nvCxnSpPr>
        <p:spPr>
          <a:xfrm>
            <a:off x="4087368" y="3520440.0"/>
            <a:ext cx="219456" cy="0.0"/>
          </a:xfrm>
          <a:prstGeom prst="bentConnector3">
            <a:avLst/>
          </a:prstGeom>
          <a:ln w="317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82128" y="3520440.0"/>
            <a:ext cx="219456" cy="0.0"/>
          </a:xfrm>
          <a:prstGeom prst="bentConnector3">
            <a:avLst/>
          </a:prstGeom>
          <a:ln w="31750">
            <a:solidFill>
              <a:srgbClr val="6B77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you get back</a:t>
            </a:r>
          </a:p>
          <a:p>
            <a:pPr algn="l">
              <a:spcBef>
                <a:spcPts val="200"/>
              </a:spcBef>
            </a:pPr>
            <a:r>
              <a:rPr sz="1400" b="0">
                <a:solidFill>
                  <a:srgbClr val="6B7785"/>
                </a:solidFill>
                <a:latin typeface="Calibri"/>
              </a:rPr>
              <a:t>Three artifacts, every run.</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73152" cy="4206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27048"/>
            <a:ext cx="3264408" cy="3986784"/>
          </a:xfrm>
          <a:prstGeom prst="rect">
            <a:avLst/>
          </a:prstGeom>
          <a:noFill/>
        </p:spPr>
        <p:txBody>
          <a:bodyPr wrap="square" lIns="0" rIns="0" tIns="0" bIns="0" anchor="t">
            <a:spAutoFit/>
          </a:bodyPr>
          <a:lstStyle/>
          <a:p>
            <a:pPr algn="l"/>
            <a:r>
              <a:rPr sz="1400" b="1">
                <a:solidFill>
                  <a:srgbClr val="1F4E79"/>
                </a:solidFill>
                <a:latin typeface="Calibri"/>
              </a:rPr>
              <a:t>Raw session document</a:t>
            </a:r>
          </a:p>
          <a:p>
            <a:pPr algn="l">
              <a:spcBef>
                <a:spcPts val="200"/>
              </a:spcBef>
            </a:pPr>
            <a:r>
              <a:rPr sz="1100" b="0">
                <a:solidFill>
                  <a:srgbClr val="222222"/>
                </a:solidFill>
                <a:latin typeface="Calibri"/>
              </a:rPr>
              <a:t>Word .docx</a:t>
            </a:r>
          </a:p>
          <a:p>
            <a:pPr algn="l">
              <a:spcBef>
                <a:spcPts val="200"/>
              </a:spcBef>
            </a:pPr>
            <a:r>
              <a:rPr sz="1100" b="0">
                <a:solidFill>
                  <a:srgbClr val="222222"/>
                </a:solidFill>
                <a:latin typeface="Calibri"/>
              </a:rPr>
              <a:t>Every email body, attachment text,</a:t>
            </a:r>
          </a:p>
          <a:p>
            <a:pPr algn="l">
              <a:spcBef>
                <a:spcPts val="200"/>
              </a:spcBef>
            </a:pPr>
            <a:r>
              <a:rPr sz="1100" b="0">
                <a:solidFill>
                  <a:srgbClr val="222222"/>
                </a:solidFill>
                <a:latin typeface="Calibri"/>
              </a:rPr>
              <a:t>chat message, call transcript</a:t>
            </a:r>
          </a:p>
          <a:p>
            <a:pPr algn="l">
              <a:spcBef>
                <a:spcPts val="200"/>
              </a:spcBef>
            </a:pPr>
            <a:r>
              <a:rPr sz="1100" b="0">
                <a:solidFill>
                  <a:srgbClr val="222222"/>
                </a:solidFill>
                <a:latin typeface="Calibri"/>
              </a:rPr>
              <a:t>Audit trail -- read this if</a:t>
            </a:r>
          </a:p>
          <a:p>
            <a:pPr algn="l">
              <a:spcBef>
                <a:spcPts val="200"/>
              </a:spcBef>
            </a:pPr>
            <a:r>
              <a:rPr sz="1100" b="0">
                <a:solidFill>
                  <a:srgbClr val="222222"/>
                </a:solidFill>
                <a:latin typeface="Calibri"/>
              </a:rPr>
              <a:t>the LLM output is surprising</a:t>
            </a:r>
          </a:p>
        </p:txBody>
      </p:sp>
      <p:sp>
        <p:nvSpPr>
          <p:cNvPr id="8" name="Rectangle 7"/>
          <p:cNvSpPr/>
          <p:nvPr/>
        </p:nvSpPr>
        <p:spPr>
          <a:xfrm>
            <a:off x="434340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417320"/>
            <a:ext cx="73152" cy="42062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527048"/>
            <a:ext cx="3264408" cy="3986784"/>
          </a:xfrm>
          <a:prstGeom prst="rect">
            <a:avLst/>
          </a:prstGeom>
          <a:noFill/>
        </p:spPr>
        <p:txBody>
          <a:bodyPr wrap="square" lIns="0" rIns="0" tIns="0" bIns="0" anchor="t">
            <a:spAutoFit/>
          </a:bodyPr>
          <a:lstStyle/>
          <a:p>
            <a:pPr algn="l"/>
            <a:r>
              <a:rPr sz="1400" b="1">
                <a:solidFill>
                  <a:srgbClr val="2E8A8A"/>
                </a:solidFill>
                <a:latin typeface="Calibri"/>
              </a:rPr>
              <a:t>Requirements verification doc</a:t>
            </a:r>
          </a:p>
          <a:p>
            <a:pPr algn="l">
              <a:spcBef>
                <a:spcPts val="200"/>
              </a:spcBef>
            </a:pPr>
            <a:r>
              <a:rPr sz="1100" b="0">
                <a:solidFill>
                  <a:srgbClr val="222222"/>
                </a:solidFill>
                <a:latin typeface="Calibri"/>
              </a:rPr>
              <a:t>Word .docx</a:t>
            </a:r>
          </a:p>
          <a:p>
            <a:pPr algn="l">
              <a:spcBef>
                <a:spcPts val="200"/>
              </a:spcBef>
            </a:pPr>
            <a:r>
              <a:rPr sz="1100" b="0">
                <a:solidFill>
                  <a:srgbClr val="222222"/>
                </a:solidFill>
                <a:latin typeface="Calibri"/>
              </a:rPr>
              <a:t>Numbered, deduped requirement list</a:t>
            </a:r>
          </a:p>
          <a:p>
            <a:pPr algn="l">
              <a:spcBef>
                <a:spcPts val="200"/>
              </a:spcBef>
            </a:pPr>
            <a:r>
              <a:rPr sz="1100" b="0">
                <a:solidFill>
                  <a:srgbClr val="222222"/>
                </a:solidFill>
                <a:latin typeface="Calibri"/>
              </a:rPr>
              <a:t>Ready to attach to the client email</a:t>
            </a:r>
          </a:p>
          <a:p>
            <a:pPr algn="l">
              <a:spcBef>
                <a:spcPts val="200"/>
              </a:spcBef>
            </a:pPr>
            <a:r>
              <a:rPr sz="1100" b="0">
                <a:solidFill>
                  <a:srgbClr val="222222"/>
                </a:solidFill>
                <a:latin typeface="Calibri"/>
              </a:rPr>
              <a:t>Re-runs dedupe against previous</a:t>
            </a:r>
          </a:p>
          <a:p>
            <a:pPr algn="l">
              <a:spcBef>
                <a:spcPts val="200"/>
              </a:spcBef>
            </a:pPr>
            <a:r>
              <a:rPr sz="1100" b="0">
                <a:solidFill>
                  <a:srgbClr val="222222"/>
                </a:solidFill>
                <a:latin typeface="Calibri"/>
              </a:rPr>
              <a:t>runs via requirements_seen memory</a:t>
            </a:r>
          </a:p>
        </p:txBody>
      </p:sp>
      <p:sp>
        <p:nvSpPr>
          <p:cNvPr id="11" name="Rectangle 10"/>
          <p:cNvSpPr/>
          <p:nvPr/>
        </p:nvSpPr>
        <p:spPr>
          <a:xfrm>
            <a:off x="813816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417320"/>
            <a:ext cx="73152" cy="42062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527048"/>
            <a:ext cx="3264408" cy="3986784"/>
          </a:xfrm>
          <a:prstGeom prst="rect">
            <a:avLst/>
          </a:prstGeom>
          <a:noFill/>
        </p:spPr>
        <p:txBody>
          <a:bodyPr wrap="square" lIns="0" rIns="0" tIns="0" bIns="0" anchor="t">
            <a:spAutoFit/>
          </a:bodyPr>
          <a:lstStyle/>
          <a:p>
            <a:pPr algn="l"/>
            <a:r>
              <a:rPr sz="1400" b="1">
                <a:solidFill>
                  <a:srgbClr val="E07856"/>
                </a:solidFill>
                <a:latin typeface="Calibri"/>
              </a:rPr>
              <a:t>Draft email in [Gmail]/Drafts</a:t>
            </a:r>
          </a:p>
          <a:p>
            <a:pPr algn="l">
              <a:spcBef>
                <a:spcPts val="200"/>
              </a:spcBef>
            </a:pPr>
            <a:r>
              <a:rPr sz="1100" b="0">
                <a:solidFill>
                  <a:srgbClr val="222222"/>
                </a:solidFill>
                <a:latin typeface="Calibri"/>
              </a:rPr>
              <a:t>Standard Gmail draft</a:t>
            </a:r>
          </a:p>
          <a:p>
            <a:pPr algn="l">
              <a:spcBef>
                <a:spcPts val="200"/>
              </a:spcBef>
            </a:pPr>
            <a:r>
              <a:rPr sz="1100" b="0">
                <a:solidFill>
                  <a:srgbClr val="222222"/>
                </a:solidFill>
                <a:latin typeface="Calibri"/>
              </a:rPr>
              <a:t>Verification doc attached</a:t>
            </a:r>
          </a:p>
          <a:p>
            <a:pPr algn="l">
              <a:spcBef>
                <a:spcPts val="200"/>
              </a:spcBef>
            </a:pPr>
            <a:r>
              <a:rPr sz="1100" b="0">
                <a:solidFill>
                  <a:srgbClr val="222222"/>
                </a:solidFill>
                <a:latin typeface="Calibri"/>
              </a:rPr>
              <a:t>Pre-filled subject + body</a:t>
            </a:r>
          </a:p>
          <a:p>
            <a:pPr algn="l">
              <a:spcBef>
                <a:spcPts val="200"/>
              </a:spcBef>
            </a:pPr>
            <a:r>
              <a:rPr sz="1100" b="0">
                <a:solidFill>
                  <a:srgbClr val="222222"/>
                </a:solidFill>
                <a:latin typeface="Calibri"/>
              </a:rPr>
              <a:t>I review -&gt; edit -&gt; send</a:t>
            </a:r>
          </a:p>
          <a:p>
            <a:pPr algn="l">
              <a:spcBef>
                <a:spcPts val="200"/>
              </a:spcBef>
            </a:pPr>
            <a:r>
              <a:rPr sz="1100" b="0">
                <a:solidFill>
                  <a:srgbClr val="222222"/>
                </a:solidFill>
                <a:latin typeface="Calibri"/>
              </a:rPr>
              <a:t>Nothing is auto-sent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it does NOT do</a:t>
            </a:r>
          </a:p>
          <a:p>
            <a:pPr algn="l">
              <a:spcBef>
                <a:spcPts val="200"/>
              </a:spcBef>
            </a:pPr>
            <a:r>
              <a:rPr sz="1400" b="0">
                <a:solidFill>
                  <a:srgbClr val="6B7785"/>
                </a:solidFill>
                <a:latin typeface="Calibri"/>
              </a:rPr>
              <a:t>Setting boundaries clearly.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10515600" cy="777240"/>
          </a:xfrm>
          <a:prstGeom prst="rect">
            <a:avLst/>
          </a:prstGeom>
          <a:noFill/>
        </p:spPr>
        <p:txBody>
          <a:bodyPr wrap="square" lIns="0" rIns="0" tIns="0" bIns="0" anchor="t">
            <a:spAutoFit/>
          </a:bodyPr>
          <a:lstStyle/>
          <a:p>
            <a:pPr algn="l"/>
            <a:r>
              <a:rPr sz="1500" b="1">
                <a:solidFill>
                  <a:srgbClr val="1F4E79"/>
                </a:solidFill>
                <a:latin typeface="Calibri"/>
              </a:rPr>
              <a:t>Auto-send emails</a:t>
            </a:r>
          </a:p>
          <a:p>
            <a:pPr algn="l">
              <a:spcBef>
                <a:spcPts val="200"/>
              </a:spcBef>
            </a:pPr>
            <a:r>
              <a:rPr sz="1200" b="0">
                <a:solidFill>
                  <a:srgbClr val="6B7785"/>
                </a:solidFill>
                <a:latin typeface="Calibri"/>
              </a:rPr>
              <a:t>Every outbound email leaves my mailbox with my explicit click. This is the hard boundary.</a:t>
            </a:r>
          </a:p>
        </p:txBody>
      </p:sp>
      <p:sp>
        <p:nvSpPr>
          <p:cNvPr id="8" name="Rectangle 7"/>
          <p:cNvSpPr/>
          <p:nvPr/>
        </p:nvSpPr>
        <p:spPr>
          <a:xfrm>
            <a:off x="548640" y="269748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69748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34640"/>
            <a:ext cx="10515600" cy="777240"/>
          </a:xfrm>
          <a:prstGeom prst="rect">
            <a:avLst/>
          </a:prstGeom>
          <a:noFill/>
        </p:spPr>
        <p:txBody>
          <a:bodyPr wrap="square" lIns="0" rIns="0" tIns="0" bIns="0" anchor="t">
            <a:spAutoFit/>
          </a:bodyPr>
          <a:lstStyle/>
          <a:p>
            <a:pPr algn="l"/>
            <a:r>
              <a:rPr sz="1500" b="1">
                <a:solidFill>
                  <a:srgbClr val="1F4E79"/>
                </a:solidFill>
                <a:latin typeface="Calibri"/>
              </a:rPr>
              <a:t>Auto-edit the requirements doc</a:t>
            </a:r>
          </a:p>
          <a:p>
            <a:pPr algn="l">
              <a:spcBef>
                <a:spcPts val="200"/>
              </a:spcBef>
            </a:pPr>
            <a:r>
              <a:rPr sz="1200" b="0">
                <a:solidFill>
                  <a:srgbClr val="6B7785"/>
                </a:solidFill>
                <a:latin typeface="Calibri"/>
              </a:rPr>
              <a:t>The .docx draft is final until I edit it. The LLM does not rewrite it on its own.</a:t>
            </a:r>
          </a:p>
        </p:txBody>
      </p:sp>
      <p:sp>
        <p:nvSpPr>
          <p:cNvPr id="11" name="Rectangle 10"/>
          <p:cNvSpPr/>
          <p:nvPr/>
        </p:nvSpPr>
        <p:spPr>
          <a:xfrm>
            <a:off x="548640" y="388620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023360"/>
            <a:ext cx="10515600" cy="777240"/>
          </a:xfrm>
          <a:prstGeom prst="rect">
            <a:avLst/>
          </a:prstGeom>
          <a:noFill/>
        </p:spPr>
        <p:txBody>
          <a:bodyPr wrap="square" lIns="0" rIns="0" tIns="0" bIns="0" anchor="t">
            <a:spAutoFit/>
          </a:bodyPr>
          <a:lstStyle/>
          <a:p>
            <a:pPr algn="l"/>
            <a:r>
              <a:rPr sz="1500" b="1">
                <a:solidFill>
                  <a:srgbClr val="1F4E79"/>
                </a:solidFill>
                <a:latin typeface="Calibri"/>
              </a:rPr>
              <a:t>Push to OpenProject</a:t>
            </a:r>
          </a:p>
          <a:p>
            <a:pPr algn="l">
              <a:spcBef>
                <a:spcPts val="200"/>
              </a:spcBef>
            </a:pPr>
            <a:r>
              <a:rPr sz="1200" b="0">
                <a:solidFill>
                  <a:srgbClr val="6B7785"/>
                </a:solidFill>
                <a:latin typeface="Calibri"/>
              </a:rPr>
              <a:t>OpenProject ingest is manual today; auto only when we hit &gt;=80% monthly accuracy.</a:t>
            </a:r>
          </a:p>
        </p:txBody>
      </p:sp>
      <p:sp>
        <p:nvSpPr>
          <p:cNvPr id="14" name="Rectangle 13"/>
          <p:cNvSpPr/>
          <p:nvPr/>
        </p:nvSpPr>
        <p:spPr>
          <a:xfrm>
            <a:off x="548640" y="507492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07492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10515600" cy="777240"/>
          </a:xfrm>
          <a:prstGeom prst="rect">
            <a:avLst/>
          </a:prstGeom>
          <a:noFill/>
        </p:spPr>
        <p:txBody>
          <a:bodyPr wrap="square" lIns="0" rIns="0" tIns="0" bIns="0" anchor="t">
            <a:spAutoFit/>
          </a:bodyPr>
          <a:lstStyle/>
          <a:p>
            <a:pPr algn="l"/>
            <a:r>
              <a:rPr sz="1500" b="1">
                <a:solidFill>
                  <a:srgbClr val="1F4E79"/>
                </a:solidFill>
                <a:latin typeface="Calibri"/>
              </a:rPr>
              <a:t>Replace client conversations</a:t>
            </a:r>
          </a:p>
          <a:p>
            <a:pPr algn="l">
              <a:spcBef>
                <a:spcPts val="200"/>
              </a:spcBef>
            </a:pPr>
            <a:r>
              <a:rPr sz="1200" b="0">
                <a:solidFill>
                  <a:srgbClr val="6B7785"/>
                </a:solidFill>
                <a:latin typeface="Calibri"/>
              </a:rPr>
              <a:t>This is a capture aid. Real client engagement still happens with humans.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Roadmap</a:t>
            </a:r>
          </a:p>
          <a:p>
            <a:pPr algn="l">
              <a:spcBef>
                <a:spcPts val="200"/>
              </a:spcBef>
            </a:pPr>
            <a:r>
              <a:rPr sz="1400" b="0">
                <a:solidFill>
                  <a:srgbClr val="6B7785"/>
                </a:solidFill>
                <a:latin typeface="Calibri"/>
              </a:rPr>
              <a:t>Human-in-the-loop today. Slower-and-correct first.</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09928"/>
            <a:ext cx="137160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Now</a:t>
            </a:r>
          </a:p>
        </p:txBody>
      </p:sp>
      <p:sp>
        <p:nvSpPr>
          <p:cNvPr id="7" name="TextBox 6"/>
          <p:cNvSpPr txBox="1"/>
          <p:nvPr/>
        </p:nvSpPr>
        <p:spPr>
          <a:xfrm>
            <a:off x="2331720" y="1554480"/>
            <a:ext cx="9144000" cy="868680"/>
          </a:xfrm>
          <a:prstGeom prst="rect">
            <a:avLst/>
          </a:prstGeom>
          <a:noFill/>
        </p:spPr>
        <p:txBody>
          <a:bodyPr wrap="square" lIns="0" rIns="0" tIns="0" bIns="0" anchor="t">
            <a:spAutoFit/>
          </a:bodyPr>
          <a:lstStyle/>
          <a:p>
            <a:pPr algn="l"/>
            <a:r>
              <a:rPr sz="1400" b="1">
                <a:solidFill>
                  <a:srgbClr val="1F4E79"/>
                </a:solidFill>
                <a:latin typeface="Calibri"/>
              </a:rPr>
              <a:t>Each Requirement Management run produces a draft I review. Calibration loop, conflict detection, per-run cost telemetry are in.</a:t>
            </a:r>
          </a:p>
          <a:p>
            <a:pPr algn="l">
              <a:spcBef>
                <a:spcPts val="200"/>
              </a:spcBef>
            </a:pPr>
            <a:r>
              <a:rPr sz="1100" b="0">
                <a:solidFill>
                  <a:srgbClr val="6B7785"/>
                </a:solidFill>
                <a:latin typeface="Calibri"/>
              </a:rPr>
              <a:t>Manual, predictable, auditable. Cost ~$0.06/run.</a:t>
            </a:r>
          </a:p>
        </p:txBody>
      </p:sp>
      <p:sp>
        <p:nvSpPr>
          <p:cNvPr id="8" name="Rectangle 7"/>
          <p:cNvSpPr/>
          <p:nvPr/>
        </p:nvSpPr>
        <p:spPr>
          <a:xfrm>
            <a:off x="548640" y="2624328"/>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916936"/>
            <a:ext cx="137160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Next</a:t>
            </a:r>
          </a:p>
        </p:txBody>
      </p:sp>
      <p:sp>
        <p:nvSpPr>
          <p:cNvPr id="10" name="TextBox 9"/>
          <p:cNvSpPr txBox="1"/>
          <p:nvPr/>
        </p:nvSpPr>
        <p:spPr>
          <a:xfrm>
            <a:off x="2331720" y="2761488"/>
            <a:ext cx="9144000" cy="868680"/>
          </a:xfrm>
          <a:prstGeom prst="rect">
            <a:avLst/>
          </a:prstGeom>
          <a:noFill/>
        </p:spPr>
        <p:txBody>
          <a:bodyPr wrap="square" lIns="0" rIns="0" tIns="0" bIns="0" anchor="t">
            <a:spAutoFit/>
          </a:bodyPr>
          <a:lstStyle/>
          <a:p>
            <a:pPr algn="l"/>
            <a:r>
              <a:rPr sz="1400" b="1">
                <a:solidFill>
                  <a:srgbClr val="1F4E79"/>
                </a:solidFill>
                <a:latin typeface="Calibri"/>
              </a:rPr>
              <a:t>Tighter dedup across re-runs + Teams attachment auto-resolve from the in-Teams preview cache</a:t>
            </a:r>
          </a:p>
          <a:p>
            <a:pPr algn="l">
              <a:spcBef>
                <a:spcPts val="200"/>
              </a:spcBef>
            </a:pPr>
            <a:r>
              <a:rPr sz="1100" b="0">
                <a:solidFill>
                  <a:srgbClr val="6B7785"/>
                </a:solidFill>
                <a:latin typeface="Calibri"/>
              </a:rPr>
              <a:t>Less manual cleanup before sending.</a:t>
            </a:r>
          </a:p>
        </p:txBody>
      </p:sp>
      <p:sp>
        <p:nvSpPr>
          <p:cNvPr id="11" name="Rectangle 10"/>
          <p:cNvSpPr/>
          <p:nvPr/>
        </p:nvSpPr>
        <p:spPr>
          <a:xfrm>
            <a:off x="548640" y="3831336"/>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123944"/>
            <a:ext cx="1371600" cy="50292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Later</a:t>
            </a:r>
          </a:p>
        </p:txBody>
      </p:sp>
      <p:sp>
        <p:nvSpPr>
          <p:cNvPr id="13" name="TextBox 12"/>
          <p:cNvSpPr txBox="1"/>
          <p:nvPr/>
        </p:nvSpPr>
        <p:spPr>
          <a:xfrm>
            <a:off x="2331720" y="3968496"/>
            <a:ext cx="9144000" cy="868680"/>
          </a:xfrm>
          <a:prstGeom prst="rect">
            <a:avLst/>
          </a:prstGeom>
          <a:noFill/>
        </p:spPr>
        <p:txBody>
          <a:bodyPr wrap="square" lIns="0" rIns="0" tIns="0" bIns="0" anchor="t">
            <a:spAutoFit/>
          </a:bodyPr>
          <a:lstStyle/>
          <a:p>
            <a:pPr algn="l"/>
            <a:r>
              <a:rPr sz="1400" b="1">
                <a:solidFill>
                  <a:srgbClr val="1F4E79"/>
                </a:solidFill>
                <a:latin typeface="Calibri"/>
              </a:rPr>
              <a:t>Auto-publish to OpenProject -- only after &gt;=80% monthly accuracy on the requirements doc</a:t>
            </a:r>
          </a:p>
          <a:p>
            <a:pPr algn="l">
              <a:spcBef>
                <a:spcPts val="200"/>
              </a:spcBef>
            </a:pPr>
            <a:r>
              <a:rPr sz="1100" b="0">
                <a:solidFill>
                  <a:srgbClr val="6B7785"/>
                </a:solidFill>
                <a:latin typeface="Calibri"/>
              </a:rPr>
              <a:t>Only when we trust the output. Quality gate, not deadline gate.</a:t>
            </a:r>
          </a:p>
        </p:txBody>
      </p:sp>
      <p:sp>
        <p:nvSpPr>
          <p:cNvPr id="14" name="Rectangle 13"/>
          <p:cNvSpPr/>
          <p:nvPr/>
        </p:nvSpPr>
        <p:spPr>
          <a:xfrm>
            <a:off x="548640" y="5038344"/>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5330952"/>
            <a:ext cx="1371600" cy="50292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Aspirational</a:t>
            </a:r>
          </a:p>
        </p:txBody>
      </p:sp>
      <p:sp>
        <p:nvSpPr>
          <p:cNvPr id="16" name="TextBox 15"/>
          <p:cNvSpPr txBox="1"/>
          <p:nvPr/>
        </p:nvSpPr>
        <p:spPr>
          <a:xfrm>
            <a:off x="2331720" y="5175504"/>
            <a:ext cx="9144000" cy="868680"/>
          </a:xfrm>
          <a:prstGeom prst="rect">
            <a:avLst/>
          </a:prstGeom>
          <a:noFill/>
        </p:spPr>
        <p:txBody>
          <a:bodyPr wrap="square" lIns="0" rIns="0" tIns="0" bIns="0" anchor="t">
            <a:spAutoFit/>
          </a:bodyPr>
          <a:lstStyle/>
          <a:p>
            <a:pPr algn="l"/>
            <a:r>
              <a:rPr sz="1400" b="1">
                <a:solidFill>
                  <a:srgbClr val="1F4E79"/>
                </a:solidFill>
                <a:latin typeface="Calibri"/>
              </a:rPr>
              <a:t>Auto-send the verification email to clients</a:t>
            </a:r>
          </a:p>
          <a:p>
            <a:pPr algn="l">
              <a:spcBef>
                <a:spcPts val="200"/>
              </a:spcBef>
            </a:pPr>
            <a:r>
              <a:rPr sz="1100" b="0">
                <a:solidFill>
                  <a:srgbClr val="6B7785"/>
                </a:solidFill>
                <a:latin typeface="Calibri"/>
              </a:rPr>
              <a:t>Only after the auto-publish step is rock solid.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 need from each of you</a:t>
            </a:r>
          </a:p>
          <a:p>
            <a:pPr algn="l">
              <a:spcBef>
                <a:spcPts val="200"/>
              </a:spcBef>
            </a:pPr>
            <a:r>
              <a:rPr sz="1400" b="0">
                <a:solidFill>
                  <a:srgbClr val="6B7785"/>
                </a:solidFill>
                <a:latin typeface="Calibri"/>
              </a:rPr>
              <a:t>Three small things.</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6" name="TextBox 5"/>
          <p:cNvSpPr txBox="1"/>
          <p:nvPr/>
        </p:nvSpPr>
        <p:spPr>
          <a:xfrm>
            <a:off x="1508760" y="1645920"/>
            <a:ext cx="10058400" cy="685800"/>
          </a:xfrm>
          <a:prstGeom prst="rect">
            <a:avLst/>
          </a:prstGeom>
          <a:noFill/>
        </p:spPr>
        <p:txBody>
          <a:bodyPr wrap="square" lIns="0" rIns="0" tIns="0" bIns="0" anchor="ctr">
            <a:spAutoFit/>
          </a:bodyPr>
          <a:lstStyle/>
          <a:p>
            <a:pPr algn="l"/>
            <a:r>
              <a:rPr sz="1800" b="1">
                <a:solidFill>
                  <a:srgbClr val="1F4E79"/>
                </a:solidFill>
                <a:latin typeface="Calibri"/>
              </a:rPr>
              <a:t>Run setup.bat once</a:t>
            </a:r>
          </a:p>
          <a:p>
            <a:pPr algn="l">
              <a:spcBef>
                <a:spcPts val="200"/>
              </a:spcBef>
            </a:pPr>
            <a:r>
              <a:rPr sz="1200" b="0">
                <a:solidFill>
                  <a:srgbClr val="6B7785"/>
                </a:solidFill>
                <a:latin typeface="Calibri"/>
              </a:rPr>
              <a:t>Ten minutes. No secrets. The PDF in docs/ walks you through it.</a:t>
            </a:r>
          </a:p>
        </p:txBody>
      </p:sp>
      <p:sp>
        <p:nvSpPr>
          <p:cNvPr id="7" name="Rounded Rectangle 6"/>
          <p:cNvSpPr/>
          <p:nvPr/>
        </p:nvSpPr>
        <p:spPr>
          <a:xfrm>
            <a:off x="640080" y="306324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8" name="TextBox 7"/>
          <p:cNvSpPr txBox="1"/>
          <p:nvPr/>
        </p:nvSpPr>
        <p:spPr>
          <a:xfrm>
            <a:off x="1508760" y="3063240"/>
            <a:ext cx="10058400" cy="685800"/>
          </a:xfrm>
          <a:prstGeom prst="rect">
            <a:avLst/>
          </a:prstGeom>
          <a:noFill/>
        </p:spPr>
        <p:txBody>
          <a:bodyPr wrap="square" lIns="0" rIns="0" tIns="0" bIns="0" anchor="ctr">
            <a:spAutoFit/>
          </a:bodyPr>
          <a:lstStyle/>
          <a:p>
            <a:pPr algn="l"/>
            <a:r>
              <a:rPr sz="1800" b="1">
                <a:solidFill>
                  <a:srgbClr val="1F4E79"/>
                </a:solidFill>
                <a:latin typeface="Calibri"/>
              </a:rPr>
              <a:t>Leave Teams open + signed in</a:t>
            </a:r>
          </a:p>
          <a:p>
            <a:pPr algn="l">
              <a:spcBef>
                <a:spcPts val="200"/>
              </a:spcBef>
            </a:pPr>
            <a:r>
              <a:rPr sz="1200" b="0">
                <a:solidFill>
                  <a:srgbClr val="6B7785"/>
                </a:solidFill>
                <a:latin typeface="Calibri"/>
              </a:rPr>
              <a:t>The chat ingest reads Teams' own local cache.</a:t>
            </a:r>
          </a:p>
        </p:txBody>
      </p:sp>
      <p:sp>
        <p:nvSpPr>
          <p:cNvPr id="9" name="Rounded Rectangle 8"/>
          <p:cNvSpPr/>
          <p:nvPr/>
        </p:nvSpPr>
        <p:spPr>
          <a:xfrm>
            <a:off x="640080" y="448056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0" name="TextBox 9"/>
          <p:cNvSpPr txBox="1"/>
          <p:nvPr/>
        </p:nvSpPr>
        <p:spPr>
          <a:xfrm>
            <a:off x="1508760" y="4480560"/>
            <a:ext cx="10058400" cy="685800"/>
          </a:xfrm>
          <a:prstGeom prst="rect">
            <a:avLst/>
          </a:prstGeom>
          <a:noFill/>
        </p:spPr>
        <p:txBody>
          <a:bodyPr wrap="square" lIns="0" rIns="0" tIns="0" bIns="0" anchor="ctr">
            <a:spAutoFit/>
          </a:bodyPr>
          <a:lstStyle/>
          <a:p>
            <a:pPr algn="l"/>
            <a:r>
              <a:rPr sz="1800" b="1">
                <a:solidFill>
                  <a:srgbClr val="1F4E79"/>
                </a:solidFill>
                <a:latin typeface="Calibri"/>
              </a:rPr>
              <a:t>Click "Download" on chat files that matter</a:t>
            </a:r>
          </a:p>
          <a:p>
            <a:pPr algn="l">
              <a:spcBef>
                <a:spcPts val="200"/>
              </a:spcBef>
            </a:pPr>
            <a:r>
              <a:rPr sz="1200" b="0">
                <a:solidFill>
                  <a:srgbClr val="6B7785"/>
                </a:solidFill>
                <a:latin typeface="Calibri"/>
              </a:rPr>
              <a:t>If a teammate shares a PDF in chat, click Download so we can extract it. Otherwise only the URL gets captured.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0"/>
            <a:ext cx="10698480" cy="1371600"/>
          </a:xfrm>
          <a:prstGeom prst="rect">
            <a:avLst/>
          </a:prstGeom>
          <a:noFill/>
        </p:spPr>
        <p:txBody>
          <a:bodyPr wrap="square" lIns="0" rIns="0" tIns="0" bIns="0" anchor="t">
            <a:spAutoFit/>
          </a:bodyPr>
          <a:lstStyle/>
          <a:p>
            <a:pPr algn="l"/>
            <a:r>
              <a:rPr sz="6400" b="1">
                <a:solidFill>
                  <a:srgbClr val="FFFFFF"/>
                </a:solidFill>
                <a:latin typeface="Calibri"/>
              </a:rPr>
              <a:t>Questions?</a:t>
            </a:r>
          </a:p>
        </p:txBody>
      </p:sp>
      <p:sp>
        <p:nvSpPr>
          <p:cNvPr id="4" name="TextBox 3"/>
          <p:cNvSpPr txBox="1"/>
          <p:nvPr/>
        </p:nvSpPr>
        <p:spPr>
          <a:xfrm>
            <a:off x="731520" y="3931920"/>
            <a:ext cx="10698480" cy="1371600"/>
          </a:xfrm>
          <a:prstGeom prst="rect">
            <a:avLst/>
          </a:prstGeom>
          <a:noFill/>
        </p:spPr>
        <p:txBody>
          <a:bodyPr wrap="square" lIns="0" rIns="0" tIns="0" bIns="0" anchor="t">
            <a:spAutoFit/>
          </a:bodyPr>
          <a:lstStyle/>
          <a:p>
            <a:pPr algn="l"/>
            <a:r>
              <a:rPr sz="2400" b="0">
                <a:solidFill>
                  <a:srgbClr val="C8D2E0"/>
                </a:solidFill>
                <a:latin typeface="Calibri"/>
              </a:rPr>
              <a:t>Then let's run a live one.</a:t>
            </a:r>
          </a:p>
        </p:txBody>
      </p:sp>
      <p:sp>
        <p:nvSpPr>
          <p:cNvPr id="5" name="TextBox 4"/>
          <p:cNvSpPr txBox="1"/>
          <p:nvPr/>
        </p:nvSpPr>
        <p:spPr>
          <a:xfrm>
            <a:off x="731520" y="6217920"/>
            <a:ext cx="10698480" cy="365760"/>
          </a:xfrm>
          <a:prstGeom prst="rect">
            <a:avLst/>
          </a:prstGeom>
          <a:noFill/>
        </p:spPr>
        <p:txBody>
          <a:bodyPr wrap="square" lIns="0" rIns="0" tIns="0" bIns="0" anchor="t">
            <a:spAutoFit/>
          </a:bodyPr>
          <a:lstStyle/>
          <a:p>
            <a:pPr algn="l"/>
            <a:r>
              <a:rPr sz="1200" b="0">
                <a:solidFill>
                  <a:srgbClr val="9CABBE"/>
                </a:solidFill>
                <a:latin typeface="Calibri"/>
              </a:rPr>
              <a:t>github.com/napco-labs/napco-nucleus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