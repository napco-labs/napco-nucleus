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framing: requirements come at us from multiple channels and multiple people. Today's deck shows how NAPCO Nucleus stitches all of that back together into one verification email that I review and send to the client myself. The team's involvement is small but important -- I'll explain exactly what I need from each of you.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a single requirement might mention something in a Teams chat with Dev 2, get clarified in a call with Dev 1, and arrive fully formed as a PDF in my inbox. By the time I notice all three exist I've already lost a day. The cost isn't just time -- it's that pieces get dropped silently.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stages. Capture is the only one running in the background. Identify is one LLM call, on my command. Verify is me reading the document. Deliver is me clicking Send. The team is in Capture only -- the rest is on 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four channels stage to central in the background -- nothing to remember. Chat + calls on each dev's PC are gated to the BD evening window (18:00-01:00); a once-daily 18:00 backfill sweeps any daytime chat so nothing is lost. Email + Drive run 24x7 from the agent host (offset by 5 min to avoid API contention). Dev machines never hold Gmail or Drive credentials -- those live on the agent host. The Requirement Management workflow reads from the central store when I'm ready to draft.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have a PDF that goes through every step in detail. The two things to keep an eye on: register the cron with admin PowerShell -- it's a one-line script -- and leave the voice daemon running. Otherwise calls won't get captured.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everyone to internalise: you don't run any command during the day. Your machine pushes chat every 15 minutes; the voice daemon listens for the start / stop phrases; downloads land in ~/Downloads automatically when you click. That's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workflow. Two triggers, same code path: the GitHub Actions "Requirement Management" workflow on the self-hosted runner, or scripts\requirement-management.bat on my own machine. Email + Drive are already on central (auto-staged every 15 min), so the workflow just walks what's there, transcribes new calls, and asks Claude to identify + draft. Output is one verification email in [Gmail]/Drafts -- I read it, edit it, send it, or skip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responsibilities, three machines / processes. Dev machines push -- only push. Agent host pulls and aggregates. LLM identifies and drafts. Each layer has the smallest permissions it needs.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artifacts. The raw doc is the audit trail. The requirements doc is what the client will see. The draft is ready to send. If I find an issue, I can re-run with a different window or fix the source data and try again.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Worth being explicit about boundaries so expectations are right. This system isn't trying to replace anyone or anything. It is a capture aid that I drive.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 not chasing automation for its own sake. The order is: stabilise the manual flow, then layer dedup and convenience, then layer auto-publish behind an accuracy gate, then -- only if it's rock solid -- consider auto-send. None of this happens without measurable wins on the earlier step.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kept deliberately small. Setup once. Keep Teams open. Click Download. That's the whole ask. Everything else -- the pulling, the transcribing, the identifying, the drafting -- is on the system and on 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on questions, then offer a live run -- do_it_now.py with the seeded test data so the team can see the verification doc and the draft email appear.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194560"/>
            <a:ext cx="10698480" cy="1371600"/>
          </a:xfrm>
          <a:prstGeom prst="rect">
            <a:avLst/>
          </a:prstGeom>
          <a:noFill/>
        </p:spPr>
        <p:txBody>
          <a:bodyPr wrap="square" lIns="0" rIns="0" tIns="0" bIns="0" anchor="t">
            <a:spAutoFit/>
          </a:bodyPr>
          <a:lstStyle/>
          <a:p>
            <a:pPr algn="l"/>
            <a:r>
              <a:rPr sz="5800" b="1">
                <a:solidFill>
                  <a:srgbClr val="FFFFFF"/>
                </a:solidFill>
                <a:latin typeface="Calibri"/>
              </a:rPr>
              <a:t>NAPCO Nucleus</a:t>
            </a:r>
          </a:p>
          <a:p>
            <a:pPr algn="l"/>
            <a:r>
              <a:rPr sz="2800" b="0">
                <a:solidFill>
                  <a:srgbClr val="FFFFFF"/>
                </a:solidFill>
                <a:latin typeface="Calibri"/>
              </a:rPr>
              <a:t>Requirement Management Workflow</a:t>
            </a:r>
          </a:p>
        </p:txBody>
      </p:sp>
      <p:sp>
        <p:nvSpPr>
          <p:cNvPr id="4" name="TextBox 3"/>
          <p:cNvSpPr txBox="1"/>
          <p:nvPr/>
        </p:nvSpPr>
        <p:spPr>
          <a:xfrm>
            <a:off x="731520" y="4023360"/>
            <a:ext cx="10698480" cy="1371600"/>
          </a:xfrm>
          <a:prstGeom prst="rect">
            <a:avLst/>
          </a:prstGeom>
          <a:noFill/>
        </p:spPr>
        <p:txBody>
          <a:bodyPr wrap="square" lIns="0" rIns="0" tIns="0" bIns="0" anchor="t">
            <a:spAutoFit/>
          </a:bodyPr>
          <a:lstStyle/>
          <a:p>
            <a:pPr algn="l"/>
            <a:r>
              <a:rPr sz="1800" b="0">
                <a:solidFill>
                  <a:srgbClr val="C8D2E0"/>
                </a:solidFill>
                <a:latin typeface="Calibri"/>
              </a:rPr>
              <a:t>Client conversations -&gt; one verification email, end-to-end.</a:t>
            </a:r>
          </a:p>
        </p:txBody>
      </p:sp>
      <p:sp>
        <p:nvSpPr>
          <p:cNvPr id="5" name="TextBox 4"/>
          <p:cNvSpPr txBox="1"/>
          <p:nvPr/>
        </p:nvSpPr>
        <p:spPr>
          <a:xfrm>
            <a:off x="731520" y="6217920"/>
            <a:ext cx="10698480" cy="365760"/>
          </a:xfrm>
          <a:prstGeom prst="rect">
            <a:avLst/>
          </a:prstGeom>
          <a:noFill/>
        </p:spPr>
        <p:txBody>
          <a:bodyPr wrap="square" lIns="0" rIns="0" tIns="0" bIns="0" anchor="t">
            <a:spAutoFit/>
          </a:bodyPr>
          <a:lstStyle/>
          <a:p>
            <a:pPr algn="l"/>
            <a:r>
              <a:rPr sz="1200" b="0">
                <a:solidFill>
                  <a:srgbClr val="9CABBE"/>
                </a:solidFill>
                <a:latin typeface="Calibri"/>
              </a:rPr>
              <a:t>Mohammad Kamrul Hasan (Titu)   |   Adaptive Enterprise / NAPCO labs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lIns="0" rIns="0" tIns="0" bIns="0" anchor="t">
            <a:spAutoFit/>
          </a:bodyPr>
          <a:lstStyle/>
          <a:p>
            <a:pPr algn="l"/>
            <a:r>
              <a:rPr sz="2800" b="1">
                <a:solidFill>
                  <a:srgbClr val="1F4E79"/>
                </a:solidFill>
                <a:latin typeface="Calibri"/>
              </a:rPr>
              <a:t>The problem</a:t>
            </a:r>
          </a:p>
          <a:p>
            <a:pPr algn="l">
              <a:spcBef>
                <a:spcPts val="200"/>
              </a:spcBef>
            </a:pPr>
            <a:r>
              <a:rPr sz="1400" b="0">
                <a:solidFill>
                  <a:srgbClr val="6B7785"/>
                </a:solidFill>
                <a:latin typeface="Calibri"/>
              </a:rPr>
              <a:t>A single client requirement is rarely in one place.</a:t>
            </a:r>
          </a:p>
        </p:txBody>
      </p:sp>
      <p:sp>
        <p:nvSpPr>
          <p:cNvPr id="4" name="Rectangle 3"/>
          <p:cNvSpPr/>
          <p:nvPr/>
        </p:nvSpPr>
        <p:spPr>
          <a:xfrm>
            <a:off x="548640" y="6446520"/>
            <a:ext cx="1106424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463040"/>
            <a:ext cx="2194560" cy="548640"/>
          </a:xfrm>
          <a:prstGeom prst="round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Client</a:t>
            </a:r>
          </a:p>
        </p:txBody>
      </p:sp>
      <p:sp>
        <p:nvSpPr>
          <p:cNvPr id="6" name="Rounded Rectangle 5"/>
          <p:cNvSpPr/>
          <p:nvPr/>
        </p:nvSpPr>
        <p:spPr>
          <a:xfrm>
            <a:off x="731520" y="2331720"/>
            <a:ext cx="2194560" cy="54864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Dev 1</a:t>
            </a:r>
          </a:p>
        </p:txBody>
      </p:sp>
      <p:sp>
        <p:nvSpPr>
          <p:cNvPr id="7" name="Rounded Rectangle 6"/>
          <p:cNvSpPr/>
          <p:nvPr/>
        </p:nvSpPr>
        <p:spPr>
          <a:xfrm>
            <a:off x="731520" y="3017520"/>
            <a:ext cx="2194560" cy="54864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Dev 2</a:t>
            </a:r>
          </a:p>
        </p:txBody>
      </p:sp>
      <p:sp>
        <p:nvSpPr>
          <p:cNvPr id="8" name="Rounded Rectangle 7"/>
          <p:cNvSpPr/>
          <p:nvPr/>
        </p:nvSpPr>
        <p:spPr>
          <a:xfrm>
            <a:off x="731520" y="3703320"/>
            <a:ext cx="2194560" cy="54864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Dev 3</a:t>
            </a:r>
          </a:p>
        </p:txBody>
      </p:sp>
      <p:sp>
        <p:nvSpPr>
          <p:cNvPr id="9" name="Rounded Rectangle 8"/>
          <p:cNvSpPr/>
          <p:nvPr/>
        </p:nvSpPr>
        <p:spPr>
          <a:xfrm>
            <a:off x="3840480" y="1463040"/>
            <a:ext cx="1828800" cy="548640"/>
          </a:xfrm>
          <a:prstGeom prst="round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Teams chat</a:t>
            </a:r>
          </a:p>
        </p:txBody>
      </p:sp>
      <p:sp>
        <p:nvSpPr>
          <p:cNvPr id="10" name="TextBox 9"/>
          <p:cNvSpPr txBox="1"/>
          <p:nvPr/>
        </p:nvSpPr>
        <p:spPr>
          <a:xfrm>
            <a:off x="5943600" y="1463040"/>
            <a:ext cx="5852160" cy="548640"/>
          </a:xfrm>
          <a:prstGeom prst="rect">
            <a:avLst/>
          </a:prstGeom>
          <a:noFill/>
        </p:spPr>
        <p:txBody>
          <a:bodyPr wrap="square" lIns="0" rIns="0" tIns="0" bIns="0" anchor="ctr">
            <a:spAutoFit/>
          </a:bodyPr>
          <a:lstStyle/>
          <a:p>
            <a:pPr algn="l"/>
            <a:r>
              <a:rPr sz="1200" b="0">
                <a:solidFill>
                  <a:srgbClr val="222222"/>
                </a:solidFill>
                <a:latin typeface="Calibri"/>
              </a:rPr>
              <a:t>"Make the login flow log failed attempts"</a:t>
            </a:r>
          </a:p>
        </p:txBody>
      </p:sp>
      <p:sp>
        <p:nvSpPr>
          <p:cNvPr id="11" name="Rounded Rectangle 10"/>
          <p:cNvSpPr/>
          <p:nvPr/>
        </p:nvSpPr>
        <p:spPr>
          <a:xfrm>
            <a:off x="3840480" y="2560320"/>
            <a:ext cx="1828800" cy="548640"/>
          </a:xfrm>
          <a:prstGeom prst="round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Teams call</a:t>
            </a:r>
          </a:p>
        </p:txBody>
      </p:sp>
      <p:sp>
        <p:nvSpPr>
          <p:cNvPr id="12" name="TextBox 11"/>
          <p:cNvSpPr txBox="1"/>
          <p:nvPr/>
        </p:nvSpPr>
        <p:spPr>
          <a:xfrm>
            <a:off x="5943600" y="2560320"/>
            <a:ext cx="5852160" cy="548640"/>
          </a:xfrm>
          <a:prstGeom prst="rect">
            <a:avLst/>
          </a:prstGeom>
          <a:noFill/>
        </p:spPr>
        <p:txBody>
          <a:bodyPr wrap="square" lIns="0" rIns="0" tIns="0" bIns="0" anchor="ctr">
            <a:spAutoFit/>
          </a:bodyPr>
          <a:lstStyle/>
          <a:p>
            <a:pPr algn="l"/>
            <a:r>
              <a:rPr sz="1200" b="0">
                <a:solidFill>
                  <a:srgbClr val="222222"/>
                </a:solidFill>
                <a:latin typeface="Calibri"/>
              </a:rPr>
              <a:t>"...and also keep audit timestamps in UTC"</a:t>
            </a:r>
          </a:p>
        </p:txBody>
      </p:sp>
      <p:sp>
        <p:nvSpPr>
          <p:cNvPr id="13" name="Rounded Rectangle 12"/>
          <p:cNvSpPr/>
          <p:nvPr/>
        </p:nvSpPr>
        <p:spPr>
          <a:xfrm>
            <a:off x="3840480" y="3657600"/>
            <a:ext cx="1828800" cy="548640"/>
          </a:xfrm>
          <a:prstGeom prst="round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Email</a:t>
            </a:r>
          </a:p>
        </p:txBody>
      </p:sp>
      <p:sp>
        <p:nvSpPr>
          <p:cNvPr id="14" name="TextBox 13"/>
          <p:cNvSpPr txBox="1"/>
          <p:nvPr/>
        </p:nvSpPr>
        <p:spPr>
          <a:xfrm>
            <a:off x="5943600" y="3657600"/>
            <a:ext cx="5852160" cy="548640"/>
          </a:xfrm>
          <a:prstGeom prst="rect">
            <a:avLst/>
          </a:prstGeom>
          <a:noFill/>
        </p:spPr>
        <p:txBody>
          <a:bodyPr wrap="square" lIns="0" rIns="0" tIns="0" bIns="0" anchor="ctr">
            <a:spAutoFit/>
          </a:bodyPr>
          <a:lstStyle/>
          <a:p>
            <a:pPr algn="l"/>
            <a:r>
              <a:rPr sz="1200" b="0">
                <a:solidFill>
                  <a:srgbClr val="222222"/>
                </a:solidFill>
                <a:latin typeface="Calibri"/>
              </a:rPr>
              <a:t>PDF attached: "Requirement spec v2"</a:t>
            </a:r>
          </a:p>
        </p:txBody>
      </p:sp>
      <p:sp>
        <p:nvSpPr>
          <p:cNvPr id="15" name="Rounded Rectangle 14"/>
          <p:cNvSpPr/>
          <p:nvPr/>
        </p:nvSpPr>
        <p:spPr>
          <a:xfrm>
            <a:off x="3840480" y="4754879"/>
            <a:ext cx="1828800" cy="548640"/>
          </a:xfrm>
          <a:prstGeom prst="round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Drive</a:t>
            </a:r>
          </a:p>
        </p:txBody>
      </p:sp>
      <p:sp>
        <p:nvSpPr>
          <p:cNvPr id="16" name="TextBox 15"/>
          <p:cNvSpPr txBox="1"/>
          <p:nvPr/>
        </p:nvSpPr>
        <p:spPr>
          <a:xfrm>
            <a:off x="5943600" y="4754879"/>
            <a:ext cx="5852160" cy="548640"/>
          </a:xfrm>
          <a:prstGeom prst="rect">
            <a:avLst/>
          </a:prstGeom>
          <a:noFill/>
        </p:spPr>
        <p:txBody>
          <a:bodyPr wrap="square" lIns="0" rIns="0" tIns="0" bIns="0" anchor="ctr">
            <a:spAutoFit/>
          </a:bodyPr>
          <a:lstStyle/>
          <a:p>
            <a:pPr algn="l"/>
            <a:r>
              <a:rPr sz="1200" b="0">
                <a:solidFill>
                  <a:srgbClr val="222222"/>
                </a:solidFill>
                <a:latin typeface="Calibri"/>
              </a:rPr>
              <a:t>Spreadsheet of edge cases dropped in folder</a:t>
            </a:r>
          </a:p>
        </p:txBody>
      </p:sp>
      <p:sp>
        <p:nvSpPr>
          <p:cNvPr id="17" name="Rectangle 16"/>
          <p:cNvSpPr/>
          <p:nvPr/>
        </p:nvSpPr>
        <p:spPr>
          <a:xfrm>
            <a:off x="548640" y="5852160"/>
            <a:ext cx="11064240" cy="457200"/>
          </a:xfrm>
          <a:prstGeom prst="rect">
            <a:avLst/>
          </a:prstGeom>
          <a:solidFill>
            <a:srgbClr val="F5F7FA"/>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897880"/>
            <a:ext cx="10698480" cy="365760"/>
          </a:xfrm>
          <a:prstGeom prst="rect">
            <a:avLst/>
          </a:prstGeom>
          <a:noFill/>
        </p:spPr>
        <p:txBody>
          <a:bodyPr wrap="square" lIns="0" rIns="0" tIns="0" bIns="0" anchor="ctr">
            <a:spAutoFit/>
          </a:bodyPr>
          <a:lstStyle/>
          <a:p>
            <a:pPr algn="l"/>
            <a:r>
              <a:rPr sz="1200" b="0">
                <a:solidFill>
                  <a:srgbClr val="6B7785"/>
                </a:solidFill>
                <a:latin typeface="Calibri"/>
              </a:rPr>
              <a:t>Nobody has all the pieces. Stitching them by hand is slow and error-prone.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lIns="0" rIns="0" tIns="0" bIns="0" anchor="t">
            <a:spAutoFit/>
          </a:bodyPr>
          <a:lstStyle/>
          <a:p>
            <a:pPr algn="l"/>
            <a:r>
              <a:rPr sz="2800" b="1">
                <a:solidFill>
                  <a:srgbClr val="1F4E79"/>
                </a:solidFill>
                <a:latin typeface="Calibri"/>
              </a:rPr>
              <a:t>The solution</a:t>
            </a:r>
          </a:p>
          <a:p>
            <a:pPr algn="l">
              <a:spcBef>
                <a:spcPts val="200"/>
              </a:spcBef>
            </a:pPr>
            <a:r>
              <a:rPr sz="1400" b="0">
                <a:solidFill>
                  <a:srgbClr val="6B7785"/>
                </a:solidFill>
                <a:latin typeface="Calibri"/>
              </a:rPr>
              <a:t>One pipeline, four channels in, one verification email out.</a:t>
            </a:r>
          </a:p>
        </p:txBody>
      </p:sp>
      <p:sp>
        <p:nvSpPr>
          <p:cNvPr id="4" name="Rectangle 3"/>
          <p:cNvSpPr/>
          <p:nvPr/>
        </p:nvSpPr>
        <p:spPr>
          <a:xfrm>
            <a:off x="548640" y="6446520"/>
            <a:ext cx="1106424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554480"/>
            <a:ext cx="2606040" cy="329184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554480"/>
            <a:ext cx="73152" cy="32918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 y="1664208"/>
            <a:ext cx="2350008" cy="3072384"/>
          </a:xfrm>
          <a:prstGeom prst="rect">
            <a:avLst/>
          </a:prstGeom>
          <a:noFill/>
        </p:spPr>
        <p:txBody>
          <a:bodyPr wrap="square" lIns="0" rIns="0" tIns="0" bIns="0" anchor="t">
            <a:spAutoFit/>
          </a:bodyPr>
          <a:lstStyle/>
          <a:p>
            <a:pPr algn="l"/>
            <a:r>
              <a:rPr sz="1400" b="1">
                <a:solidFill>
                  <a:srgbClr val="1F4E79"/>
                </a:solidFill>
                <a:latin typeface="Calibri"/>
              </a:rPr>
              <a:t>CAPTURE</a:t>
            </a:r>
          </a:p>
          <a:p>
            <a:pPr algn="l">
              <a:spcBef>
                <a:spcPts val="200"/>
              </a:spcBef>
            </a:pPr>
            <a:r>
              <a:rPr sz="1100" b="0">
                <a:solidFill>
                  <a:srgbClr val="222222"/>
                </a:solidFill>
                <a:latin typeface="Calibri"/>
              </a:rPr>
              <a:t>Every dev machine + agent host pulls chat, calls, email, and Drive into one document.</a:t>
            </a:r>
          </a:p>
        </p:txBody>
      </p:sp>
      <p:cxnSp>
        <p:nvCxnSpPr>
          <p:cNvPr id="8" name="Connector 7"/>
          <p:cNvCxnSpPr/>
          <p:nvPr/>
        </p:nvCxnSpPr>
        <p:spPr>
          <a:xfrm>
            <a:off x="3264408" y="3200400.0"/>
            <a:ext cx="192024" cy="0.0"/>
          </a:xfrm>
          <a:prstGeom prst="bentConnector3">
            <a:avLst/>
          </a:prstGeom>
          <a:ln w="27940">
            <a:solidFill>
              <a:srgbClr val="6B7785"/>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3474720" y="1554480"/>
            <a:ext cx="2606040" cy="329184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74720" y="1554480"/>
            <a:ext cx="73152" cy="3291840"/>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39312" y="1664208"/>
            <a:ext cx="2350008" cy="3072384"/>
          </a:xfrm>
          <a:prstGeom prst="rect">
            <a:avLst/>
          </a:prstGeom>
          <a:noFill/>
        </p:spPr>
        <p:txBody>
          <a:bodyPr wrap="square" lIns="0" rIns="0" tIns="0" bIns="0" anchor="t">
            <a:spAutoFit/>
          </a:bodyPr>
          <a:lstStyle/>
          <a:p>
            <a:pPr algn="l"/>
            <a:r>
              <a:rPr sz="1400" b="1">
                <a:solidFill>
                  <a:srgbClr val="2E8A8A"/>
                </a:solidFill>
                <a:latin typeface="Calibri"/>
              </a:rPr>
              <a:t>IDENTIFY</a:t>
            </a:r>
          </a:p>
          <a:p>
            <a:pPr algn="l">
              <a:spcBef>
                <a:spcPts val="200"/>
              </a:spcBef>
            </a:pPr>
            <a:r>
              <a:rPr sz="1100" b="0">
                <a:solidFill>
                  <a:srgbClr val="222222"/>
                </a:solidFill>
                <a:latin typeface="Calibri"/>
              </a:rPr>
              <a:t>Claude reads the document and extracts a deduped, structured requirement list.</a:t>
            </a:r>
          </a:p>
        </p:txBody>
      </p:sp>
      <p:cxnSp>
        <p:nvCxnSpPr>
          <p:cNvPr id="12" name="Connector 11"/>
          <p:cNvCxnSpPr/>
          <p:nvPr/>
        </p:nvCxnSpPr>
        <p:spPr>
          <a:xfrm>
            <a:off x="6099048" y="3200400.0"/>
            <a:ext cx="192024" cy="0.0"/>
          </a:xfrm>
          <a:prstGeom prst="bentConnector3">
            <a:avLst/>
          </a:prstGeom>
          <a:ln w="27940">
            <a:solidFill>
              <a:srgbClr val="6B7785"/>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6309360" y="1554480"/>
            <a:ext cx="2606040" cy="329184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1554480"/>
            <a:ext cx="73152" cy="3291840"/>
          </a:xfrm>
          <a:prstGeom prst="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1664208"/>
            <a:ext cx="2350008" cy="3072384"/>
          </a:xfrm>
          <a:prstGeom prst="rect">
            <a:avLst/>
          </a:prstGeom>
          <a:noFill/>
        </p:spPr>
        <p:txBody>
          <a:bodyPr wrap="square" lIns="0" rIns="0" tIns="0" bIns="0" anchor="t">
            <a:spAutoFit/>
          </a:bodyPr>
          <a:lstStyle/>
          <a:p>
            <a:pPr algn="l"/>
            <a:r>
              <a:rPr sz="1400" b="1">
                <a:solidFill>
                  <a:srgbClr val="4A7A4A"/>
                </a:solidFill>
                <a:latin typeface="Calibri"/>
              </a:rPr>
              <a:t>VERIFY</a:t>
            </a:r>
          </a:p>
          <a:p>
            <a:pPr algn="l">
              <a:spcBef>
                <a:spcPts val="200"/>
              </a:spcBef>
            </a:pPr>
            <a:r>
              <a:rPr sz="1100" b="0">
                <a:solidFill>
                  <a:srgbClr val="222222"/>
                </a:solidFill>
                <a:latin typeface="Calibri"/>
              </a:rPr>
              <a:t>Titu reviews the list, edits if needed, and clicks Send when satisfied.</a:t>
            </a:r>
          </a:p>
        </p:txBody>
      </p:sp>
      <p:cxnSp>
        <p:nvCxnSpPr>
          <p:cNvPr id="16" name="Connector 15"/>
          <p:cNvCxnSpPr/>
          <p:nvPr/>
        </p:nvCxnSpPr>
        <p:spPr>
          <a:xfrm>
            <a:off x="8933688" y="3200400.0"/>
            <a:ext cx="192024" cy="0.0"/>
          </a:xfrm>
          <a:prstGeom prst="bentConnector3">
            <a:avLst/>
          </a:prstGeom>
          <a:ln w="27940">
            <a:solidFill>
              <a:srgbClr val="6B7785"/>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9144000" y="1554480"/>
            <a:ext cx="2606040" cy="329184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0" y="1554480"/>
            <a:ext cx="73152" cy="3291840"/>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08592" y="1664208"/>
            <a:ext cx="2350008" cy="3072384"/>
          </a:xfrm>
          <a:prstGeom prst="rect">
            <a:avLst/>
          </a:prstGeom>
          <a:noFill/>
        </p:spPr>
        <p:txBody>
          <a:bodyPr wrap="square" lIns="0" rIns="0" tIns="0" bIns="0" anchor="t">
            <a:spAutoFit/>
          </a:bodyPr>
          <a:lstStyle/>
          <a:p>
            <a:pPr algn="l"/>
            <a:r>
              <a:rPr sz="1400" b="1">
                <a:solidFill>
                  <a:srgbClr val="E07856"/>
                </a:solidFill>
                <a:latin typeface="Calibri"/>
              </a:rPr>
              <a:t>DELIVER</a:t>
            </a:r>
          </a:p>
          <a:p>
            <a:pPr algn="l">
              <a:spcBef>
                <a:spcPts val="200"/>
              </a:spcBef>
            </a:pPr>
            <a:r>
              <a:rPr sz="1100" b="0">
                <a:solidFill>
                  <a:srgbClr val="222222"/>
                </a:solidFill>
                <a:latin typeface="Calibri"/>
              </a:rPr>
              <a:t>Client receives an email asking them to confirm. Nothing leaves Gmail without Titu.</a:t>
            </a:r>
          </a:p>
        </p:txBody>
      </p:sp>
      <p:sp>
        <p:nvSpPr>
          <p:cNvPr id="20" name="TextBox 19"/>
          <p:cNvSpPr txBox="1"/>
          <p:nvPr/>
        </p:nvSpPr>
        <p:spPr>
          <a:xfrm>
            <a:off x="640080" y="5212080"/>
            <a:ext cx="10972800" cy="731520"/>
          </a:xfrm>
          <a:prstGeom prst="rect">
            <a:avLst/>
          </a:prstGeom>
          <a:noFill/>
        </p:spPr>
        <p:txBody>
          <a:bodyPr wrap="square" lIns="0" rIns="0" tIns="0" bIns="0" anchor="ctr">
            <a:spAutoFit/>
          </a:bodyPr>
          <a:lstStyle/>
          <a:p>
            <a:pPr algn="ctr"/>
            <a:r>
              <a:rPr sz="1400" b="1">
                <a:solidFill>
                  <a:srgbClr val="1F4E79"/>
                </a:solidFill>
                <a:latin typeface="Calibri"/>
              </a:rPr>
              <a:t>Human-in-the-loop at the Verify step. Nothing is auto-sent.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lIns="0" rIns="0" tIns="0" bIns="0" anchor="t">
            <a:spAutoFit/>
          </a:bodyPr>
          <a:lstStyle/>
          <a:p>
            <a:pPr algn="l"/>
            <a:r>
              <a:rPr sz="2800" b="1">
                <a:solidFill>
                  <a:srgbClr val="1F4E79"/>
                </a:solidFill>
                <a:latin typeface="Calibri"/>
              </a:rPr>
              <a:t>The four input channels</a:t>
            </a:r>
          </a:p>
          <a:p>
            <a:pPr algn="l">
              <a:spcBef>
                <a:spcPts val="200"/>
              </a:spcBef>
            </a:pPr>
            <a:r>
              <a:rPr sz="1400" b="0">
                <a:solidFill>
                  <a:srgbClr val="6B7785"/>
                </a:solidFill>
                <a:latin typeface="Calibri"/>
              </a:rPr>
              <a:t>All four stage to central automatically. No operator action.</a:t>
            </a:r>
          </a:p>
        </p:txBody>
      </p:sp>
      <p:sp>
        <p:nvSpPr>
          <p:cNvPr id="4" name="Rectangle 3"/>
          <p:cNvSpPr/>
          <p:nvPr/>
        </p:nvSpPr>
        <p:spPr>
          <a:xfrm>
            <a:off x="548640" y="6446520"/>
            <a:ext cx="1106424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371600"/>
            <a:ext cx="5303520" cy="233172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371600"/>
            <a:ext cx="73152" cy="2331720"/>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481328"/>
            <a:ext cx="5047488" cy="2112264"/>
          </a:xfrm>
          <a:prstGeom prst="rect">
            <a:avLst/>
          </a:prstGeom>
          <a:noFill/>
        </p:spPr>
        <p:txBody>
          <a:bodyPr wrap="square" lIns="0" rIns="0" tIns="0" bIns="0" anchor="t">
            <a:spAutoFit/>
          </a:bodyPr>
          <a:lstStyle/>
          <a:p>
            <a:pPr algn="l"/>
            <a:r>
              <a:rPr sz="1400" b="1">
                <a:solidFill>
                  <a:srgbClr val="E07856"/>
                </a:solidFill>
                <a:latin typeface="Calibri"/>
              </a:rPr>
              <a:t>Teams chat</a:t>
            </a:r>
          </a:p>
          <a:p>
            <a:pPr algn="l">
              <a:spcBef>
                <a:spcPts val="200"/>
              </a:spcBef>
            </a:pPr>
            <a:r>
              <a:rPr sz="1100" b="0">
                <a:solidFill>
                  <a:srgbClr val="222222"/>
                </a:solidFill>
                <a:latin typeface="Calibri"/>
              </a:rPr>
              <a:t>Read from each dev's local Teams cache. No API, no token.</a:t>
            </a:r>
          </a:p>
          <a:p>
            <a:pPr algn="l">
              <a:spcBef>
                <a:spcPts val="200"/>
              </a:spcBef>
            </a:pPr>
            <a:r>
              <a:rPr sz="1100" b="0">
                <a:solidFill>
                  <a:srgbClr val="222222"/>
                </a:solidFill>
                <a:latin typeface="Calibri"/>
              </a:rPr>
              <a:t/>
            </a:r>
          </a:p>
          <a:p>
            <a:pPr algn="l">
              <a:spcBef>
                <a:spcPts val="200"/>
              </a:spcBef>
            </a:pPr>
            <a:r>
              <a:rPr sz="1100" b="0">
                <a:solidFill>
                  <a:srgbClr val="222222"/>
                </a:solidFill>
                <a:latin typeface="Calibri"/>
              </a:rPr>
              <a:t>Every 15 min during BD 18:00-01:00 + 18:00 backfill (1080 min).</a:t>
            </a:r>
          </a:p>
        </p:txBody>
      </p:sp>
      <p:sp>
        <p:nvSpPr>
          <p:cNvPr id="8" name="Rectangle 7"/>
          <p:cNvSpPr/>
          <p:nvPr/>
        </p:nvSpPr>
        <p:spPr>
          <a:xfrm>
            <a:off x="6355080" y="1371600"/>
            <a:ext cx="5303520" cy="233172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55080" y="1371600"/>
            <a:ext cx="73152" cy="2331720"/>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1481328"/>
            <a:ext cx="5047488" cy="2112264"/>
          </a:xfrm>
          <a:prstGeom prst="rect">
            <a:avLst/>
          </a:prstGeom>
          <a:noFill/>
        </p:spPr>
        <p:txBody>
          <a:bodyPr wrap="square" lIns="0" rIns="0" tIns="0" bIns="0" anchor="t">
            <a:spAutoFit/>
          </a:bodyPr>
          <a:lstStyle/>
          <a:p>
            <a:pPr algn="l"/>
            <a:r>
              <a:rPr sz="1400" b="1">
                <a:solidFill>
                  <a:srgbClr val="2E8A8A"/>
                </a:solidFill>
                <a:latin typeface="Calibri"/>
              </a:rPr>
              <a:t>Teams calls</a:t>
            </a:r>
          </a:p>
          <a:p>
            <a:pPr algn="l">
              <a:spcBef>
                <a:spcPts val="200"/>
              </a:spcBef>
            </a:pPr>
            <a:r>
              <a:rPr sz="1100" b="0">
                <a:solidFill>
                  <a:srgbClr val="222222"/>
                </a:solidFill>
                <a:latin typeface="Calibri"/>
              </a:rPr>
              <a:t>Voice daemon records mic + speaker as separate tracks.</a:t>
            </a:r>
          </a:p>
          <a:p>
            <a:pPr algn="l">
              <a:spcBef>
                <a:spcPts val="200"/>
              </a:spcBef>
            </a:pPr>
            <a:r>
              <a:rPr sz="1100" b="0">
                <a:solidFill>
                  <a:srgbClr val="222222"/>
                </a:solidFill>
                <a:latin typeface="Calibri"/>
              </a:rPr>
              <a:t/>
            </a:r>
          </a:p>
          <a:p>
            <a:pPr algn="l">
              <a:spcBef>
                <a:spcPts val="200"/>
              </a:spcBef>
            </a:pPr>
            <a:r>
              <a:rPr sz="1100" b="0">
                <a:solidFill>
                  <a:srgbClr val="222222"/>
                </a:solidFill>
                <a:latin typeface="Calibri"/>
              </a:rPr>
              <a:t>On "stop" / "Allah Hafez". Gated to BD 18:00-01:00.</a:t>
            </a:r>
          </a:p>
        </p:txBody>
      </p:sp>
      <p:sp>
        <p:nvSpPr>
          <p:cNvPr id="11" name="Rectangle 10"/>
          <p:cNvSpPr/>
          <p:nvPr/>
        </p:nvSpPr>
        <p:spPr>
          <a:xfrm>
            <a:off x="548640" y="3886200"/>
            <a:ext cx="5303520" cy="233172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886200"/>
            <a:ext cx="73152" cy="2331720"/>
          </a:xfrm>
          <a:prstGeom prst="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3995928"/>
            <a:ext cx="5047488" cy="2112264"/>
          </a:xfrm>
          <a:prstGeom prst="rect">
            <a:avLst/>
          </a:prstGeom>
          <a:noFill/>
        </p:spPr>
        <p:txBody>
          <a:bodyPr wrap="square" lIns="0" rIns="0" tIns="0" bIns="0" anchor="t">
            <a:spAutoFit/>
          </a:bodyPr>
          <a:lstStyle/>
          <a:p>
            <a:pPr algn="l"/>
            <a:r>
              <a:rPr sz="1400" b="1">
                <a:solidFill>
                  <a:srgbClr val="C9962B"/>
                </a:solidFill>
                <a:latin typeface="Calibri"/>
              </a:rPr>
              <a:t>Email</a:t>
            </a:r>
          </a:p>
          <a:p>
            <a:pPr algn="l">
              <a:spcBef>
                <a:spcPts val="200"/>
              </a:spcBef>
            </a:pPr>
            <a:r>
              <a:rPr sz="1100" b="0">
                <a:solidFill>
                  <a:srgbClr val="222222"/>
                </a:solidFill>
                <a:latin typeface="Calibri"/>
              </a:rPr>
              <a:t>IMAP poll of khasan@ael-bd.com on the agent host.</a:t>
            </a:r>
          </a:p>
          <a:p>
            <a:pPr algn="l">
              <a:spcBef>
                <a:spcPts val="200"/>
              </a:spcBef>
            </a:pPr>
            <a:r>
              <a:rPr sz="1100" b="0">
                <a:solidFill>
                  <a:srgbClr val="222222"/>
                </a:solidFill>
                <a:latin typeface="Calibri"/>
              </a:rPr>
              <a:t/>
            </a:r>
          </a:p>
          <a:p>
            <a:pPr algn="l">
              <a:spcBef>
                <a:spcPts val="200"/>
              </a:spcBef>
            </a:pPr>
            <a:r>
              <a:rPr sz="1100" b="0">
                <a:solidFill>
                  <a:srgbClr val="222222"/>
                </a:solidFill>
                <a:latin typeface="Calibri"/>
              </a:rPr>
              <a:t>Auto-staged to central every 15 min, 24x7. UID-checkpointed.</a:t>
            </a:r>
          </a:p>
        </p:txBody>
      </p:sp>
      <p:sp>
        <p:nvSpPr>
          <p:cNvPr id="14" name="Rectangle 13"/>
          <p:cNvSpPr/>
          <p:nvPr/>
        </p:nvSpPr>
        <p:spPr>
          <a:xfrm>
            <a:off x="6355080" y="3886200"/>
            <a:ext cx="5303520" cy="233172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55080" y="3886200"/>
            <a:ext cx="73152" cy="2331720"/>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19672" y="3995928"/>
            <a:ext cx="5047488" cy="2112264"/>
          </a:xfrm>
          <a:prstGeom prst="rect">
            <a:avLst/>
          </a:prstGeom>
          <a:noFill/>
        </p:spPr>
        <p:txBody>
          <a:bodyPr wrap="square" lIns="0" rIns="0" tIns="0" bIns="0" anchor="t">
            <a:spAutoFit/>
          </a:bodyPr>
          <a:lstStyle/>
          <a:p>
            <a:pPr algn="l"/>
            <a:r>
              <a:rPr sz="1400" b="1">
                <a:solidFill>
                  <a:srgbClr val="6A4C93"/>
                </a:solidFill>
                <a:latin typeface="Calibri"/>
              </a:rPr>
              <a:t>Google Drive</a:t>
            </a:r>
          </a:p>
          <a:p>
            <a:pPr algn="l">
              <a:spcBef>
                <a:spcPts val="200"/>
              </a:spcBef>
            </a:pPr>
            <a:r>
              <a:rPr sz="1100" b="0">
                <a:solidFill>
                  <a:srgbClr val="222222"/>
                </a:solidFill>
                <a:latin typeface="Calibri"/>
              </a:rPr>
              <a:t>Service-account read of one shared folder.</a:t>
            </a:r>
          </a:p>
          <a:p>
            <a:pPr algn="l">
              <a:spcBef>
                <a:spcPts val="200"/>
              </a:spcBef>
            </a:pPr>
            <a:r>
              <a:rPr sz="1100" b="0">
                <a:solidFill>
                  <a:srgbClr val="222222"/>
                </a:solidFill>
                <a:latin typeface="Calibri"/>
              </a:rPr>
              <a:t/>
            </a:r>
          </a:p>
          <a:p>
            <a:pPr algn="l">
              <a:spcBef>
                <a:spcPts val="200"/>
              </a:spcBef>
            </a:pPr>
            <a:r>
              <a:rPr sz="1100" b="0">
                <a:solidFill>
                  <a:srgbClr val="222222"/>
                </a:solidFill>
                <a:latin typeface="Calibri"/>
              </a:rPr>
              <a:t>Auto-staged to central every 15 min, 24x7, +5 min offset.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lIns="0" rIns="0" tIns="0" bIns="0" anchor="t">
            <a:spAutoFit/>
          </a:bodyPr>
          <a:lstStyle/>
          <a:p>
            <a:pPr algn="l"/>
            <a:r>
              <a:rPr sz="2800" b="1">
                <a:solidFill>
                  <a:srgbClr val="1F4E79"/>
                </a:solidFill>
                <a:latin typeface="Calibri"/>
              </a:rPr>
              <a:t>What every developer does -- once</a:t>
            </a:r>
          </a:p>
          <a:p>
            <a:pPr algn="l">
              <a:spcBef>
                <a:spcPts val="200"/>
              </a:spcBef>
            </a:pPr>
            <a:r>
              <a:rPr sz="1400" b="0">
                <a:solidFill>
                  <a:srgbClr val="6B7785"/>
                </a:solidFill>
                <a:latin typeface="Calibri"/>
              </a:rPr>
              <a:t>Five steps. Ten minutes. No secrets.</a:t>
            </a:r>
          </a:p>
        </p:txBody>
      </p:sp>
      <p:sp>
        <p:nvSpPr>
          <p:cNvPr id="4" name="Rectangle 3"/>
          <p:cNvSpPr/>
          <p:nvPr/>
        </p:nvSpPr>
        <p:spPr>
          <a:xfrm>
            <a:off x="548640" y="6446520"/>
            <a:ext cx="1106424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640080" cy="64008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1</a:t>
            </a:r>
          </a:p>
        </p:txBody>
      </p:sp>
      <p:sp>
        <p:nvSpPr>
          <p:cNvPr id="6" name="TextBox 5"/>
          <p:cNvSpPr txBox="1"/>
          <p:nvPr/>
        </p:nvSpPr>
        <p:spPr>
          <a:xfrm>
            <a:off x="1463040" y="1417320"/>
            <a:ext cx="10058400" cy="640080"/>
          </a:xfrm>
          <a:prstGeom prst="rect">
            <a:avLst/>
          </a:prstGeom>
          <a:noFill/>
        </p:spPr>
        <p:txBody>
          <a:bodyPr wrap="square" lIns="0" rIns="0" tIns="0" bIns="0" anchor="ctr">
            <a:spAutoFit/>
          </a:bodyPr>
          <a:lstStyle/>
          <a:p>
            <a:pPr algn="l"/>
            <a:r>
              <a:rPr sz="1600" b="1">
                <a:solidFill>
                  <a:srgbClr val="1F4E79"/>
                </a:solidFill>
                <a:latin typeface="Calibri"/>
              </a:rPr>
              <a:t>Clone the repo</a:t>
            </a:r>
          </a:p>
          <a:p>
            <a:pPr algn="l">
              <a:spcBef>
                <a:spcPts val="200"/>
              </a:spcBef>
            </a:pPr>
            <a:r>
              <a:rPr sz="1200" b="0">
                <a:solidFill>
                  <a:srgbClr val="6B7785"/>
                </a:solidFill>
                <a:latin typeface="Calibri"/>
              </a:rPr>
              <a:t>git clone https://github.com/napco-labs/napco-nucleus</a:t>
            </a:r>
          </a:p>
        </p:txBody>
      </p:sp>
      <p:sp>
        <p:nvSpPr>
          <p:cNvPr id="7" name="Rounded Rectangle 6"/>
          <p:cNvSpPr/>
          <p:nvPr/>
        </p:nvSpPr>
        <p:spPr>
          <a:xfrm>
            <a:off x="640080" y="2286000"/>
            <a:ext cx="640080" cy="64008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2</a:t>
            </a:r>
          </a:p>
        </p:txBody>
      </p:sp>
      <p:sp>
        <p:nvSpPr>
          <p:cNvPr id="8" name="TextBox 7"/>
          <p:cNvSpPr txBox="1"/>
          <p:nvPr/>
        </p:nvSpPr>
        <p:spPr>
          <a:xfrm>
            <a:off x="1463040" y="2286000"/>
            <a:ext cx="10058400" cy="640080"/>
          </a:xfrm>
          <a:prstGeom prst="rect">
            <a:avLst/>
          </a:prstGeom>
          <a:noFill/>
        </p:spPr>
        <p:txBody>
          <a:bodyPr wrap="square" lIns="0" rIns="0" tIns="0" bIns="0" anchor="ctr">
            <a:spAutoFit/>
          </a:bodyPr>
          <a:lstStyle/>
          <a:p>
            <a:pPr algn="l"/>
            <a:r>
              <a:rPr sz="1600" b="1">
                <a:solidFill>
                  <a:srgbClr val="1F4E79"/>
                </a:solidFill>
                <a:latin typeface="Calibri"/>
              </a:rPr>
              <a:t>Run scripts\setup.bat</a:t>
            </a:r>
          </a:p>
          <a:p>
            <a:pPr algn="l">
              <a:spcBef>
                <a:spcPts val="200"/>
              </a:spcBef>
            </a:pPr>
            <a:r>
              <a:rPr sz="1200" b="0">
                <a:solidFill>
                  <a:srgbClr val="6B7785"/>
                </a:solidFill>
                <a:latin typeface="Calibri"/>
              </a:rPr>
              <a:t>Python, venv, deps, .env. No App Password needed.</a:t>
            </a:r>
          </a:p>
        </p:txBody>
      </p:sp>
      <p:sp>
        <p:nvSpPr>
          <p:cNvPr id="9" name="Rounded Rectangle 8"/>
          <p:cNvSpPr/>
          <p:nvPr/>
        </p:nvSpPr>
        <p:spPr>
          <a:xfrm>
            <a:off x="640080" y="3154680"/>
            <a:ext cx="640080" cy="64008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3</a:t>
            </a:r>
          </a:p>
        </p:txBody>
      </p:sp>
      <p:sp>
        <p:nvSpPr>
          <p:cNvPr id="10" name="TextBox 9"/>
          <p:cNvSpPr txBox="1"/>
          <p:nvPr/>
        </p:nvSpPr>
        <p:spPr>
          <a:xfrm>
            <a:off x="1463040" y="3154680"/>
            <a:ext cx="10058400" cy="640080"/>
          </a:xfrm>
          <a:prstGeom prst="rect">
            <a:avLst/>
          </a:prstGeom>
          <a:noFill/>
        </p:spPr>
        <p:txBody>
          <a:bodyPr wrap="square" lIns="0" rIns="0" tIns="0" bIns="0" anchor="ctr">
            <a:spAutoFit/>
          </a:bodyPr>
          <a:lstStyle/>
          <a:p>
            <a:pPr algn="l"/>
            <a:r>
              <a:rPr sz="1600" b="1">
                <a:solidFill>
                  <a:srgbClr val="1F4E79"/>
                </a:solidFill>
                <a:latin typeface="Calibri"/>
              </a:rPr>
              <a:t>Confirm one line in .env</a:t>
            </a:r>
          </a:p>
          <a:p>
            <a:pPr algn="l">
              <a:spcBef>
                <a:spcPts val="200"/>
              </a:spcBef>
            </a:pPr>
            <a:r>
              <a:rPr sz="1200" b="0">
                <a:solidFill>
                  <a:srgbClr val="6B7785"/>
                </a:solidFill>
                <a:latin typeface="Calibri"/>
              </a:rPr>
              <a:t>NUCLEUS_CENTRAL_PATH=\\172.16.205.209\nucleus-central</a:t>
            </a:r>
          </a:p>
        </p:txBody>
      </p:sp>
      <p:sp>
        <p:nvSpPr>
          <p:cNvPr id="11" name="Rounded Rectangle 10"/>
          <p:cNvSpPr/>
          <p:nvPr/>
        </p:nvSpPr>
        <p:spPr>
          <a:xfrm>
            <a:off x="640080" y="4023360"/>
            <a:ext cx="640080" cy="64008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4</a:t>
            </a:r>
          </a:p>
        </p:txBody>
      </p:sp>
      <p:sp>
        <p:nvSpPr>
          <p:cNvPr id="12" name="TextBox 11"/>
          <p:cNvSpPr txBox="1"/>
          <p:nvPr/>
        </p:nvSpPr>
        <p:spPr>
          <a:xfrm>
            <a:off x="1463040" y="4023360"/>
            <a:ext cx="10058400" cy="640080"/>
          </a:xfrm>
          <a:prstGeom prst="rect">
            <a:avLst/>
          </a:prstGeom>
          <a:noFill/>
        </p:spPr>
        <p:txBody>
          <a:bodyPr wrap="square" lIns="0" rIns="0" tIns="0" bIns="0" anchor="ctr">
            <a:spAutoFit/>
          </a:bodyPr>
          <a:lstStyle/>
          <a:p>
            <a:pPr algn="l"/>
            <a:r>
              <a:rPr sz="1600" b="1">
                <a:solidFill>
                  <a:srgbClr val="1F4E79"/>
                </a:solidFill>
                <a:latin typeface="Calibri"/>
              </a:rPr>
              <a:t>Register the 15-min chat-push</a:t>
            </a:r>
          </a:p>
          <a:p>
            <a:pPr algn="l">
              <a:spcBef>
                <a:spcPts val="200"/>
              </a:spcBef>
            </a:pPr>
            <a:r>
              <a:rPr sz="1200" b="0">
                <a:solidFill>
                  <a:srgbClr val="6B7785"/>
                </a:solidFill>
                <a:latin typeface="Calibri"/>
              </a:rPr>
              <a:t>.\scripts\register-chat-push-task.ps1</a:t>
            </a:r>
          </a:p>
        </p:txBody>
      </p:sp>
      <p:sp>
        <p:nvSpPr>
          <p:cNvPr id="13" name="Rounded Rectangle 12"/>
          <p:cNvSpPr/>
          <p:nvPr/>
        </p:nvSpPr>
        <p:spPr>
          <a:xfrm>
            <a:off x="640080" y="4892040"/>
            <a:ext cx="640080" cy="64008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5</a:t>
            </a:r>
          </a:p>
        </p:txBody>
      </p:sp>
      <p:sp>
        <p:nvSpPr>
          <p:cNvPr id="14" name="TextBox 13"/>
          <p:cNvSpPr txBox="1"/>
          <p:nvPr/>
        </p:nvSpPr>
        <p:spPr>
          <a:xfrm>
            <a:off x="1463040" y="4892040"/>
            <a:ext cx="10058400" cy="640080"/>
          </a:xfrm>
          <a:prstGeom prst="rect">
            <a:avLst/>
          </a:prstGeom>
          <a:noFill/>
        </p:spPr>
        <p:txBody>
          <a:bodyPr wrap="square" lIns="0" rIns="0" tIns="0" bIns="0" anchor="ctr">
            <a:spAutoFit/>
          </a:bodyPr>
          <a:lstStyle/>
          <a:p>
            <a:pPr algn="l"/>
            <a:r>
              <a:rPr sz="1600" b="1">
                <a:solidFill>
                  <a:srgbClr val="1F4E79"/>
                </a:solidFill>
                <a:latin typeface="Calibri"/>
              </a:rPr>
              <a:t>Start the voice daemon</a:t>
            </a:r>
          </a:p>
          <a:p>
            <a:pPr algn="l">
              <a:spcBef>
                <a:spcPts val="200"/>
              </a:spcBef>
            </a:pPr>
            <a:r>
              <a:rPr sz="1200" b="0">
                <a:solidFill>
                  <a:srgbClr val="6B7785"/>
                </a:solidFill>
                <a:latin typeface="Calibri"/>
              </a:rPr>
              <a:t>Double-click scripts\start-daemon.bat</a:t>
            </a:r>
          </a:p>
        </p:txBody>
      </p:sp>
      <p:sp>
        <p:nvSpPr>
          <p:cNvPr id="15" name="Rectangle 14"/>
          <p:cNvSpPr/>
          <p:nvPr/>
        </p:nvSpPr>
        <p:spPr>
          <a:xfrm>
            <a:off x="548640" y="5989320"/>
            <a:ext cx="11064240" cy="411480"/>
          </a:xfrm>
          <a:prstGeom prst="rect">
            <a:avLst/>
          </a:prstGeom>
          <a:solidFill>
            <a:srgbClr val="F5F7FA"/>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016752"/>
            <a:ext cx="10698480" cy="365760"/>
          </a:xfrm>
          <a:prstGeom prst="rect">
            <a:avLst/>
          </a:prstGeom>
          <a:noFill/>
        </p:spPr>
        <p:txBody>
          <a:bodyPr wrap="square" lIns="0" rIns="0" tIns="0" bIns="0" anchor="ctr">
            <a:spAutoFit/>
          </a:bodyPr>
          <a:lstStyle/>
          <a:p>
            <a:pPr algn="l"/>
            <a:r>
              <a:rPr sz="1200" b="0">
                <a:solidFill>
                  <a:srgbClr val="6B7785"/>
                </a:solidFill>
                <a:latin typeface="Calibri"/>
              </a:rPr>
              <a:t>Full walk-through: docs/Setup_Guide.pdf in the repo.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lIns="0" rIns="0" tIns="0" bIns="0" anchor="t">
            <a:spAutoFit/>
          </a:bodyPr>
          <a:lstStyle/>
          <a:p>
            <a:pPr algn="l"/>
            <a:r>
              <a:rPr sz="2800" b="1">
                <a:solidFill>
                  <a:srgbClr val="1F4E79"/>
                </a:solidFill>
                <a:latin typeface="Calibri"/>
              </a:rPr>
              <a:t>What every developer does -- daily</a:t>
            </a:r>
          </a:p>
          <a:p>
            <a:pPr algn="l">
              <a:spcBef>
                <a:spcPts val="200"/>
              </a:spcBef>
            </a:pPr>
            <a:r>
              <a:rPr sz="1400" b="0">
                <a:solidFill>
                  <a:srgbClr val="6B7785"/>
                </a:solidFill>
                <a:latin typeface="Calibri"/>
              </a:rPr>
              <a:t>Mostly nothing. The system does the work.</a:t>
            </a:r>
          </a:p>
        </p:txBody>
      </p:sp>
      <p:sp>
        <p:nvSpPr>
          <p:cNvPr id="4" name="Rectangle 3"/>
          <p:cNvSpPr/>
          <p:nvPr/>
        </p:nvSpPr>
        <p:spPr>
          <a:xfrm>
            <a:off x="548640" y="6446520"/>
            <a:ext cx="1106424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54480"/>
            <a:ext cx="11064240" cy="91440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691640"/>
            <a:ext cx="4572000" cy="640080"/>
          </a:xfrm>
          <a:prstGeom prst="rect">
            <a:avLst/>
          </a:prstGeom>
          <a:noFill/>
        </p:spPr>
        <p:txBody>
          <a:bodyPr wrap="square" lIns="0" rIns="0" tIns="0" bIns="0" anchor="ctr">
            <a:spAutoFit/>
          </a:bodyPr>
          <a:lstStyle/>
          <a:p>
            <a:pPr algn="l"/>
            <a:r>
              <a:rPr sz="1400" b="1">
                <a:solidFill>
                  <a:srgbClr val="1F4E79"/>
                </a:solidFill>
                <a:latin typeface="Calibri"/>
              </a:rPr>
              <a:t>Get your chat / attachments to central</a:t>
            </a:r>
          </a:p>
        </p:txBody>
      </p:sp>
      <p:sp>
        <p:nvSpPr>
          <p:cNvPr id="7" name="TextBox 6"/>
          <p:cNvSpPr txBox="1"/>
          <p:nvPr/>
        </p:nvSpPr>
        <p:spPr>
          <a:xfrm>
            <a:off x="5577840" y="1691640"/>
            <a:ext cx="6035040" cy="640080"/>
          </a:xfrm>
          <a:prstGeom prst="rect">
            <a:avLst/>
          </a:prstGeom>
          <a:noFill/>
        </p:spPr>
        <p:txBody>
          <a:bodyPr wrap="square" lIns="0" rIns="0" tIns="0" bIns="0" anchor="ctr">
            <a:spAutoFit/>
          </a:bodyPr>
          <a:lstStyle/>
          <a:p>
            <a:pPr algn="l"/>
            <a:r>
              <a:rPr sz="1300" b="0">
                <a:solidFill>
                  <a:srgbClr val="222222"/>
                </a:solidFill>
                <a:latin typeface="Calibri"/>
              </a:rPr>
              <a:t>Nothing -- the 15-minute cron handles it</a:t>
            </a:r>
          </a:p>
        </p:txBody>
      </p:sp>
      <p:sp>
        <p:nvSpPr>
          <p:cNvPr id="8" name="Rectangle 7"/>
          <p:cNvSpPr/>
          <p:nvPr/>
        </p:nvSpPr>
        <p:spPr>
          <a:xfrm>
            <a:off x="548640" y="2606040"/>
            <a:ext cx="11064240" cy="91440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43200"/>
            <a:ext cx="4572000" cy="640080"/>
          </a:xfrm>
          <a:prstGeom prst="rect">
            <a:avLst/>
          </a:prstGeom>
          <a:noFill/>
        </p:spPr>
        <p:txBody>
          <a:bodyPr wrap="square" lIns="0" rIns="0" tIns="0" bIns="0" anchor="ctr">
            <a:spAutoFit/>
          </a:bodyPr>
          <a:lstStyle/>
          <a:p>
            <a:pPr algn="l"/>
            <a:r>
              <a:rPr sz="1400" b="1">
                <a:solidFill>
                  <a:srgbClr val="1F4E79"/>
                </a:solidFill>
                <a:latin typeface="Calibri"/>
              </a:rPr>
              <a:t>Record a Teams call</a:t>
            </a:r>
          </a:p>
        </p:txBody>
      </p:sp>
      <p:sp>
        <p:nvSpPr>
          <p:cNvPr id="10" name="TextBox 9"/>
          <p:cNvSpPr txBox="1"/>
          <p:nvPr/>
        </p:nvSpPr>
        <p:spPr>
          <a:xfrm>
            <a:off x="5577840" y="2743200"/>
            <a:ext cx="6035040" cy="640080"/>
          </a:xfrm>
          <a:prstGeom prst="rect">
            <a:avLst/>
          </a:prstGeom>
          <a:noFill/>
        </p:spPr>
        <p:txBody>
          <a:bodyPr wrap="square" lIns="0" rIns="0" tIns="0" bIns="0" anchor="ctr">
            <a:spAutoFit/>
          </a:bodyPr>
          <a:lstStyle/>
          <a:p>
            <a:pPr algn="l"/>
            <a:r>
              <a:rPr sz="1300" b="0">
                <a:solidFill>
                  <a:srgbClr val="222222"/>
                </a:solidFill>
                <a:latin typeface="Calibri"/>
              </a:rPr>
              <a:t>Say "Start recording" when the call begins, "Stop" when it ends</a:t>
            </a:r>
          </a:p>
        </p:txBody>
      </p:sp>
      <p:sp>
        <p:nvSpPr>
          <p:cNvPr id="11" name="Rectangle 10"/>
          <p:cNvSpPr/>
          <p:nvPr/>
        </p:nvSpPr>
        <p:spPr>
          <a:xfrm>
            <a:off x="548640" y="3657600"/>
            <a:ext cx="11064240" cy="91440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794760"/>
            <a:ext cx="4572000" cy="640080"/>
          </a:xfrm>
          <a:prstGeom prst="rect">
            <a:avLst/>
          </a:prstGeom>
          <a:noFill/>
        </p:spPr>
        <p:txBody>
          <a:bodyPr wrap="square" lIns="0" rIns="0" tIns="0" bIns="0" anchor="ctr">
            <a:spAutoFit/>
          </a:bodyPr>
          <a:lstStyle/>
          <a:p>
            <a:pPr algn="l"/>
            <a:r>
              <a:rPr sz="1400" b="1">
                <a:solidFill>
                  <a:srgbClr val="1F4E79"/>
                </a:solidFill>
                <a:latin typeface="Calibri"/>
              </a:rPr>
              <a:t>Include a file from Teams chat</a:t>
            </a:r>
          </a:p>
        </p:txBody>
      </p:sp>
      <p:sp>
        <p:nvSpPr>
          <p:cNvPr id="13" name="TextBox 12"/>
          <p:cNvSpPr txBox="1"/>
          <p:nvPr/>
        </p:nvSpPr>
        <p:spPr>
          <a:xfrm>
            <a:off x="5577840" y="3794760"/>
            <a:ext cx="6035040" cy="640080"/>
          </a:xfrm>
          <a:prstGeom prst="rect">
            <a:avLst/>
          </a:prstGeom>
          <a:noFill/>
        </p:spPr>
        <p:txBody>
          <a:bodyPr wrap="square" lIns="0" rIns="0" tIns="0" bIns="0" anchor="ctr">
            <a:spAutoFit/>
          </a:bodyPr>
          <a:lstStyle/>
          <a:p>
            <a:pPr algn="l"/>
            <a:r>
              <a:rPr sz="1300" b="0">
                <a:solidFill>
                  <a:srgbClr val="222222"/>
                </a:solidFill>
                <a:latin typeface="Calibri"/>
              </a:rPr>
              <a:t>Click "Download" on the attachment so it lands in ~/Downloads</a:t>
            </a:r>
          </a:p>
        </p:txBody>
      </p:sp>
      <p:sp>
        <p:nvSpPr>
          <p:cNvPr id="14" name="Rectangle 13"/>
          <p:cNvSpPr/>
          <p:nvPr/>
        </p:nvSpPr>
        <p:spPr>
          <a:xfrm>
            <a:off x="548640" y="4709160"/>
            <a:ext cx="11064240" cy="91440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846320"/>
            <a:ext cx="4572000" cy="640080"/>
          </a:xfrm>
          <a:prstGeom prst="rect">
            <a:avLst/>
          </a:prstGeom>
          <a:noFill/>
        </p:spPr>
        <p:txBody>
          <a:bodyPr wrap="square" lIns="0" rIns="0" tIns="0" bIns="0" anchor="ctr">
            <a:spAutoFit/>
          </a:bodyPr>
          <a:lstStyle/>
          <a:p>
            <a:pPr algn="l"/>
            <a:r>
              <a:rPr sz="1400" b="1">
                <a:solidFill>
                  <a:srgbClr val="1F4E79"/>
                </a:solidFill>
                <a:latin typeface="Calibri"/>
              </a:rPr>
              <a:t>Update to the latest code</a:t>
            </a:r>
          </a:p>
        </p:txBody>
      </p:sp>
      <p:sp>
        <p:nvSpPr>
          <p:cNvPr id="16" name="TextBox 15"/>
          <p:cNvSpPr txBox="1"/>
          <p:nvPr/>
        </p:nvSpPr>
        <p:spPr>
          <a:xfrm>
            <a:off x="5577840" y="4846320"/>
            <a:ext cx="6035040" cy="640080"/>
          </a:xfrm>
          <a:prstGeom prst="rect">
            <a:avLst/>
          </a:prstGeom>
          <a:noFill/>
        </p:spPr>
        <p:txBody>
          <a:bodyPr wrap="square" lIns="0" rIns="0" tIns="0" bIns="0" anchor="ctr">
            <a:spAutoFit/>
          </a:bodyPr>
          <a:lstStyle/>
          <a:p>
            <a:pPr algn="l"/>
            <a:r>
              <a:rPr sz="1300" b="0">
                <a:solidFill>
                  <a:srgbClr val="222222"/>
                </a:solidFill>
                <a:latin typeface="Calibri"/>
              </a:rPr>
              <a:t>Double-click scripts\update.bat after a git pull notice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lIns="0" rIns="0" tIns="0" bIns="0" anchor="t">
            <a:spAutoFit/>
          </a:bodyPr>
          <a:lstStyle/>
          <a:p>
            <a:pPr algn="l"/>
            <a:r>
              <a:rPr sz="2800" b="1">
                <a:solidFill>
                  <a:srgbClr val="1F4E79"/>
                </a:solidFill>
                <a:latin typeface="Calibri"/>
              </a:rPr>
              <a:t>What I do</a:t>
            </a:r>
          </a:p>
          <a:p>
            <a:pPr algn="l">
              <a:spcBef>
                <a:spcPts val="200"/>
              </a:spcBef>
            </a:pPr>
            <a:r>
              <a:rPr sz="1400" b="0">
                <a:solidFill>
                  <a:srgbClr val="6B7785"/>
                </a:solidFill>
                <a:latin typeface="Calibri"/>
              </a:rPr>
              <a:t>One command, end-to-end, on demand.</a:t>
            </a:r>
          </a:p>
        </p:txBody>
      </p:sp>
      <p:sp>
        <p:nvSpPr>
          <p:cNvPr id="4" name="Rectangle 3"/>
          <p:cNvSpPr/>
          <p:nvPr/>
        </p:nvSpPr>
        <p:spPr>
          <a:xfrm>
            <a:off x="548640" y="6446520"/>
            <a:ext cx="1106424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54480"/>
            <a:ext cx="11064240" cy="9601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91640"/>
            <a:ext cx="10698480" cy="731520"/>
          </a:xfrm>
          <a:prstGeom prst="rect">
            <a:avLst/>
          </a:prstGeom>
          <a:noFill/>
        </p:spPr>
        <p:txBody>
          <a:bodyPr wrap="square" lIns="0" rIns="0" tIns="0" bIns="0" anchor="ctr">
            <a:spAutoFit/>
          </a:bodyPr>
          <a:lstStyle/>
          <a:p>
            <a:pPr algn="l"/>
            <a:r>
              <a:rPr sz="1800" b="1">
                <a:solidFill>
                  <a:srgbClr val="FFFFFF"/>
                </a:solidFill>
                <a:latin typeface="Consolas"/>
              </a:rPr>
              <a:t>GHA: Run workflow "Requirement Management"   or   scripts\requirement-management.bat</a:t>
            </a:r>
          </a:p>
        </p:txBody>
      </p:sp>
      <p:sp>
        <p:nvSpPr>
          <p:cNvPr id="7" name="Rounded Rectangle 6"/>
          <p:cNvSpPr/>
          <p:nvPr/>
        </p:nvSpPr>
        <p:spPr>
          <a:xfrm>
            <a:off x="731520" y="2788920"/>
            <a:ext cx="502920" cy="502920"/>
          </a:xfrm>
          <a:prstGeom prst="round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1</a:t>
            </a:r>
          </a:p>
        </p:txBody>
      </p:sp>
      <p:sp>
        <p:nvSpPr>
          <p:cNvPr id="8" name="TextBox 7"/>
          <p:cNvSpPr txBox="1"/>
          <p:nvPr/>
        </p:nvSpPr>
        <p:spPr>
          <a:xfrm>
            <a:off x="1417320" y="2788920"/>
            <a:ext cx="10058400" cy="502920"/>
          </a:xfrm>
          <a:prstGeom prst="rect">
            <a:avLst/>
          </a:prstGeom>
          <a:noFill/>
        </p:spPr>
        <p:txBody>
          <a:bodyPr wrap="square" lIns="0" rIns="0" tIns="0" bIns="0" anchor="ctr">
            <a:spAutoFit/>
          </a:bodyPr>
          <a:lstStyle/>
          <a:p>
            <a:pPr algn="l"/>
            <a:r>
              <a:rPr sz="1400" b="0">
                <a:solidFill>
                  <a:srgbClr val="222222"/>
                </a:solidFill>
                <a:latin typeface="Calibri"/>
              </a:rPr>
              <a:t>Push my local Teams chat to central (force-flush)</a:t>
            </a:r>
          </a:p>
        </p:txBody>
      </p:sp>
      <p:sp>
        <p:nvSpPr>
          <p:cNvPr id="9" name="Rounded Rectangle 8"/>
          <p:cNvSpPr/>
          <p:nvPr/>
        </p:nvSpPr>
        <p:spPr>
          <a:xfrm>
            <a:off x="731520" y="3337560"/>
            <a:ext cx="502920" cy="502920"/>
          </a:xfrm>
          <a:prstGeom prst="round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2</a:t>
            </a:r>
          </a:p>
        </p:txBody>
      </p:sp>
      <p:sp>
        <p:nvSpPr>
          <p:cNvPr id="10" name="TextBox 9"/>
          <p:cNvSpPr txBox="1"/>
          <p:nvPr/>
        </p:nvSpPr>
        <p:spPr>
          <a:xfrm>
            <a:off x="1417320" y="3337560"/>
            <a:ext cx="10058400" cy="502920"/>
          </a:xfrm>
          <a:prstGeom prst="rect">
            <a:avLst/>
          </a:prstGeom>
          <a:noFill/>
        </p:spPr>
        <p:txBody>
          <a:bodyPr wrap="square" lIns="0" rIns="0" tIns="0" bIns="0" anchor="ctr">
            <a:spAutoFit/>
          </a:bodyPr>
          <a:lstStyle/>
          <a:p>
            <a:pPr algn="l"/>
            <a:r>
              <a:rPr sz="1400" b="0">
                <a:solidFill>
                  <a:srgbClr val="222222"/>
                </a:solidFill>
                <a:latin typeface="Calibri"/>
              </a:rPr>
              <a:t>Walk central: chat + calls + already-staged email + Drive</a:t>
            </a:r>
          </a:p>
        </p:txBody>
      </p:sp>
      <p:sp>
        <p:nvSpPr>
          <p:cNvPr id="11" name="Rounded Rectangle 10"/>
          <p:cNvSpPr/>
          <p:nvPr/>
        </p:nvSpPr>
        <p:spPr>
          <a:xfrm>
            <a:off x="731520" y="3886200"/>
            <a:ext cx="502920" cy="502920"/>
          </a:xfrm>
          <a:prstGeom prst="round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3</a:t>
            </a:r>
          </a:p>
        </p:txBody>
      </p:sp>
      <p:sp>
        <p:nvSpPr>
          <p:cNvPr id="12" name="TextBox 11"/>
          <p:cNvSpPr txBox="1"/>
          <p:nvPr/>
        </p:nvSpPr>
        <p:spPr>
          <a:xfrm>
            <a:off x="1417320" y="3886200"/>
            <a:ext cx="10058400" cy="502920"/>
          </a:xfrm>
          <a:prstGeom prst="rect">
            <a:avLst/>
          </a:prstGeom>
          <a:noFill/>
        </p:spPr>
        <p:txBody>
          <a:bodyPr wrap="square" lIns="0" rIns="0" tIns="0" bIns="0" anchor="ctr">
            <a:spAutoFit/>
          </a:bodyPr>
          <a:lstStyle/>
          <a:p>
            <a:pPr algn="l"/>
            <a:r>
              <a:rPr sz="1400" b="0">
                <a:solidFill>
                  <a:srgbClr val="222222"/>
                </a:solidFill>
                <a:latin typeface="Calibri"/>
              </a:rPr>
              <a:t>Transcribe every new call (Whisper chunked, parallel)</a:t>
            </a:r>
          </a:p>
        </p:txBody>
      </p:sp>
      <p:sp>
        <p:nvSpPr>
          <p:cNvPr id="13" name="Rounded Rectangle 12"/>
          <p:cNvSpPr/>
          <p:nvPr/>
        </p:nvSpPr>
        <p:spPr>
          <a:xfrm>
            <a:off x="731520" y="4434840"/>
            <a:ext cx="502920" cy="502920"/>
          </a:xfrm>
          <a:prstGeom prst="round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4</a:t>
            </a:r>
          </a:p>
        </p:txBody>
      </p:sp>
      <p:sp>
        <p:nvSpPr>
          <p:cNvPr id="14" name="TextBox 13"/>
          <p:cNvSpPr txBox="1"/>
          <p:nvPr/>
        </p:nvSpPr>
        <p:spPr>
          <a:xfrm>
            <a:off x="1417320" y="4434840"/>
            <a:ext cx="10058400" cy="502920"/>
          </a:xfrm>
          <a:prstGeom prst="rect">
            <a:avLst/>
          </a:prstGeom>
          <a:noFill/>
        </p:spPr>
        <p:txBody>
          <a:bodyPr wrap="square" lIns="0" rIns="0" tIns="0" bIns="0" anchor="ctr">
            <a:spAutoFit/>
          </a:bodyPr>
          <a:lstStyle/>
          <a:p>
            <a:pPr algn="l"/>
            <a:r>
              <a:rPr sz="1400" b="0">
                <a:solidFill>
                  <a:srgbClr val="222222"/>
                </a:solidFill>
                <a:latin typeface="Calibri"/>
              </a:rPr>
              <a:t>Bangla -&gt; English happens inline at identify time</a:t>
            </a:r>
          </a:p>
        </p:txBody>
      </p:sp>
      <p:sp>
        <p:nvSpPr>
          <p:cNvPr id="15" name="Rounded Rectangle 14"/>
          <p:cNvSpPr/>
          <p:nvPr/>
        </p:nvSpPr>
        <p:spPr>
          <a:xfrm>
            <a:off x="731520" y="4983480"/>
            <a:ext cx="502920" cy="502920"/>
          </a:xfrm>
          <a:prstGeom prst="round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5</a:t>
            </a:r>
          </a:p>
        </p:txBody>
      </p:sp>
      <p:sp>
        <p:nvSpPr>
          <p:cNvPr id="16" name="TextBox 15"/>
          <p:cNvSpPr txBox="1"/>
          <p:nvPr/>
        </p:nvSpPr>
        <p:spPr>
          <a:xfrm>
            <a:off x="1417320" y="4983480"/>
            <a:ext cx="10058400" cy="502920"/>
          </a:xfrm>
          <a:prstGeom prst="rect">
            <a:avLst/>
          </a:prstGeom>
          <a:noFill/>
        </p:spPr>
        <p:txBody>
          <a:bodyPr wrap="square" lIns="0" rIns="0" tIns="0" bIns="0" anchor="ctr">
            <a:spAutoFit/>
          </a:bodyPr>
          <a:lstStyle/>
          <a:p>
            <a:pPr algn="l"/>
            <a:r>
              <a:rPr sz="1400" b="0">
                <a:solidFill>
                  <a:srgbClr val="222222"/>
                </a:solidFill>
                <a:latin typeface="Calibri"/>
              </a:rPr>
              <a:t>Claude extracts requirements -&gt; drafts verification email</a:t>
            </a:r>
          </a:p>
        </p:txBody>
      </p:sp>
      <p:sp>
        <p:nvSpPr>
          <p:cNvPr id="17" name="Rounded Rectangle 16"/>
          <p:cNvSpPr/>
          <p:nvPr/>
        </p:nvSpPr>
        <p:spPr>
          <a:xfrm>
            <a:off x="731520" y="5532120"/>
            <a:ext cx="502920" cy="502920"/>
          </a:xfrm>
          <a:prstGeom prst="round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6</a:t>
            </a:r>
          </a:p>
        </p:txBody>
      </p:sp>
      <p:sp>
        <p:nvSpPr>
          <p:cNvPr id="18" name="TextBox 17"/>
          <p:cNvSpPr txBox="1"/>
          <p:nvPr/>
        </p:nvSpPr>
        <p:spPr>
          <a:xfrm>
            <a:off x="1417320" y="5532120"/>
            <a:ext cx="10058400" cy="502920"/>
          </a:xfrm>
          <a:prstGeom prst="rect">
            <a:avLst/>
          </a:prstGeom>
          <a:noFill/>
        </p:spPr>
        <p:txBody>
          <a:bodyPr wrap="square" lIns="0" rIns="0" tIns="0" bIns="0" anchor="ctr">
            <a:spAutoFit/>
          </a:bodyPr>
          <a:lstStyle/>
          <a:p>
            <a:pPr algn="l"/>
            <a:r>
              <a:rPr sz="1400" b="0">
                <a:solidFill>
                  <a:srgbClr val="222222"/>
                </a:solidFill>
                <a:latin typeface="Calibri"/>
              </a:rPr>
              <a:t>Draft lands in [Gmail]/Drafts for me to review and send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lIns="0" rIns="0" tIns="0" bIns="0" anchor="t">
            <a:spAutoFit/>
          </a:bodyPr>
          <a:lstStyle/>
          <a:p>
            <a:pPr algn="l"/>
            <a:r>
              <a:rPr sz="2800" b="1">
                <a:solidFill>
                  <a:srgbClr val="1F4E79"/>
                </a:solidFill>
                <a:latin typeface="Calibri"/>
              </a:rPr>
              <a:t>Where the work happens</a:t>
            </a:r>
          </a:p>
          <a:p>
            <a:pPr algn="l">
              <a:spcBef>
                <a:spcPts val="200"/>
              </a:spcBef>
            </a:pPr>
            <a:r>
              <a:rPr sz="1400" b="0">
                <a:solidFill>
                  <a:srgbClr val="6B7785"/>
                </a:solidFill>
                <a:latin typeface="Calibri"/>
              </a:rPr>
              <a:t>Per-dev push + agent-host central pull + LLM identify.</a:t>
            </a:r>
          </a:p>
        </p:txBody>
      </p:sp>
      <p:sp>
        <p:nvSpPr>
          <p:cNvPr id="4" name="Rectangle 3"/>
          <p:cNvSpPr/>
          <p:nvPr/>
        </p:nvSpPr>
        <p:spPr>
          <a:xfrm>
            <a:off x="548640" y="6446520"/>
            <a:ext cx="1106424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3520440" cy="420624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17320"/>
            <a:ext cx="73152" cy="4206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527048"/>
            <a:ext cx="3264408" cy="3986784"/>
          </a:xfrm>
          <a:prstGeom prst="rect">
            <a:avLst/>
          </a:prstGeom>
          <a:noFill/>
        </p:spPr>
        <p:txBody>
          <a:bodyPr wrap="square" lIns="0" rIns="0" tIns="0" bIns="0" anchor="t">
            <a:spAutoFit/>
          </a:bodyPr>
          <a:lstStyle/>
          <a:p>
            <a:pPr algn="l"/>
            <a:r>
              <a:rPr sz="1400" b="1">
                <a:solidFill>
                  <a:srgbClr val="1F4E79"/>
                </a:solidFill>
                <a:latin typeface="Calibri"/>
              </a:rPr>
              <a:t>Dev machines (x N)</a:t>
            </a:r>
          </a:p>
          <a:p>
            <a:pPr algn="l">
              <a:spcBef>
                <a:spcPts val="200"/>
              </a:spcBef>
            </a:pPr>
            <a:r>
              <a:rPr sz="1100" b="0">
                <a:solidFill>
                  <a:srgbClr val="222222"/>
                </a:solidFill>
                <a:latin typeface="Calibri"/>
              </a:rPr>
              <a:t>Read local Teams IndexedDB</a:t>
            </a:r>
          </a:p>
          <a:p>
            <a:pPr algn="l">
              <a:spcBef>
                <a:spcPts val="200"/>
              </a:spcBef>
            </a:pPr>
            <a:r>
              <a:rPr sz="1100" b="0">
                <a:solidFill>
                  <a:srgbClr val="222222"/>
                </a:solidFill>
                <a:latin typeface="Calibri"/>
              </a:rPr>
              <a:t>15-min cron pushes chat + attachments</a:t>
            </a:r>
          </a:p>
          <a:p>
            <a:pPr algn="l">
              <a:spcBef>
                <a:spcPts val="200"/>
              </a:spcBef>
            </a:pPr>
            <a:r>
              <a:rPr sz="1100" b="0">
                <a:solidFill>
                  <a:srgbClr val="222222"/>
                </a:solidFill>
                <a:latin typeface="Calibri"/>
              </a:rPr>
              <a:t>Voice daemon records calls</a:t>
            </a:r>
          </a:p>
          <a:p>
            <a:pPr algn="l">
              <a:spcBef>
                <a:spcPts val="200"/>
              </a:spcBef>
            </a:pPr>
            <a:r>
              <a:rPr sz="1100" b="0">
                <a:solidFill>
                  <a:srgbClr val="222222"/>
                </a:solidFill>
                <a:latin typeface="Calibri"/>
              </a:rPr>
              <a:t>Writes to \\172.16.205.209\nucleus-central</a:t>
            </a:r>
          </a:p>
          <a:p>
            <a:pPr algn="l">
              <a:spcBef>
                <a:spcPts val="200"/>
              </a:spcBef>
            </a:pPr>
            <a:r>
              <a:rPr sz="1100" b="0">
                <a:solidFill>
                  <a:srgbClr val="222222"/>
                </a:solidFill>
                <a:latin typeface="Calibri"/>
              </a:rPr>
              <a:t>No secrets. No API keys.</a:t>
            </a:r>
          </a:p>
        </p:txBody>
      </p:sp>
      <p:sp>
        <p:nvSpPr>
          <p:cNvPr id="8" name="Rectangle 7"/>
          <p:cNvSpPr/>
          <p:nvPr/>
        </p:nvSpPr>
        <p:spPr>
          <a:xfrm>
            <a:off x="4343400" y="1417320"/>
            <a:ext cx="3520440" cy="420624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43400" y="1417320"/>
            <a:ext cx="73152" cy="4206240"/>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1527048"/>
            <a:ext cx="3264408" cy="3986784"/>
          </a:xfrm>
          <a:prstGeom prst="rect">
            <a:avLst/>
          </a:prstGeom>
          <a:noFill/>
        </p:spPr>
        <p:txBody>
          <a:bodyPr wrap="square" lIns="0" rIns="0" tIns="0" bIns="0" anchor="t">
            <a:spAutoFit/>
          </a:bodyPr>
          <a:lstStyle/>
          <a:p>
            <a:pPr algn="l"/>
            <a:r>
              <a:rPr sz="1400" b="1">
                <a:solidFill>
                  <a:srgbClr val="2E8A8A"/>
                </a:solidFill>
                <a:latin typeface="Calibri"/>
              </a:rPr>
              <a:t>Agent host (MVPACCESS)</a:t>
            </a:r>
          </a:p>
          <a:p>
            <a:pPr algn="l">
              <a:spcBef>
                <a:spcPts val="200"/>
              </a:spcBef>
            </a:pPr>
            <a:r>
              <a:rPr sz="1100" b="0">
                <a:solidFill>
                  <a:srgbClr val="222222"/>
                </a:solidFill>
                <a:latin typeface="Calibri"/>
              </a:rPr>
              <a:t>Pulls email from Gmail (IMAP)</a:t>
            </a:r>
          </a:p>
          <a:p>
            <a:pPr algn="l">
              <a:spcBef>
                <a:spcPts val="200"/>
              </a:spcBef>
            </a:pPr>
            <a:r>
              <a:rPr sz="1100" b="0">
                <a:solidFill>
                  <a:srgbClr val="222222"/>
                </a:solidFill>
                <a:latin typeface="Calibri"/>
              </a:rPr>
              <a:t>Pulls files from Google Drive</a:t>
            </a:r>
          </a:p>
          <a:p>
            <a:pPr algn="l">
              <a:spcBef>
                <a:spcPts val="200"/>
              </a:spcBef>
            </a:pPr>
            <a:r>
              <a:rPr sz="1100" b="0">
                <a:solidFill>
                  <a:srgbClr val="222222"/>
                </a:solidFill>
                <a:latin typeface="Calibri"/>
              </a:rPr>
              <a:t>Walks the central share daily</a:t>
            </a:r>
          </a:p>
          <a:p>
            <a:pPr algn="l">
              <a:spcBef>
                <a:spcPts val="200"/>
              </a:spcBef>
            </a:pPr>
            <a:r>
              <a:rPr sz="1100" b="0">
                <a:solidFill>
                  <a:srgbClr val="222222"/>
                </a:solidFill>
                <a:latin typeface="Calibri"/>
              </a:rPr>
              <a:t>Transcribes calls with Whisper large-v3</a:t>
            </a:r>
          </a:p>
          <a:p>
            <a:pPr algn="l">
              <a:spcBef>
                <a:spcPts val="200"/>
              </a:spcBef>
            </a:pPr>
            <a:r>
              <a:rPr sz="1100" b="0">
                <a:solidFill>
                  <a:srgbClr val="222222"/>
                </a:solidFill>
                <a:latin typeface="Calibri"/>
              </a:rPr>
              <a:t>Aggregates into one .docx session</a:t>
            </a:r>
          </a:p>
        </p:txBody>
      </p:sp>
      <p:sp>
        <p:nvSpPr>
          <p:cNvPr id="11" name="Rectangle 10"/>
          <p:cNvSpPr/>
          <p:nvPr/>
        </p:nvSpPr>
        <p:spPr>
          <a:xfrm>
            <a:off x="8138160" y="1417320"/>
            <a:ext cx="3520440" cy="420624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38160" y="1417320"/>
            <a:ext cx="73152" cy="4206240"/>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02752" y="1527048"/>
            <a:ext cx="3264408" cy="3986784"/>
          </a:xfrm>
          <a:prstGeom prst="rect">
            <a:avLst/>
          </a:prstGeom>
          <a:noFill/>
        </p:spPr>
        <p:txBody>
          <a:bodyPr wrap="square" lIns="0" rIns="0" tIns="0" bIns="0" anchor="t">
            <a:spAutoFit/>
          </a:bodyPr>
          <a:lstStyle/>
          <a:p>
            <a:pPr algn="l"/>
            <a:r>
              <a:rPr sz="1400" b="1">
                <a:solidFill>
                  <a:srgbClr val="E07856"/>
                </a:solidFill>
                <a:latin typeface="Calibri"/>
              </a:rPr>
              <a:t>LLM identify + draft</a:t>
            </a:r>
          </a:p>
          <a:p>
            <a:pPr algn="l">
              <a:spcBef>
                <a:spcPts val="200"/>
              </a:spcBef>
            </a:pPr>
            <a:r>
              <a:rPr sz="1100" b="0">
                <a:solidFill>
                  <a:srgbClr val="222222"/>
                </a:solidFill>
                <a:latin typeface="Calibri"/>
              </a:rPr>
              <a:t>Claude Max -- local CLI on MVPACCESS</a:t>
            </a:r>
          </a:p>
          <a:p>
            <a:pPr algn="l">
              <a:spcBef>
                <a:spcPts val="200"/>
              </a:spcBef>
            </a:pPr>
            <a:r>
              <a:rPr sz="1100" b="0">
                <a:solidFill>
                  <a:srgbClr val="222222"/>
                </a:solidFill>
                <a:latin typeface="Calibri"/>
              </a:rPr>
              <a:t>Extracts deduped requirement list</a:t>
            </a:r>
          </a:p>
          <a:p>
            <a:pPr algn="l">
              <a:spcBef>
                <a:spcPts val="200"/>
              </a:spcBef>
            </a:pPr>
            <a:r>
              <a:rPr sz="1100" b="0">
                <a:solidFill>
                  <a:srgbClr val="222222"/>
                </a:solidFill>
                <a:latin typeface="Calibri"/>
              </a:rPr>
              <a:t>Writes Requirements Verification .docx</a:t>
            </a:r>
          </a:p>
          <a:p>
            <a:pPr algn="l">
              <a:spcBef>
                <a:spcPts val="200"/>
              </a:spcBef>
            </a:pPr>
            <a:r>
              <a:rPr sz="1100" b="0">
                <a:solidFill>
                  <a:srgbClr val="222222"/>
                </a:solidFill>
                <a:latin typeface="Calibri"/>
              </a:rPr>
              <a:t>Builds verification email .eml</a:t>
            </a:r>
          </a:p>
          <a:p>
            <a:pPr algn="l">
              <a:spcBef>
                <a:spcPts val="200"/>
              </a:spcBef>
            </a:pPr>
            <a:r>
              <a:rPr sz="1100" b="0">
                <a:solidFill>
                  <a:srgbClr val="222222"/>
                </a:solidFill>
                <a:latin typeface="Calibri"/>
              </a:rPr>
              <a:t>IMAP APPEND to [Gmail]/Drafts</a:t>
            </a:r>
          </a:p>
        </p:txBody>
      </p:sp>
      <p:cxnSp>
        <p:nvCxnSpPr>
          <p:cNvPr id="14" name="Connector 13"/>
          <p:cNvCxnSpPr/>
          <p:nvPr/>
        </p:nvCxnSpPr>
        <p:spPr>
          <a:xfrm>
            <a:off x="4087368" y="3520440.0"/>
            <a:ext cx="219456" cy="0.0"/>
          </a:xfrm>
          <a:prstGeom prst="bentConnector3">
            <a:avLst/>
          </a:prstGeom>
          <a:ln w="31750">
            <a:solidFill>
              <a:srgbClr val="6B7785"/>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882128" y="3520440.0"/>
            <a:ext cx="219456" cy="0.0"/>
          </a:xfrm>
          <a:prstGeom prst="bentConnector3">
            <a:avLst/>
          </a:prstGeom>
          <a:ln w="31750">
            <a:solidFill>
              <a:srgbClr val="6B7785"/>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lIns="0" rIns="0" tIns="0" bIns="0" anchor="t">
            <a:spAutoFit/>
          </a:bodyPr>
          <a:lstStyle/>
          <a:p>
            <a:pPr algn="l"/>
            <a:r>
              <a:rPr sz="2800" b="1">
                <a:solidFill>
                  <a:srgbClr val="1F4E79"/>
                </a:solidFill>
                <a:latin typeface="Calibri"/>
              </a:rPr>
              <a:t>What you get back</a:t>
            </a:r>
          </a:p>
          <a:p>
            <a:pPr algn="l">
              <a:spcBef>
                <a:spcPts val="200"/>
              </a:spcBef>
            </a:pPr>
            <a:r>
              <a:rPr sz="1400" b="0">
                <a:solidFill>
                  <a:srgbClr val="6B7785"/>
                </a:solidFill>
                <a:latin typeface="Calibri"/>
              </a:rPr>
              <a:t>Three artifacts, every run.</a:t>
            </a:r>
          </a:p>
        </p:txBody>
      </p:sp>
      <p:sp>
        <p:nvSpPr>
          <p:cNvPr id="4" name="Rectangle 3"/>
          <p:cNvSpPr/>
          <p:nvPr/>
        </p:nvSpPr>
        <p:spPr>
          <a:xfrm>
            <a:off x="548640" y="6446520"/>
            <a:ext cx="1106424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3520440" cy="420624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17320"/>
            <a:ext cx="73152" cy="42062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527048"/>
            <a:ext cx="3264408" cy="3986784"/>
          </a:xfrm>
          <a:prstGeom prst="rect">
            <a:avLst/>
          </a:prstGeom>
          <a:noFill/>
        </p:spPr>
        <p:txBody>
          <a:bodyPr wrap="square" lIns="0" rIns="0" tIns="0" bIns="0" anchor="t">
            <a:spAutoFit/>
          </a:bodyPr>
          <a:lstStyle/>
          <a:p>
            <a:pPr algn="l"/>
            <a:r>
              <a:rPr sz="1400" b="1">
                <a:solidFill>
                  <a:srgbClr val="1F4E79"/>
                </a:solidFill>
                <a:latin typeface="Calibri"/>
              </a:rPr>
              <a:t>Raw session document</a:t>
            </a:r>
          </a:p>
          <a:p>
            <a:pPr algn="l">
              <a:spcBef>
                <a:spcPts val="200"/>
              </a:spcBef>
            </a:pPr>
            <a:r>
              <a:rPr sz="1100" b="0">
                <a:solidFill>
                  <a:srgbClr val="222222"/>
                </a:solidFill>
                <a:latin typeface="Calibri"/>
              </a:rPr>
              <a:t>Word .docx</a:t>
            </a:r>
          </a:p>
          <a:p>
            <a:pPr algn="l">
              <a:spcBef>
                <a:spcPts val="200"/>
              </a:spcBef>
            </a:pPr>
            <a:r>
              <a:rPr sz="1100" b="0">
                <a:solidFill>
                  <a:srgbClr val="222222"/>
                </a:solidFill>
                <a:latin typeface="Calibri"/>
              </a:rPr>
              <a:t>Every email body, attachment text,</a:t>
            </a:r>
          </a:p>
          <a:p>
            <a:pPr algn="l">
              <a:spcBef>
                <a:spcPts val="200"/>
              </a:spcBef>
            </a:pPr>
            <a:r>
              <a:rPr sz="1100" b="0">
                <a:solidFill>
                  <a:srgbClr val="222222"/>
                </a:solidFill>
                <a:latin typeface="Calibri"/>
              </a:rPr>
              <a:t>chat message, call transcript</a:t>
            </a:r>
          </a:p>
          <a:p>
            <a:pPr algn="l">
              <a:spcBef>
                <a:spcPts val="200"/>
              </a:spcBef>
            </a:pPr>
            <a:r>
              <a:rPr sz="1100" b="0">
                <a:solidFill>
                  <a:srgbClr val="222222"/>
                </a:solidFill>
                <a:latin typeface="Calibri"/>
              </a:rPr>
              <a:t>Audit trail -- read this if</a:t>
            </a:r>
          </a:p>
          <a:p>
            <a:pPr algn="l">
              <a:spcBef>
                <a:spcPts val="200"/>
              </a:spcBef>
            </a:pPr>
            <a:r>
              <a:rPr sz="1100" b="0">
                <a:solidFill>
                  <a:srgbClr val="222222"/>
                </a:solidFill>
                <a:latin typeface="Calibri"/>
              </a:rPr>
              <a:t>the LLM output is surprising</a:t>
            </a:r>
          </a:p>
        </p:txBody>
      </p:sp>
      <p:sp>
        <p:nvSpPr>
          <p:cNvPr id="8" name="Rectangle 7"/>
          <p:cNvSpPr/>
          <p:nvPr/>
        </p:nvSpPr>
        <p:spPr>
          <a:xfrm>
            <a:off x="4343400" y="1417320"/>
            <a:ext cx="3520440" cy="420624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43400" y="1417320"/>
            <a:ext cx="73152" cy="4206240"/>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07992" y="1527048"/>
            <a:ext cx="3264408" cy="3986784"/>
          </a:xfrm>
          <a:prstGeom prst="rect">
            <a:avLst/>
          </a:prstGeom>
          <a:noFill/>
        </p:spPr>
        <p:txBody>
          <a:bodyPr wrap="square" lIns="0" rIns="0" tIns="0" bIns="0" anchor="t">
            <a:spAutoFit/>
          </a:bodyPr>
          <a:lstStyle/>
          <a:p>
            <a:pPr algn="l"/>
            <a:r>
              <a:rPr sz="1400" b="1">
                <a:solidFill>
                  <a:srgbClr val="2E8A8A"/>
                </a:solidFill>
                <a:latin typeface="Calibri"/>
              </a:rPr>
              <a:t>Requirements verification doc</a:t>
            </a:r>
          </a:p>
          <a:p>
            <a:pPr algn="l">
              <a:spcBef>
                <a:spcPts val="200"/>
              </a:spcBef>
            </a:pPr>
            <a:r>
              <a:rPr sz="1100" b="0">
                <a:solidFill>
                  <a:srgbClr val="222222"/>
                </a:solidFill>
                <a:latin typeface="Calibri"/>
              </a:rPr>
              <a:t>Word .docx</a:t>
            </a:r>
          </a:p>
          <a:p>
            <a:pPr algn="l">
              <a:spcBef>
                <a:spcPts val="200"/>
              </a:spcBef>
            </a:pPr>
            <a:r>
              <a:rPr sz="1100" b="0">
                <a:solidFill>
                  <a:srgbClr val="222222"/>
                </a:solidFill>
                <a:latin typeface="Calibri"/>
              </a:rPr>
              <a:t>Numbered, deduped requirement list</a:t>
            </a:r>
          </a:p>
          <a:p>
            <a:pPr algn="l">
              <a:spcBef>
                <a:spcPts val="200"/>
              </a:spcBef>
            </a:pPr>
            <a:r>
              <a:rPr sz="1100" b="0">
                <a:solidFill>
                  <a:srgbClr val="222222"/>
                </a:solidFill>
                <a:latin typeface="Calibri"/>
              </a:rPr>
              <a:t>Ready to attach to the client email</a:t>
            </a:r>
          </a:p>
          <a:p>
            <a:pPr algn="l">
              <a:spcBef>
                <a:spcPts val="200"/>
              </a:spcBef>
            </a:pPr>
            <a:r>
              <a:rPr sz="1100" b="0">
                <a:solidFill>
                  <a:srgbClr val="222222"/>
                </a:solidFill>
                <a:latin typeface="Calibri"/>
              </a:rPr>
              <a:t>Re-runs dedupe against previous</a:t>
            </a:r>
          </a:p>
          <a:p>
            <a:pPr algn="l">
              <a:spcBef>
                <a:spcPts val="200"/>
              </a:spcBef>
            </a:pPr>
            <a:r>
              <a:rPr sz="1100" b="0">
                <a:solidFill>
                  <a:srgbClr val="222222"/>
                </a:solidFill>
                <a:latin typeface="Calibri"/>
              </a:rPr>
              <a:t>runs via requirements_seen memory</a:t>
            </a:r>
          </a:p>
        </p:txBody>
      </p:sp>
      <p:sp>
        <p:nvSpPr>
          <p:cNvPr id="11" name="Rectangle 10"/>
          <p:cNvSpPr/>
          <p:nvPr/>
        </p:nvSpPr>
        <p:spPr>
          <a:xfrm>
            <a:off x="8138160" y="1417320"/>
            <a:ext cx="3520440" cy="420624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138160" y="1417320"/>
            <a:ext cx="73152" cy="4206240"/>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02752" y="1527048"/>
            <a:ext cx="3264408" cy="3986784"/>
          </a:xfrm>
          <a:prstGeom prst="rect">
            <a:avLst/>
          </a:prstGeom>
          <a:noFill/>
        </p:spPr>
        <p:txBody>
          <a:bodyPr wrap="square" lIns="0" rIns="0" tIns="0" bIns="0" anchor="t">
            <a:spAutoFit/>
          </a:bodyPr>
          <a:lstStyle/>
          <a:p>
            <a:pPr algn="l"/>
            <a:r>
              <a:rPr sz="1400" b="1">
                <a:solidFill>
                  <a:srgbClr val="E07856"/>
                </a:solidFill>
                <a:latin typeface="Calibri"/>
              </a:rPr>
              <a:t>Draft email in [Gmail]/Drafts</a:t>
            </a:r>
          </a:p>
          <a:p>
            <a:pPr algn="l">
              <a:spcBef>
                <a:spcPts val="200"/>
              </a:spcBef>
            </a:pPr>
            <a:r>
              <a:rPr sz="1100" b="0">
                <a:solidFill>
                  <a:srgbClr val="222222"/>
                </a:solidFill>
                <a:latin typeface="Calibri"/>
              </a:rPr>
              <a:t>Standard Gmail draft</a:t>
            </a:r>
          </a:p>
          <a:p>
            <a:pPr algn="l">
              <a:spcBef>
                <a:spcPts val="200"/>
              </a:spcBef>
            </a:pPr>
            <a:r>
              <a:rPr sz="1100" b="0">
                <a:solidFill>
                  <a:srgbClr val="222222"/>
                </a:solidFill>
                <a:latin typeface="Calibri"/>
              </a:rPr>
              <a:t>Verification doc attached</a:t>
            </a:r>
          </a:p>
          <a:p>
            <a:pPr algn="l">
              <a:spcBef>
                <a:spcPts val="200"/>
              </a:spcBef>
            </a:pPr>
            <a:r>
              <a:rPr sz="1100" b="0">
                <a:solidFill>
                  <a:srgbClr val="222222"/>
                </a:solidFill>
                <a:latin typeface="Calibri"/>
              </a:rPr>
              <a:t>Pre-filled subject + body</a:t>
            </a:r>
          </a:p>
          <a:p>
            <a:pPr algn="l">
              <a:spcBef>
                <a:spcPts val="200"/>
              </a:spcBef>
            </a:pPr>
            <a:r>
              <a:rPr sz="1100" b="0">
                <a:solidFill>
                  <a:srgbClr val="222222"/>
                </a:solidFill>
                <a:latin typeface="Calibri"/>
              </a:rPr>
              <a:t>I review -&gt; edit -&gt; send</a:t>
            </a:r>
          </a:p>
          <a:p>
            <a:pPr algn="l">
              <a:spcBef>
                <a:spcPts val="200"/>
              </a:spcBef>
            </a:pPr>
            <a:r>
              <a:rPr sz="1100" b="0">
                <a:solidFill>
                  <a:srgbClr val="222222"/>
                </a:solidFill>
                <a:latin typeface="Calibri"/>
              </a:rPr>
              <a:t>Nothing is auto-sent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lIns="0" rIns="0" tIns="0" bIns="0" anchor="t">
            <a:spAutoFit/>
          </a:bodyPr>
          <a:lstStyle/>
          <a:p>
            <a:pPr algn="l"/>
            <a:r>
              <a:rPr sz="2800" b="1">
                <a:solidFill>
                  <a:srgbClr val="1F4E79"/>
                </a:solidFill>
                <a:latin typeface="Calibri"/>
              </a:rPr>
              <a:t>What it does NOT do</a:t>
            </a:r>
          </a:p>
          <a:p>
            <a:pPr algn="l">
              <a:spcBef>
                <a:spcPts val="200"/>
              </a:spcBef>
            </a:pPr>
            <a:r>
              <a:rPr sz="1400" b="0">
                <a:solidFill>
                  <a:srgbClr val="6B7785"/>
                </a:solidFill>
                <a:latin typeface="Calibri"/>
              </a:rPr>
              <a:t>Setting boundaries clearly.</a:t>
            </a:r>
          </a:p>
        </p:txBody>
      </p:sp>
      <p:sp>
        <p:nvSpPr>
          <p:cNvPr id="4" name="Rectangle 3"/>
          <p:cNvSpPr/>
          <p:nvPr/>
        </p:nvSpPr>
        <p:spPr>
          <a:xfrm>
            <a:off x="548640" y="6446520"/>
            <a:ext cx="1106424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08760"/>
            <a:ext cx="11064240" cy="105156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08760"/>
            <a:ext cx="73152" cy="1051560"/>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45920"/>
            <a:ext cx="10515600" cy="777240"/>
          </a:xfrm>
          <a:prstGeom prst="rect">
            <a:avLst/>
          </a:prstGeom>
          <a:noFill/>
        </p:spPr>
        <p:txBody>
          <a:bodyPr wrap="square" lIns="0" rIns="0" tIns="0" bIns="0" anchor="t">
            <a:spAutoFit/>
          </a:bodyPr>
          <a:lstStyle/>
          <a:p>
            <a:pPr algn="l"/>
            <a:r>
              <a:rPr sz="1500" b="1">
                <a:solidFill>
                  <a:srgbClr val="1F4E79"/>
                </a:solidFill>
                <a:latin typeface="Calibri"/>
              </a:rPr>
              <a:t>Auto-send emails</a:t>
            </a:r>
          </a:p>
          <a:p>
            <a:pPr algn="l">
              <a:spcBef>
                <a:spcPts val="200"/>
              </a:spcBef>
            </a:pPr>
            <a:r>
              <a:rPr sz="1200" b="0">
                <a:solidFill>
                  <a:srgbClr val="6B7785"/>
                </a:solidFill>
                <a:latin typeface="Calibri"/>
              </a:rPr>
              <a:t>Every outbound email leaves my mailbox with my explicit click.</a:t>
            </a:r>
          </a:p>
        </p:txBody>
      </p:sp>
      <p:sp>
        <p:nvSpPr>
          <p:cNvPr id="8" name="Rectangle 7"/>
          <p:cNvSpPr/>
          <p:nvPr/>
        </p:nvSpPr>
        <p:spPr>
          <a:xfrm>
            <a:off x="548640" y="2697480"/>
            <a:ext cx="11064240" cy="105156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697480"/>
            <a:ext cx="73152" cy="1051560"/>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834640"/>
            <a:ext cx="10515600" cy="777240"/>
          </a:xfrm>
          <a:prstGeom prst="rect">
            <a:avLst/>
          </a:prstGeom>
          <a:noFill/>
        </p:spPr>
        <p:txBody>
          <a:bodyPr wrap="square" lIns="0" rIns="0" tIns="0" bIns="0" anchor="t">
            <a:spAutoFit/>
          </a:bodyPr>
          <a:lstStyle/>
          <a:p>
            <a:pPr algn="l"/>
            <a:r>
              <a:rPr sz="1500" b="1">
                <a:solidFill>
                  <a:srgbClr val="1F4E79"/>
                </a:solidFill>
                <a:latin typeface="Calibri"/>
              </a:rPr>
              <a:t>Auto-poll Teams / Email / Drive</a:t>
            </a:r>
          </a:p>
          <a:p>
            <a:pPr algn="l">
              <a:spcBef>
                <a:spcPts val="200"/>
              </a:spcBef>
            </a:pPr>
            <a:r>
              <a:rPr sz="1200" b="0">
                <a:solidFill>
                  <a:srgbClr val="6B7785"/>
                </a:solidFill>
                <a:latin typeface="Calibri"/>
              </a:rPr>
              <a:t>The 15-min cron is a chat-push only; the identify pipeline runs on command.</a:t>
            </a:r>
          </a:p>
        </p:txBody>
      </p:sp>
      <p:sp>
        <p:nvSpPr>
          <p:cNvPr id="11" name="Rectangle 10"/>
          <p:cNvSpPr/>
          <p:nvPr/>
        </p:nvSpPr>
        <p:spPr>
          <a:xfrm>
            <a:off x="548640" y="3886200"/>
            <a:ext cx="11064240" cy="105156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886200"/>
            <a:ext cx="73152" cy="1051560"/>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023360"/>
            <a:ext cx="10515600" cy="777240"/>
          </a:xfrm>
          <a:prstGeom prst="rect">
            <a:avLst/>
          </a:prstGeom>
          <a:noFill/>
        </p:spPr>
        <p:txBody>
          <a:bodyPr wrap="square" lIns="0" rIns="0" tIns="0" bIns="0" anchor="t">
            <a:spAutoFit/>
          </a:bodyPr>
          <a:lstStyle/>
          <a:p>
            <a:pPr algn="l"/>
            <a:r>
              <a:rPr sz="1500" b="1">
                <a:solidFill>
                  <a:srgbClr val="1F4E79"/>
                </a:solidFill>
                <a:latin typeface="Calibri"/>
              </a:rPr>
              <a:t>Push to OpenProject</a:t>
            </a:r>
          </a:p>
          <a:p>
            <a:pPr algn="l">
              <a:spcBef>
                <a:spcPts val="200"/>
              </a:spcBef>
            </a:pPr>
            <a:r>
              <a:rPr sz="1200" b="0">
                <a:solidFill>
                  <a:srgbClr val="6B7785"/>
                </a:solidFill>
                <a:latin typeface="Calibri"/>
              </a:rPr>
              <a:t>OpenProject ingest is manual today; auto only when we hit &gt;=80% monthly accuracy.</a:t>
            </a:r>
          </a:p>
        </p:txBody>
      </p:sp>
      <p:sp>
        <p:nvSpPr>
          <p:cNvPr id="14" name="Rectangle 13"/>
          <p:cNvSpPr/>
          <p:nvPr/>
        </p:nvSpPr>
        <p:spPr>
          <a:xfrm>
            <a:off x="548640" y="5074920"/>
            <a:ext cx="11064240" cy="105156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5074920"/>
            <a:ext cx="73152" cy="1051560"/>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5212080"/>
            <a:ext cx="10515600" cy="777240"/>
          </a:xfrm>
          <a:prstGeom prst="rect">
            <a:avLst/>
          </a:prstGeom>
          <a:noFill/>
        </p:spPr>
        <p:txBody>
          <a:bodyPr wrap="square" lIns="0" rIns="0" tIns="0" bIns="0" anchor="t">
            <a:spAutoFit/>
          </a:bodyPr>
          <a:lstStyle/>
          <a:p>
            <a:pPr algn="l"/>
            <a:r>
              <a:rPr sz="1500" b="1">
                <a:solidFill>
                  <a:srgbClr val="1F4E79"/>
                </a:solidFill>
                <a:latin typeface="Calibri"/>
              </a:rPr>
              <a:t>Replace client conversations</a:t>
            </a:r>
          </a:p>
          <a:p>
            <a:pPr algn="l">
              <a:spcBef>
                <a:spcPts val="200"/>
              </a:spcBef>
            </a:pPr>
            <a:r>
              <a:rPr sz="1200" b="0">
                <a:solidFill>
                  <a:srgbClr val="6B7785"/>
                </a:solidFill>
                <a:latin typeface="Calibri"/>
              </a:rPr>
              <a:t>This is a capture aid. Real client engagement still happens with humans.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lIns="0" rIns="0" tIns="0" bIns="0" anchor="t">
            <a:spAutoFit/>
          </a:bodyPr>
          <a:lstStyle/>
          <a:p>
            <a:pPr algn="l"/>
            <a:r>
              <a:rPr sz="2800" b="1">
                <a:solidFill>
                  <a:srgbClr val="1F4E79"/>
                </a:solidFill>
                <a:latin typeface="Calibri"/>
              </a:rPr>
              <a:t>Roadmap</a:t>
            </a:r>
          </a:p>
          <a:p>
            <a:pPr algn="l">
              <a:spcBef>
                <a:spcPts val="200"/>
              </a:spcBef>
            </a:pPr>
            <a:r>
              <a:rPr sz="1400" b="0">
                <a:solidFill>
                  <a:srgbClr val="6B7785"/>
                </a:solidFill>
                <a:latin typeface="Calibri"/>
              </a:rPr>
              <a:t>Human-in-the-loop today. Slower-and-correct first.</a:t>
            </a:r>
          </a:p>
        </p:txBody>
      </p:sp>
      <p:sp>
        <p:nvSpPr>
          <p:cNvPr id="4" name="Rectangle 3"/>
          <p:cNvSpPr/>
          <p:nvPr/>
        </p:nvSpPr>
        <p:spPr>
          <a:xfrm>
            <a:off x="548640" y="6446520"/>
            <a:ext cx="1106424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11064240" cy="109728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709928"/>
            <a:ext cx="1371600" cy="502920"/>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Now</a:t>
            </a:r>
          </a:p>
        </p:txBody>
      </p:sp>
      <p:sp>
        <p:nvSpPr>
          <p:cNvPr id="7" name="TextBox 6"/>
          <p:cNvSpPr txBox="1"/>
          <p:nvPr/>
        </p:nvSpPr>
        <p:spPr>
          <a:xfrm>
            <a:off x="2331720" y="1554480"/>
            <a:ext cx="9144000" cy="868680"/>
          </a:xfrm>
          <a:prstGeom prst="rect">
            <a:avLst/>
          </a:prstGeom>
          <a:noFill/>
        </p:spPr>
        <p:txBody>
          <a:bodyPr wrap="square" lIns="0" rIns="0" tIns="0" bIns="0" anchor="t">
            <a:spAutoFit/>
          </a:bodyPr>
          <a:lstStyle/>
          <a:p>
            <a:pPr algn="l"/>
            <a:r>
              <a:rPr sz="1400" b="1">
                <a:solidFill>
                  <a:srgbClr val="1F4E79"/>
                </a:solidFill>
                <a:latin typeface="Calibri"/>
              </a:rPr>
              <a:t>Each Requirement Management run produces a draft I review. Calibration loop, conflict detection, per-run cost telemetry are in.</a:t>
            </a:r>
          </a:p>
          <a:p>
            <a:pPr algn="l">
              <a:spcBef>
                <a:spcPts val="200"/>
              </a:spcBef>
            </a:pPr>
            <a:r>
              <a:rPr sz="1100" b="0">
                <a:solidFill>
                  <a:srgbClr val="6B7785"/>
                </a:solidFill>
                <a:latin typeface="Calibri"/>
              </a:rPr>
              <a:t>Manual, predictable, auditable. Cost ~$0.06/run.</a:t>
            </a:r>
          </a:p>
        </p:txBody>
      </p:sp>
      <p:sp>
        <p:nvSpPr>
          <p:cNvPr id="8" name="Rectangle 7"/>
          <p:cNvSpPr/>
          <p:nvPr/>
        </p:nvSpPr>
        <p:spPr>
          <a:xfrm>
            <a:off x="548640" y="2624328"/>
            <a:ext cx="11064240" cy="109728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2916936"/>
            <a:ext cx="1371600" cy="502920"/>
          </a:xfrm>
          <a:prstGeom prst="round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Next</a:t>
            </a:r>
          </a:p>
        </p:txBody>
      </p:sp>
      <p:sp>
        <p:nvSpPr>
          <p:cNvPr id="10" name="TextBox 9"/>
          <p:cNvSpPr txBox="1"/>
          <p:nvPr/>
        </p:nvSpPr>
        <p:spPr>
          <a:xfrm>
            <a:off x="2331720" y="2761488"/>
            <a:ext cx="9144000" cy="868680"/>
          </a:xfrm>
          <a:prstGeom prst="rect">
            <a:avLst/>
          </a:prstGeom>
          <a:noFill/>
        </p:spPr>
        <p:txBody>
          <a:bodyPr wrap="square" lIns="0" rIns="0" tIns="0" bIns="0" anchor="t">
            <a:spAutoFit/>
          </a:bodyPr>
          <a:lstStyle/>
          <a:p>
            <a:pPr algn="l"/>
            <a:r>
              <a:rPr sz="1400" b="1">
                <a:solidFill>
                  <a:srgbClr val="1F4E79"/>
                </a:solidFill>
                <a:latin typeface="Calibri"/>
              </a:rPr>
              <a:t>Tighter dedup across re-runs + Teams attachment auto-resolve from the in-Teams preview cache</a:t>
            </a:r>
          </a:p>
          <a:p>
            <a:pPr algn="l">
              <a:spcBef>
                <a:spcPts val="200"/>
              </a:spcBef>
            </a:pPr>
            <a:r>
              <a:rPr sz="1100" b="0">
                <a:solidFill>
                  <a:srgbClr val="6B7785"/>
                </a:solidFill>
                <a:latin typeface="Calibri"/>
              </a:rPr>
              <a:t>Less manual cleanup before sending.</a:t>
            </a:r>
          </a:p>
        </p:txBody>
      </p:sp>
      <p:sp>
        <p:nvSpPr>
          <p:cNvPr id="11" name="Rectangle 10"/>
          <p:cNvSpPr/>
          <p:nvPr/>
        </p:nvSpPr>
        <p:spPr>
          <a:xfrm>
            <a:off x="548640" y="3831336"/>
            <a:ext cx="11064240" cy="109728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4123944"/>
            <a:ext cx="1371600" cy="502920"/>
          </a:xfrm>
          <a:prstGeom prst="round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Later</a:t>
            </a:r>
          </a:p>
        </p:txBody>
      </p:sp>
      <p:sp>
        <p:nvSpPr>
          <p:cNvPr id="13" name="TextBox 12"/>
          <p:cNvSpPr txBox="1"/>
          <p:nvPr/>
        </p:nvSpPr>
        <p:spPr>
          <a:xfrm>
            <a:off x="2331720" y="3968496"/>
            <a:ext cx="9144000" cy="868680"/>
          </a:xfrm>
          <a:prstGeom prst="rect">
            <a:avLst/>
          </a:prstGeom>
          <a:noFill/>
        </p:spPr>
        <p:txBody>
          <a:bodyPr wrap="square" lIns="0" rIns="0" tIns="0" bIns="0" anchor="t">
            <a:spAutoFit/>
          </a:bodyPr>
          <a:lstStyle/>
          <a:p>
            <a:pPr algn="l"/>
            <a:r>
              <a:rPr sz="1400" b="1">
                <a:solidFill>
                  <a:srgbClr val="1F4E79"/>
                </a:solidFill>
                <a:latin typeface="Calibri"/>
              </a:rPr>
              <a:t>Auto-publish to OpenProject -- only after &gt;=80% monthly accuracy on the requirements doc</a:t>
            </a:r>
          </a:p>
          <a:p>
            <a:pPr algn="l">
              <a:spcBef>
                <a:spcPts val="200"/>
              </a:spcBef>
            </a:pPr>
            <a:r>
              <a:rPr sz="1100" b="0">
                <a:solidFill>
                  <a:srgbClr val="6B7785"/>
                </a:solidFill>
                <a:latin typeface="Calibri"/>
              </a:rPr>
              <a:t>Only when we trust the output. Quality gate, not deadline gate.</a:t>
            </a:r>
          </a:p>
        </p:txBody>
      </p:sp>
      <p:sp>
        <p:nvSpPr>
          <p:cNvPr id="14" name="Rectangle 13"/>
          <p:cNvSpPr/>
          <p:nvPr/>
        </p:nvSpPr>
        <p:spPr>
          <a:xfrm>
            <a:off x="548640" y="5038344"/>
            <a:ext cx="11064240" cy="109728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1520" y="5330952"/>
            <a:ext cx="1371600" cy="502920"/>
          </a:xfrm>
          <a:prstGeom prst="round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Aspirational</a:t>
            </a:r>
          </a:p>
        </p:txBody>
      </p:sp>
      <p:sp>
        <p:nvSpPr>
          <p:cNvPr id="16" name="TextBox 15"/>
          <p:cNvSpPr txBox="1"/>
          <p:nvPr/>
        </p:nvSpPr>
        <p:spPr>
          <a:xfrm>
            <a:off x="2331720" y="5175504"/>
            <a:ext cx="9144000" cy="868680"/>
          </a:xfrm>
          <a:prstGeom prst="rect">
            <a:avLst/>
          </a:prstGeom>
          <a:noFill/>
        </p:spPr>
        <p:txBody>
          <a:bodyPr wrap="square" lIns="0" rIns="0" tIns="0" bIns="0" anchor="t">
            <a:spAutoFit/>
          </a:bodyPr>
          <a:lstStyle/>
          <a:p>
            <a:pPr algn="l"/>
            <a:r>
              <a:rPr sz="1400" b="1">
                <a:solidFill>
                  <a:srgbClr val="1F4E79"/>
                </a:solidFill>
                <a:latin typeface="Calibri"/>
              </a:rPr>
              <a:t>Auto-send the verification email to clients</a:t>
            </a:r>
          </a:p>
          <a:p>
            <a:pPr algn="l">
              <a:spcBef>
                <a:spcPts val="200"/>
              </a:spcBef>
            </a:pPr>
            <a:r>
              <a:rPr sz="1100" b="0">
                <a:solidFill>
                  <a:srgbClr val="6B7785"/>
                </a:solidFill>
                <a:latin typeface="Calibri"/>
              </a:rPr>
              <a:t>Only after the auto-publish step is rock solid.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0972800" cy="640080"/>
          </a:xfrm>
          <a:prstGeom prst="rect">
            <a:avLst/>
          </a:prstGeom>
          <a:noFill/>
        </p:spPr>
        <p:txBody>
          <a:bodyPr wrap="square" lIns="0" rIns="0" tIns="0" bIns="0" anchor="t">
            <a:spAutoFit/>
          </a:bodyPr>
          <a:lstStyle/>
          <a:p>
            <a:pPr algn="l"/>
            <a:r>
              <a:rPr sz="2800" b="1">
                <a:solidFill>
                  <a:srgbClr val="1F4E79"/>
                </a:solidFill>
                <a:latin typeface="Calibri"/>
              </a:rPr>
              <a:t>What I need from each of you</a:t>
            </a:r>
          </a:p>
          <a:p>
            <a:pPr algn="l">
              <a:spcBef>
                <a:spcPts val="200"/>
              </a:spcBef>
            </a:pPr>
            <a:r>
              <a:rPr sz="1400" b="0">
                <a:solidFill>
                  <a:srgbClr val="6B7785"/>
                </a:solidFill>
                <a:latin typeface="Calibri"/>
              </a:rPr>
              <a:t>Three small things.</a:t>
            </a:r>
          </a:p>
        </p:txBody>
      </p:sp>
      <p:sp>
        <p:nvSpPr>
          <p:cNvPr id="4" name="Rectangle 3"/>
          <p:cNvSpPr/>
          <p:nvPr/>
        </p:nvSpPr>
        <p:spPr>
          <a:xfrm>
            <a:off x="548640" y="6446520"/>
            <a:ext cx="1106424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645920"/>
            <a:ext cx="685800" cy="685800"/>
          </a:xfrm>
          <a:prstGeom prst="round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1</a:t>
            </a:r>
          </a:p>
        </p:txBody>
      </p:sp>
      <p:sp>
        <p:nvSpPr>
          <p:cNvPr id="6" name="TextBox 5"/>
          <p:cNvSpPr txBox="1"/>
          <p:nvPr/>
        </p:nvSpPr>
        <p:spPr>
          <a:xfrm>
            <a:off x="1508760" y="1645920"/>
            <a:ext cx="10058400" cy="685800"/>
          </a:xfrm>
          <a:prstGeom prst="rect">
            <a:avLst/>
          </a:prstGeom>
          <a:noFill/>
        </p:spPr>
        <p:txBody>
          <a:bodyPr wrap="square" lIns="0" rIns="0" tIns="0" bIns="0" anchor="ctr">
            <a:spAutoFit/>
          </a:bodyPr>
          <a:lstStyle/>
          <a:p>
            <a:pPr algn="l"/>
            <a:r>
              <a:rPr sz="1800" b="1">
                <a:solidFill>
                  <a:srgbClr val="1F4E79"/>
                </a:solidFill>
                <a:latin typeface="Calibri"/>
              </a:rPr>
              <a:t>Run setup.bat once</a:t>
            </a:r>
          </a:p>
          <a:p>
            <a:pPr algn="l">
              <a:spcBef>
                <a:spcPts val="200"/>
              </a:spcBef>
            </a:pPr>
            <a:r>
              <a:rPr sz="1200" b="0">
                <a:solidFill>
                  <a:srgbClr val="6B7785"/>
                </a:solidFill>
                <a:latin typeface="Calibri"/>
              </a:rPr>
              <a:t>Ten minutes. No secrets. The PDF in docs/ walks you through it.</a:t>
            </a:r>
          </a:p>
        </p:txBody>
      </p:sp>
      <p:sp>
        <p:nvSpPr>
          <p:cNvPr id="7" name="Rounded Rectangle 6"/>
          <p:cNvSpPr/>
          <p:nvPr/>
        </p:nvSpPr>
        <p:spPr>
          <a:xfrm>
            <a:off x="640080" y="3063240"/>
            <a:ext cx="685800" cy="685800"/>
          </a:xfrm>
          <a:prstGeom prst="round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2</a:t>
            </a:r>
          </a:p>
        </p:txBody>
      </p:sp>
      <p:sp>
        <p:nvSpPr>
          <p:cNvPr id="8" name="TextBox 7"/>
          <p:cNvSpPr txBox="1"/>
          <p:nvPr/>
        </p:nvSpPr>
        <p:spPr>
          <a:xfrm>
            <a:off x="1508760" y="3063240"/>
            <a:ext cx="10058400" cy="685800"/>
          </a:xfrm>
          <a:prstGeom prst="rect">
            <a:avLst/>
          </a:prstGeom>
          <a:noFill/>
        </p:spPr>
        <p:txBody>
          <a:bodyPr wrap="square" lIns="0" rIns="0" tIns="0" bIns="0" anchor="ctr">
            <a:spAutoFit/>
          </a:bodyPr>
          <a:lstStyle/>
          <a:p>
            <a:pPr algn="l"/>
            <a:r>
              <a:rPr sz="1800" b="1">
                <a:solidFill>
                  <a:srgbClr val="1F4E79"/>
                </a:solidFill>
                <a:latin typeface="Calibri"/>
              </a:rPr>
              <a:t>Leave Teams open + signed in</a:t>
            </a:r>
          </a:p>
          <a:p>
            <a:pPr algn="l">
              <a:spcBef>
                <a:spcPts val="200"/>
              </a:spcBef>
            </a:pPr>
            <a:r>
              <a:rPr sz="1200" b="0">
                <a:solidFill>
                  <a:srgbClr val="6B7785"/>
                </a:solidFill>
                <a:latin typeface="Calibri"/>
              </a:rPr>
              <a:t>The chat ingest reads Teams' own local cache.</a:t>
            </a:r>
          </a:p>
        </p:txBody>
      </p:sp>
      <p:sp>
        <p:nvSpPr>
          <p:cNvPr id="9" name="Rounded Rectangle 8"/>
          <p:cNvSpPr/>
          <p:nvPr/>
        </p:nvSpPr>
        <p:spPr>
          <a:xfrm>
            <a:off x="640080" y="4480560"/>
            <a:ext cx="685800" cy="685800"/>
          </a:xfrm>
          <a:prstGeom prst="round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3</a:t>
            </a:r>
          </a:p>
        </p:txBody>
      </p:sp>
      <p:sp>
        <p:nvSpPr>
          <p:cNvPr id="10" name="TextBox 9"/>
          <p:cNvSpPr txBox="1"/>
          <p:nvPr/>
        </p:nvSpPr>
        <p:spPr>
          <a:xfrm>
            <a:off x="1508760" y="4480560"/>
            <a:ext cx="10058400" cy="685800"/>
          </a:xfrm>
          <a:prstGeom prst="rect">
            <a:avLst/>
          </a:prstGeom>
          <a:noFill/>
        </p:spPr>
        <p:txBody>
          <a:bodyPr wrap="square" lIns="0" rIns="0" tIns="0" bIns="0" anchor="ctr">
            <a:spAutoFit/>
          </a:bodyPr>
          <a:lstStyle/>
          <a:p>
            <a:pPr algn="l"/>
            <a:r>
              <a:rPr sz="1800" b="1">
                <a:solidFill>
                  <a:srgbClr val="1F4E79"/>
                </a:solidFill>
                <a:latin typeface="Calibri"/>
              </a:rPr>
              <a:t>Click "Download" on chat files that matter</a:t>
            </a:r>
          </a:p>
          <a:p>
            <a:pPr algn="l">
              <a:spcBef>
                <a:spcPts val="200"/>
              </a:spcBef>
            </a:pPr>
            <a:r>
              <a:rPr sz="1200" b="0">
                <a:solidFill>
                  <a:srgbClr val="6B7785"/>
                </a:solidFill>
                <a:latin typeface="Calibri"/>
              </a:rPr>
              <a:t>If a teammate shares a PDF in chat, click Download so we can extract it. Otherwise only the URL gets captured.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743200"/>
            <a:ext cx="10698480" cy="1371600"/>
          </a:xfrm>
          <a:prstGeom prst="rect">
            <a:avLst/>
          </a:prstGeom>
          <a:noFill/>
        </p:spPr>
        <p:txBody>
          <a:bodyPr wrap="square" lIns="0" rIns="0" tIns="0" bIns="0" anchor="t">
            <a:spAutoFit/>
          </a:bodyPr>
          <a:lstStyle/>
          <a:p>
            <a:pPr algn="l"/>
            <a:r>
              <a:rPr sz="6400" b="1">
                <a:solidFill>
                  <a:srgbClr val="FFFFFF"/>
                </a:solidFill>
                <a:latin typeface="Calibri"/>
              </a:rPr>
              <a:t>Questions?</a:t>
            </a:r>
          </a:p>
        </p:txBody>
      </p:sp>
      <p:sp>
        <p:nvSpPr>
          <p:cNvPr id="4" name="TextBox 3"/>
          <p:cNvSpPr txBox="1"/>
          <p:nvPr/>
        </p:nvSpPr>
        <p:spPr>
          <a:xfrm>
            <a:off x="731520" y="3931920"/>
            <a:ext cx="10698480" cy="1371600"/>
          </a:xfrm>
          <a:prstGeom prst="rect">
            <a:avLst/>
          </a:prstGeom>
          <a:noFill/>
        </p:spPr>
        <p:txBody>
          <a:bodyPr wrap="square" lIns="0" rIns="0" tIns="0" bIns="0" anchor="t">
            <a:spAutoFit/>
          </a:bodyPr>
          <a:lstStyle/>
          <a:p>
            <a:pPr algn="l"/>
            <a:r>
              <a:rPr sz="2400" b="0">
                <a:solidFill>
                  <a:srgbClr val="C8D2E0"/>
                </a:solidFill>
                <a:latin typeface="Calibri"/>
              </a:rPr>
              <a:t>Then let's run a live one.</a:t>
            </a:r>
          </a:p>
        </p:txBody>
      </p:sp>
      <p:sp>
        <p:nvSpPr>
          <p:cNvPr id="5" name="TextBox 4"/>
          <p:cNvSpPr txBox="1"/>
          <p:nvPr/>
        </p:nvSpPr>
        <p:spPr>
          <a:xfrm>
            <a:off x="731520" y="6217920"/>
            <a:ext cx="10698480" cy="365760"/>
          </a:xfrm>
          <a:prstGeom prst="rect">
            <a:avLst/>
          </a:prstGeom>
          <a:noFill/>
        </p:spPr>
        <p:txBody>
          <a:bodyPr wrap="square" lIns="0" rIns="0" tIns="0" bIns="0" anchor="t">
            <a:spAutoFit/>
          </a:bodyPr>
          <a:lstStyle/>
          <a:p>
            <a:pPr algn="l"/>
            <a:r>
              <a:rPr sz="1200" b="0">
                <a:solidFill>
                  <a:srgbClr val="9CABBE"/>
                </a:solidFill>
                <a:latin typeface="Calibri"/>
              </a:rPr>
              <a:t>github.com/napco-labs/napco-nucleus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